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Lst>
  <p:notesMasterIdLst>
    <p:notesMasterId r:id="rId41"/>
  </p:notesMasterIdLst>
  <p:handoutMasterIdLst>
    <p:handoutMasterId r:id="rId42"/>
  </p:handoutMasterIdLst>
  <p:sldIdLst>
    <p:sldId id="377" r:id="rId5"/>
    <p:sldId id="353" r:id="rId6"/>
    <p:sldId id="403" r:id="rId7"/>
    <p:sldId id="263" r:id="rId8"/>
    <p:sldId id="404" r:id="rId9"/>
    <p:sldId id="405" r:id="rId10"/>
    <p:sldId id="345" r:id="rId11"/>
    <p:sldId id="406" r:id="rId12"/>
    <p:sldId id="407" r:id="rId13"/>
    <p:sldId id="408" r:id="rId14"/>
    <p:sldId id="409" r:id="rId15"/>
    <p:sldId id="413" r:id="rId16"/>
    <p:sldId id="414" r:id="rId17"/>
    <p:sldId id="415" r:id="rId18"/>
    <p:sldId id="416" r:id="rId19"/>
    <p:sldId id="367" r:id="rId20"/>
    <p:sldId id="410" r:id="rId21"/>
    <p:sldId id="411" r:id="rId22"/>
    <p:sldId id="412" r:id="rId23"/>
    <p:sldId id="417" r:id="rId24"/>
    <p:sldId id="418" r:id="rId25"/>
    <p:sldId id="419" r:id="rId26"/>
    <p:sldId id="420" r:id="rId27"/>
    <p:sldId id="421" r:id="rId28"/>
    <p:sldId id="433" r:id="rId29"/>
    <p:sldId id="430" r:id="rId30"/>
    <p:sldId id="431" r:id="rId31"/>
    <p:sldId id="432" r:id="rId32"/>
    <p:sldId id="434" r:id="rId33"/>
    <p:sldId id="435" r:id="rId34"/>
    <p:sldId id="427" r:id="rId35"/>
    <p:sldId id="428" r:id="rId36"/>
    <p:sldId id="429" r:id="rId37"/>
    <p:sldId id="437" r:id="rId38"/>
    <p:sldId id="438" r:id="rId39"/>
    <p:sldId id="436" r:id="rId40"/>
  </p:sldIdLst>
  <p:sldSz cx="6858000" cy="9906000" type="A4"/>
  <p:notesSz cx="6858000" cy="9144000"/>
  <p:defaultTextStyle>
    <a:defPPr>
      <a:defRPr lang="en-US"/>
    </a:defPPr>
    <a:lvl1pPr marL="0" algn="l" defTabSz="859627" rtl="0" eaLnBrk="1" latinLnBrk="0" hangingPunct="1">
      <a:defRPr sz="1692" kern="1200">
        <a:solidFill>
          <a:schemeClr val="tx1"/>
        </a:solidFill>
        <a:latin typeface="+mn-lt"/>
        <a:ea typeface="+mn-ea"/>
        <a:cs typeface="+mn-cs"/>
      </a:defRPr>
    </a:lvl1pPr>
    <a:lvl2pPr marL="429814" algn="l" defTabSz="859627" rtl="0" eaLnBrk="1" latinLnBrk="0" hangingPunct="1">
      <a:defRPr sz="1692" kern="1200">
        <a:solidFill>
          <a:schemeClr val="tx1"/>
        </a:solidFill>
        <a:latin typeface="+mn-lt"/>
        <a:ea typeface="+mn-ea"/>
        <a:cs typeface="+mn-cs"/>
      </a:defRPr>
    </a:lvl2pPr>
    <a:lvl3pPr marL="859627" algn="l" defTabSz="859627" rtl="0" eaLnBrk="1" latinLnBrk="0" hangingPunct="1">
      <a:defRPr sz="1692" kern="1200">
        <a:solidFill>
          <a:schemeClr val="tx1"/>
        </a:solidFill>
        <a:latin typeface="+mn-lt"/>
        <a:ea typeface="+mn-ea"/>
        <a:cs typeface="+mn-cs"/>
      </a:defRPr>
    </a:lvl3pPr>
    <a:lvl4pPr marL="1289441" algn="l" defTabSz="859627" rtl="0" eaLnBrk="1" latinLnBrk="0" hangingPunct="1">
      <a:defRPr sz="1692" kern="1200">
        <a:solidFill>
          <a:schemeClr val="tx1"/>
        </a:solidFill>
        <a:latin typeface="+mn-lt"/>
        <a:ea typeface="+mn-ea"/>
        <a:cs typeface="+mn-cs"/>
      </a:defRPr>
    </a:lvl4pPr>
    <a:lvl5pPr marL="1719255" algn="l" defTabSz="859627" rtl="0" eaLnBrk="1" latinLnBrk="0" hangingPunct="1">
      <a:defRPr sz="1692" kern="1200">
        <a:solidFill>
          <a:schemeClr val="tx1"/>
        </a:solidFill>
        <a:latin typeface="+mn-lt"/>
        <a:ea typeface="+mn-ea"/>
        <a:cs typeface="+mn-cs"/>
      </a:defRPr>
    </a:lvl5pPr>
    <a:lvl6pPr marL="2149069" algn="l" defTabSz="859627" rtl="0" eaLnBrk="1" latinLnBrk="0" hangingPunct="1">
      <a:defRPr sz="1692" kern="1200">
        <a:solidFill>
          <a:schemeClr val="tx1"/>
        </a:solidFill>
        <a:latin typeface="+mn-lt"/>
        <a:ea typeface="+mn-ea"/>
        <a:cs typeface="+mn-cs"/>
      </a:defRPr>
    </a:lvl6pPr>
    <a:lvl7pPr marL="2578882" algn="l" defTabSz="859627" rtl="0" eaLnBrk="1" latinLnBrk="0" hangingPunct="1">
      <a:defRPr sz="1692" kern="1200">
        <a:solidFill>
          <a:schemeClr val="tx1"/>
        </a:solidFill>
        <a:latin typeface="+mn-lt"/>
        <a:ea typeface="+mn-ea"/>
        <a:cs typeface="+mn-cs"/>
      </a:defRPr>
    </a:lvl7pPr>
    <a:lvl8pPr marL="3008696" algn="l" defTabSz="859627" rtl="0" eaLnBrk="1" latinLnBrk="0" hangingPunct="1">
      <a:defRPr sz="1692" kern="1200">
        <a:solidFill>
          <a:schemeClr val="tx1"/>
        </a:solidFill>
        <a:latin typeface="+mn-lt"/>
        <a:ea typeface="+mn-ea"/>
        <a:cs typeface="+mn-cs"/>
      </a:defRPr>
    </a:lvl8pPr>
    <a:lvl9pPr marL="3438510" algn="l" defTabSz="859627" rtl="0" eaLnBrk="1" latinLnBrk="0" hangingPunct="1">
      <a:defRPr sz="1692"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761343E-2CD0-480B-B498-F13D51914F3C}">
          <p14:sldIdLst>
            <p14:sldId id="377"/>
            <p14:sldId id="353"/>
            <p14:sldId id="403"/>
          </p14:sldIdLst>
        </p14:section>
        <p14:section name="Scenario" id="{1FB866DC-7F09-4F47-B5DD-8A45920590FE}">
          <p14:sldIdLst>
            <p14:sldId id="263"/>
            <p14:sldId id="404"/>
            <p14:sldId id="405"/>
            <p14:sldId id="345"/>
            <p14:sldId id="406"/>
            <p14:sldId id="407"/>
            <p14:sldId id="408"/>
            <p14:sldId id="409"/>
            <p14:sldId id="413"/>
            <p14:sldId id="414"/>
            <p14:sldId id="415"/>
            <p14:sldId id="416"/>
            <p14:sldId id="367"/>
            <p14:sldId id="410"/>
            <p14:sldId id="411"/>
            <p14:sldId id="412"/>
            <p14:sldId id="417"/>
            <p14:sldId id="418"/>
            <p14:sldId id="419"/>
            <p14:sldId id="420"/>
            <p14:sldId id="421"/>
            <p14:sldId id="433"/>
            <p14:sldId id="430"/>
            <p14:sldId id="431"/>
            <p14:sldId id="432"/>
            <p14:sldId id="434"/>
            <p14:sldId id="435"/>
            <p14:sldId id="427"/>
            <p14:sldId id="428"/>
            <p14:sldId id="429"/>
            <p14:sldId id="437"/>
            <p14:sldId id="438"/>
            <p14:sldId id="43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FA4B18-80A8-4BDB-4694-031CFB2CE57F}" name="Phil Topness" initials="PT" userId="S::phtopnes@microsoft.com::08b7be88-37ac-4e2b-82af-f8bb67e5f2f7" providerId="AD"/>
  <p188:author id="{C5376039-7B6A-79CA-2E53-E117BD803944}" name="Steve Jeffery" initials="SJ" userId="S::stjeffer@microsoft.com::9e0f5175-af75-40a0-bcb3-c015cc9695bc" providerId="AD"/>
  <p188:author id="{988338F8-2386-BEA0-5264-41D0497E00E2}" name="Vasavi Bhaviri Setty" initials="VS" userId="S::vabhavir@microsoft.com::915139d9-b263-46da-aee5-80aafcbd9ff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3F5"/>
    <a:srgbClr val="B9DCD2"/>
    <a:srgbClr val="C5B4E3"/>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7AAC1-97CA-F685-E2F4-0D705FF2826E}" v="121" dt="2026-02-26T16:36:57.011"/>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9"/>
    <p:restoredTop sz="94517"/>
  </p:normalViewPr>
  <p:slideViewPr>
    <p:cSldViewPr snapToGrid="0">
      <p:cViewPr varScale="1">
        <p:scale>
          <a:sx n="78" d="100"/>
          <a:sy n="78" d="100"/>
        </p:scale>
        <p:origin x="2752" y="1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Jeffery" userId="S::stjeffer@microsoft.com::9e0f5175-af75-40a0-bcb3-c015cc9695bc" providerId="AD" clId="Web-{3C27AAC1-97CA-F685-E2F4-0D705FF2826E}"/>
    <pc:docChg chg="modSld">
      <pc:chgData name="Steve Jeffery" userId="S::stjeffer@microsoft.com::9e0f5175-af75-40a0-bcb3-c015cc9695bc" providerId="AD" clId="Web-{3C27AAC1-97CA-F685-E2F4-0D705FF2826E}" dt="2026-02-26T16:36:56.183" v="61" actId="20577"/>
      <pc:docMkLst>
        <pc:docMk/>
      </pc:docMkLst>
      <pc:sldChg chg="modSp">
        <pc:chgData name="Steve Jeffery" userId="S::stjeffer@microsoft.com::9e0f5175-af75-40a0-bcb3-c015cc9695bc" providerId="AD" clId="Web-{3C27AAC1-97CA-F685-E2F4-0D705FF2826E}" dt="2026-02-26T16:36:56.183" v="61" actId="20577"/>
        <pc:sldMkLst>
          <pc:docMk/>
          <pc:sldMk cId="3465559345" sldId="353"/>
        </pc:sldMkLst>
        <pc:spChg chg="mod">
          <ac:chgData name="Steve Jeffery" userId="S::stjeffer@microsoft.com::9e0f5175-af75-40a0-bcb3-c015cc9695bc" providerId="AD" clId="Web-{3C27AAC1-97CA-F685-E2F4-0D705FF2826E}" dt="2026-02-26T16:36:56.183" v="61" actId="20577"/>
          <ac:spMkLst>
            <pc:docMk/>
            <pc:sldMk cId="3465559345" sldId="353"/>
            <ac:spMk id="2" creationId="{4CDD1241-2A7D-55FF-87F0-D2D2868A482C}"/>
          </ac:spMkLst>
        </pc:spChg>
      </pc:sldChg>
      <pc:sldChg chg="modSp">
        <pc:chgData name="Steve Jeffery" userId="S::stjeffer@microsoft.com::9e0f5175-af75-40a0-bcb3-c015cc9695bc" providerId="AD" clId="Web-{3C27AAC1-97CA-F685-E2F4-0D705FF2826E}" dt="2026-02-26T16:36:37.261" v="29" actId="20577"/>
        <pc:sldMkLst>
          <pc:docMk/>
          <pc:sldMk cId="1544322514" sldId="377"/>
        </pc:sldMkLst>
        <pc:spChg chg="mod">
          <ac:chgData name="Steve Jeffery" userId="S::stjeffer@microsoft.com::9e0f5175-af75-40a0-bcb3-c015cc9695bc" providerId="AD" clId="Web-{3C27AAC1-97CA-F685-E2F4-0D705FF2826E}" dt="2026-02-26T16:36:37.261" v="29" actId="20577"/>
          <ac:spMkLst>
            <pc:docMk/>
            <pc:sldMk cId="1544322514" sldId="377"/>
            <ac:spMk id="2" creationId="{D0FEA47C-DF27-17B4-186C-28A6C2381B4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doughnutChart>
        <c:varyColors val="1"/>
        <c:ser>
          <c:idx val="0"/>
          <c:order val="0"/>
          <c:tx>
            <c:strRef>
              <c:f>Sheet1!$B$1</c:f>
              <c:strCache>
                <c:ptCount val="1"/>
                <c:pt idx="0">
                  <c:v>Work</c:v>
                </c:pt>
              </c:strCache>
            </c:strRef>
          </c:tx>
          <c:dPt>
            <c:idx val="0"/>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1-3681-0E4E-9587-64F54CE651FB}"/>
              </c:ext>
            </c:extLst>
          </c:dPt>
          <c:dPt>
            <c:idx val="1"/>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3-3681-0E4E-9587-64F54CE651FB}"/>
              </c:ext>
            </c:extLst>
          </c:dPt>
          <c:cat>
            <c:strRef>
              <c:f>Sheet1!$A$2:$A$3</c:f>
              <c:strCache>
                <c:ptCount val="2"/>
                <c:pt idx="0">
                  <c:v>Human</c:v>
                </c:pt>
                <c:pt idx="1">
                  <c:v>Agent</c:v>
                </c:pt>
              </c:strCache>
            </c:strRef>
          </c:cat>
          <c:val>
            <c:numRef>
              <c:f>Sheet1!$B$2:$B$3</c:f>
              <c:numCache>
                <c:formatCode>General</c:formatCode>
                <c:ptCount val="2"/>
                <c:pt idx="0">
                  <c:v>30</c:v>
                </c:pt>
                <c:pt idx="1">
                  <c:v>70</c:v>
                </c:pt>
              </c:numCache>
            </c:numRef>
          </c:val>
          <c:extLst>
            <c:ext xmlns:c16="http://schemas.microsoft.com/office/drawing/2014/chart" uri="{C3380CC4-5D6E-409C-BE32-E72D297353CC}">
              <c16:uniqueId val="{00000004-3681-0E4E-9587-64F54CE651FB}"/>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doughnutChart>
        <c:varyColors val="1"/>
        <c:ser>
          <c:idx val="0"/>
          <c:order val="0"/>
          <c:tx>
            <c:strRef>
              <c:f>Sheet1!$B$1</c:f>
              <c:strCache>
                <c:ptCount val="1"/>
                <c:pt idx="0">
                  <c:v>Work</c:v>
                </c:pt>
              </c:strCache>
            </c:strRef>
          </c:tx>
          <c:dPt>
            <c:idx val="0"/>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1-9039-BD4B-BE7D-6E28E596A320}"/>
              </c:ext>
            </c:extLst>
          </c:dPt>
          <c:dPt>
            <c:idx val="1"/>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3-9039-BD4B-BE7D-6E28E596A320}"/>
              </c:ext>
            </c:extLst>
          </c:dPt>
          <c:cat>
            <c:strRef>
              <c:f>Sheet1!$A$2:$A$3</c:f>
              <c:strCache>
                <c:ptCount val="2"/>
                <c:pt idx="0">
                  <c:v>Human</c:v>
                </c:pt>
                <c:pt idx="1">
                  <c:v>Agent</c:v>
                </c:pt>
              </c:strCache>
            </c:strRef>
          </c:cat>
          <c:val>
            <c:numRef>
              <c:f>Sheet1!$B$2:$B$3</c:f>
              <c:numCache>
                <c:formatCode>General</c:formatCode>
                <c:ptCount val="2"/>
                <c:pt idx="0">
                  <c:v>40</c:v>
                </c:pt>
                <c:pt idx="1">
                  <c:v>60</c:v>
                </c:pt>
              </c:numCache>
            </c:numRef>
          </c:val>
          <c:extLst>
            <c:ext xmlns:c16="http://schemas.microsoft.com/office/drawing/2014/chart" uri="{C3380CC4-5D6E-409C-BE32-E72D297353CC}">
              <c16:uniqueId val="{00000004-9039-BD4B-BE7D-6E28E596A320}"/>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doughnutChart>
        <c:varyColors val="1"/>
        <c:ser>
          <c:idx val="0"/>
          <c:order val="0"/>
          <c:tx>
            <c:strRef>
              <c:f>Sheet1!$B$1</c:f>
              <c:strCache>
                <c:ptCount val="1"/>
                <c:pt idx="0">
                  <c:v>Work</c:v>
                </c:pt>
              </c:strCache>
            </c:strRef>
          </c:tx>
          <c:dPt>
            <c:idx val="0"/>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1-8B5E-4C4B-9700-60DF92A79B33}"/>
              </c:ext>
            </c:extLst>
          </c:dPt>
          <c:dPt>
            <c:idx val="1"/>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3-8B5E-4C4B-9700-60DF92A79B33}"/>
              </c:ext>
            </c:extLst>
          </c:dPt>
          <c:cat>
            <c:strRef>
              <c:f>Sheet1!$A$2:$A$3</c:f>
              <c:strCache>
                <c:ptCount val="2"/>
                <c:pt idx="0">
                  <c:v>Human</c:v>
                </c:pt>
                <c:pt idx="1">
                  <c:v>Agent</c:v>
                </c:pt>
              </c:strCache>
            </c:strRef>
          </c:cat>
          <c:val>
            <c:numRef>
              <c:f>Sheet1!$B$2:$B$3</c:f>
              <c:numCache>
                <c:formatCode>General</c:formatCode>
                <c:ptCount val="2"/>
                <c:pt idx="0">
                  <c:v>20</c:v>
                </c:pt>
                <c:pt idx="1">
                  <c:v>80</c:v>
                </c:pt>
              </c:numCache>
            </c:numRef>
          </c:val>
          <c:extLst>
            <c:ext xmlns:c16="http://schemas.microsoft.com/office/drawing/2014/chart" uri="{C3380CC4-5D6E-409C-BE32-E72D297353CC}">
              <c16:uniqueId val="{00000004-8B5E-4C4B-9700-60DF92A79B33}"/>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doughnutChart>
        <c:varyColors val="1"/>
        <c:ser>
          <c:idx val="0"/>
          <c:order val="0"/>
          <c:tx>
            <c:strRef>
              <c:f>Sheet1!$B$1</c:f>
              <c:strCache>
                <c:ptCount val="1"/>
                <c:pt idx="0">
                  <c:v>Work</c:v>
                </c:pt>
              </c:strCache>
            </c:strRef>
          </c:tx>
          <c:dPt>
            <c:idx val="0"/>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1-ACF2-A24D-BC7F-F6017317C51C}"/>
              </c:ext>
            </c:extLst>
          </c:dPt>
          <c:dPt>
            <c:idx val="1"/>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3-ACF2-A24D-BC7F-F6017317C51C}"/>
              </c:ext>
            </c:extLst>
          </c:dPt>
          <c:cat>
            <c:strRef>
              <c:f>Sheet1!$A$2:$A$3</c:f>
              <c:strCache>
                <c:ptCount val="2"/>
                <c:pt idx="0">
                  <c:v>Human</c:v>
                </c:pt>
                <c:pt idx="1">
                  <c:v>Agent</c:v>
                </c:pt>
              </c:strCache>
            </c:strRef>
          </c:cat>
          <c:val>
            <c:numRef>
              <c:f>Sheet1!$B$2:$B$3</c:f>
              <c:numCache>
                <c:formatCode>General</c:formatCode>
                <c:ptCount val="2"/>
                <c:pt idx="0">
                  <c:v>40</c:v>
                </c:pt>
                <c:pt idx="1">
                  <c:v>60</c:v>
                </c:pt>
              </c:numCache>
            </c:numRef>
          </c:val>
          <c:extLst>
            <c:ext xmlns:c16="http://schemas.microsoft.com/office/drawing/2014/chart" uri="{C3380CC4-5D6E-409C-BE32-E72D297353CC}">
              <c16:uniqueId val="{00000004-ACF2-A24D-BC7F-F6017317C51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doughnutChart>
        <c:varyColors val="1"/>
        <c:ser>
          <c:idx val="0"/>
          <c:order val="0"/>
          <c:tx>
            <c:strRef>
              <c:f>Sheet1!$B$1</c:f>
              <c:strCache>
                <c:ptCount val="1"/>
                <c:pt idx="0">
                  <c:v>Work</c:v>
                </c:pt>
              </c:strCache>
            </c:strRef>
          </c:tx>
          <c:dPt>
            <c:idx val="0"/>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1-539C-764A-84E0-C636745EAFE2}"/>
              </c:ext>
            </c:extLst>
          </c:dPt>
          <c:dPt>
            <c:idx val="1"/>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3-539C-764A-84E0-C636745EAFE2}"/>
              </c:ext>
            </c:extLst>
          </c:dPt>
          <c:cat>
            <c:strRef>
              <c:f>Sheet1!$A$2:$A$3</c:f>
              <c:strCache>
                <c:ptCount val="2"/>
                <c:pt idx="0">
                  <c:v>Human</c:v>
                </c:pt>
                <c:pt idx="1">
                  <c:v>Agent</c:v>
                </c:pt>
              </c:strCache>
            </c:strRef>
          </c:cat>
          <c:val>
            <c:numRef>
              <c:f>Sheet1!$B$2:$B$3</c:f>
              <c:numCache>
                <c:formatCode>General</c:formatCode>
                <c:ptCount val="2"/>
                <c:pt idx="0">
                  <c:v>30</c:v>
                </c:pt>
                <c:pt idx="1">
                  <c:v>70</c:v>
                </c:pt>
              </c:numCache>
            </c:numRef>
          </c:val>
          <c:extLst>
            <c:ext xmlns:c16="http://schemas.microsoft.com/office/drawing/2014/chart" uri="{C3380CC4-5D6E-409C-BE32-E72D297353CC}">
              <c16:uniqueId val="{00000004-539C-764A-84E0-C636745EAFE2}"/>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doughnutChart>
        <c:varyColors val="1"/>
        <c:ser>
          <c:idx val="0"/>
          <c:order val="0"/>
          <c:tx>
            <c:strRef>
              <c:f>Sheet1!$B$1</c:f>
              <c:strCache>
                <c:ptCount val="1"/>
                <c:pt idx="0">
                  <c:v>Work</c:v>
                </c:pt>
              </c:strCache>
            </c:strRef>
          </c:tx>
          <c:dPt>
            <c:idx val="0"/>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1-528B-7941-A4E8-39DAD82BA565}"/>
              </c:ext>
            </c:extLst>
          </c:dPt>
          <c:dPt>
            <c:idx val="1"/>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3-528B-7941-A4E8-39DAD82BA565}"/>
              </c:ext>
            </c:extLst>
          </c:dPt>
          <c:cat>
            <c:strRef>
              <c:f>Sheet1!$A$2:$A$3</c:f>
              <c:strCache>
                <c:ptCount val="2"/>
                <c:pt idx="0">
                  <c:v>Human</c:v>
                </c:pt>
                <c:pt idx="1">
                  <c:v>Agent</c:v>
                </c:pt>
              </c:strCache>
            </c:strRef>
          </c:cat>
          <c:val>
            <c:numRef>
              <c:f>Sheet1!$B$2:$B$3</c:f>
              <c:numCache>
                <c:formatCode>General</c:formatCode>
                <c:ptCount val="2"/>
                <c:pt idx="0">
                  <c:v>10</c:v>
                </c:pt>
                <c:pt idx="1">
                  <c:v>90</c:v>
                </c:pt>
              </c:numCache>
            </c:numRef>
          </c:val>
          <c:extLst>
            <c:ext xmlns:c16="http://schemas.microsoft.com/office/drawing/2014/chart" uri="{C3380CC4-5D6E-409C-BE32-E72D297353CC}">
              <c16:uniqueId val="{00000004-528B-7941-A4E8-39DAD82BA565}"/>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withinLinearReversed" id="25">
  <a:schemeClr val="accent5"/>
</cs:colorStyle>
</file>

<file path=ppt/charts/colors4.xml><?xml version="1.0" encoding="utf-8"?>
<cs:colorStyle xmlns:cs="http://schemas.microsoft.com/office/drawing/2012/chartStyle" xmlns:a="http://schemas.openxmlformats.org/drawingml/2006/main" meth="withinLinearReversed" id="25">
  <a:schemeClr val="accent5"/>
</cs:colorStyle>
</file>

<file path=ppt/charts/colors5.xml><?xml version="1.0" encoding="utf-8"?>
<cs:colorStyle xmlns:cs="http://schemas.microsoft.com/office/drawing/2012/chartStyle" xmlns:a="http://schemas.openxmlformats.org/drawingml/2006/main" meth="withinLinearReversed" id="25">
  <a:schemeClr val="accent5"/>
</cs:colorStyle>
</file>

<file path=ppt/charts/colors6.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410DA2-23E6-A118-306C-3026C53810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2638B8F-A8ED-2467-6725-74057467A3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FF2AB8-2E36-4DC7-8903-D61BA9323C02}" type="datetimeFigureOut">
              <a:rPr lang="en-US" smtClean="0"/>
              <a:t>2/26/2026</a:t>
            </a:fld>
            <a:endParaRPr lang="en-US"/>
          </a:p>
        </p:txBody>
      </p:sp>
      <p:sp>
        <p:nvSpPr>
          <p:cNvPr id="4" name="Footer Placeholder 3">
            <a:extLst>
              <a:ext uri="{FF2B5EF4-FFF2-40B4-BE49-F238E27FC236}">
                <a16:creationId xmlns:a16="http://schemas.microsoft.com/office/drawing/2014/main" id="{FDA36FB3-3C4A-6EC2-3FCF-70BDECA906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152BA46-7A7D-A767-8C3E-61736136B8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7F4DC2-FB56-456A-93DF-EF2119EE6E3C}" type="slidenum">
              <a:rPr lang="en-US" smtClean="0"/>
              <a:t>‹#›</a:t>
            </a:fld>
            <a:endParaRPr lang="en-US"/>
          </a:p>
        </p:txBody>
      </p:sp>
    </p:spTree>
    <p:extLst>
      <p:ext uri="{BB962C8B-B14F-4D97-AF65-F5344CB8AC3E}">
        <p14:creationId xmlns:p14="http://schemas.microsoft.com/office/powerpoint/2010/main" val="161975970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863D6-959A-4C30-A45D-0C91BA0B0CD1}" type="datetimeFigureOut">
              <a:rPr lang="en-US" smtClean="0"/>
              <a:t>2/26/2026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3DFC2E-8402-4719-8C72-8116316846CC}" type="slidenum">
              <a:rPr lang="en-US" smtClean="0"/>
              <a:t>‹#›</a:t>
            </a:fld>
            <a:endParaRPr lang="en-US"/>
          </a:p>
        </p:txBody>
      </p:sp>
    </p:spTree>
    <p:extLst>
      <p:ext uri="{BB962C8B-B14F-4D97-AF65-F5344CB8AC3E}">
        <p14:creationId xmlns:p14="http://schemas.microsoft.com/office/powerpoint/2010/main" val="4106296696"/>
      </p:ext>
    </p:extLst>
  </p:cSld>
  <p:clrMap bg1="lt1" tx1="dk1" bg2="lt2" tx2="dk2" accent1="accent1" accent2="accent2" accent3="accent3" accent4="accent4" accent5="accent5" accent6="accent6" hlink="hlink" folHlink="folHlink"/>
  <p:hf sldNum="0" hdr="0" ftr="0" dt="0"/>
  <p:notesStyle>
    <a:lvl1pPr marL="0" algn="l" defTabSz="859627" rtl="0" eaLnBrk="1" latinLnBrk="0" hangingPunct="1">
      <a:defRPr sz="1128" kern="1200">
        <a:solidFill>
          <a:schemeClr val="tx1"/>
        </a:solidFill>
        <a:latin typeface="+mn-lt"/>
        <a:ea typeface="+mn-ea"/>
        <a:cs typeface="+mn-cs"/>
      </a:defRPr>
    </a:lvl1pPr>
    <a:lvl2pPr marL="429814" algn="l" defTabSz="859627" rtl="0" eaLnBrk="1" latinLnBrk="0" hangingPunct="1">
      <a:defRPr sz="1128" kern="1200">
        <a:solidFill>
          <a:schemeClr val="tx1"/>
        </a:solidFill>
        <a:latin typeface="+mn-lt"/>
        <a:ea typeface="+mn-ea"/>
        <a:cs typeface="+mn-cs"/>
      </a:defRPr>
    </a:lvl2pPr>
    <a:lvl3pPr marL="859627" algn="l" defTabSz="859627" rtl="0" eaLnBrk="1" latinLnBrk="0" hangingPunct="1">
      <a:defRPr sz="1128" kern="1200">
        <a:solidFill>
          <a:schemeClr val="tx1"/>
        </a:solidFill>
        <a:latin typeface="+mn-lt"/>
        <a:ea typeface="+mn-ea"/>
        <a:cs typeface="+mn-cs"/>
      </a:defRPr>
    </a:lvl3pPr>
    <a:lvl4pPr marL="1289441" algn="l" defTabSz="859627" rtl="0" eaLnBrk="1" latinLnBrk="0" hangingPunct="1">
      <a:defRPr sz="1128" kern="1200">
        <a:solidFill>
          <a:schemeClr val="tx1"/>
        </a:solidFill>
        <a:latin typeface="+mn-lt"/>
        <a:ea typeface="+mn-ea"/>
        <a:cs typeface="+mn-cs"/>
      </a:defRPr>
    </a:lvl4pPr>
    <a:lvl5pPr marL="1719255" algn="l" defTabSz="859627" rtl="0" eaLnBrk="1" latinLnBrk="0" hangingPunct="1">
      <a:defRPr sz="1128" kern="1200">
        <a:solidFill>
          <a:schemeClr val="tx1"/>
        </a:solidFill>
        <a:latin typeface="+mn-lt"/>
        <a:ea typeface="+mn-ea"/>
        <a:cs typeface="+mn-cs"/>
      </a:defRPr>
    </a:lvl5pPr>
    <a:lvl6pPr marL="2149069" algn="l" defTabSz="859627" rtl="0" eaLnBrk="1" latinLnBrk="0" hangingPunct="1">
      <a:defRPr sz="1128" kern="1200">
        <a:solidFill>
          <a:schemeClr val="tx1"/>
        </a:solidFill>
        <a:latin typeface="+mn-lt"/>
        <a:ea typeface="+mn-ea"/>
        <a:cs typeface="+mn-cs"/>
      </a:defRPr>
    </a:lvl6pPr>
    <a:lvl7pPr marL="2578882" algn="l" defTabSz="859627" rtl="0" eaLnBrk="1" latinLnBrk="0" hangingPunct="1">
      <a:defRPr sz="1128" kern="1200">
        <a:solidFill>
          <a:schemeClr val="tx1"/>
        </a:solidFill>
        <a:latin typeface="+mn-lt"/>
        <a:ea typeface="+mn-ea"/>
        <a:cs typeface="+mn-cs"/>
      </a:defRPr>
    </a:lvl7pPr>
    <a:lvl8pPr marL="3008696" algn="l" defTabSz="859627" rtl="0" eaLnBrk="1" latinLnBrk="0" hangingPunct="1">
      <a:defRPr sz="1128" kern="1200">
        <a:solidFill>
          <a:schemeClr val="tx1"/>
        </a:solidFill>
        <a:latin typeface="+mn-lt"/>
        <a:ea typeface="+mn-ea"/>
        <a:cs typeface="+mn-cs"/>
      </a:defRPr>
    </a:lvl8pPr>
    <a:lvl9pPr marL="3438510" algn="l" defTabSz="859627" rtl="0" eaLnBrk="1" latinLnBrk="0" hangingPunct="1">
      <a:defRPr sz="1128"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verview">
    <p:bg>
      <p:bgPr>
        <a:solidFill>
          <a:srgbClr val="091F2C"/>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hasCustomPrompt="1"/>
          </p:nvPr>
        </p:nvSpPr>
        <p:spPr>
          <a:xfrm>
            <a:off x="339615" y="701291"/>
            <a:ext cx="6197918" cy="617239"/>
          </a:xfrm>
          <a:prstGeom prst="rect">
            <a:avLst/>
          </a:prstGeom>
        </p:spPr>
        <p:txBody>
          <a:bodyPr lIns="0"/>
          <a:lstStyle>
            <a:lvl1pPr>
              <a:defRPr sz="1125">
                <a:solidFill>
                  <a:schemeClr val="bg1"/>
                </a:solidFill>
              </a:defRPr>
            </a:lvl1pPr>
          </a:lstStyle>
          <a:p>
            <a:r>
              <a:rPr lang="en-US"/>
              <a:t>Page header</a:t>
            </a:r>
          </a:p>
        </p:txBody>
      </p:sp>
      <p:sp>
        <p:nvSpPr>
          <p:cNvPr id="4" name="Text Placeholder 3"/>
          <p:cNvSpPr>
            <a:spLocks noGrp="1"/>
          </p:cNvSpPr>
          <p:nvPr>
            <p:ph type="body" sz="quarter" idx="10"/>
          </p:nvPr>
        </p:nvSpPr>
        <p:spPr>
          <a:xfrm>
            <a:off x="339615" y="2093520"/>
            <a:ext cx="6197918" cy="999633"/>
          </a:xfrm>
          <a:prstGeom prst="rect">
            <a:avLst/>
          </a:prstGeom>
        </p:spPr>
        <p:txBody>
          <a:bodyPr wrap="square" lIns="0">
            <a:spAutoFit/>
          </a:bodyPr>
          <a:lstStyle>
            <a:lvl1pPr marL="0" indent="0">
              <a:buNone/>
              <a:defRPr>
                <a:solidFill>
                  <a:schemeClr val="bg1"/>
                </a:solidFill>
              </a:defRPr>
            </a:lvl1pPr>
            <a:lvl2pPr marL="128595" indent="0">
              <a:buNone/>
              <a:defRPr>
                <a:solidFill>
                  <a:schemeClr val="bg1"/>
                </a:solidFill>
              </a:defRPr>
            </a:lvl2pPr>
            <a:lvl3pPr marL="257189" indent="0">
              <a:buNone/>
              <a:defRPr>
                <a:solidFill>
                  <a:schemeClr val="bg1"/>
                </a:solidFill>
              </a:defRPr>
            </a:lvl3pPr>
            <a:lvl4pPr marL="385784" indent="0">
              <a:buNone/>
              <a:defRPr>
                <a:solidFill>
                  <a:schemeClr val="bg1"/>
                </a:solidFill>
              </a:defRPr>
            </a:lvl4pPr>
            <a:lvl5pPr marL="514377" inden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7088999"/>
      </p:ext>
    </p:extLst>
  </p:cSld>
  <p:clrMapOvr>
    <a:masterClrMapping/>
  </p:clrMapOvr>
  <p:transition>
    <p:fade/>
  </p:transition>
  <p:extLst>
    <p:ext uri="{DCECCB84-F9BA-43D5-87BE-67443E8EF086}">
      <p15:sldGuideLst xmlns:p15="http://schemas.microsoft.com/office/powerpoint/2012/main">
        <p15:guide id="1" orient="horz" pos="416" userDrawn="1">
          <p15:clr>
            <a:srgbClr val="5ACBF0"/>
          </p15:clr>
        </p15:guide>
        <p15:guide id="2" orient="horz" pos="1307" userDrawn="1">
          <p15:clr>
            <a:srgbClr val="5ACBF0"/>
          </p15:clr>
        </p15:guide>
        <p15:guide id="4" orient="horz" pos="1838"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graphic1">
    <p:bg>
      <p:bgPr>
        <a:blipFill dpi="0" rotWithShape="1">
          <a:blip r:embed="rId2">
            <a:lum/>
          </a:blip>
          <a:srcRect/>
          <a:stretch>
            <a:fillRect l="-65000" r="-65000"/>
          </a:stretch>
        </a:blipFill>
        <a:effectLst/>
      </p:bgPr>
    </p:bg>
    <p:spTree>
      <p:nvGrpSpPr>
        <p:cNvPr id="1" name=""/>
        <p:cNvGrpSpPr/>
        <p:nvPr/>
      </p:nvGrpSpPr>
      <p:grpSpPr>
        <a:xfrm>
          <a:off x="0" y="0"/>
          <a:ext cx="0" cy="0"/>
          <a:chOff x="0" y="0"/>
          <a:chExt cx="0" cy="0"/>
        </a:xfrm>
      </p:grpSpPr>
      <p:pic>
        <p:nvPicPr>
          <p:cNvPr id="3" name="MS logo white - EMF" descr="Microsoft logo">
            <a:extLst>
              <a:ext uri="{FF2B5EF4-FFF2-40B4-BE49-F238E27FC236}">
                <a16:creationId xmlns:a16="http://schemas.microsoft.com/office/drawing/2014/main" id="{A3D64EC0-C322-3518-B005-6FC4066A3994}"/>
              </a:ext>
              <a:ext uri="{C183D7F6-B498-43B3-948B-1728B52AA6E4}">
                <adec:decorative xmlns:adec="http://schemas.microsoft.com/office/drawing/2017/decorative" val="0"/>
              </a:ext>
            </a:extLst>
          </p:cNvPr>
          <p:cNvPicPr>
            <a:picLocks noChangeAspect="1"/>
          </p:cNvPicPr>
          <p:nvPr userDrawn="1"/>
        </p:nvPicPr>
        <p:blipFill>
          <a:blip r:embed="rId3"/>
          <a:stretch>
            <a:fillRect/>
          </a:stretch>
        </p:blipFill>
        <p:spPr bwMode="black">
          <a:xfrm>
            <a:off x="515471" y="576912"/>
            <a:ext cx="1205510" cy="288175"/>
          </a:xfrm>
          <a:prstGeom prst="rect">
            <a:avLst/>
          </a:prstGeom>
        </p:spPr>
      </p:pic>
      <p:sp>
        <p:nvSpPr>
          <p:cNvPr id="4" name="Title 1">
            <a:extLst>
              <a:ext uri="{FF2B5EF4-FFF2-40B4-BE49-F238E27FC236}">
                <a16:creationId xmlns:a16="http://schemas.microsoft.com/office/drawing/2014/main" id="{C3AB5520-3FDC-442B-7792-257F185B6E12}"/>
              </a:ext>
            </a:extLst>
          </p:cNvPr>
          <p:cNvSpPr>
            <a:spLocks noGrp="1"/>
          </p:cNvSpPr>
          <p:nvPr>
            <p:ph type="title" hasCustomPrompt="1"/>
          </p:nvPr>
        </p:nvSpPr>
        <p:spPr>
          <a:xfrm>
            <a:off x="515471" y="1559311"/>
            <a:ext cx="3232012" cy="961545"/>
          </a:xfrm>
          <a:prstGeom prst="rect">
            <a:avLst/>
          </a:prstGeom>
        </p:spPr>
        <p:txBody>
          <a:bodyPr wrap="square" lIns="0" anchor="b" anchorCtr="0">
            <a:spAutoFit/>
          </a:bodyPr>
          <a:lstStyle>
            <a:lvl1pPr>
              <a:defRPr sz="2824">
                <a:solidFill>
                  <a:schemeClr val="tx1"/>
                </a:solidFill>
              </a:defRPr>
            </a:lvl1pPr>
          </a:lstStyle>
          <a:p>
            <a:r>
              <a:rPr lang="en-US"/>
              <a:t>Event name or presentation title </a:t>
            </a:r>
          </a:p>
        </p:txBody>
      </p:sp>
      <p:sp>
        <p:nvSpPr>
          <p:cNvPr id="7" name="Text Placeholder 4">
            <a:extLst>
              <a:ext uri="{FF2B5EF4-FFF2-40B4-BE49-F238E27FC236}">
                <a16:creationId xmlns:a16="http://schemas.microsoft.com/office/drawing/2014/main" id="{72503919-89A0-4D6D-0F3A-C73581E3676D}"/>
              </a:ext>
            </a:extLst>
          </p:cNvPr>
          <p:cNvSpPr>
            <a:spLocks noGrp="1"/>
          </p:cNvSpPr>
          <p:nvPr>
            <p:ph type="body" sz="quarter" idx="12" hasCustomPrompt="1"/>
          </p:nvPr>
        </p:nvSpPr>
        <p:spPr>
          <a:xfrm>
            <a:off x="515471" y="3199155"/>
            <a:ext cx="2668511" cy="162993"/>
          </a:xfrm>
          <a:prstGeom prst="rect">
            <a:avLst/>
          </a:prstGeom>
          <a:noFill/>
        </p:spPr>
        <p:txBody>
          <a:bodyPr wrap="square" lIns="0" tIns="0" rIns="0" bIns="0">
            <a:spAutoFit/>
          </a:bodyPr>
          <a:lstStyle>
            <a:lvl1pPr marL="0" indent="0">
              <a:spcBef>
                <a:spcPts val="0"/>
              </a:spcBef>
              <a:buNone/>
              <a:defRPr sz="1059"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5855927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606" userDrawn="1">
          <p15:clr>
            <a:srgbClr val="5ACBF0"/>
          </p15:clr>
        </p15:guide>
        <p15:guide id="3" pos="1887" userDrawn="1">
          <p15:clr>
            <a:srgbClr val="5ACBF0"/>
          </p15:clr>
        </p15:guide>
        <p15:guide id="5" orient="horz" pos="3120" userDrawn="1">
          <p15:clr>
            <a:srgbClr val="FBAE40"/>
          </p15:clr>
        </p15:guide>
        <p15:guide id="6" orient="horz" pos="3219" userDrawn="1">
          <p15:clr>
            <a:srgbClr val="5ACBF0"/>
          </p15:clr>
        </p15:guide>
        <p15:guide id="7" pos="1685"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_graphic1">
    <p:bg>
      <p:bgPr>
        <a:solidFill>
          <a:srgbClr val="F3F3F5"/>
        </a:solidFill>
        <a:effectLst/>
      </p:bgPr>
    </p:bg>
    <p:spTree>
      <p:nvGrpSpPr>
        <p:cNvPr id="1" name=""/>
        <p:cNvGrpSpPr/>
        <p:nvPr/>
      </p:nvGrpSpPr>
      <p:grpSpPr>
        <a:xfrm>
          <a:off x="0" y="0"/>
          <a:ext cx="0" cy="0"/>
          <a:chOff x="0" y="0"/>
          <a:chExt cx="0" cy="0"/>
        </a:xfrm>
      </p:grpSpPr>
      <p:pic>
        <p:nvPicPr>
          <p:cNvPr id="3" name="MS logo white - EMF" descr="Microsoft logo">
            <a:extLst>
              <a:ext uri="{FF2B5EF4-FFF2-40B4-BE49-F238E27FC236}">
                <a16:creationId xmlns:a16="http://schemas.microsoft.com/office/drawing/2014/main" id="{A3D64EC0-C322-3518-B005-6FC4066A3994}"/>
              </a:ex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bwMode="black">
          <a:xfrm>
            <a:off x="515471" y="576912"/>
            <a:ext cx="1205510" cy="288175"/>
          </a:xfrm>
          <a:prstGeom prst="rect">
            <a:avLst/>
          </a:prstGeom>
        </p:spPr>
      </p:pic>
      <p:sp>
        <p:nvSpPr>
          <p:cNvPr id="4" name="Title 1">
            <a:extLst>
              <a:ext uri="{FF2B5EF4-FFF2-40B4-BE49-F238E27FC236}">
                <a16:creationId xmlns:a16="http://schemas.microsoft.com/office/drawing/2014/main" id="{C3AB5520-3FDC-442B-7792-257F185B6E12}"/>
              </a:ext>
            </a:extLst>
          </p:cNvPr>
          <p:cNvSpPr>
            <a:spLocks noGrp="1"/>
          </p:cNvSpPr>
          <p:nvPr>
            <p:ph type="title" hasCustomPrompt="1"/>
          </p:nvPr>
        </p:nvSpPr>
        <p:spPr>
          <a:xfrm>
            <a:off x="515471" y="1559311"/>
            <a:ext cx="3232012" cy="961545"/>
          </a:xfrm>
          <a:prstGeom prst="rect">
            <a:avLst/>
          </a:prstGeom>
        </p:spPr>
        <p:txBody>
          <a:bodyPr wrap="square" lIns="0" anchor="b" anchorCtr="0">
            <a:spAutoFit/>
          </a:bodyPr>
          <a:lstStyle>
            <a:lvl1pPr>
              <a:defRPr sz="2824">
                <a:solidFill>
                  <a:schemeClr val="tx1"/>
                </a:solidFill>
              </a:defRPr>
            </a:lvl1pPr>
          </a:lstStyle>
          <a:p>
            <a:r>
              <a:rPr lang="en-US"/>
              <a:t>Event name or presentation title </a:t>
            </a:r>
          </a:p>
        </p:txBody>
      </p:sp>
      <p:sp>
        <p:nvSpPr>
          <p:cNvPr id="7" name="Text Placeholder 4">
            <a:extLst>
              <a:ext uri="{FF2B5EF4-FFF2-40B4-BE49-F238E27FC236}">
                <a16:creationId xmlns:a16="http://schemas.microsoft.com/office/drawing/2014/main" id="{72503919-89A0-4D6D-0F3A-C73581E3676D}"/>
              </a:ext>
            </a:extLst>
          </p:cNvPr>
          <p:cNvSpPr>
            <a:spLocks noGrp="1"/>
          </p:cNvSpPr>
          <p:nvPr>
            <p:ph type="body" sz="quarter" idx="12" hasCustomPrompt="1"/>
          </p:nvPr>
        </p:nvSpPr>
        <p:spPr>
          <a:xfrm>
            <a:off x="515471" y="3199155"/>
            <a:ext cx="2668511" cy="162993"/>
          </a:xfrm>
          <a:prstGeom prst="rect">
            <a:avLst/>
          </a:prstGeom>
          <a:noFill/>
        </p:spPr>
        <p:txBody>
          <a:bodyPr wrap="square" lIns="0" tIns="0" rIns="0" bIns="0">
            <a:spAutoFit/>
          </a:bodyPr>
          <a:lstStyle>
            <a:lvl1pPr marL="0" indent="0">
              <a:spcBef>
                <a:spcPts val="0"/>
              </a:spcBef>
              <a:buNone/>
              <a:defRPr sz="1059"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32536127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606" userDrawn="1">
          <p15:clr>
            <a:srgbClr val="5ACBF0"/>
          </p15:clr>
        </p15:guide>
        <p15:guide id="3" pos="1887" userDrawn="1">
          <p15:clr>
            <a:srgbClr val="5ACBF0"/>
          </p15:clr>
        </p15:guide>
        <p15:guide id="5" orient="horz" pos="3120" userDrawn="1">
          <p15:clr>
            <a:srgbClr val="FBAE40"/>
          </p15:clr>
        </p15:guide>
        <p15:guide id="6" orient="horz" pos="3219" userDrawn="1">
          <p15:clr>
            <a:srgbClr val="5ACBF0"/>
          </p15:clr>
        </p15:guide>
        <p15:guide id="7" pos="1685"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graphic1_50%">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BA6845C-5902-5572-5C62-EFD0BEB0FCB8}"/>
              </a:ext>
              <a:ext uri="{C183D7F6-B498-43B3-948B-1728B52AA6E4}">
                <adec:decorative xmlns:adec="http://schemas.microsoft.com/office/drawing/2017/decorative" val="1"/>
              </a:ext>
            </a:extLst>
          </p:cNvPr>
          <p:cNvSpPr/>
          <p:nvPr userDrawn="1"/>
        </p:nvSpPr>
        <p:spPr bwMode="auto">
          <a:xfrm>
            <a:off x="3784331" y="0"/>
            <a:ext cx="3073669"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sp>
        <p:nvSpPr>
          <p:cNvPr id="13" name="Title 1">
            <a:extLst>
              <a:ext uri="{FF2B5EF4-FFF2-40B4-BE49-F238E27FC236}">
                <a16:creationId xmlns:a16="http://schemas.microsoft.com/office/drawing/2014/main" id="{56A10519-8369-B7A0-78D4-6FC97DCC734B}"/>
              </a:ext>
            </a:extLst>
          </p:cNvPr>
          <p:cNvSpPr>
            <a:spLocks noGrp="1"/>
          </p:cNvSpPr>
          <p:nvPr>
            <p:ph type="title" hasCustomPrompt="1"/>
          </p:nvPr>
        </p:nvSpPr>
        <p:spPr>
          <a:xfrm>
            <a:off x="431438" y="587670"/>
            <a:ext cx="2834676" cy="961545"/>
          </a:xfrm>
          <a:prstGeom prst="rect">
            <a:avLst/>
          </a:prstGeom>
        </p:spPr>
        <p:txBody>
          <a:bodyPr wrap="square" lIns="0" anchor="b" anchorCtr="0">
            <a:spAutoFit/>
          </a:bodyPr>
          <a:lstStyle>
            <a:lvl1pPr>
              <a:defRPr sz="2824">
                <a:solidFill>
                  <a:srgbClr val="091F2C"/>
                </a:solidFill>
              </a:defRPr>
            </a:lvl1pPr>
          </a:lstStyle>
          <a:p>
            <a:r>
              <a:rPr lang="en-US"/>
              <a:t>Event name or presentation title </a:t>
            </a:r>
          </a:p>
        </p:txBody>
      </p:sp>
      <p:sp>
        <p:nvSpPr>
          <p:cNvPr id="14" name="Text Placeholder 4">
            <a:extLst>
              <a:ext uri="{FF2B5EF4-FFF2-40B4-BE49-F238E27FC236}">
                <a16:creationId xmlns:a16="http://schemas.microsoft.com/office/drawing/2014/main" id="{32396D44-10DD-D15A-391E-7493868CE3D8}"/>
              </a:ext>
            </a:extLst>
          </p:cNvPr>
          <p:cNvSpPr>
            <a:spLocks noGrp="1"/>
          </p:cNvSpPr>
          <p:nvPr>
            <p:ph type="body" sz="quarter" idx="12" hasCustomPrompt="1"/>
          </p:nvPr>
        </p:nvSpPr>
        <p:spPr>
          <a:xfrm>
            <a:off x="431438" y="2168684"/>
            <a:ext cx="2838387" cy="162993"/>
          </a:xfrm>
          <a:prstGeom prst="rect">
            <a:avLst/>
          </a:prstGeom>
          <a:noFill/>
        </p:spPr>
        <p:txBody>
          <a:bodyPr wrap="square" lIns="0" tIns="0" rIns="0" bIns="0">
            <a:spAutoFit/>
          </a:bodyPr>
          <a:lstStyle>
            <a:lvl1pPr marL="0" indent="0">
              <a:spcBef>
                <a:spcPts val="0"/>
              </a:spcBef>
              <a:buNone/>
              <a:defRPr sz="1059" spc="0" baseline="0">
                <a:solidFill>
                  <a:srgbClr val="FFA38B"/>
                </a:solidFill>
                <a:latin typeface="+mn-lt"/>
                <a:cs typeface="Segoe UI" panose="020B0502040204020203" pitchFamily="34" charset="0"/>
              </a:defRPr>
            </a:lvl1pPr>
          </a:lstStyle>
          <a:p>
            <a:pPr lvl="0"/>
            <a:r>
              <a:rPr lang="en-US"/>
              <a:t>Speaker name or subtitle</a:t>
            </a:r>
          </a:p>
        </p:txBody>
      </p:sp>
      <p:pic>
        <p:nvPicPr>
          <p:cNvPr id="2" name="Picture 1">
            <a:extLst>
              <a:ext uri="{FF2B5EF4-FFF2-40B4-BE49-F238E27FC236}">
                <a16:creationId xmlns:a16="http://schemas.microsoft.com/office/drawing/2014/main" id="{2143120B-537B-176A-02E5-995B088236BC}"/>
              </a:ext>
              <a:ext uri="{C183D7F6-B498-43B3-948B-1728B52AA6E4}">
                <adec:decorative xmlns:adec="http://schemas.microsoft.com/office/drawing/2017/decorative" val="1"/>
              </a:ext>
            </a:extLst>
          </p:cNvPr>
          <p:cNvPicPr>
            <a:picLocks noChangeAspect="1"/>
          </p:cNvPicPr>
          <p:nvPr userDrawn="1"/>
        </p:nvPicPr>
        <p:blipFill rotWithShape="1">
          <a:blip r:embed="rId2"/>
          <a:srcRect r="3029"/>
          <a:stretch/>
        </p:blipFill>
        <p:spPr>
          <a:xfrm>
            <a:off x="3784331" y="6070860"/>
            <a:ext cx="3054229" cy="3835140"/>
          </a:xfrm>
          <a:prstGeom prst="rect">
            <a:avLst/>
          </a:prstGeom>
        </p:spPr>
      </p:pic>
    </p:spTree>
    <p:extLst>
      <p:ext uri="{BB962C8B-B14F-4D97-AF65-F5344CB8AC3E}">
        <p14:creationId xmlns:p14="http://schemas.microsoft.com/office/powerpoint/2010/main" val="21015934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24" userDrawn="1">
          <p15:clr>
            <a:srgbClr val="5ACBF0"/>
          </p15:clr>
        </p15:guide>
        <p15:guide id="2" orient="horz" pos="3606" userDrawn="1">
          <p15:clr>
            <a:srgbClr val="5ACBF0"/>
          </p15:clr>
        </p15:guide>
        <p15:guide id="3" pos="3449" userDrawn="1">
          <p15:clr>
            <a:srgbClr val="5ACBF0"/>
          </p15:clr>
        </p15:guide>
        <p15:guide id="4" orient="horz" pos="3120" userDrawn="1">
          <p15:clr>
            <a:srgbClr val="FBAE40"/>
          </p15:clr>
        </p15:guide>
        <p15:guide id="5" pos="1994" userDrawn="1">
          <p15:clr>
            <a:srgbClr val="FBAE40"/>
          </p15:clr>
        </p15:guide>
        <p15:guide id="6" pos="189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_graphic1_50%">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DF2630-F9C7-F6AD-3870-5D854984786A}"/>
              </a:ext>
            </a:extLst>
          </p:cNvPr>
          <p:cNvSpPr/>
          <p:nvPr userDrawn="1"/>
        </p:nvSpPr>
        <p:spPr bwMode="auto">
          <a:xfrm>
            <a:off x="3785347" y="412750"/>
            <a:ext cx="3079376" cy="9493250"/>
          </a:xfrm>
          <a:custGeom>
            <a:avLst/>
            <a:gdLst>
              <a:gd name="connsiteX0" fmla="*/ 0 w 3482339"/>
              <a:gd name="connsiteY0" fmla="*/ 0 h 8900160"/>
              <a:gd name="connsiteX1" fmla="*/ 3482339 w 3482339"/>
              <a:gd name="connsiteY1" fmla="*/ 0 h 8900160"/>
              <a:gd name="connsiteX2" fmla="*/ 3482339 w 3482339"/>
              <a:gd name="connsiteY2" fmla="*/ 8900160 h 8900160"/>
              <a:gd name="connsiteX3" fmla="*/ 0 w 3482339"/>
              <a:gd name="connsiteY3" fmla="*/ 8900160 h 8900160"/>
              <a:gd name="connsiteX4" fmla="*/ 0 w 3482339"/>
              <a:gd name="connsiteY4" fmla="*/ 0 h 8900160"/>
              <a:gd name="connsiteX0" fmla="*/ 0 w 3482339"/>
              <a:gd name="connsiteY0" fmla="*/ 7620 h 8907780"/>
              <a:gd name="connsiteX1" fmla="*/ 2072640 w 3482339"/>
              <a:gd name="connsiteY1" fmla="*/ 0 h 8907780"/>
              <a:gd name="connsiteX2" fmla="*/ 3482339 w 3482339"/>
              <a:gd name="connsiteY2" fmla="*/ 7620 h 8907780"/>
              <a:gd name="connsiteX3" fmla="*/ 3482339 w 3482339"/>
              <a:gd name="connsiteY3" fmla="*/ 8907780 h 8907780"/>
              <a:gd name="connsiteX4" fmla="*/ 0 w 3482339"/>
              <a:gd name="connsiteY4" fmla="*/ 8907780 h 8907780"/>
              <a:gd name="connsiteX5" fmla="*/ 0 w 3482339"/>
              <a:gd name="connsiteY5" fmla="*/ 7620 h 8907780"/>
              <a:gd name="connsiteX0" fmla="*/ 0 w 3505199"/>
              <a:gd name="connsiteY0" fmla="*/ 7620 h 8907780"/>
              <a:gd name="connsiteX1" fmla="*/ 2072640 w 3505199"/>
              <a:gd name="connsiteY1" fmla="*/ 0 h 8907780"/>
              <a:gd name="connsiteX2" fmla="*/ 3505199 w 3505199"/>
              <a:gd name="connsiteY2" fmla="*/ 1211580 h 8907780"/>
              <a:gd name="connsiteX3" fmla="*/ 3482339 w 3505199"/>
              <a:gd name="connsiteY3" fmla="*/ 8907780 h 8907780"/>
              <a:gd name="connsiteX4" fmla="*/ 0 w 3505199"/>
              <a:gd name="connsiteY4" fmla="*/ 8907780 h 8907780"/>
              <a:gd name="connsiteX5" fmla="*/ 0 w 3505199"/>
              <a:gd name="connsiteY5" fmla="*/ 7620 h 8907780"/>
              <a:gd name="connsiteX0" fmla="*/ 0 w 3505199"/>
              <a:gd name="connsiteY0" fmla="*/ 739140 h 9639300"/>
              <a:gd name="connsiteX1" fmla="*/ 1066800 w 3505199"/>
              <a:gd name="connsiteY1" fmla="*/ 0 h 9639300"/>
              <a:gd name="connsiteX2" fmla="*/ 3505199 w 3505199"/>
              <a:gd name="connsiteY2" fmla="*/ 1943100 h 9639300"/>
              <a:gd name="connsiteX3" fmla="*/ 3482339 w 3505199"/>
              <a:gd name="connsiteY3" fmla="*/ 9639300 h 9639300"/>
              <a:gd name="connsiteX4" fmla="*/ 0 w 3505199"/>
              <a:gd name="connsiteY4" fmla="*/ 9639300 h 9639300"/>
              <a:gd name="connsiteX5" fmla="*/ 0 w 3505199"/>
              <a:gd name="connsiteY5" fmla="*/ 739140 h 9639300"/>
              <a:gd name="connsiteX0" fmla="*/ 0 w 3489959"/>
              <a:gd name="connsiteY0" fmla="*/ 739140 h 9639300"/>
              <a:gd name="connsiteX1" fmla="*/ 1066800 w 3489959"/>
              <a:gd name="connsiteY1" fmla="*/ 0 h 9639300"/>
              <a:gd name="connsiteX2" fmla="*/ 3489959 w 3489959"/>
              <a:gd name="connsiteY2" fmla="*/ 1341120 h 9639300"/>
              <a:gd name="connsiteX3" fmla="*/ 3482339 w 3489959"/>
              <a:gd name="connsiteY3" fmla="*/ 9639300 h 9639300"/>
              <a:gd name="connsiteX4" fmla="*/ 0 w 3489959"/>
              <a:gd name="connsiteY4" fmla="*/ 9639300 h 9639300"/>
              <a:gd name="connsiteX5" fmla="*/ 0 w 3489959"/>
              <a:gd name="connsiteY5" fmla="*/ 739140 h 9639300"/>
              <a:gd name="connsiteX0" fmla="*/ 0 w 3489959"/>
              <a:gd name="connsiteY0" fmla="*/ 739140 h 9639300"/>
              <a:gd name="connsiteX1" fmla="*/ 1066800 w 3489959"/>
              <a:gd name="connsiteY1" fmla="*/ 0 h 9639300"/>
              <a:gd name="connsiteX2" fmla="*/ 3489959 w 3489959"/>
              <a:gd name="connsiteY2" fmla="*/ 1341120 h 9639300"/>
              <a:gd name="connsiteX3" fmla="*/ 3482339 w 3489959"/>
              <a:gd name="connsiteY3" fmla="*/ 9639300 h 9639300"/>
              <a:gd name="connsiteX4" fmla="*/ 0 w 3489959"/>
              <a:gd name="connsiteY4" fmla="*/ 9639300 h 9639300"/>
              <a:gd name="connsiteX5" fmla="*/ 0 w 3489959"/>
              <a:gd name="connsiteY5" fmla="*/ 739140 h 9639300"/>
              <a:gd name="connsiteX0" fmla="*/ 0 w 3489959"/>
              <a:gd name="connsiteY0" fmla="*/ 739140 h 9639300"/>
              <a:gd name="connsiteX1" fmla="*/ 1066800 w 3489959"/>
              <a:gd name="connsiteY1" fmla="*/ 0 h 9639300"/>
              <a:gd name="connsiteX2" fmla="*/ 3489959 w 3489959"/>
              <a:gd name="connsiteY2" fmla="*/ 1341120 h 9639300"/>
              <a:gd name="connsiteX3" fmla="*/ 3482339 w 3489959"/>
              <a:gd name="connsiteY3" fmla="*/ 9639300 h 9639300"/>
              <a:gd name="connsiteX4" fmla="*/ 0 w 3489959"/>
              <a:gd name="connsiteY4" fmla="*/ 9639300 h 9639300"/>
              <a:gd name="connsiteX5" fmla="*/ 0 w 3489959"/>
              <a:gd name="connsiteY5" fmla="*/ 739140 h 9639300"/>
              <a:gd name="connsiteX0" fmla="*/ 0 w 3489959"/>
              <a:gd name="connsiteY0" fmla="*/ 739140 h 9639300"/>
              <a:gd name="connsiteX1" fmla="*/ 1066800 w 3489959"/>
              <a:gd name="connsiteY1" fmla="*/ 0 h 9639300"/>
              <a:gd name="connsiteX2" fmla="*/ 3489959 w 3489959"/>
              <a:gd name="connsiteY2" fmla="*/ 1341120 h 9639300"/>
              <a:gd name="connsiteX3" fmla="*/ 3482339 w 3489959"/>
              <a:gd name="connsiteY3" fmla="*/ 9639300 h 9639300"/>
              <a:gd name="connsiteX4" fmla="*/ 0 w 3489959"/>
              <a:gd name="connsiteY4" fmla="*/ 9639300 h 9639300"/>
              <a:gd name="connsiteX5" fmla="*/ 0 w 3489959"/>
              <a:gd name="connsiteY5" fmla="*/ 739140 h 9639300"/>
              <a:gd name="connsiteX0" fmla="*/ 0 w 3489959"/>
              <a:gd name="connsiteY0" fmla="*/ 739140 h 9639300"/>
              <a:gd name="connsiteX1" fmla="*/ 1066800 w 3489959"/>
              <a:gd name="connsiteY1" fmla="*/ 0 h 9639300"/>
              <a:gd name="connsiteX2" fmla="*/ 3489959 w 3489959"/>
              <a:gd name="connsiteY2" fmla="*/ 1341120 h 9639300"/>
              <a:gd name="connsiteX3" fmla="*/ 3482339 w 3489959"/>
              <a:gd name="connsiteY3" fmla="*/ 9639300 h 9639300"/>
              <a:gd name="connsiteX4" fmla="*/ 0 w 3489959"/>
              <a:gd name="connsiteY4" fmla="*/ 9639300 h 9639300"/>
              <a:gd name="connsiteX5" fmla="*/ 0 w 3489959"/>
              <a:gd name="connsiteY5" fmla="*/ 739140 h 963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89959" h="9639300">
                <a:moveTo>
                  <a:pt x="0" y="739140"/>
                </a:moveTo>
                <a:lnTo>
                  <a:pt x="1066800" y="0"/>
                </a:lnTo>
                <a:cubicBezTo>
                  <a:pt x="1859280" y="721360"/>
                  <a:pt x="2232659" y="1297940"/>
                  <a:pt x="3489959" y="1341120"/>
                </a:cubicBezTo>
                <a:lnTo>
                  <a:pt x="3482339" y="9639300"/>
                </a:lnTo>
                <a:lnTo>
                  <a:pt x="0" y="9639300"/>
                </a:lnTo>
                <a:lnTo>
                  <a:pt x="0" y="739140"/>
                </a:lnTo>
                <a:close/>
              </a:path>
            </a:pathLst>
          </a:cu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algn="l" defTabSz="822813" fontAlgn="base">
              <a:spcBef>
                <a:spcPct val="0"/>
              </a:spcBef>
              <a:spcAft>
                <a:spcPct val="0"/>
              </a:spcAft>
            </a:pPr>
            <a:endParaRPr lang="en-US" sz="1765" err="1">
              <a:solidFill>
                <a:srgbClr val="FFFFFF"/>
              </a:solidFill>
              <a:ea typeface="Segoe UI" pitchFamily="34" charset="0"/>
              <a:cs typeface="Segoe UI" pitchFamily="34" charset="0"/>
            </a:endParaRPr>
          </a:p>
        </p:txBody>
      </p:sp>
      <p:sp>
        <p:nvSpPr>
          <p:cNvPr id="13" name="Title 1">
            <a:extLst>
              <a:ext uri="{FF2B5EF4-FFF2-40B4-BE49-F238E27FC236}">
                <a16:creationId xmlns:a16="http://schemas.microsoft.com/office/drawing/2014/main" id="{56A10519-8369-B7A0-78D4-6FC97DCC734B}"/>
              </a:ext>
            </a:extLst>
          </p:cNvPr>
          <p:cNvSpPr>
            <a:spLocks noGrp="1"/>
          </p:cNvSpPr>
          <p:nvPr>
            <p:ph type="title" hasCustomPrompt="1"/>
          </p:nvPr>
        </p:nvSpPr>
        <p:spPr>
          <a:xfrm>
            <a:off x="431438" y="587670"/>
            <a:ext cx="2834676" cy="961545"/>
          </a:xfrm>
          <a:prstGeom prst="rect">
            <a:avLst/>
          </a:prstGeom>
        </p:spPr>
        <p:txBody>
          <a:bodyPr wrap="square" lIns="0" anchor="b" anchorCtr="0">
            <a:spAutoFit/>
          </a:bodyPr>
          <a:lstStyle>
            <a:lvl1pPr>
              <a:defRPr sz="2824">
                <a:solidFill>
                  <a:srgbClr val="091F2C"/>
                </a:solidFill>
              </a:defRPr>
            </a:lvl1pPr>
          </a:lstStyle>
          <a:p>
            <a:r>
              <a:rPr lang="en-US"/>
              <a:t>Event name or presentation title </a:t>
            </a:r>
          </a:p>
        </p:txBody>
      </p:sp>
      <p:sp>
        <p:nvSpPr>
          <p:cNvPr id="14" name="Text Placeholder 4">
            <a:extLst>
              <a:ext uri="{FF2B5EF4-FFF2-40B4-BE49-F238E27FC236}">
                <a16:creationId xmlns:a16="http://schemas.microsoft.com/office/drawing/2014/main" id="{32396D44-10DD-D15A-391E-7493868CE3D8}"/>
              </a:ext>
            </a:extLst>
          </p:cNvPr>
          <p:cNvSpPr>
            <a:spLocks noGrp="1"/>
          </p:cNvSpPr>
          <p:nvPr>
            <p:ph type="body" sz="quarter" idx="12" hasCustomPrompt="1"/>
          </p:nvPr>
        </p:nvSpPr>
        <p:spPr>
          <a:xfrm>
            <a:off x="431438" y="2168684"/>
            <a:ext cx="2838387" cy="162993"/>
          </a:xfrm>
          <a:prstGeom prst="rect">
            <a:avLst/>
          </a:prstGeom>
          <a:noFill/>
        </p:spPr>
        <p:txBody>
          <a:bodyPr wrap="square" lIns="0" tIns="0" rIns="0" bIns="0">
            <a:spAutoFit/>
          </a:bodyPr>
          <a:lstStyle>
            <a:lvl1pPr marL="0" indent="0">
              <a:spcBef>
                <a:spcPts val="0"/>
              </a:spcBef>
              <a:buNone/>
              <a:defRPr sz="1059" spc="0" baseline="0">
                <a:solidFill>
                  <a:srgbClr val="FFA38B"/>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870E46AD-99D6-0D8D-6C38-6DC79D20174E}"/>
              </a:ext>
              <a:ext uri="{C183D7F6-B498-43B3-948B-1728B52AA6E4}">
                <adec:decorative xmlns:adec="http://schemas.microsoft.com/office/drawing/2017/decorative" val="1"/>
              </a:ext>
            </a:extLst>
          </p:cNvPr>
          <p:cNvPicPr>
            <a:picLocks noChangeAspect="1"/>
          </p:cNvPicPr>
          <p:nvPr userDrawn="1"/>
        </p:nvPicPr>
        <p:blipFill rotWithShape="1">
          <a:blip r:embed="rId2"/>
          <a:srcRect l="-198" t="29471" r="59369" b="17024"/>
          <a:stretch/>
        </p:blipFill>
        <p:spPr>
          <a:xfrm>
            <a:off x="1969993" y="0"/>
            <a:ext cx="4888006" cy="7386972"/>
          </a:xfrm>
          <a:prstGeom prst="rect">
            <a:avLst/>
          </a:prstGeom>
        </p:spPr>
      </p:pic>
    </p:spTree>
    <p:extLst>
      <p:ext uri="{BB962C8B-B14F-4D97-AF65-F5344CB8AC3E}">
        <p14:creationId xmlns:p14="http://schemas.microsoft.com/office/powerpoint/2010/main" val="19851486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24" userDrawn="1">
          <p15:clr>
            <a:srgbClr val="5ACBF0"/>
          </p15:clr>
        </p15:guide>
        <p15:guide id="2" orient="horz" pos="3606" userDrawn="1">
          <p15:clr>
            <a:srgbClr val="5ACBF0"/>
          </p15:clr>
        </p15:guide>
        <p15:guide id="3" pos="3449" userDrawn="1">
          <p15:clr>
            <a:srgbClr val="5ACBF0"/>
          </p15:clr>
        </p15:guide>
        <p15:guide id="4" orient="horz" pos="3120" userDrawn="1">
          <p15:clr>
            <a:srgbClr val="FBAE40"/>
          </p15:clr>
        </p15:guide>
        <p15:guide id="5" pos="1994" userDrawn="1">
          <p15:clr>
            <a:srgbClr val="FBAE40"/>
          </p15:clr>
        </p15:guide>
        <p15:guide id="6" pos="189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_graphic1_50%">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6A10519-8369-B7A0-78D4-6FC97DCC734B}"/>
              </a:ext>
            </a:extLst>
          </p:cNvPr>
          <p:cNvSpPr>
            <a:spLocks noGrp="1"/>
          </p:cNvSpPr>
          <p:nvPr>
            <p:ph type="title" hasCustomPrompt="1"/>
          </p:nvPr>
        </p:nvSpPr>
        <p:spPr>
          <a:xfrm>
            <a:off x="431438" y="587670"/>
            <a:ext cx="2834676" cy="961545"/>
          </a:xfrm>
          <a:prstGeom prst="rect">
            <a:avLst/>
          </a:prstGeom>
        </p:spPr>
        <p:txBody>
          <a:bodyPr wrap="square" lIns="0" anchor="b" anchorCtr="0">
            <a:spAutoFit/>
          </a:bodyPr>
          <a:lstStyle>
            <a:lvl1pPr>
              <a:defRPr sz="2824">
                <a:solidFill>
                  <a:srgbClr val="091F2C"/>
                </a:solidFill>
              </a:defRPr>
            </a:lvl1pPr>
          </a:lstStyle>
          <a:p>
            <a:r>
              <a:rPr lang="en-US"/>
              <a:t>Event name or presentation title </a:t>
            </a:r>
          </a:p>
        </p:txBody>
      </p:sp>
      <p:sp>
        <p:nvSpPr>
          <p:cNvPr id="14" name="Text Placeholder 4">
            <a:extLst>
              <a:ext uri="{FF2B5EF4-FFF2-40B4-BE49-F238E27FC236}">
                <a16:creationId xmlns:a16="http://schemas.microsoft.com/office/drawing/2014/main" id="{32396D44-10DD-D15A-391E-7493868CE3D8}"/>
              </a:ext>
            </a:extLst>
          </p:cNvPr>
          <p:cNvSpPr>
            <a:spLocks noGrp="1"/>
          </p:cNvSpPr>
          <p:nvPr>
            <p:ph type="body" sz="quarter" idx="12" hasCustomPrompt="1"/>
          </p:nvPr>
        </p:nvSpPr>
        <p:spPr>
          <a:xfrm>
            <a:off x="431438" y="2168684"/>
            <a:ext cx="2838387" cy="162993"/>
          </a:xfrm>
          <a:prstGeom prst="rect">
            <a:avLst/>
          </a:prstGeom>
          <a:noFill/>
        </p:spPr>
        <p:txBody>
          <a:bodyPr wrap="square" lIns="0" tIns="0" rIns="0" bIns="0">
            <a:spAutoFit/>
          </a:bodyPr>
          <a:lstStyle>
            <a:lvl1pPr marL="0" indent="0">
              <a:spcBef>
                <a:spcPts val="0"/>
              </a:spcBef>
              <a:buNone/>
              <a:defRPr sz="1059" spc="0" baseline="0">
                <a:solidFill>
                  <a:srgbClr val="FFA38B"/>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870E46AD-99D6-0D8D-6C38-6DC79D20174E}"/>
              </a:ext>
              <a:ext uri="{C183D7F6-B498-43B3-948B-1728B52AA6E4}">
                <adec:decorative xmlns:adec="http://schemas.microsoft.com/office/drawing/2017/decorative" val="1"/>
              </a:ext>
            </a:extLst>
          </p:cNvPr>
          <p:cNvPicPr>
            <a:picLocks noChangeAspect="1"/>
          </p:cNvPicPr>
          <p:nvPr userDrawn="1"/>
        </p:nvPicPr>
        <p:blipFill rotWithShape="1">
          <a:blip r:embed="rId2"/>
          <a:srcRect l="-198" t="29471" r="59369" b="17024"/>
          <a:stretch/>
        </p:blipFill>
        <p:spPr>
          <a:xfrm>
            <a:off x="3287585" y="0"/>
            <a:ext cx="3570414" cy="5395768"/>
          </a:xfrm>
          <a:prstGeom prst="rect">
            <a:avLst/>
          </a:prstGeom>
        </p:spPr>
      </p:pic>
    </p:spTree>
    <p:extLst>
      <p:ext uri="{BB962C8B-B14F-4D97-AF65-F5344CB8AC3E}">
        <p14:creationId xmlns:p14="http://schemas.microsoft.com/office/powerpoint/2010/main" val="13454640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24" userDrawn="1">
          <p15:clr>
            <a:srgbClr val="5ACBF0"/>
          </p15:clr>
        </p15:guide>
        <p15:guide id="2" orient="horz" pos="3606" userDrawn="1">
          <p15:clr>
            <a:srgbClr val="5ACBF0"/>
          </p15:clr>
        </p15:guide>
        <p15:guide id="3" pos="3449" userDrawn="1">
          <p15:clr>
            <a:srgbClr val="5ACBF0"/>
          </p15:clr>
        </p15:guide>
        <p15:guide id="4" orient="horz" pos="3120" userDrawn="1">
          <p15:clr>
            <a:srgbClr val="FBAE40"/>
          </p15:clr>
        </p15:guide>
        <p15:guide id="5" pos="1994" userDrawn="1">
          <p15:clr>
            <a:srgbClr val="FBAE40"/>
          </p15:clr>
        </p15:guide>
        <p15:guide id="6" pos="189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graphic2">
    <p:bg>
      <p:bgPr>
        <a:blipFill dpi="0" rotWithShape="1">
          <a:blip r:embed="rId2">
            <a:lum/>
          </a:blip>
          <a:srcRect/>
          <a:stretch>
            <a:fillRect l="-65000" r="-65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15470" y="1559311"/>
            <a:ext cx="3263861" cy="961545"/>
          </a:xfrm>
          <a:prstGeom prst="rect">
            <a:avLst/>
          </a:prstGeom>
        </p:spPr>
        <p:txBody>
          <a:bodyPr wrap="square" lIns="0" anchor="b" anchorCtr="0">
            <a:spAutoFit/>
          </a:bodyPr>
          <a:lstStyle>
            <a:lvl1pPr>
              <a:defRPr sz="2824">
                <a:solidFill>
                  <a:srgbClr val="091F2C"/>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15471" y="3199155"/>
            <a:ext cx="2668511" cy="162993"/>
          </a:xfrm>
          <a:prstGeom prst="rect">
            <a:avLst/>
          </a:prstGeom>
          <a:noFill/>
        </p:spPr>
        <p:txBody>
          <a:bodyPr wrap="square" lIns="0" tIns="0" rIns="0" bIns="0">
            <a:spAutoFit/>
          </a:bodyPr>
          <a:lstStyle>
            <a:lvl1pPr marL="0" indent="0">
              <a:spcBef>
                <a:spcPts val="0"/>
              </a:spcBef>
              <a:buNone/>
              <a:defRPr sz="1059" spc="0" baseline="0">
                <a:solidFill>
                  <a:srgbClr val="091F2C"/>
                </a:solidFill>
                <a:latin typeface="+mn-lt"/>
                <a:cs typeface="Segoe UI" panose="020B0502040204020203" pitchFamily="34" charset="0"/>
              </a:defRPr>
            </a:lvl1pPr>
          </a:lstStyle>
          <a:p>
            <a:pPr lvl="0"/>
            <a:r>
              <a:rPr lang="en-US"/>
              <a:t>Speaker name or subtitle</a:t>
            </a:r>
          </a:p>
        </p:txBody>
      </p:sp>
      <p:pic>
        <p:nvPicPr>
          <p:cNvPr id="4" name="Picture 3" descr="Microsoft logo">
            <a:extLst>
              <a:ext uri="{FF2B5EF4-FFF2-40B4-BE49-F238E27FC236}">
                <a16:creationId xmlns:a16="http://schemas.microsoft.com/office/drawing/2014/main" id="{E0AB6C81-9F2B-EDF6-94E5-48A0EBAC5939}"/>
              </a:ext>
            </a:extLst>
          </p:cNvPr>
          <p:cNvPicPr>
            <a:picLocks noChangeAspect="1"/>
          </p:cNvPicPr>
          <p:nvPr userDrawn="1"/>
        </p:nvPicPr>
        <p:blipFill>
          <a:blip r:embed="rId3"/>
          <a:stretch>
            <a:fillRect/>
          </a:stretch>
        </p:blipFill>
        <p:spPr>
          <a:xfrm>
            <a:off x="515471" y="576913"/>
            <a:ext cx="1202167" cy="285830"/>
          </a:xfrm>
          <a:prstGeom prst="rect">
            <a:avLst/>
          </a:prstGeom>
        </p:spPr>
      </p:pic>
    </p:spTree>
    <p:extLst>
      <p:ext uri="{BB962C8B-B14F-4D97-AF65-F5344CB8AC3E}">
        <p14:creationId xmlns:p14="http://schemas.microsoft.com/office/powerpoint/2010/main" val="14687762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606" userDrawn="1">
          <p15:clr>
            <a:srgbClr val="5ACBF0"/>
          </p15:clr>
        </p15:guide>
        <p15:guide id="3" pos="1887" userDrawn="1">
          <p15:clr>
            <a:srgbClr val="5ACBF0"/>
          </p15:clr>
        </p15:guide>
        <p15:guide id="5" orient="horz" pos="3120" userDrawn="1">
          <p15:clr>
            <a:srgbClr val="FBAE40"/>
          </p15:clr>
        </p15:guide>
        <p15:guide id="6" orient="horz" pos="3219" userDrawn="1">
          <p15:clr>
            <a:srgbClr val="5ACBF0"/>
          </p15:clr>
        </p15:guide>
        <p15:guide id="7" pos="1685"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graphic2_50%">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3166441-BA80-47A0-267B-755C734E8187}"/>
              </a:ext>
            </a:extLst>
          </p:cNvPr>
          <p:cNvSpPr/>
          <p:nvPr userDrawn="1"/>
        </p:nvSpPr>
        <p:spPr bwMode="auto">
          <a:xfrm>
            <a:off x="0" y="0"/>
            <a:ext cx="6858000" cy="1374517"/>
          </a:xfrm>
          <a:prstGeom prst="rect">
            <a:avLst/>
          </a:prstGeom>
          <a:solidFill>
            <a:srgbClr val="C5B4E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algn="l" defTabSz="822813" fontAlgn="base">
              <a:spcBef>
                <a:spcPct val="0"/>
              </a:spcBef>
              <a:spcAft>
                <a:spcPct val="0"/>
              </a:spcAft>
            </a:pPr>
            <a:endParaRPr lang="en-US" sz="1765" err="1">
              <a:solidFill>
                <a:srgbClr val="FFFFFF"/>
              </a:solidFill>
              <a:ea typeface="Segoe UI" pitchFamily="34" charset="0"/>
              <a:cs typeface="Segoe UI" pitchFamily="34" charset="0"/>
            </a:endParaRPr>
          </a:p>
        </p:txBody>
      </p:sp>
      <p:pic>
        <p:nvPicPr>
          <p:cNvPr id="3" name="Picture 2">
            <a:extLst>
              <a:ext uri="{FF2B5EF4-FFF2-40B4-BE49-F238E27FC236}">
                <a16:creationId xmlns:a16="http://schemas.microsoft.com/office/drawing/2014/main" id="{4199FFFB-4AE9-E332-91AC-FDDBD9722621}"/>
              </a:ext>
              <a:ext uri="{C183D7F6-B498-43B3-948B-1728B52AA6E4}">
                <adec:decorative xmlns:adec="http://schemas.microsoft.com/office/drawing/2017/decorative" val="1"/>
              </a:ext>
            </a:extLst>
          </p:cNvPr>
          <p:cNvPicPr>
            <a:picLocks noChangeAspect="1"/>
          </p:cNvPicPr>
          <p:nvPr userDrawn="1"/>
        </p:nvPicPr>
        <p:blipFill rotWithShape="1">
          <a:blip r:embed="rId2"/>
          <a:srcRect l="1515" r="1515"/>
          <a:stretch/>
        </p:blipFill>
        <p:spPr>
          <a:xfrm>
            <a:off x="-23235" y="1265356"/>
            <a:ext cx="6881236" cy="8640644"/>
          </a:xfrm>
          <a:prstGeom prst="rect">
            <a:avLst/>
          </a:prstGeom>
        </p:spPr>
      </p:pic>
      <p:sp>
        <p:nvSpPr>
          <p:cNvPr id="13" name="Title 1">
            <a:extLst>
              <a:ext uri="{FF2B5EF4-FFF2-40B4-BE49-F238E27FC236}">
                <a16:creationId xmlns:a16="http://schemas.microsoft.com/office/drawing/2014/main" id="{56A10519-8369-B7A0-78D4-6FC97DCC734B}"/>
              </a:ext>
            </a:extLst>
          </p:cNvPr>
          <p:cNvSpPr>
            <a:spLocks noGrp="1"/>
          </p:cNvSpPr>
          <p:nvPr>
            <p:ph type="title" hasCustomPrompt="1"/>
          </p:nvPr>
        </p:nvSpPr>
        <p:spPr>
          <a:xfrm>
            <a:off x="594324" y="671174"/>
            <a:ext cx="2834676" cy="961545"/>
          </a:xfrm>
          <a:prstGeom prst="rect">
            <a:avLst/>
          </a:prstGeom>
        </p:spPr>
        <p:txBody>
          <a:bodyPr wrap="square" lIns="0" anchor="b" anchorCtr="0">
            <a:spAutoFit/>
          </a:bodyPr>
          <a:lstStyle>
            <a:lvl1pPr>
              <a:defRPr sz="2824">
                <a:solidFill>
                  <a:srgbClr val="091F2C"/>
                </a:solidFill>
              </a:defRPr>
            </a:lvl1pPr>
          </a:lstStyle>
          <a:p>
            <a:r>
              <a:rPr lang="en-US"/>
              <a:t>Event name or presentation title </a:t>
            </a:r>
          </a:p>
        </p:txBody>
      </p:sp>
      <p:sp>
        <p:nvSpPr>
          <p:cNvPr id="14" name="Text Placeholder 4">
            <a:extLst>
              <a:ext uri="{FF2B5EF4-FFF2-40B4-BE49-F238E27FC236}">
                <a16:creationId xmlns:a16="http://schemas.microsoft.com/office/drawing/2014/main" id="{32396D44-10DD-D15A-391E-7493868CE3D8}"/>
              </a:ext>
            </a:extLst>
          </p:cNvPr>
          <p:cNvSpPr>
            <a:spLocks noGrp="1"/>
          </p:cNvSpPr>
          <p:nvPr>
            <p:ph type="body" sz="quarter" idx="12" hasCustomPrompt="1"/>
          </p:nvPr>
        </p:nvSpPr>
        <p:spPr>
          <a:xfrm>
            <a:off x="594324" y="2238085"/>
            <a:ext cx="2838387" cy="162993"/>
          </a:xfrm>
          <a:prstGeom prst="rect">
            <a:avLst/>
          </a:prstGeom>
          <a:noFill/>
        </p:spPr>
        <p:txBody>
          <a:bodyPr wrap="square" lIns="0" tIns="0" rIns="0" bIns="0">
            <a:spAutoFit/>
          </a:bodyPr>
          <a:lstStyle>
            <a:lvl1pPr marL="0" indent="0">
              <a:spcBef>
                <a:spcPts val="0"/>
              </a:spcBef>
              <a:buNone/>
              <a:defRPr sz="1059" spc="0" baseline="0">
                <a:solidFill>
                  <a:srgbClr val="091F2C"/>
                </a:solidFill>
                <a:latin typeface="+mn-lt"/>
                <a:cs typeface="Segoe UI" panose="020B0502040204020203" pitchFamily="34" charset="0"/>
              </a:defRPr>
            </a:lvl1pPr>
          </a:lstStyle>
          <a:p>
            <a:pPr lvl="0"/>
            <a:r>
              <a:rPr lang="en-US"/>
              <a:t>Speaker name or subtitle</a:t>
            </a:r>
          </a:p>
        </p:txBody>
      </p:sp>
      <p:pic>
        <p:nvPicPr>
          <p:cNvPr id="5" name="Picture 4" descr="Microsoft logo">
            <a:extLst>
              <a:ext uri="{FF2B5EF4-FFF2-40B4-BE49-F238E27FC236}">
                <a16:creationId xmlns:a16="http://schemas.microsoft.com/office/drawing/2014/main" id="{27480556-1123-6229-78D0-617D634D1186}"/>
              </a:ext>
            </a:extLst>
          </p:cNvPr>
          <p:cNvPicPr>
            <a:picLocks noChangeAspect="1"/>
          </p:cNvPicPr>
          <p:nvPr userDrawn="1"/>
        </p:nvPicPr>
        <p:blipFill>
          <a:blip r:embed="rId3"/>
          <a:stretch>
            <a:fillRect/>
          </a:stretch>
        </p:blipFill>
        <p:spPr>
          <a:xfrm>
            <a:off x="4960881" y="627004"/>
            <a:ext cx="1202167" cy="285830"/>
          </a:xfrm>
          <a:prstGeom prst="rect">
            <a:avLst/>
          </a:prstGeom>
        </p:spPr>
      </p:pic>
    </p:spTree>
    <p:extLst>
      <p:ext uri="{BB962C8B-B14F-4D97-AF65-F5344CB8AC3E}">
        <p14:creationId xmlns:p14="http://schemas.microsoft.com/office/powerpoint/2010/main" val="19186277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24" userDrawn="1">
          <p15:clr>
            <a:srgbClr val="5ACBF0"/>
          </p15:clr>
        </p15:guide>
        <p15:guide id="2" orient="horz" pos="3606" userDrawn="1">
          <p15:clr>
            <a:srgbClr val="5ACBF0"/>
          </p15:clr>
        </p15:guide>
        <p15:guide id="3" pos="3449" userDrawn="1">
          <p15:clr>
            <a:srgbClr val="5ACBF0"/>
          </p15:clr>
        </p15:guide>
        <p15:guide id="4" orient="horz" pos="3120" userDrawn="1">
          <p15:clr>
            <a:srgbClr val="FBAE40"/>
          </p15:clr>
        </p15:guide>
        <p15:guide id="5" pos="1994" userDrawn="1">
          <p15:clr>
            <a:srgbClr val="FBAE40"/>
          </p15:clr>
        </p15:guide>
        <p15:guide id="6" pos="189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graphic3">
    <p:bg>
      <p:bgPr>
        <a:blipFill dpi="0" rotWithShape="1">
          <a:blip r:embed="rId2">
            <a:lum/>
          </a:blip>
          <a:srcRect/>
          <a:stretch>
            <a:fillRect l="-65000" r="-65000"/>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C39BE0-D1C5-9ED8-FF46-1256D2BA2024}"/>
              </a:ext>
            </a:extLst>
          </p:cNvPr>
          <p:cNvSpPr>
            <a:spLocks noGrp="1"/>
          </p:cNvSpPr>
          <p:nvPr>
            <p:ph type="title" hasCustomPrompt="1"/>
          </p:nvPr>
        </p:nvSpPr>
        <p:spPr>
          <a:xfrm>
            <a:off x="649941" y="1709402"/>
            <a:ext cx="3263861" cy="961545"/>
          </a:xfrm>
          <a:prstGeom prst="rect">
            <a:avLst/>
          </a:prstGeom>
        </p:spPr>
        <p:txBody>
          <a:bodyPr wrap="square" lIns="0" anchor="b" anchorCtr="0">
            <a:spAutoFit/>
          </a:bodyPr>
          <a:lstStyle>
            <a:lvl1pPr>
              <a:defRPr sz="2824">
                <a:solidFill>
                  <a:srgbClr val="091F2C"/>
                </a:solidFill>
              </a:defRPr>
            </a:lvl1pPr>
          </a:lstStyle>
          <a:p>
            <a:r>
              <a:rPr lang="en-US"/>
              <a:t>Event name or presentation title </a:t>
            </a:r>
          </a:p>
        </p:txBody>
      </p:sp>
      <p:sp>
        <p:nvSpPr>
          <p:cNvPr id="7" name="Text Placeholder 4">
            <a:extLst>
              <a:ext uri="{FF2B5EF4-FFF2-40B4-BE49-F238E27FC236}">
                <a16:creationId xmlns:a16="http://schemas.microsoft.com/office/drawing/2014/main" id="{83CA3669-BB22-FDDC-AE61-237158AE269B}"/>
              </a:ext>
            </a:extLst>
          </p:cNvPr>
          <p:cNvSpPr>
            <a:spLocks noGrp="1"/>
          </p:cNvSpPr>
          <p:nvPr>
            <p:ph type="body" sz="quarter" idx="12" hasCustomPrompt="1"/>
          </p:nvPr>
        </p:nvSpPr>
        <p:spPr>
          <a:xfrm>
            <a:off x="649942" y="3349246"/>
            <a:ext cx="2668511" cy="162993"/>
          </a:xfrm>
          <a:prstGeom prst="rect">
            <a:avLst/>
          </a:prstGeom>
          <a:noFill/>
        </p:spPr>
        <p:txBody>
          <a:bodyPr wrap="square" lIns="0" tIns="0" rIns="0" bIns="0">
            <a:spAutoFit/>
          </a:bodyPr>
          <a:lstStyle>
            <a:lvl1pPr marL="0" indent="0">
              <a:spcBef>
                <a:spcPts val="0"/>
              </a:spcBef>
              <a:buNone/>
              <a:defRPr sz="1059" spc="0" baseline="0">
                <a:solidFill>
                  <a:srgbClr val="091F2C"/>
                </a:solidFill>
                <a:latin typeface="+mn-lt"/>
                <a:cs typeface="Segoe UI" panose="020B0502040204020203" pitchFamily="34" charset="0"/>
              </a:defRPr>
            </a:lvl1pPr>
          </a:lstStyle>
          <a:p>
            <a:pPr lvl="0"/>
            <a:r>
              <a:rPr lang="en-US"/>
              <a:t>Speaker name or subtitle</a:t>
            </a:r>
          </a:p>
        </p:txBody>
      </p:sp>
      <p:pic>
        <p:nvPicPr>
          <p:cNvPr id="8" name="Picture 7" descr="Microsoft logo">
            <a:extLst>
              <a:ext uri="{FF2B5EF4-FFF2-40B4-BE49-F238E27FC236}">
                <a16:creationId xmlns:a16="http://schemas.microsoft.com/office/drawing/2014/main" id="{ED6B1124-4D5A-C7C7-971C-0EB979BA929C}"/>
              </a:ext>
            </a:extLst>
          </p:cNvPr>
          <p:cNvPicPr>
            <a:picLocks noChangeAspect="1"/>
          </p:cNvPicPr>
          <p:nvPr userDrawn="1"/>
        </p:nvPicPr>
        <p:blipFill>
          <a:blip r:embed="rId3"/>
          <a:stretch>
            <a:fillRect/>
          </a:stretch>
        </p:blipFill>
        <p:spPr>
          <a:xfrm>
            <a:off x="649941" y="727004"/>
            <a:ext cx="1202167" cy="285830"/>
          </a:xfrm>
          <a:prstGeom prst="rect">
            <a:avLst/>
          </a:prstGeom>
        </p:spPr>
      </p:pic>
    </p:spTree>
    <p:extLst>
      <p:ext uri="{BB962C8B-B14F-4D97-AF65-F5344CB8AC3E}">
        <p14:creationId xmlns:p14="http://schemas.microsoft.com/office/powerpoint/2010/main" val="6631109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606" userDrawn="1">
          <p15:clr>
            <a:srgbClr val="5ACBF0"/>
          </p15:clr>
        </p15:guide>
        <p15:guide id="3" pos="1887" userDrawn="1">
          <p15:clr>
            <a:srgbClr val="5ACBF0"/>
          </p15:clr>
        </p15:guide>
        <p15:guide id="5" orient="horz" pos="3120" userDrawn="1">
          <p15:clr>
            <a:srgbClr val="FBAE40"/>
          </p15:clr>
        </p15:guide>
        <p15:guide id="6" orient="horz" pos="3219" userDrawn="1">
          <p15:clr>
            <a:srgbClr val="5ACBF0"/>
          </p15:clr>
        </p15:guide>
        <p15:guide id="7" pos="1685"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graphic3_50%">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9DEBCD-6C76-97C2-F6E5-545D011D9A99}"/>
              </a:ext>
              <a:ext uri="{C183D7F6-B498-43B3-948B-1728B52AA6E4}">
                <adec:decorative xmlns:adec="http://schemas.microsoft.com/office/drawing/2017/decorative" val="1"/>
              </a:ext>
            </a:extLst>
          </p:cNvPr>
          <p:cNvPicPr>
            <a:picLocks noChangeAspect="1"/>
          </p:cNvPicPr>
          <p:nvPr userDrawn="1"/>
        </p:nvPicPr>
        <p:blipFill rotWithShape="1">
          <a:blip r:embed="rId2"/>
          <a:srcRect l="3031"/>
          <a:stretch/>
        </p:blipFill>
        <p:spPr>
          <a:xfrm>
            <a:off x="0" y="1320283"/>
            <a:ext cx="6837495" cy="8585717"/>
          </a:xfrm>
          <a:prstGeom prst="rect">
            <a:avLst/>
          </a:prstGeom>
        </p:spPr>
      </p:pic>
      <p:sp>
        <p:nvSpPr>
          <p:cNvPr id="6" name="Rectangle 5">
            <a:extLst>
              <a:ext uri="{FF2B5EF4-FFF2-40B4-BE49-F238E27FC236}">
                <a16:creationId xmlns:a16="http://schemas.microsoft.com/office/drawing/2014/main" id="{74201DD5-BC0B-F1C0-0351-D6B5F8F62EE3}"/>
              </a:ext>
            </a:extLst>
          </p:cNvPr>
          <p:cNvSpPr/>
          <p:nvPr userDrawn="1"/>
        </p:nvSpPr>
        <p:spPr bwMode="auto">
          <a:xfrm>
            <a:off x="0" y="0"/>
            <a:ext cx="6858000" cy="1481160"/>
          </a:xfrm>
          <a:prstGeom prst="rect">
            <a:avLst/>
          </a:prstGeom>
          <a:solidFill>
            <a:srgbClr val="B9DC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algn="l" defTabSz="822813" fontAlgn="base">
              <a:spcBef>
                <a:spcPct val="0"/>
              </a:spcBef>
              <a:spcAft>
                <a:spcPct val="0"/>
              </a:spcAft>
            </a:pPr>
            <a:endParaRPr lang="en-US" sz="1765" err="1">
              <a:solidFill>
                <a:srgbClr val="FFFFFF"/>
              </a:solidFill>
              <a:ea typeface="Segoe UI" pitchFamily="34" charset="0"/>
              <a:cs typeface="Segoe UI" pitchFamily="34" charset="0"/>
            </a:endParaRPr>
          </a:p>
        </p:txBody>
      </p:sp>
      <p:sp>
        <p:nvSpPr>
          <p:cNvPr id="10" name="Title 1">
            <a:extLst>
              <a:ext uri="{FF2B5EF4-FFF2-40B4-BE49-F238E27FC236}">
                <a16:creationId xmlns:a16="http://schemas.microsoft.com/office/drawing/2014/main" id="{6C1A5A76-4A98-7324-174C-28759CB45912}"/>
              </a:ext>
            </a:extLst>
          </p:cNvPr>
          <p:cNvSpPr>
            <a:spLocks noGrp="1"/>
          </p:cNvSpPr>
          <p:nvPr>
            <p:ph type="title" hasCustomPrompt="1"/>
          </p:nvPr>
        </p:nvSpPr>
        <p:spPr>
          <a:xfrm>
            <a:off x="515470" y="1559311"/>
            <a:ext cx="3263861" cy="961545"/>
          </a:xfrm>
          <a:prstGeom prst="rect">
            <a:avLst/>
          </a:prstGeom>
        </p:spPr>
        <p:txBody>
          <a:bodyPr wrap="square" lIns="0" anchor="b" anchorCtr="0">
            <a:spAutoFit/>
          </a:bodyPr>
          <a:lstStyle>
            <a:lvl1pPr>
              <a:defRPr sz="2824">
                <a:solidFill>
                  <a:srgbClr val="091F2C"/>
                </a:solidFill>
              </a:defRPr>
            </a:lvl1pPr>
          </a:lstStyle>
          <a:p>
            <a:r>
              <a:rPr lang="en-US"/>
              <a:t>Event name or presentation title </a:t>
            </a:r>
          </a:p>
        </p:txBody>
      </p:sp>
      <p:sp>
        <p:nvSpPr>
          <p:cNvPr id="11" name="Text Placeholder 4">
            <a:extLst>
              <a:ext uri="{FF2B5EF4-FFF2-40B4-BE49-F238E27FC236}">
                <a16:creationId xmlns:a16="http://schemas.microsoft.com/office/drawing/2014/main" id="{C7A91993-FF63-BE9B-A5A5-487372453E01}"/>
              </a:ext>
            </a:extLst>
          </p:cNvPr>
          <p:cNvSpPr>
            <a:spLocks noGrp="1"/>
          </p:cNvSpPr>
          <p:nvPr>
            <p:ph type="body" sz="quarter" idx="12" hasCustomPrompt="1"/>
          </p:nvPr>
        </p:nvSpPr>
        <p:spPr>
          <a:xfrm>
            <a:off x="515471" y="3199155"/>
            <a:ext cx="2668511" cy="162993"/>
          </a:xfrm>
          <a:prstGeom prst="rect">
            <a:avLst/>
          </a:prstGeom>
          <a:noFill/>
        </p:spPr>
        <p:txBody>
          <a:bodyPr wrap="square" lIns="0" tIns="0" rIns="0" bIns="0">
            <a:spAutoFit/>
          </a:bodyPr>
          <a:lstStyle>
            <a:lvl1pPr marL="0" indent="0">
              <a:spcBef>
                <a:spcPts val="0"/>
              </a:spcBef>
              <a:buNone/>
              <a:defRPr sz="1059" spc="0" baseline="0">
                <a:solidFill>
                  <a:srgbClr val="091F2C"/>
                </a:solidFill>
                <a:latin typeface="+mn-lt"/>
                <a:cs typeface="Segoe UI" panose="020B0502040204020203" pitchFamily="34" charset="0"/>
              </a:defRPr>
            </a:lvl1pPr>
          </a:lstStyle>
          <a:p>
            <a:pPr lvl="0"/>
            <a:r>
              <a:rPr lang="en-US"/>
              <a:t>Speaker name or subtitle</a:t>
            </a:r>
          </a:p>
        </p:txBody>
      </p:sp>
      <p:pic>
        <p:nvPicPr>
          <p:cNvPr id="13" name="Picture 12" descr="Microsoft logo">
            <a:extLst>
              <a:ext uri="{FF2B5EF4-FFF2-40B4-BE49-F238E27FC236}">
                <a16:creationId xmlns:a16="http://schemas.microsoft.com/office/drawing/2014/main" id="{079FDEA0-0104-5DE8-CB22-32F13A141A90}"/>
              </a:ext>
            </a:extLst>
          </p:cNvPr>
          <p:cNvPicPr>
            <a:picLocks noChangeAspect="1"/>
          </p:cNvPicPr>
          <p:nvPr userDrawn="1"/>
        </p:nvPicPr>
        <p:blipFill>
          <a:blip r:embed="rId3"/>
          <a:stretch>
            <a:fillRect/>
          </a:stretch>
        </p:blipFill>
        <p:spPr>
          <a:xfrm>
            <a:off x="515471" y="576913"/>
            <a:ext cx="1202167" cy="285830"/>
          </a:xfrm>
          <a:prstGeom prst="rect">
            <a:avLst/>
          </a:prstGeom>
        </p:spPr>
      </p:pic>
    </p:spTree>
    <p:extLst>
      <p:ext uri="{BB962C8B-B14F-4D97-AF65-F5344CB8AC3E}">
        <p14:creationId xmlns:p14="http://schemas.microsoft.com/office/powerpoint/2010/main" val="5757238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24" userDrawn="1">
          <p15:clr>
            <a:srgbClr val="5ACBF0"/>
          </p15:clr>
        </p15:guide>
        <p15:guide id="2" orient="horz" pos="3606" userDrawn="1">
          <p15:clr>
            <a:srgbClr val="5ACBF0"/>
          </p15:clr>
        </p15:guide>
        <p15:guide id="3" pos="3449" userDrawn="1">
          <p15:clr>
            <a:srgbClr val="5ACBF0"/>
          </p15:clr>
        </p15:guide>
        <p15:guide id="4" orient="horz" pos="3120" userDrawn="1">
          <p15:clr>
            <a:srgbClr val="FBAE40"/>
          </p15:clr>
        </p15:guide>
        <p15:guide id="5" pos="1994" userDrawn="1">
          <p15:clr>
            <a:srgbClr val="FBAE40"/>
          </p15:clr>
        </p15:guide>
        <p15:guide id="6" pos="189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TextOnly_50%">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BA6845C-5902-5572-5C62-EFD0BEB0FCB8}"/>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sp>
        <p:nvSpPr>
          <p:cNvPr id="13" name="Title 1">
            <a:extLst>
              <a:ext uri="{FF2B5EF4-FFF2-40B4-BE49-F238E27FC236}">
                <a16:creationId xmlns:a16="http://schemas.microsoft.com/office/drawing/2014/main" id="{56A10519-8369-B7A0-78D4-6FC97DCC734B}"/>
              </a:ext>
            </a:extLst>
          </p:cNvPr>
          <p:cNvSpPr>
            <a:spLocks noGrp="1"/>
          </p:cNvSpPr>
          <p:nvPr>
            <p:ph type="title" hasCustomPrompt="1"/>
          </p:nvPr>
        </p:nvSpPr>
        <p:spPr>
          <a:xfrm>
            <a:off x="3764894" y="4388418"/>
            <a:ext cx="2834676" cy="715581"/>
          </a:xfrm>
          <a:prstGeom prst="rect">
            <a:avLst/>
          </a:prstGeom>
        </p:spPr>
        <p:txBody>
          <a:bodyPr wrap="square" lIns="0" anchor="b" anchorCtr="0">
            <a:spAutoFit/>
          </a:bodyPr>
          <a:lstStyle>
            <a:lvl1pPr>
              <a:defRPr>
                <a:solidFill>
                  <a:schemeClr val="bg1"/>
                </a:solidFill>
              </a:defRPr>
            </a:lvl1pPr>
          </a:lstStyle>
          <a:p>
            <a:r>
              <a:rPr lang="en-US"/>
              <a:t>Event name or presentation title </a:t>
            </a:r>
          </a:p>
        </p:txBody>
      </p:sp>
      <p:sp>
        <p:nvSpPr>
          <p:cNvPr id="14" name="Text Placeholder 4">
            <a:extLst>
              <a:ext uri="{FF2B5EF4-FFF2-40B4-BE49-F238E27FC236}">
                <a16:creationId xmlns:a16="http://schemas.microsoft.com/office/drawing/2014/main" id="{32396D44-10DD-D15A-391E-7493868CE3D8}"/>
              </a:ext>
            </a:extLst>
          </p:cNvPr>
          <p:cNvSpPr>
            <a:spLocks noGrp="1"/>
          </p:cNvSpPr>
          <p:nvPr>
            <p:ph type="body" sz="quarter" idx="12" hasCustomPrompt="1"/>
          </p:nvPr>
        </p:nvSpPr>
        <p:spPr>
          <a:xfrm>
            <a:off x="3764893" y="5723468"/>
            <a:ext cx="2838387" cy="173124"/>
          </a:xfrm>
          <a:prstGeom prst="rect">
            <a:avLst/>
          </a:prstGeom>
          <a:noFill/>
        </p:spPr>
        <p:txBody>
          <a:bodyPr wrap="square" lIns="0" tIns="0" rIns="0" bIns="0">
            <a:spAutoFit/>
          </a:bodyPr>
          <a:lstStyle>
            <a:lvl1pPr marL="0" indent="0">
              <a:spcBef>
                <a:spcPts val="0"/>
              </a:spcBef>
              <a:buNone/>
              <a:defRPr sz="1125" spc="0" baseline="0">
                <a:solidFill>
                  <a:srgbClr val="FFA38B"/>
                </a:solidFill>
                <a:latin typeface="+mn-lt"/>
                <a:cs typeface="Segoe UI" panose="020B0502040204020203" pitchFamily="34" charset="0"/>
              </a:defRPr>
            </a:lvl1pPr>
          </a:lstStyle>
          <a:p>
            <a:pPr lvl="0"/>
            <a:r>
              <a:rPr lang="en-US"/>
              <a:t>Speaker name or subtitle</a:t>
            </a:r>
          </a:p>
        </p:txBody>
      </p:sp>
      <p:pic>
        <p:nvPicPr>
          <p:cNvPr id="2" name="MS logo white - EMF" descr="Microsoft logo">
            <a:extLst>
              <a:ext uri="{FF2B5EF4-FFF2-40B4-BE49-F238E27FC236}">
                <a16:creationId xmlns:a16="http://schemas.microsoft.com/office/drawing/2014/main" id="{2D157383-DBE1-C8F5-8B98-965C877A096A}"/>
              </a:ex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bwMode="black">
          <a:xfrm>
            <a:off x="3937990" y="588094"/>
            <a:ext cx="1205510" cy="288175"/>
          </a:xfrm>
          <a:prstGeom prst="rect">
            <a:avLst/>
          </a:prstGeom>
        </p:spPr>
      </p:pic>
    </p:spTree>
    <p:extLst>
      <p:ext uri="{BB962C8B-B14F-4D97-AF65-F5344CB8AC3E}">
        <p14:creationId xmlns:p14="http://schemas.microsoft.com/office/powerpoint/2010/main" val="13291755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24" userDrawn="1">
          <p15:clr>
            <a:srgbClr val="5ACBF0"/>
          </p15:clr>
        </p15:guide>
        <p15:guide id="2" orient="horz" pos="3606" userDrawn="1">
          <p15:clr>
            <a:srgbClr val="5ACBF0"/>
          </p15:clr>
        </p15:guide>
        <p15:guide id="3" pos="3449" userDrawn="1">
          <p15:clr>
            <a:srgbClr val="5ACBF0"/>
          </p15:clr>
        </p15:guide>
        <p15:guide id="4" orient="horz" pos="3120" userDrawn="1">
          <p15:clr>
            <a:srgbClr val="FBAE40"/>
          </p15:clr>
        </p15:guide>
        <p15:guide id="5" pos="1994" userDrawn="1">
          <p15:clr>
            <a:srgbClr val="FBAE40"/>
          </p15:clr>
        </p15:guide>
        <p15:guide id="6" pos="189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TextOnly_2">
    <p:bg>
      <p:bgPr>
        <a:solidFill>
          <a:srgbClr val="091F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336312" y="4388418"/>
            <a:ext cx="3098102" cy="715581"/>
          </a:xfrm>
          <a:prstGeom prst="rect">
            <a:avLst/>
          </a:prstGeom>
        </p:spPr>
        <p:txBody>
          <a:bodyPr wrap="square" lIns="0" anchor="b" anchorCtr="0">
            <a:spAutoFit/>
          </a:bodyPr>
          <a:lstStyle>
            <a:lvl1pPr>
              <a:defRPr>
                <a:solidFill>
                  <a:srgbClr val="FFFF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343641" y="5737371"/>
            <a:ext cx="3101601" cy="173124"/>
          </a:xfrm>
          <a:prstGeom prst="rect">
            <a:avLst/>
          </a:prstGeom>
          <a:noFill/>
        </p:spPr>
        <p:txBody>
          <a:bodyPr wrap="square" lIns="0" tIns="0" rIns="0" bIns="0">
            <a:spAutoFit/>
          </a:bodyPr>
          <a:lstStyle>
            <a:lvl1pPr marL="0" indent="0">
              <a:spcBef>
                <a:spcPts val="0"/>
              </a:spcBef>
              <a:buNone/>
              <a:defRPr sz="1125" spc="0" baseline="0">
                <a:solidFill>
                  <a:srgbClr val="FFA38B"/>
                </a:solidFill>
                <a:latin typeface="+mn-lt"/>
                <a:cs typeface="Segoe UI" panose="020B0502040204020203" pitchFamily="34" charset="0"/>
              </a:defRPr>
            </a:lvl1pPr>
          </a:lstStyle>
          <a:p>
            <a:pPr lvl="0"/>
            <a:r>
              <a:rPr lang="en-US"/>
              <a:t>Speaker name or subtitle</a:t>
            </a:r>
          </a:p>
        </p:txBody>
      </p:sp>
      <p:pic>
        <p:nvPicPr>
          <p:cNvPr id="7" name="MS logo white - EMF" descr="Microsoft logo">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328613" y="846138"/>
            <a:ext cx="768513" cy="422656"/>
          </a:xfrm>
          <a:prstGeom prst="rect">
            <a:avLst/>
          </a:prstGeom>
        </p:spPr>
      </p:pic>
    </p:spTree>
    <p:extLst>
      <p:ext uri="{BB962C8B-B14F-4D97-AF65-F5344CB8AC3E}">
        <p14:creationId xmlns:p14="http://schemas.microsoft.com/office/powerpoint/2010/main" val="870309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606" userDrawn="1">
          <p15:clr>
            <a:srgbClr val="5ACBF0"/>
          </p15:clr>
        </p15:guide>
        <p15:guide id="3" pos="1887" userDrawn="1">
          <p15:clr>
            <a:srgbClr val="5ACBF0"/>
          </p15:clr>
        </p15:guide>
        <p15:guide id="5" orient="horz" pos="3120" userDrawn="1">
          <p15:clr>
            <a:srgbClr val="FBAE40"/>
          </p15:clr>
        </p15:guide>
        <p15:guide id="6" orient="horz" pos="3219" userDrawn="1">
          <p15:clr>
            <a:srgbClr val="5ACBF0"/>
          </p15:clr>
        </p15:guide>
        <p15:guide id="7" pos="1685"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091F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330898" y="846139"/>
            <a:ext cx="1789890" cy="8209139"/>
          </a:xfrm>
          <a:prstGeom prst="rect">
            <a:avLst/>
          </a:prstGeom>
        </p:spPr>
        <p:txBody>
          <a:bodyPr lIns="0" anchor="ctr">
            <a:noAutofit/>
          </a:bodyPr>
          <a:lstStyle>
            <a:lvl1pPr>
              <a:defRPr>
                <a:solidFill>
                  <a:schemeClr val="tx1"/>
                </a:solidFill>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2450306" y="3723923"/>
            <a:ext cx="0" cy="2458155"/>
          </a:xfrm>
          <a:prstGeom prst="line">
            <a:avLst/>
          </a:prstGeom>
          <a:ln w="28575">
            <a:solidFill>
              <a:srgbClr val="FFA38B"/>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79C9673C-3843-4EB6-3BEE-638BD486BCE6}"/>
              </a:ext>
            </a:extLst>
          </p:cNvPr>
          <p:cNvSpPr>
            <a:spLocks noGrp="1"/>
          </p:cNvSpPr>
          <p:nvPr>
            <p:ph type="body" sz="quarter" idx="12" hasCustomPrompt="1"/>
          </p:nvPr>
        </p:nvSpPr>
        <p:spPr>
          <a:xfrm>
            <a:off x="3429000" y="2765425"/>
            <a:ext cx="3101281" cy="4643438"/>
          </a:xfrm>
          <a:prstGeom prst="rect">
            <a:avLst/>
          </a:prstGeom>
        </p:spPr>
        <p:txBody>
          <a:bodyPr lIns="0" anchor="ctr">
            <a:noAutofit/>
          </a:bodyPr>
          <a:lstStyle>
            <a:lvl1pPr marL="0" indent="0">
              <a:spcAft>
                <a:spcPts val="338"/>
              </a:spcAft>
              <a:buFont typeface="Wingdings" panose="05000000000000000000" pitchFamily="2" charset="2"/>
              <a:buNone/>
              <a:defRPr sz="1125">
                <a:solidFill>
                  <a:schemeClr val="tx1"/>
                </a:solidFill>
              </a:defRPr>
            </a:lvl1pPr>
          </a:lstStyle>
          <a:p>
            <a:pPr lvl="0"/>
            <a:r>
              <a:rPr lang="en-US"/>
              <a:t>Section Name		00</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		00</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		00</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a:t>
            </a:r>
          </a:p>
        </p:txBody>
      </p:sp>
    </p:spTree>
    <p:extLst>
      <p:ext uri="{BB962C8B-B14F-4D97-AF65-F5344CB8AC3E}">
        <p14:creationId xmlns:p14="http://schemas.microsoft.com/office/powerpoint/2010/main" val="336284172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1543" userDrawn="1">
          <p15:clr>
            <a:srgbClr val="5ACBF0"/>
          </p15:clr>
        </p15:guide>
        <p15:guide id="29" orient="horz" pos="3120" userDrawn="1">
          <p15:clr>
            <a:srgbClr val="5ACBF0"/>
          </p15:clr>
        </p15:guide>
        <p15:guide id="30" pos="1337" userDrawn="1">
          <p15:clr>
            <a:srgbClr val="5ACBF0"/>
          </p15:clr>
        </p15:guide>
        <p15:guide id="31" pos="1751"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_50%">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4821A4-AD95-9B72-4295-527F2E9D8D2E}"/>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3764893" y="846142"/>
            <a:ext cx="1959326" cy="2424185"/>
          </a:xfrm>
          <a:prstGeom prst="rect">
            <a:avLst/>
          </a:prstGeom>
        </p:spPr>
        <p:txBody>
          <a:bodyPr lIns="0" anchor="b">
            <a:noAutofit/>
          </a:bodyPr>
          <a:lstStyle>
            <a:lvl1pPr>
              <a:defRPr>
                <a:solidFill>
                  <a:schemeClr val="tx1"/>
                </a:solidFill>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3764892" y="3723922"/>
            <a:ext cx="956691" cy="0"/>
          </a:xfrm>
          <a:prstGeom prst="line">
            <a:avLst/>
          </a:prstGeom>
          <a:ln w="28575">
            <a:solidFill>
              <a:srgbClr val="FFA38B"/>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79C9673C-3843-4EB6-3BEE-638BD486BCE6}"/>
              </a:ext>
            </a:extLst>
          </p:cNvPr>
          <p:cNvSpPr>
            <a:spLocks noGrp="1"/>
          </p:cNvSpPr>
          <p:nvPr>
            <p:ph type="body" sz="quarter" idx="12" hasCustomPrompt="1"/>
          </p:nvPr>
        </p:nvSpPr>
        <p:spPr>
          <a:xfrm>
            <a:off x="3764893" y="4243498"/>
            <a:ext cx="2669660" cy="4643438"/>
          </a:xfrm>
          <a:prstGeom prst="rect">
            <a:avLst/>
          </a:prstGeom>
        </p:spPr>
        <p:txBody>
          <a:bodyPr lIns="0" anchor="t">
            <a:noAutofit/>
          </a:bodyPr>
          <a:lstStyle>
            <a:lvl1pPr marL="0" indent="0">
              <a:spcAft>
                <a:spcPts val="338"/>
              </a:spcAft>
              <a:buFont typeface="Wingdings" panose="05000000000000000000" pitchFamily="2" charset="2"/>
              <a:buNone/>
              <a:defRPr sz="1125">
                <a:solidFill>
                  <a:schemeClr val="tx1"/>
                </a:solidFill>
              </a:defRPr>
            </a:lvl1pPr>
          </a:lstStyle>
          <a:p>
            <a:pPr lvl="0"/>
            <a:r>
              <a:rPr lang="en-US"/>
              <a:t>Section Name		00</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		00</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		00</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a:t>
            </a:r>
          </a:p>
          <a:p>
            <a:pPr marL="0" marR="0" lvl="0" indent="0" algn="l" defTabSz="524695" rtl="0" eaLnBrk="1" fontAlgn="auto" latinLnBrk="0" hangingPunct="1">
              <a:lnSpc>
                <a:spcPct val="100000"/>
              </a:lnSpc>
              <a:spcBef>
                <a:spcPct val="20000"/>
              </a:spcBef>
              <a:spcAft>
                <a:spcPts val="338"/>
              </a:spcAft>
              <a:buClrTx/>
              <a:buSzPct val="90000"/>
              <a:buFont typeface="Wingdings" panose="05000000000000000000" pitchFamily="2" charset="2"/>
              <a:buNone/>
              <a:tabLst/>
              <a:defRPr/>
            </a:pPr>
            <a:r>
              <a:rPr lang="en-US"/>
              <a:t>Section Name</a:t>
            </a:r>
          </a:p>
        </p:txBody>
      </p:sp>
    </p:spTree>
    <p:extLst>
      <p:ext uri="{BB962C8B-B14F-4D97-AF65-F5344CB8AC3E}">
        <p14:creationId xmlns:p14="http://schemas.microsoft.com/office/powerpoint/2010/main" val="223695385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1543" userDrawn="1">
          <p15:clr>
            <a:srgbClr val="5ACBF0"/>
          </p15:clr>
        </p15:guide>
        <p15:guide id="29" orient="horz" pos="3120" userDrawn="1">
          <p15:clr>
            <a:srgbClr val="5ACBF0"/>
          </p15:clr>
        </p15:guide>
        <p15:guide id="30" pos="1337" userDrawn="1">
          <p15:clr>
            <a:srgbClr val="5ACBF0"/>
          </p15:clr>
        </p15:guide>
        <p15:guide id="31" pos="1751"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ngle Speaker">
    <p:bg>
      <p:bgPr>
        <a:blipFill dpi="0" rotWithShape="1">
          <a:blip r:embed="rId2">
            <a:lum/>
          </a:blip>
          <a:srcRect/>
          <a:stretch>
            <a:fillRect l="-111000" r="-1000"/>
          </a:stretch>
        </a:blip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345204" y="2101685"/>
            <a:ext cx="3083796" cy="866744"/>
          </a:xfrm>
          <a:prstGeom prst="rect">
            <a:avLst/>
          </a:prstGeom>
        </p:spPr>
        <p:txBody>
          <a:bodyPr lIns="0"/>
          <a:lstStyle>
            <a:lvl1pPr marL="0" indent="0">
              <a:buNone/>
              <a:defRPr sz="2025">
                <a:solidFill>
                  <a:srgbClr val="FFA38B"/>
                </a:solidFill>
                <a:latin typeface="+mj-lt"/>
              </a:defRPr>
            </a:lvl1pPr>
            <a:lvl2pPr marL="128595" indent="0">
              <a:buNone/>
              <a:defRPr sz="1013">
                <a:latin typeface="+mj-lt"/>
              </a:defRPr>
            </a:lvl2pPr>
            <a:lvl3pPr marL="257189" indent="0">
              <a:buNone/>
              <a:defRPr sz="1013">
                <a:latin typeface="+mj-lt"/>
              </a:defRPr>
            </a:lvl3pPr>
            <a:lvl4pPr marL="372388" indent="0">
              <a:buNone/>
              <a:defRPr sz="1013">
                <a:latin typeface="+mj-lt"/>
              </a:defRPr>
            </a:lvl4pPr>
            <a:lvl5pPr marL="481336" indent="0">
              <a:buNone/>
              <a:defRPr sz="1013">
                <a:latin typeface="+mj-lt"/>
              </a:defRPr>
            </a:lvl5pPr>
          </a:lstStyle>
          <a:p>
            <a:pPr lvl="0"/>
            <a:r>
              <a:rPr lang="en-US"/>
              <a:t>Speaker name</a:t>
            </a:r>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345204" y="3344334"/>
            <a:ext cx="3083796" cy="554505"/>
          </a:xfrm>
          <a:prstGeom prst="rect">
            <a:avLst/>
          </a:prstGeom>
        </p:spPr>
        <p:txBody>
          <a:bodyPr lIns="0"/>
          <a:lstStyle>
            <a:lvl1pPr marL="0" indent="0">
              <a:buNone/>
              <a:defRPr sz="1125">
                <a:solidFill>
                  <a:schemeClr val="bg1"/>
                </a:solidFill>
              </a:defRPr>
            </a:lvl1pPr>
            <a:lvl2pPr marL="128595" indent="0">
              <a:buNone/>
              <a:defRPr sz="788"/>
            </a:lvl2pPr>
            <a:lvl3pPr marL="257189" indent="0">
              <a:buNone/>
              <a:defRPr sz="788"/>
            </a:lvl3pPr>
            <a:lvl4pPr marL="372388" indent="0">
              <a:buNone/>
              <a:defRPr sz="788"/>
            </a:lvl4pPr>
            <a:lvl5pPr marL="481336" indent="0">
              <a:buNone/>
              <a:defRPr sz="788"/>
            </a:lvl5pPr>
          </a:lstStyle>
          <a:p>
            <a:pPr lvl="0"/>
            <a:r>
              <a:rPr lang="en-US"/>
              <a:t>Speaker Title</a:t>
            </a:r>
          </a:p>
        </p:txBody>
      </p:sp>
      <p:sp>
        <p:nvSpPr>
          <p:cNvPr id="4" name="Text Placeholder 26">
            <a:extLst>
              <a:ext uri="{FF2B5EF4-FFF2-40B4-BE49-F238E27FC236}">
                <a16:creationId xmlns:a16="http://schemas.microsoft.com/office/drawing/2014/main" id="{0A167D13-2492-1059-A458-7B409B3C8F88}"/>
              </a:ext>
            </a:extLst>
          </p:cNvPr>
          <p:cNvSpPr>
            <a:spLocks noGrp="1"/>
          </p:cNvSpPr>
          <p:nvPr>
            <p:ph type="body" sz="quarter" idx="19" hasCustomPrompt="1"/>
          </p:nvPr>
        </p:nvSpPr>
        <p:spPr>
          <a:xfrm>
            <a:off x="345204" y="4031437"/>
            <a:ext cx="3083796" cy="554506"/>
          </a:xfrm>
          <a:prstGeom prst="rect">
            <a:avLst/>
          </a:prstGeom>
        </p:spPr>
        <p:txBody>
          <a:bodyPr lIns="0"/>
          <a:lstStyle>
            <a:lvl1pPr marL="0" indent="0">
              <a:buNone/>
              <a:defRPr sz="1125" i="1">
                <a:solidFill>
                  <a:schemeClr val="bg2"/>
                </a:solidFill>
              </a:defRPr>
            </a:lvl1pPr>
            <a:lvl2pPr marL="128595" indent="0">
              <a:buNone/>
              <a:defRPr sz="788"/>
            </a:lvl2pPr>
            <a:lvl3pPr marL="257189" indent="0">
              <a:buNone/>
              <a:defRPr sz="788"/>
            </a:lvl3pPr>
            <a:lvl4pPr marL="372388" indent="0">
              <a:buNone/>
              <a:defRPr sz="788"/>
            </a:lvl4pPr>
            <a:lvl5pPr marL="481336" indent="0">
              <a:buNone/>
              <a:defRPr sz="788"/>
            </a:lvl5pPr>
          </a:lstStyle>
          <a:p>
            <a:pPr lvl="0"/>
            <a:r>
              <a:rPr lang="en-US"/>
              <a:t>Speaker social handle</a:t>
            </a:r>
          </a:p>
        </p:txBody>
      </p:sp>
      <p:sp>
        <p:nvSpPr>
          <p:cNvPr id="6" name="Picture Placeholder 5">
            <a:extLst>
              <a:ext uri="{FF2B5EF4-FFF2-40B4-BE49-F238E27FC236}">
                <a16:creationId xmlns:a16="http://schemas.microsoft.com/office/drawing/2014/main" id="{85D55362-8A89-FEDB-E8E7-4186EA58CCDA}"/>
              </a:ext>
            </a:extLst>
          </p:cNvPr>
          <p:cNvSpPr>
            <a:spLocks noGrp="1"/>
          </p:cNvSpPr>
          <p:nvPr>
            <p:ph type="pic" sz="quarter" idx="20"/>
          </p:nvPr>
        </p:nvSpPr>
        <p:spPr>
          <a:xfrm>
            <a:off x="3877271" y="2101685"/>
            <a:ext cx="2653010" cy="6953593"/>
          </a:xfrm>
          <a:prstGeom prst="rect">
            <a:avLst/>
          </a:prstGeom>
        </p:spPr>
        <p:txBody>
          <a:bodyPr/>
          <a:lstStyle>
            <a:lvl1pPr marL="0" indent="0">
              <a:buNone/>
              <a:defRPr/>
            </a:lvl1pPr>
          </a:lstStyle>
          <a:p>
            <a:endParaRPr lang="en-US"/>
          </a:p>
        </p:txBody>
      </p:sp>
    </p:spTree>
    <p:extLst>
      <p:ext uri="{BB962C8B-B14F-4D97-AF65-F5344CB8AC3E}">
        <p14:creationId xmlns:p14="http://schemas.microsoft.com/office/powerpoint/2010/main" val="3322308895"/>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83" userDrawn="1">
          <p15:clr>
            <a:srgbClr val="A4A3A4"/>
          </p15:clr>
        </p15:guide>
        <p15:guide id="18" pos="2442" userDrawn="1">
          <p15:clr>
            <a:srgbClr val="A4A3A4"/>
          </p15:clr>
        </p15:guide>
        <p15:guide id="19" pos="2549" userDrawn="1">
          <p15:clr>
            <a:srgbClr val="A4A3A4"/>
          </p15:clr>
        </p15:guide>
        <p15:guide id="28" orient="horz" pos="1307" userDrawn="1">
          <p15:clr>
            <a:srgbClr val="5ACBF0"/>
          </p15:clr>
        </p15:guide>
        <p15:guide id="30" orient="horz" pos="416" userDrawn="1">
          <p15:clr>
            <a:srgbClr val="5ACBF0"/>
          </p15:clr>
        </p15:guide>
        <p15:guide id="31" orient="horz" pos="3906" userDrawn="1">
          <p15:clr>
            <a:srgbClr val="5ACBF0"/>
          </p15:clr>
        </p15:guide>
        <p15:guide id="32" pos="390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ngle Speaker_50%">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C2438A-BE49-E777-359A-56B4ABC2C616}"/>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blipFill>
            <a:blip r:embed="rId2"/>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sp>
        <p:nvSpPr>
          <p:cNvPr id="6" name="Picture Placeholder 5">
            <a:extLst>
              <a:ext uri="{FF2B5EF4-FFF2-40B4-BE49-F238E27FC236}">
                <a16:creationId xmlns:a16="http://schemas.microsoft.com/office/drawing/2014/main" id="{85D55362-8A89-FEDB-E8E7-4186EA58CCDA}"/>
              </a:ext>
            </a:extLst>
          </p:cNvPr>
          <p:cNvSpPr>
            <a:spLocks noGrp="1"/>
          </p:cNvSpPr>
          <p:nvPr>
            <p:ph type="pic" sz="quarter" idx="20"/>
          </p:nvPr>
        </p:nvSpPr>
        <p:spPr>
          <a:xfrm>
            <a:off x="4062388" y="1290485"/>
            <a:ext cx="2340897" cy="5680462"/>
          </a:xfrm>
          <a:prstGeom prst="rect">
            <a:avLst/>
          </a:prstGeom>
        </p:spPr>
        <p:txBody>
          <a:bodyPr/>
          <a:lstStyle>
            <a:lvl1pPr marL="0" indent="0">
              <a:buNone/>
              <a:defRPr/>
            </a:lvl1pPr>
          </a:lstStyle>
          <a:p>
            <a:endParaRPr lang="en-US"/>
          </a:p>
        </p:txBody>
      </p:sp>
      <p:sp>
        <p:nvSpPr>
          <p:cNvPr id="3" name="Text Placeholder 24">
            <a:extLst>
              <a:ext uri="{FF2B5EF4-FFF2-40B4-BE49-F238E27FC236}">
                <a16:creationId xmlns:a16="http://schemas.microsoft.com/office/drawing/2014/main" id="{51EE483D-9F68-7AB8-B396-C14FAACEABAC}"/>
              </a:ext>
            </a:extLst>
          </p:cNvPr>
          <p:cNvSpPr>
            <a:spLocks noGrp="1"/>
          </p:cNvSpPr>
          <p:nvPr>
            <p:ph type="body" sz="quarter" idx="22" hasCustomPrompt="1"/>
          </p:nvPr>
        </p:nvSpPr>
        <p:spPr>
          <a:xfrm>
            <a:off x="4062388" y="7450089"/>
            <a:ext cx="2340897" cy="554505"/>
          </a:xfrm>
          <a:prstGeom prst="rect">
            <a:avLst/>
          </a:prstGeom>
        </p:spPr>
        <p:txBody>
          <a:bodyPr lIns="0" anchor="ctr"/>
          <a:lstStyle>
            <a:lvl1pPr marL="0" indent="0">
              <a:buNone/>
              <a:defRPr sz="1125">
                <a:solidFill>
                  <a:srgbClr val="FFA38B"/>
                </a:solidFill>
                <a:latin typeface="+mj-lt"/>
              </a:defRPr>
            </a:lvl1pPr>
            <a:lvl2pPr marL="128595" indent="0">
              <a:buNone/>
              <a:defRPr sz="1013">
                <a:latin typeface="+mj-lt"/>
              </a:defRPr>
            </a:lvl2pPr>
            <a:lvl3pPr marL="257189" indent="0">
              <a:buNone/>
              <a:defRPr sz="1013">
                <a:latin typeface="+mj-lt"/>
              </a:defRPr>
            </a:lvl3pPr>
            <a:lvl4pPr marL="372388" indent="0">
              <a:buNone/>
              <a:defRPr sz="1013">
                <a:latin typeface="+mj-lt"/>
              </a:defRPr>
            </a:lvl4pPr>
            <a:lvl5pPr marL="481336" indent="0">
              <a:buNone/>
              <a:defRPr sz="1013">
                <a:latin typeface="+mj-lt"/>
              </a:defRPr>
            </a:lvl5pPr>
          </a:lstStyle>
          <a:p>
            <a:pPr lvl="0"/>
            <a:r>
              <a:rPr lang="en-US"/>
              <a:t>Speaker name</a:t>
            </a:r>
          </a:p>
        </p:txBody>
      </p:sp>
      <p:sp>
        <p:nvSpPr>
          <p:cNvPr id="5" name="Text Placeholder 26">
            <a:extLst>
              <a:ext uri="{FF2B5EF4-FFF2-40B4-BE49-F238E27FC236}">
                <a16:creationId xmlns:a16="http://schemas.microsoft.com/office/drawing/2014/main" id="{04C44851-51B8-270A-7519-86E0A6050D96}"/>
              </a:ext>
            </a:extLst>
          </p:cNvPr>
          <p:cNvSpPr>
            <a:spLocks noGrp="1"/>
          </p:cNvSpPr>
          <p:nvPr>
            <p:ph type="body" sz="quarter" idx="23" hasCustomPrompt="1"/>
          </p:nvPr>
        </p:nvSpPr>
        <p:spPr>
          <a:xfrm>
            <a:off x="4062388" y="8038609"/>
            <a:ext cx="2340897" cy="501862"/>
          </a:xfrm>
          <a:prstGeom prst="rect">
            <a:avLst/>
          </a:prstGeom>
        </p:spPr>
        <p:txBody>
          <a:bodyPr lIns="0"/>
          <a:lstStyle>
            <a:lvl1pPr marL="0" indent="0">
              <a:buNone/>
              <a:defRPr sz="900">
                <a:solidFill>
                  <a:schemeClr val="bg1"/>
                </a:solidFill>
              </a:defRPr>
            </a:lvl1pPr>
            <a:lvl2pPr marL="128595" indent="0">
              <a:buNone/>
              <a:defRPr sz="788"/>
            </a:lvl2pPr>
            <a:lvl3pPr marL="257189" indent="0">
              <a:buNone/>
              <a:defRPr sz="788"/>
            </a:lvl3pPr>
            <a:lvl4pPr marL="372388" indent="0">
              <a:buNone/>
              <a:defRPr sz="788"/>
            </a:lvl4pPr>
            <a:lvl5pPr marL="481336" indent="0">
              <a:buNone/>
              <a:defRPr sz="788"/>
            </a:lvl5pPr>
          </a:lstStyle>
          <a:p>
            <a:pPr lvl="0"/>
            <a:r>
              <a:rPr lang="en-US"/>
              <a:t>Speaker Title</a:t>
            </a:r>
          </a:p>
        </p:txBody>
      </p:sp>
      <p:sp>
        <p:nvSpPr>
          <p:cNvPr id="7" name="Text Placeholder 26">
            <a:extLst>
              <a:ext uri="{FF2B5EF4-FFF2-40B4-BE49-F238E27FC236}">
                <a16:creationId xmlns:a16="http://schemas.microsoft.com/office/drawing/2014/main" id="{7952EF39-3F9B-D199-AFAE-1C1490AD206C}"/>
              </a:ext>
            </a:extLst>
          </p:cNvPr>
          <p:cNvSpPr>
            <a:spLocks noGrp="1"/>
          </p:cNvSpPr>
          <p:nvPr>
            <p:ph type="body" sz="quarter" idx="24" hasCustomPrompt="1"/>
          </p:nvPr>
        </p:nvSpPr>
        <p:spPr>
          <a:xfrm>
            <a:off x="4062388" y="8478370"/>
            <a:ext cx="2340897" cy="501862"/>
          </a:xfrm>
          <a:prstGeom prst="rect">
            <a:avLst/>
          </a:prstGeom>
        </p:spPr>
        <p:txBody>
          <a:bodyPr lIns="0"/>
          <a:lstStyle>
            <a:lvl1pPr marL="0" indent="0">
              <a:buNone/>
              <a:defRPr sz="900" i="1">
                <a:solidFill>
                  <a:schemeClr val="bg2"/>
                </a:solidFill>
              </a:defRPr>
            </a:lvl1pPr>
            <a:lvl2pPr marL="128595" indent="0">
              <a:buNone/>
              <a:defRPr sz="788"/>
            </a:lvl2pPr>
            <a:lvl3pPr marL="257189" indent="0">
              <a:buNone/>
              <a:defRPr sz="788"/>
            </a:lvl3pPr>
            <a:lvl4pPr marL="372388" indent="0">
              <a:buNone/>
              <a:defRPr sz="788"/>
            </a:lvl4pPr>
            <a:lvl5pPr marL="481336" indent="0">
              <a:buNone/>
              <a:defRPr sz="788"/>
            </a:lvl5pPr>
          </a:lstStyle>
          <a:p>
            <a:pPr lvl="0"/>
            <a:r>
              <a:rPr lang="en-US"/>
              <a:t>Speaker social handle</a:t>
            </a:r>
          </a:p>
        </p:txBody>
      </p:sp>
    </p:spTree>
    <p:extLst>
      <p:ext uri="{BB962C8B-B14F-4D97-AF65-F5344CB8AC3E}">
        <p14:creationId xmlns:p14="http://schemas.microsoft.com/office/powerpoint/2010/main" val="368970781"/>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18" userDrawn="1">
          <p15:clr>
            <a:srgbClr val="A4A3A4"/>
          </p15:clr>
        </p15:guide>
        <p15:guide id="13" pos="1543" userDrawn="1">
          <p15:clr>
            <a:srgbClr val="A4A3A4"/>
          </p15:clr>
        </p15:guide>
        <p15:guide id="14" pos="1778" userDrawn="1">
          <p15:clr>
            <a:srgbClr val="A4A3A4"/>
          </p15:clr>
        </p15:guide>
        <p15:guide id="15" pos="1883" userDrawn="1">
          <p15:clr>
            <a:srgbClr val="A4A3A4"/>
          </p15:clr>
        </p15:guide>
        <p15:guide id="18" pos="2442" userDrawn="1">
          <p15:clr>
            <a:srgbClr val="A4A3A4"/>
          </p15:clr>
        </p15:guide>
        <p15:guide id="19" pos="2549" userDrawn="1">
          <p15:clr>
            <a:srgbClr val="A4A3A4"/>
          </p15:clr>
        </p15:guide>
        <p15:guide id="28" orient="horz" pos="1307" userDrawn="1">
          <p15:clr>
            <a:srgbClr val="5ACBF0"/>
          </p15:clr>
        </p15:guide>
        <p15:guide id="30" orient="horz" pos="416"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Only_Dark">
    <p:bg>
      <p:bgPr>
        <a:solidFill>
          <a:srgbClr val="091F2C"/>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56529"/>
            <a:ext cx="4119125" cy="5563607"/>
          </a:xfrm>
          <a:prstGeom prst="rect">
            <a:avLst/>
          </a:prstGeom>
        </p:spPr>
        <p:txBody>
          <a:bodyPr lIns="0" anchor="t">
            <a:noAutofit/>
          </a:bodyPr>
          <a:lstStyle>
            <a:lvl1pPr>
              <a:defRPr>
                <a:solidFill>
                  <a:srgbClr val="FFA38B"/>
                </a:solidFill>
              </a:defRPr>
            </a:lvl1pPr>
          </a:lstStyle>
          <a:p>
            <a:r>
              <a:rPr lang="en-US"/>
              <a:t>Slide title</a:t>
            </a:r>
          </a:p>
        </p:txBody>
      </p:sp>
    </p:spTree>
    <p:extLst>
      <p:ext uri="{BB962C8B-B14F-4D97-AF65-F5344CB8AC3E}">
        <p14:creationId xmlns:p14="http://schemas.microsoft.com/office/powerpoint/2010/main" val="2244911459"/>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Only_Dark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sp>
        <p:nvSpPr>
          <p:cNvPr id="5" name="Title 1">
            <a:extLst>
              <a:ext uri="{FF2B5EF4-FFF2-40B4-BE49-F238E27FC236}">
                <a16:creationId xmlns:a16="http://schemas.microsoft.com/office/drawing/2014/main" id="{14BBEBC6-4DE9-AC13-1317-3104E45119A0}"/>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rgbClr val="FFA38B"/>
                </a:solidFill>
              </a:defRPr>
            </a:lvl1pPr>
          </a:lstStyle>
          <a:p>
            <a:r>
              <a:rPr lang="en-US"/>
              <a:t>Section title</a:t>
            </a:r>
          </a:p>
        </p:txBody>
      </p:sp>
    </p:spTree>
    <p:extLst>
      <p:ext uri="{BB962C8B-B14F-4D97-AF65-F5344CB8AC3E}">
        <p14:creationId xmlns:p14="http://schemas.microsoft.com/office/powerpoint/2010/main" val="3821675803"/>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Only_Light">
    <p:bg>
      <p:bgPr>
        <a:solidFill>
          <a:srgbClr val="F4F3F5"/>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27380"/>
            <a:ext cx="4119125" cy="5614769"/>
          </a:xfrm>
          <a:prstGeom prst="rect">
            <a:avLst/>
          </a:prstGeom>
        </p:spPr>
        <p:txBody>
          <a:bodyPr lIns="0" anchor="t">
            <a:noAutofit/>
          </a:bodyPr>
          <a:lstStyle>
            <a:lvl1pPr>
              <a:defRPr>
                <a:solidFill>
                  <a:srgbClr val="091F2C"/>
                </a:solidFill>
              </a:defRPr>
            </a:lvl1pPr>
          </a:lstStyle>
          <a:p>
            <a:r>
              <a:rPr lang="en-US"/>
              <a:t>Slide title</a:t>
            </a:r>
          </a:p>
        </p:txBody>
      </p:sp>
    </p:spTree>
    <p:extLst>
      <p:ext uri="{BB962C8B-B14F-4D97-AF65-F5344CB8AC3E}">
        <p14:creationId xmlns:p14="http://schemas.microsoft.com/office/powerpoint/2010/main" val="1693112811"/>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Only_Light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FDBC8B86-9864-66D4-CE98-6E88F215E658}"/>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rgbClr val="091F2C"/>
                </a:solidFill>
              </a:defRPr>
            </a:lvl1pPr>
          </a:lstStyle>
          <a:p>
            <a:r>
              <a:rPr lang="en-US"/>
              <a:t>Slide title</a:t>
            </a:r>
          </a:p>
        </p:txBody>
      </p:sp>
    </p:spTree>
    <p:extLst>
      <p:ext uri="{BB962C8B-B14F-4D97-AF65-F5344CB8AC3E}">
        <p14:creationId xmlns:p14="http://schemas.microsoft.com/office/powerpoint/2010/main" val="1086243459"/>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_DarkGraphic_1">
    <p:bg>
      <p:bgPr>
        <a:solidFill>
          <a:srgbClr val="091F2C"/>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56529"/>
            <a:ext cx="4119125" cy="5563607"/>
          </a:xfrm>
          <a:prstGeom prst="rect">
            <a:avLst/>
          </a:prstGeom>
        </p:spPr>
        <p:txBody>
          <a:bodyPr lIns="0" anchor="t">
            <a:noAutofit/>
          </a:bodyPr>
          <a:lstStyle>
            <a:lvl1pPr>
              <a:defRPr>
                <a:solidFill>
                  <a:srgbClr val="FFA38B"/>
                </a:solidFill>
              </a:defRPr>
            </a:lvl1pPr>
          </a:lstStyle>
          <a:p>
            <a:r>
              <a:rPr lang="en-US"/>
              <a:t>Slide title</a:t>
            </a:r>
          </a:p>
        </p:txBody>
      </p:sp>
      <p:pic>
        <p:nvPicPr>
          <p:cNvPr id="3" name="Picture 2">
            <a:extLst>
              <a:ext uri="{FF2B5EF4-FFF2-40B4-BE49-F238E27FC236}">
                <a16:creationId xmlns:a16="http://schemas.microsoft.com/office/drawing/2014/main" id="{6CCBA2B2-8D66-BA6E-5A33-CA672AC28B61}"/>
              </a:ext>
              <a:ext uri="{C183D7F6-B498-43B3-948B-1728B52AA6E4}">
                <adec:decorative xmlns:adec="http://schemas.microsoft.com/office/drawing/2017/decorative" val="1"/>
              </a:ext>
            </a:extLst>
          </p:cNvPr>
          <p:cNvPicPr>
            <a:picLocks noChangeAspect="1"/>
          </p:cNvPicPr>
          <p:nvPr userDrawn="1"/>
        </p:nvPicPr>
        <p:blipFill rotWithShape="1">
          <a:blip r:embed="rId2"/>
          <a:srcRect l="-198" t="17023" r="59369" b="17023"/>
          <a:stretch/>
        </p:blipFill>
        <p:spPr>
          <a:xfrm>
            <a:off x="4546637" y="1"/>
            <a:ext cx="2311363" cy="9906000"/>
          </a:xfrm>
          <a:prstGeom prst="rect">
            <a:avLst/>
          </a:prstGeom>
        </p:spPr>
      </p:pic>
    </p:spTree>
    <p:extLst>
      <p:ext uri="{BB962C8B-B14F-4D97-AF65-F5344CB8AC3E}">
        <p14:creationId xmlns:p14="http://schemas.microsoft.com/office/powerpoint/2010/main" val="3735529670"/>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Only_DarkGraphic_1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pic>
        <p:nvPicPr>
          <p:cNvPr id="2" name="Picture 1">
            <a:extLst>
              <a:ext uri="{FF2B5EF4-FFF2-40B4-BE49-F238E27FC236}">
                <a16:creationId xmlns:a16="http://schemas.microsoft.com/office/drawing/2014/main" id="{95F0F8F0-8806-50E0-F738-CED6CB8CBC20}"/>
              </a:ext>
              <a:ext uri="{C183D7F6-B498-43B3-948B-1728B52AA6E4}">
                <adec:decorative xmlns:adec="http://schemas.microsoft.com/office/drawing/2017/decorative" val="1"/>
              </a:ext>
            </a:extLst>
          </p:cNvPr>
          <p:cNvPicPr>
            <a:picLocks noChangeAspect="1"/>
          </p:cNvPicPr>
          <p:nvPr userDrawn="1"/>
        </p:nvPicPr>
        <p:blipFill rotWithShape="1">
          <a:blip r:embed="rId2"/>
          <a:srcRect l="-12535" t="21946" r="66072" b="3002"/>
          <a:stretch/>
        </p:blipFill>
        <p:spPr>
          <a:xfrm>
            <a:off x="4546637" y="1"/>
            <a:ext cx="2311363" cy="9906000"/>
          </a:xfrm>
          <a:prstGeom prst="rect">
            <a:avLst/>
          </a:prstGeom>
        </p:spPr>
      </p:pic>
      <p:sp>
        <p:nvSpPr>
          <p:cNvPr id="5" name="Title 1">
            <a:extLst>
              <a:ext uri="{FF2B5EF4-FFF2-40B4-BE49-F238E27FC236}">
                <a16:creationId xmlns:a16="http://schemas.microsoft.com/office/drawing/2014/main" id="{D21B7401-C882-E91B-A885-405D7AA557E1}"/>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rgbClr val="FFA38B"/>
                </a:solidFill>
              </a:defRPr>
            </a:lvl1pPr>
          </a:lstStyle>
          <a:p>
            <a:r>
              <a:rPr lang="en-US"/>
              <a:t>Slide title</a:t>
            </a:r>
          </a:p>
        </p:txBody>
      </p:sp>
    </p:spTree>
    <p:extLst>
      <p:ext uri="{BB962C8B-B14F-4D97-AF65-F5344CB8AC3E}">
        <p14:creationId xmlns:p14="http://schemas.microsoft.com/office/powerpoint/2010/main" val="2054451132"/>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Only_DarkGraphic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56529"/>
            <a:ext cx="4119125" cy="972458"/>
          </a:xfrm>
          <a:prstGeom prst="rect">
            <a:avLst/>
          </a:prstGeom>
        </p:spPr>
        <p:txBody>
          <a:bodyPr lIns="0" anchor="t">
            <a:noAutofit/>
          </a:bodyPr>
          <a:lstStyle>
            <a:lvl1pPr>
              <a:defRPr>
                <a:solidFill>
                  <a:schemeClr val="bg1"/>
                </a:solidFill>
              </a:defRPr>
            </a:lvl1pPr>
          </a:lstStyle>
          <a:p>
            <a:r>
              <a:rPr lang="en-US"/>
              <a:t>Slide title</a:t>
            </a:r>
          </a:p>
        </p:txBody>
      </p:sp>
    </p:spTree>
    <p:extLst>
      <p:ext uri="{BB962C8B-B14F-4D97-AF65-F5344CB8AC3E}">
        <p14:creationId xmlns:p14="http://schemas.microsoft.com/office/powerpoint/2010/main" val="585015458"/>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Only_DarkGraphic_2_50%">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770993" y="605367"/>
            <a:ext cx="2658382" cy="972458"/>
          </a:xfrm>
          <a:prstGeom prst="rect">
            <a:avLst/>
          </a:prstGeom>
        </p:spPr>
        <p:txBody>
          <a:bodyPr lIns="0" anchor="t">
            <a:noAutofit/>
          </a:bodyPr>
          <a:lstStyle>
            <a:lvl1pPr>
              <a:defRPr>
                <a:solidFill>
                  <a:schemeClr val="bg1"/>
                </a:solidFill>
              </a:defRPr>
            </a:lvl1pPr>
          </a:lstStyle>
          <a:p>
            <a:r>
              <a:rPr lang="en-US"/>
              <a:t>Slide title</a:t>
            </a:r>
          </a:p>
        </p:txBody>
      </p:sp>
    </p:spTree>
    <p:extLst>
      <p:ext uri="{BB962C8B-B14F-4D97-AF65-F5344CB8AC3E}">
        <p14:creationId xmlns:p14="http://schemas.microsoft.com/office/powerpoint/2010/main" val="699894820"/>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Only_DarkGraphic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56529"/>
            <a:ext cx="4119125" cy="972458"/>
          </a:xfrm>
          <a:prstGeom prst="rect">
            <a:avLst/>
          </a:prstGeom>
        </p:spPr>
        <p:txBody>
          <a:bodyPr lIns="0" anchor="t">
            <a:noAutofit/>
          </a:bodyPr>
          <a:lstStyle>
            <a:lvl1pPr>
              <a:defRPr>
                <a:solidFill>
                  <a:schemeClr val="bg1"/>
                </a:solidFill>
              </a:defRPr>
            </a:lvl1pPr>
          </a:lstStyle>
          <a:p>
            <a:r>
              <a:rPr lang="en-US"/>
              <a:t>Slide title</a:t>
            </a:r>
          </a:p>
        </p:txBody>
      </p:sp>
    </p:spTree>
    <p:extLst>
      <p:ext uri="{BB962C8B-B14F-4D97-AF65-F5344CB8AC3E}">
        <p14:creationId xmlns:p14="http://schemas.microsoft.com/office/powerpoint/2010/main" val="1963160670"/>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Only_DarkGraphic_3_50%">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770993" y="605367"/>
            <a:ext cx="2658382" cy="972458"/>
          </a:xfrm>
          <a:prstGeom prst="rect">
            <a:avLst/>
          </a:prstGeom>
        </p:spPr>
        <p:txBody>
          <a:bodyPr lIns="0" anchor="t">
            <a:noAutofit/>
          </a:bodyPr>
          <a:lstStyle>
            <a:lvl1pPr>
              <a:defRPr>
                <a:solidFill>
                  <a:schemeClr val="bg1"/>
                </a:solidFill>
              </a:defRPr>
            </a:lvl1pPr>
          </a:lstStyle>
          <a:p>
            <a:r>
              <a:rPr lang="en-US"/>
              <a:t>Slide title</a:t>
            </a:r>
          </a:p>
        </p:txBody>
      </p:sp>
    </p:spTree>
    <p:extLst>
      <p:ext uri="{BB962C8B-B14F-4D97-AF65-F5344CB8AC3E}">
        <p14:creationId xmlns:p14="http://schemas.microsoft.com/office/powerpoint/2010/main" val="3508699664"/>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Only_LightGraphic">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27380"/>
            <a:ext cx="4119125" cy="5614769"/>
          </a:xfrm>
          <a:prstGeom prst="rect">
            <a:avLst/>
          </a:prstGeom>
        </p:spPr>
        <p:txBody>
          <a:bodyPr lIns="0" anchor="t">
            <a:noAutofit/>
          </a:bodyPr>
          <a:lstStyle>
            <a:lvl1pPr>
              <a:defRPr sz="2824">
                <a:solidFill>
                  <a:srgbClr val="091F2C"/>
                </a:solidFill>
              </a:defRPr>
            </a:lvl1pPr>
          </a:lstStyle>
          <a:p>
            <a:r>
              <a:rPr lang="en-US"/>
              <a:t>Slide title</a:t>
            </a:r>
          </a:p>
        </p:txBody>
      </p:sp>
      <p:pic>
        <p:nvPicPr>
          <p:cNvPr id="3" name="Picture 2">
            <a:extLst>
              <a:ext uri="{FF2B5EF4-FFF2-40B4-BE49-F238E27FC236}">
                <a16:creationId xmlns:a16="http://schemas.microsoft.com/office/drawing/2014/main" id="{55A98F2B-F9FD-D845-F7DA-DAC93401F6E3}"/>
              </a:ext>
              <a:ext uri="{C183D7F6-B498-43B3-948B-1728B52AA6E4}">
                <adec:decorative xmlns:adec="http://schemas.microsoft.com/office/drawing/2017/decorative" val="1"/>
              </a:ext>
            </a:extLst>
          </p:cNvPr>
          <p:cNvPicPr>
            <a:picLocks noChangeAspect="1"/>
          </p:cNvPicPr>
          <p:nvPr userDrawn="1"/>
        </p:nvPicPr>
        <p:blipFill rotWithShape="1">
          <a:blip r:embed="rId2"/>
          <a:srcRect l="45583" t="-16407" r="10397" b="54516"/>
          <a:stretch/>
        </p:blipFill>
        <p:spPr>
          <a:xfrm flipH="1" flipV="1">
            <a:off x="3429000" y="0"/>
            <a:ext cx="3508351" cy="6311320"/>
          </a:xfrm>
          <a:prstGeom prst="rect">
            <a:avLst/>
          </a:prstGeom>
        </p:spPr>
      </p:pic>
    </p:spTree>
    <p:extLst>
      <p:ext uri="{BB962C8B-B14F-4D97-AF65-F5344CB8AC3E}">
        <p14:creationId xmlns:p14="http://schemas.microsoft.com/office/powerpoint/2010/main" val="34580859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Only_LightGraphic">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27380"/>
            <a:ext cx="4119125" cy="5614769"/>
          </a:xfrm>
          <a:prstGeom prst="rect">
            <a:avLst/>
          </a:prstGeom>
        </p:spPr>
        <p:txBody>
          <a:bodyPr lIns="0" anchor="t">
            <a:noAutofit/>
          </a:bodyPr>
          <a:lstStyle>
            <a:lvl1pPr>
              <a:defRPr sz="2824">
                <a:solidFill>
                  <a:srgbClr val="091F2C"/>
                </a:solidFill>
              </a:defRPr>
            </a:lvl1pPr>
          </a:lstStyle>
          <a:p>
            <a:r>
              <a:rPr lang="en-US"/>
              <a:t>Slide title</a:t>
            </a:r>
          </a:p>
        </p:txBody>
      </p:sp>
      <p:pic>
        <p:nvPicPr>
          <p:cNvPr id="3" name="Picture 2">
            <a:extLst>
              <a:ext uri="{FF2B5EF4-FFF2-40B4-BE49-F238E27FC236}">
                <a16:creationId xmlns:a16="http://schemas.microsoft.com/office/drawing/2014/main" id="{55A98F2B-F9FD-D845-F7DA-DAC93401F6E3}"/>
              </a:ext>
              <a:ext uri="{C183D7F6-B498-43B3-948B-1728B52AA6E4}">
                <adec:decorative xmlns:adec="http://schemas.microsoft.com/office/drawing/2017/decorative" val="1"/>
              </a:ext>
            </a:extLst>
          </p:cNvPr>
          <p:cNvPicPr>
            <a:picLocks noChangeAspect="1"/>
          </p:cNvPicPr>
          <p:nvPr userDrawn="1"/>
        </p:nvPicPr>
        <p:blipFill rotWithShape="1">
          <a:blip r:embed="rId2"/>
          <a:srcRect l="50817" t="-10563" r="14713" b="67830"/>
          <a:stretch/>
        </p:blipFill>
        <p:spPr>
          <a:xfrm flipH="1" flipV="1">
            <a:off x="4323228" y="0"/>
            <a:ext cx="2534771" cy="4020687"/>
          </a:xfrm>
          <a:prstGeom prst="rect">
            <a:avLst/>
          </a:prstGeom>
        </p:spPr>
      </p:pic>
    </p:spTree>
    <p:extLst>
      <p:ext uri="{BB962C8B-B14F-4D97-AF65-F5344CB8AC3E}">
        <p14:creationId xmlns:p14="http://schemas.microsoft.com/office/powerpoint/2010/main" val="4079877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Only_LightGraphic">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FADA4A-E855-4EF2-741D-852ACD82768B}"/>
              </a:ext>
            </a:extLst>
          </p:cNvPr>
          <p:cNvSpPr/>
          <p:nvPr userDrawn="1"/>
        </p:nvSpPr>
        <p:spPr bwMode="auto">
          <a:xfrm>
            <a:off x="338743" y="1654404"/>
            <a:ext cx="6219458" cy="7543475"/>
          </a:xfrm>
          <a:prstGeom prst="rect">
            <a:avLst/>
          </a:prstGeom>
          <a:noFill/>
          <a:ln>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defTabSz="524544" fontAlgn="base">
              <a:spcBef>
                <a:spcPct val="0"/>
              </a:spcBef>
              <a:spcAft>
                <a:spcPct val="0"/>
              </a:spcAft>
            </a:pPr>
            <a:endParaRPr lang="en-US" sz="900">
              <a:solidFill>
                <a:schemeClr val="tx1"/>
              </a:solidFill>
              <a:ea typeface="Segoe UI" pitchFamily="34" charset="0"/>
              <a:cs typeface="Segoe UI" pitchFamily="34" charset="0"/>
            </a:endParaRPr>
          </a:p>
        </p:txBody>
      </p:sp>
      <p:sp>
        <p:nvSpPr>
          <p:cNvPr id="2" name="Oval 1">
            <a:extLst>
              <a:ext uri="{FF2B5EF4-FFF2-40B4-BE49-F238E27FC236}">
                <a16:creationId xmlns:a16="http://schemas.microsoft.com/office/drawing/2014/main" id="{2699D926-D6A3-75DD-E578-C942894DD341}"/>
              </a:ext>
            </a:extLst>
          </p:cNvPr>
          <p:cNvSpPr/>
          <p:nvPr userDrawn="1"/>
        </p:nvSpPr>
        <p:spPr bwMode="auto">
          <a:xfrm>
            <a:off x="4480323" y="7862988"/>
            <a:ext cx="2316297" cy="1825425"/>
          </a:xfrm>
          <a:custGeom>
            <a:avLst/>
            <a:gdLst>
              <a:gd name="connsiteX0" fmla="*/ 0 w 2207846"/>
              <a:gd name="connsiteY0" fmla="*/ 683718 h 1367436"/>
              <a:gd name="connsiteX1" fmla="*/ 1103923 w 2207846"/>
              <a:gd name="connsiteY1" fmla="*/ 0 h 1367436"/>
              <a:gd name="connsiteX2" fmla="*/ 2207846 w 2207846"/>
              <a:gd name="connsiteY2" fmla="*/ 683718 h 1367436"/>
              <a:gd name="connsiteX3" fmla="*/ 1103923 w 2207846"/>
              <a:gd name="connsiteY3" fmla="*/ 1367436 h 1367436"/>
              <a:gd name="connsiteX4" fmla="*/ 0 w 2207846"/>
              <a:gd name="connsiteY4" fmla="*/ 683718 h 1367436"/>
              <a:gd name="connsiteX0" fmla="*/ 18872 w 2313972"/>
              <a:gd name="connsiteY0" fmla="*/ 1449625 h 2133343"/>
              <a:gd name="connsiteX1" fmla="*/ 1943410 w 2313972"/>
              <a:gd name="connsiteY1" fmla="*/ 0 h 2133343"/>
              <a:gd name="connsiteX2" fmla="*/ 2226718 w 2313972"/>
              <a:gd name="connsiteY2" fmla="*/ 1449625 h 2133343"/>
              <a:gd name="connsiteX3" fmla="*/ 1122795 w 2313972"/>
              <a:gd name="connsiteY3" fmla="*/ 2133343 h 2133343"/>
              <a:gd name="connsiteX4" fmla="*/ 18872 w 2313972"/>
              <a:gd name="connsiteY4" fmla="*/ 1449625 h 2133343"/>
              <a:gd name="connsiteX0" fmla="*/ 10244 w 2724219"/>
              <a:gd name="connsiteY0" fmla="*/ 1356018 h 2134067"/>
              <a:gd name="connsiteX1" fmla="*/ 2411521 w 2724219"/>
              <a:gd name="connsiteY1" fmla="*/ 178 h 2134067"/>
              <a:gd name="connsiteX2" fmla="*/ 2694829 w 2724219"/>
              <a:gd name="connsiteY2" fmla="*/ 1449803 h 2134067"/>
              <a:gd name="connsiteX3" fmla="*/ 1590906 w 2724219"/>
              <a:gd name="connsiteY3" fmla="*/ 2133521 h 2134067"/>
              <a:gd name="connsiteX4" fmla="*/ 10244 w 2724219"/>
              <a:gd name="connsiteY4" fmla="*/ 1356018 h 2134067"/>
              <a:gd name="connsiteX0" fmla="*/ 8037 w 2695605"/>
              <a:gd name="connsiteY0" fmla="*/ 1387274 h 2165323"/>
              <a:gd name="connsiteX1" fmla="*/ 2307714 w 2695605"/>
              <a:gd name="connsiteY1" fmla="*/ 173 h 2165323"/>
              <a:gd name="connsiteX2" fmla="*/ 2692622 w 2695605"/>
              <a:gd name="connsiteY2" fmla="*/ 1481059 h 2165323"/>
              <a:gd name="connsiteX3" fmla="*/ 1588699 w 2695605"/>
              <a:gd name="connsiteY3" fmla="*/ 2164777 h 2165323"/>
              <a:gd name="connsiteX4" fmla="*/ 8037 w 2695605"/>
              <a:gd name="connsiteY4" fmla="*/ 1387274 h 2165323"/>
              <a:gd name="connsiteX0" fmla="*/ 9845 w 2717369"/>
              <a:gd name="connsiteY0" fmla="*/ 1345293 h 2123342"/>
              <a:gd name="connsiteX1" fmla="*/ 2393497 w 2717369"/>
              <a:gd name="connsiteY1" fmla="*/ 180 h 2123342"/>
              <a:gd name="connsiteX2" fmla="*/ 2694430 w 2717369"/>
              <a:gd name="connsiteY2" fmla="*/ 1439078 h 2123342"/>
              <a:gd name="connsiteX3" fmla="*/ 1590507 w 2717369"/>
              <a:gd name="connsiteY3" fmla="*/ 2122796 h 2123342"/>
              <a:gd name="connsiteX4" fmla="*/ 9845 w 2717369"/>
              <a:gd name="connsiteY4" fmla="*/ 1345293 h 2123342"/>
              <a:gd name="connsiteX0" fmla="*/ 9023 w 2705350"/>
              <a:gd name="connsiteY0" fmla="*/ 1359286 h 2137335"/>
              <a:gd name="connsiteX1" fmla="*/ 2355353 w 2705350"/>
              <a:gd name="connsiteY1" fmla="*/ 177 h 2137335"/>
              <a:gd name="connsiteX2" fmla="*/ 2693608 w 2705350"/>
              <a:gd name="connsiteY2" fmla="*/ 1453071 h 2137335"/>
              <a:gd name="connsiteX3" fmla="*/ 1589685 w 2705350"/>
              <a:gd name="connsiteY3" fmla="*/ 2136789 h 2137335"/>
              <a:gd name="connsiteX4" fmla="*/ 9023 w 2705350"/>
              <a:gd name="connsiteY4" fmla="*/ 1359286 h 2137335"/>
              <a:gd name="connsiteX0" fmla="*/ 10264 w 2706591"/>
              <a:gd name="connsiteY0" fmla="*/ 1359280 h 1855061"/>
              <a:gd name="connsiteX1" fmla="*/ 2356594 w 2706591"/>
              <a:gd name="connsiteY1" fmla="*/ 171 h 1855061"/>
              <a:gd name="connsiteX2" fmla="*/ 2694849 w 2706591"/>
              <a:gd name="connsiteY2" fmla="*/ 1453065 h 1855061"/>
              <a:gd name="connsiteX3" fmla="*/ 1548938 w 2706591"/>
              <a:gd name="connsiteY3" fmla="*/ 1852200 h 1855061"/>
              <a:gd name="connsiteX4" fmla="*/ 10264 w 2706591"/>
              <a:gd name="connsiteY4" fmla="*/ 1359280 h 1855061"/>
              <a:gd name="connsiteX0" fmla="*/ 10114 w 2625137"/>
              <a:gd name="connsiteY0" fmla="*/ 1359206 h 1853508"/>
              <a:gd name="connsiteX1" fmla="*/ 2356444 w 2625137"/>
              <a:gd name="connsiteY1" fmla="*/ 97 h 1853508"/>
              <a:gd name="connsiteX2" fmla="*/ 2573401 w 2625137"/>
              <a:gd name="connsiteY2" fmla="*/ 1429665 h 1853508"/>
              <a:gd name="connsiteX3" fmla="*/ 1548788 w 2625137"/>
              <a:gd name="connsiteY3" fmla="*/ 1852126 h 1853508"/>
              <a:gd name="connsiteX4" fmla="*/ 10114 w 2625137"/>
              <a:gd name="connsiteY4" fmla="*/ 1359206 h 18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137" h="1853508">
                <a:moveTo>
                  <a:pt x="10114" y="1359206"/>
                </a:moveTo>
                <a:cubicBezTo>
                  <a:pt x="144723" y="1050535"/>
                  <a:pt x="1929230" y="-11646"/>
                  <a:pt x="2356444" y="97"/>
                </a:cubicBezTo>
                <a:cubicBezTo>
                  <a:pt x="2783658" y="11840"/>
                  <a:pt x="2573401" y="1052058"/>
                  <a:pt x="2573401" y="1429665"/>
                </a:cubicBezTo>
                <a:cubicBezTo>
                  <a:pt x="2573401" y="1807272"/>
                  <a:pt x="1976002" y="1863869"/>
                  <a:pt x="1548788" y="1852126"/>
                </a:cubicBezTo>
                <a:cubicBezTo>
                  <a:pt x="1121574" y="1840383"/>
                  <a:pt x="-124495" y="1667878"/>
                  <a:pt x="10114" y="1359206"/>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algn="l" defTabSz="822813" fontAlgn="base">
              <a:spcBef>
                <a:spcPct val="0"/>
              </a:spcBef>
              <a:spcAft>
                <a:spcPct val="0"/>
              </a:spcAft>
            </a:pPr>
            <a:endParaRPr lang="en-US" sz="1765" err="1">
              <a:solidFill>
                <a:srgbClr val="FFFFFF"/>
              </a:solidFill>
              <a:ea typeface="Segoe UI" pitchFamily="34" charset="0"/>
              <a:cs typeface="Segoe UI" pitchFamily="34" charset="0"/>
            </a:endParaRPr>
          </a:p>
        </p:txBody>
      </p:sp>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27380"/>
            <a:ext cx="4119125" cy="5614769"/>
          </a:xfrm>
          <a:prstGeom prst="rect">
            <a:avLst/>
          </a:prstGeom>
        </p:spPr>
        <p:txBody>
          <a:bodyPr lIns="0" anchor="t">
            <a:noAutofit/>
          </a:bodyPr>
          <a:lstStyle>
            <a:lvl1pPr>
              <a:defRPr sz="2824">
                <a:solidFill>
                  <a:srgbClr val="091F2C"/>
                </a:solidFill>
              </a:defRPr>
            </a:lvl1pPr>
          </a:lstStyle>
          <a:p>
            <a:r>
              <a:rPr lang="en-US"/>
              <a:t>Slide title</a:t>
            </a:r>
          </a:p>
        </p:txBody>
      </p:sp>
      <p:pic>
        <p:nvPicPr>
          <p:cNvPr id="3" name="Picture 2">
            <a:extLst>
              <a:ext uri="{FF2B5EF4-FFF2-40B4-BE49-F238E27FC236}">
                <a16:creationId xmlns:a16="http://schemas.microsoft.com/office/drawing/2014/main" id="{55A98F2B-F9FD-D845-F7DA-DAC93401F6E3}"/>
              </a:ext>
              <a:ext uri="{C183D7F6-B498-43B3-948B-1728B52AA6E4}">
                <adec:decorative xmlns:adec="http://schemas.microsoft.com/office/drawing/2017/decorative" val="1"/>
              </a:ext>
            </a:extLst>
          </p:cNvPr>
          <p:cNvPicPr>
            <a:picLocks noChangeAspect="1"/>
          </p:cNvPicPr>
          <p:nvPr userDrawn="1"/>
        </p:nvPicPr>
        <p:blipFill rotWithShape="1">
          <a:blip r:embed="rId2"/>
          <a:srcRect l="50817" t="-10563" r="14713" b="67830"/>
          <a:stretch/>
        </p:blipFill>
        <p:spPr>
          <a:xfrm rot="5400000" flipH="1" flipV="1">
            <a:off x="2140979" y="5220995"/>
            <a:ext cx="4150058" cy="5283986"/>
          </a:xfrm>
          <a:prstGeom prst="rect">
            <a:avLst/>
          </a:prstGeom>
        </p:spPr>
      </p:pic>
    </p:spTree>
    <p:extLst>
      <p:ext uri="{BB962C8B-B14F-4D97-AF65-F5344CB8AC3E}">
        <p14:creationId xmlns:p14="http://schemas.microsoft.com/office/powerpoint/2010/main" val="18025914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Only_LightGraphic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pic>
        <p:nvPicPr>
          <p:cNvPr id="2" name="Picture 1">
            <a:extLst>
              <a:ext uri="{FF2B5EF4-FFF2-40B4-BE49-F238E27FC236}">
                <a16:creationId xmlns:a16="http://schemas.microsoft.com/office/drawing/2014/main" id="{4880D94B-15A5-C769-15FF-6E70799EA8EC}"/>
              </a:ext>
              <a:ext uri="{C183D7F6-B498-43B3-948B-1728B52AA6E4}">
                <adec:decorative xmlns:adec="http://schemas.microsoft.com/office/drawing/2017/decorative" val="1"/>
              </a:ext>
            </a:extLst>
          </p:cNvPr>
          <p:cNvPicPr>
            <a:picLocks noChangeAspect="1"/>
          </p:cNvPicPr>
          <p:nvPr userDrawn="1"/>
        </p:nvPicPr>
        <p:blipFill rotWithShape="1">
          <a:blip r:embed="rId2"/>
          <a:srcRect l="50000" t="-28916" r="-294" b="58203"/>
          <a:stretch/>
        </p:blipFill>
        <p:spPr>
          <a:xfrm flipH="1" flipV="1">
            <a:off x="4457699" y="1"/>
            <a:ext cx="2400300" cy="9906000"/>
          </a:xfrm>
          <a:prstGeom prst="rect">
            <a:avLst/>
          </a:prstGeom>
        </p:spPr>
      </p:pic>
      <p:sp>
        <p:nvSpPr>
          <p:cNvPr id="5" name="Title 1">
            <a:extLst>
              <a:ext uri="{FF2B5EF4-FFF2-40B4-BE49-F238E27FC236}">
                <a16:creationId xmlns:a16="http://schemas.microsoft.com/office/drawing/2014/main" id="{B33A2B1B-122A-E9AF-D15C-E007D1903D20}"/>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rgbClr val="091F2C"/>
                </a:solidFill>
              </a:defRPr>
            </a:lvl1pPr>
          </a:lstStyle>
          <a:p>
            <a:r>
              <a:rPr lang="en-US"/>
              <a:t>Slide title</a:t>
            </a:r>
          </a:p>
        </p:txBody>
      </p:sp>
    </p:spTree>
    <p:extLst>
      <p:ext uri="{BB962C8B-B14F-4D97-AF65-F5344CB8AC3E}">
        <p14:creationId xmlns:p14="http://schemas.microsoft.com/office/powerpoint/2010/main" val="2592605396"/>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mitedContent_DarkGraphic">
    <p:bg>
      <p:bgPr>
        <a:solidFill>
          <a:srgbClr val="091F2C"/>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F78C6A0-DCCF-E1A0-6051-FD920B576B9B}"/>
              </a:ext>
              <a:ext uri="{C183D7F6-B498-43B3-948B-1728B52AA6E4}">
                <adec:decorative xmlns:adec="http://schemas.microsoft.com/office/drawing/2017/decorative" val="1"/>
              </a:ext>
            </a:extLst>
          </p:cNvPr>
          <p:cNvPicPr>
            <a:picLocks noChangeAspect="1"/>
          </p:cNvPicPr>
          <p:nvPr userDrawn="1"/>
        </p:nvPicPr>
        <p:blipFill rotWithShape="1">
          <a:blip r:embed="rId2">
            <a:alphaModFix amt="30000"/>
          </a:blip>
          <a:srcRect l="376" t="9821" r="61861" b="19399"/>
          <a:stretch/>
        </p:blipFill>
        <p:spPr>
          <a:xfrm>
            <a:off x="4548469" y="0"/>
            <a:ext cx="2309531" cy="9906000"/>
          </a:xfrm>
          <a:prstGeom prst="rect">
            <a:avLst/>
          </a:prstGeom>
        </p:spPr>
      </p:pic>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56529"/>
            <a:ext cx="4119125" cy="972458"/>
          </a:xfrm>
          <a:prstGeom prst="rect">
            <a:avLst/>
          </a:prstGeom>
        </p:spPr>
        <p:txBody>
          <a:bodyPr lIns="0" anchor="t">
            <a:noAutofit/>
          </a:bodyPr>
          <a:lstStyle>
            <a:lvl1pPr>
              <a:defRPr>
                <a:solidFill>
                  <a:schemeClr val="bg1"/>
                </a:solidFill>
              </a:defRPr>
            </a:lvl1pPr>
          </a:lstStyle>
          <a:p>
            <a:r>
              <a:rPr lang="en-US"/>
              <a:t>Slide title</a:t>
            </a:r>
          </a:p>
        </p:txBody>
      </p:sp>
      <p:sp>
        <p:nvSpPr>
          <p:cNvPr id="7" name="Text Placeholder 2">
            <a:extLst>
              <a:ext uri="{FF2B5EF4-FFF2-40B4-BE49-F238E27FC236}">
                <a16:creationId xmlns:a16="http://schemas.microsoft.com/office/drawing/2014/main" id="{B3694C46-6E4C-66F7-7B15-58666BACDE69}"/>
              </a:ext>
            </a:extLst>
          </p:cNvPr>
          <p:cNvSpPr>
            <a:spLocks noGrp="1"/>
          </p:cNvSpPr>
          <p:nvPr>
            <p:ph type="body" sz="quarter" idx="12" hasCustomPrompt="1"/>
          </p:nvPr>
        </p:nvSpPr>
        <p:spPr>
          <a:xfrm>
            <a:off x="338575" y="2107778"/>
            <a:ext cx="4119123" cy="797983"/>
          </a:xfrm>
          <a:prstGeom prst="rect">
            <a:avLst/>
          </a:prstGeom>
        </p:spPr>
        <p:txBody>
          <a:bodyPr lIns="0" anchor="t">
            <a:noAutofit/>
          </a:bodyPr>
          <a:lstStyle>
            <a:lvl1pPr marL="0" indent="0">
              <a:spcAft>
                <a:spcPts val="338"/>
              </a:spcAft>
              <a:buFont typeface="Wingdings" panose="05000000000000000000" pitchFamily="2" charset="2"/>
              <a:buNone/>
              <a:defRPr sz="1575">
                <a:solidFill>
                  <a:srgbClr val="FFA38B"/>
                </a:solidFill>
                <a:latin typeface="+mj-lt"/>
              </a:defRPr>
            </a:lvl1pPr>
          </a:lstStyle>
          <a:p>
            <a:pPr lvl="0"/>
            <a:r>
              <a:rPr lang="en-US"/>
              <a:t>1-3 key messages</a:t>
            </a:r>
          </a:p>
        </p:txBody>
      </p:sp>
      <p:sp>
        <p:nvSpPr>
          <p:cNvPr id="8" name="Text Placeholder 2">
            <a:extLst>
              <a:ext uri="{FF2B5EF4-FFF2-40B4-BE49-F238E27FC236}">
                <a16:creationId xmlns:a16="http://schemas.microsoft.com/office/drawing/2014/main" id="{EDF38A90-6E25-ECA9-FAEC-C69F2FB69AB7}"/>
              </a:ext>
            </a:extLst>
          </p:cNvPr>
          <p:cNvSpPr>
            <a:spLocks noGrp="1"/>
          </p:cNvSpPr>
          <p:nvPr>
            <p:ph type="body" sz="quarter" idx="13" hasCustomPrompt="1"/>
          </p:nvPr>
        </p:nvSpPr>
        <p:spPr>
          <a:xfrm>
            <a:off x="338575" y="2937996"/>
            <a:ext cx="4119124" cy="3281296"/>
          </a:xfrm>
          <a:prstGeom prst="rect">
            <a:avLst/>
          </a:prstGeom>
        </p:spPr>
        <p:txBody>
          <a:bodyPr lIns="0" anchor="t">
            <a:noAutofit/>
          </a:bodyPr>
          <a:lstStyle>
            <a:lvl1pPr marL="0" indent="0">
              <a:spcAft>
                <a:spcPts val="338"/>
              </a:spcAft>
              <a:buFont typeface="Wingdings" panose="05000000000000000000" pitchFamily="2" charset="2"/>
              <a:buNone/>
              <a:defRPr sz="1125">
                <a:solidFill>
                  <a:srgbClr val="FFFFFF"/>
                </a:solidFill>
                <a:latin typeface="+mn-lt"/>
              </a:defRPr>
            </a:lvl1pPr>
          </a:lstStyle>
          <a:p>
            <a:pPr lvl="0"/>
            <a:r>
              <a:rPr lang="en-US"/>
              <a:t>Body copy for message</a:t>
            </a:r>
          </a:p>
        </p:txBody>
      </p:sp>
    </p:spTree>
    <p:extLst>
      <p:ext uri="{BB962C8B-B14F-4D97-AF65-F5344CB8AC3E}">
        <p14:creationId xmlns:p14="http://schemas.microsoft.com/office/powerpoint/2010/main" val="3646275942"/>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mitedContent_DarkGraphic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pic>
        <p:nvPicPr>
          <p:cNvPr id="10" name="Picture 9">
            <a:extLst>
              <a:ext uri="{FF2B5EF4-FFF2-40B4-BE49-F238E27FC236}">
                <a16:creationId xmlns:a16="http://schemas.microsoft.com/office/drawing/2014/main" id="{C99DD0AC-B0C5-F2BA-00C1-64654BF5C417}"/>
              </a:ext>
              <a:ext uri="{C183D7F6-B498-43B3-948B-1728B52AA6E4}">
                <adec:decorative xmlns:adec="http://schemas.microsoft.com/office/drawing/2017/decorative" val="1"/>
              </a:ext>
            </a:extLst>
          </p:cNvPr>
          <p:cNvPicPr>
            <a:picLocks noChangeAspect="1"/>
          </p:cNvPicPr>
          <p:nvPr userDrawn="1"/>
        </p:nvPicPr>
        <p:blipFill rotWithShape="1">
          <a:blip r:embed="rId2">
            <a:alphaModFix amt="30000"/>
          </a:blip>
          <a:srcRect l="376" t="9821" r="61861" b="19399"/>
          <a:stretch/>
        </p:blipFill>
        <p:spPr>
          <a:xfrm>
            <a:off x="5225930" y="2905760"/>
            <a:ext cx="1632069" cy="7000239"/>
          </a:xfrm>
          <a:prstGeom prst="rect">
            <a:avLst/>
          </a:prstGeom>
        </p:spPr>
      </p:pic>
      <p:sp>
        <p:nvSpPr>
          <p:cNvPr id="11" name="Title 1">
            <a:extLst>
              <a:ext uri="{FF2B5EF4-FFF2-40B4-BE49-F238E27FC236}">
                <a16:creationId xmlns:a16="http://schemas.microsoft.com/office/drawing/2014/main" id="{9E67014D-A334-7FF2-1125-6173F6DA9278}"/>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chemeClr val="bg1"/>
                </a:solidFill>
              </a:defRPr>
            </a:lvl1pPr>
          </a:lstStyle>
          <a:p>
            <a:r>
              <a:rPr lang="en-US"/>
              <a:t>Slide title</a:t>
            </a:r>
          </a:p>
        </p:txBody>
      </p:sp>
      <p:sp>
        <p:nvSpPr>
          <p:cNvPr id="18" name="Text Placeholder 2">
            <a:extLst>
              <a:ext uri="{FF2B5EF4-FFF2-40B4-BE49-F238E27FC236}">
                <a16:creationId xmlns:a16="http://schemas.microsoft.com/office/drawing/2014/main" id="{F427C841-EC43-B533-3580-F671BB919DBB}"/>
              </a:ext>
            </a:extLst>
          </p:cNvPr>
          <p:cNvSpPr>
            <a:spLocks noGrp="1"/>
          </p:cNvSpPr>
          <p:nvPr>
            <p:ph type="body" sz="quarter" idx="12" hasCustomPrompt="1"/>
          </p:nvPr>
        </p:nvSpPr>
        <p:spPr>
          <a:xfrm>
            <a:off x="3768471" y="2107778"/>
            <a:ext cx="2761810" cy="797983"/>
          </a:xfrm>
          <a:prstGeom prst="rect">
            <a:avLst/>
          </a:prstGeom>
        </p:spPr>
        <p:txBody>
          <a:bodyPr lIns="0" anchor="t">
            <a:noAutofit/>
          </a:bodyPr>
          <a:lstStyle>
            <a:lvl1pPr marL="0" indent="0">
              <a:spcAft>
                <a:spcPts val="338"/>
              </a:spcAft>
              <a:buFont typeface="Wingdings" panose="05000000000000000000" pitchFamily="2" charset="2"/>
              <a:buNone/>
              <a:defRPr sz="1575">
                <a:solidFill>
                  <a:srgbClr val="FFA38B"/>
                </a:solidFill>
                <a:latin typeface="+mj-lt"/>
              </a:defRPr>
            </a:lvl1pPr>
          </a:lstStyle>
          <a:p>
            <a:pPr lvl="0"/>
            <a:r>
              <a:rPr lang="en-US"/>
              <a:t>1-3 key messages</a:t>
            </a:r>
          </a:p>
        </p:txBody>
      </p:sp>
      <p:sp>
        <p:nvSpPr>
          <p:cNvPr id="19" name="Text Placeholder 2">
            <a:extLst>
              <a:ext uri="{FF2B5EF4-FFF2-40B4-BE49-F238E27FC236}">
                <a16:creationId xmlns:a16="http://schemas.microsoft.com/office/drawing/2014/main" id="{5618BC6E-F4F6-8F6A-9F4C-A6375B3D76A6}"/>
              </a:ext>
            </a:extLst>
          </p:cNvPr>
          <p:cNvSpPr>
            <a:spLocks noGrp="1"/>
          </p:cNvSpPr>
          <p:nvPr>
            <p:ph type="body" sz="quarter" idx="13" hasCustomPrompt="1"/>
          </p:nvPr>
        </p:nvSpPr>
        <p:spPr>
          <a:xfrm>
            <a:off x="3768470" y="2937996"/>
            <a:ext cx="2761811" cy="3281296"/>
          </a:xfrm>
          <a:prstGeom prst="rect">
            <a:avLst/>
          </a:prstGeom>
        </p:spPr>
        <p:txBody>
          <a:bodyPr lIns="0" anchor="t">
            <a:noAutofit/>
          </a:bodyPr>
          <a:lstStyle>
            <a:lvl1pPr marL="0" indent="0">
              <a:spcAft>
                <a:spcPts val="338"/>
              </a:spcAft>
              <a:buFont typeface="Wingdings" panose="05000000000000000000" pitchFamily="2" charset="2"/>
              <a:buNone/>
              <a:defRPr sz="1125">
                <a:solidFill>
                  <a:schemeClr val="bg1"/>
                </a:solidFill>
                <a:latin typeface="+mn-lt"/>
              </a:defRPr>
            </a:lvl1pPr>
          </a:lstStyle>
          <a:p>
            <a:pPr lvl="0"/>
            <a:r>
              <a:rPr lang="en-US"/>
              <a:t>Body copy for message</a:t>
            </a:r>
          </a:p>
        </p:txBody>
      </p:sp>
    </p:spTree>
    <p:extLst>
      <p:ext uri="{BB962C8B-B14F-4D97-AF65-F5344CB8AC3E}">
        <p14:creationId xmlns:p14="http://schemas.microsoft.com/office/powerpoint/2010/main" val="3783041412"/>
      </p:ext>
    </p:extLst>
  </p:cSld>
  <p:clrMapOvr>
    <a:masterClrMapping/>
  </p:clrMapOvr>
  <p:transition>
    <p:fade/>
  </p:transition>
  <p:extLst>
    <p:ext uri="{DCECCB84-F9BA-43D5-87BE-67443E8EF086}">
      <p15:sldGuideLst xmlns:p15="http://schemas.microsoft.com/office/powerpoint/2012/main">
        <p15:guide id="11" pos="1202"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mitedContent_LightGraphic">
    <p:bg>
      <p:bgPr>
        <a:solidFill>
          <a:srgbClr val="F4F3F5"/>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27380"/>
            <a:ext cx="4119125" cy="913553"/>
          </a:xfrm>
          <a:prstGeom prst="rect">
            <a:avLst/>
          </a:prstGeom>
        </p:spPr>
        <p:txBody>
          <a:bodyPr lIns="0" anchor="t">
            <a:noAutofit/>
          </a:bodyPr>
          <a:lstStyle>
            <a:lvl1pPr>
              <a:defRPr>
                <a:solidFill>
                  <a:srgbClr val="091F2C"/>
                </a:solidFill>
              </a:defRPr>
            </a:lvl1pPr>
          </a:lstStyle>
          <a:p>
            <a:r>
              <a:rPr lang="en-US"/>
              <a:t>Slide title</a:t>
            </a:r>
          </a:p>
        </p:txBody>
      </p:sp>
      <p:pic>
        <p:nvPicPr>
          <p:cNvPr id="5" name="Picture 4">
            <a:extLst>
              <a:ext uri="{FF2B5EF4-FFF2-40B4-BE49-F238E27FC236}">
                <a16:creationId xmlns:a16="http://schemas.microsoft.com/office/drawing/2014/main" id="{C24FE99E-D36A-5B3A-ED26-6CEEAAE2642E}"/>
              </a:ext>
              <a:ext uri="{C183D7F6-B498-43B3-948B-1728B52AA6E4}">
                <adec:decorative xmlns:adec="http://schemas.microsoft.com/office/drawing/2017/decorative" val="1"/>
              </a:ext>
            </a:extLst>
          </p:cNvPr>
          <p:cNvPicPr>
            <a:picLocks noChangeAspect="1"/>
          </p:cNvPicPr>
          <p:nvPr userDrawn="1"/>
        </p:nvPicPr>
        <p:blipFill rotWithShape="1">
          <a:blip r:embed="rId2"/>
          <a:srcRect l="-3694" t="-7676" r="46670" b="37540"/>
          <a:stretch/>
        </p:blipFill>
        <p:spPr>
          <a:xfrm>
            <a:off x="4029075" y="0"/>
            <a:ext cx="2828924" cy="9906000"/>
          </a:xfrm>
          <a:prstGeom prst="rect">
            <a:avLst/>
          </a:prstGeom>
        </p:spPr>
      </p:pic>
      <p:sp>
        <p:nvSpPr>
          <p:cNvPr id="6" name="Text Placeholder 2">
            <a:extLst>
              <a:ext uri="{FF2B5EF4-FFF2-40B4-BE49-F238E27FC236}">
                <a16:creationId xmlns:a16="http://schemas.microsoft.com/office/drawing/2014/main" id="{10E6274D-AFC7-94CD-54D5-363B70110423}"/>
              </a:ext>
            </a:extLst>
          </p:cNvPr>
          <p:cNvSpPr>
            <a:spLocks noGrp="1"/>
          </p:cNvSpPr>
          <p:nvPr>
            <p:ph type="body" sz="quarter" idx="12" hasCustomPrompt="1"/>
          </p:nvPr>
        </p:nvSpPr>
        <p:spPr>
          <a:xfrm>
            <a:off x="338575" y="2107778"/>
            <a:ext cx="4119123" cy="797983"/>
          </a:xfrm>
          <a:prstGeom prst="rect">
            <a:avLst/>
          </a:prstGeom>
        </p:spPr>
        <p:txBody>
          <a:bodyPr lIns="0" anchor="t">
            <a:noAutofit/>
          </a:bodyPr>
          <a:lstStyle>
            <a:lvl1pPr marL="0" indent="0">
              <a:spcAft>
                <a:spcPts val="338"/>
              </a:spcAft>
              <a:buFont typeface="Wingdings" panose="05000000000000000000" pitchFamily="2" charset="2"/>
              <a:buNone/>
              <a:defRPr sz="1575">
                <a:solidFill>
                  <a:srgbClr val="8561C5"/>
                </a:solidFill>
                <a:latin typeface="+mj-lt"/>
              </a:defRPr>
            </a:lvl1pPr>
          </a:lstStyle>
          <a:p>
            <a:pPr lvl="0"/>
            <a:r>
              <a:rPr lang="en-US"/>
              <a:t>1-3 key messages</a:t>
            </a:r>
          </a:p>
        </p:txBody>
      </p:sp>
      <p:sp>
        <p:nvSpPr>
          <p:cNvPr id="7" name="Text Placeholder 2">
            <a:extLst>
              <a:ext uri="{FF2B5EF4-FFF2-40B4-BE49-F238E27FC236}">
                <a16:creationId xmlns:a16="http://schemas.microsoft.com/office/drawing/2014/main" id="{99B4C8A9-2D95-7D54-B3F6-5FC9FFFF39F0}"/>
              </a:ext>
            </a:extLst>
          </p:cNvPr>
          <p:cNvSpPr>
            <a:spLocks noGrp="1"/>
          </p:cNvSpPr>
          <p:nvPr>
            <p:ph type="body" sz="quarter" idx="13" hasCustomPrompt="1"/>
          </p:nvPr>
        </p:nvSpPr>
        <p:spPr>
          <a:xfrm>
            <a:off x="338575" y="2937996"/>
            <a:ext cx="4119124" cy="3281296"/>
          </a:xfrm>
          <a:prstGeom prst="rect">
            <a:avLst/>
          </a:prstGeom>
        </p:spPr>
        <p:txBody>
          <a:bodyPr lIns="0" anchor="t">
            <a:noAutofit/>
          </a:bodyPr>
          <a:lstStyle>
            <a:lvl1pPr marL="0" indent="0">
              <a:spcAft>
                <a:spcPts val="338"/>
              </a:spcAft>
              <a:buFont typeface="Wingdings" panose="05000000000000000000" pitchFamily="2" charset="2"/>
              <a:buNone/>
              <a:defRPr sz="1125">
                <a:solidFill>
                  <a:srgbClr val="091F2C"/>
                </a:solidFill>
                <a:latin typeface="+mn-lt"/>
              </a:defRPr>
            </a:lvl1pPr>
          </a:lstStyle>
          <a:p>
            <a:pPr lvl="0"/>
            <a:r>
              <a:rPr lang="en-US"/>
              <a:t>Body copy for message</a:t>
            </a:r>
          </a:p>
        </p:txBody>
      </p:sp>
    </p:spTree>
    <p:extLst>
      <p:ext uri="{BB962C8B-B14F-4D97-AF65-F5344CB8AC3E}">
        <p14:creationId xmlns:p14="http://schemas.microsoft.com/office/powerpoint/2010/main" val="475136143"/>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imitedContent_LightGraphic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pic>
        <p:nvPicPr>
          <p:cNvPr id="6" name="Picture 5">
            <a:extLst>
              <a:ext uri="{FF2B5EF4-FFF2-40B4-BE49-F238E27FC236}">
                <a16:creationId xmlns:a16="http://schemas.microsoft.com/office/drawing/2014/main" id="{80CA7EBA-C6A6-E827-D8A4-1AB41A3AFEFD}"/>
              </a:ext>
              <a:ext uri="{C183D7F6-B498-43B3-948B-1728B52AA6E4}">
                <adec:decorative xmlns:adec="http://schemas.microsoft.com/office/drawing/2017/decorative" val="1"/>
              </a:ext>
            </a:extLst>
          </p:cNvPr>
          <p:cNvPicPr>
            <a:picLocks noChangeAspect="1"/>
          </p:cNvPicPr>
          <p:nvPr userDrawn="1"/>
        </p:nvPicPr>
        <p:blipFill rotWithShape="1">
          <a:blip r:embed="rId2"/>
          <a:srcRect l="-28043" t="5608" r="40359" b="43217"/>
          <a:stretch/>
        </p:blipFill>
        <p:spPr>
          <a:xfrm>
            <a:off x="3877271" y="4953002"/>
            <a:ext cx="2980728" cy="4952997"/>
          </a:xfrm>
          <a:prstGeom prst="rect">
            <a:avLst/>
          </a:prstGeom>
        </p:spPr>
      </p:pic>
      <p:sp>
        <p:nvSpPr>
          <p:cNvPr id="9" name="Title 1">
            <a:extLst>
              <a:ext uri="{FF2B5EF4-FFF2-40B4-BE49-F238E27FC236}">
                <a16:creationId xmlns:a16="http://schemas.microsoft.com/office/drawing/2014/main" id="{7D8E0D9F-CED2-DB61-C963-BF098CC2D532}"/>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rgbClr val="091F2C"/>
                </a:solidFill>
              </a:defRPr>
            </a:lvl1pPr>
          </a:lstStyle>
          <a:p>
            <a:r>
              <a:rPr lang="en-US"/>
              <a:t>Slide title</a:t>
            </a:r>
          </a:p>
        </p:txBody>
      </p:sp>
      <p:sp>
        <p:nvSpPr>
          <p:cNvPr id="7" name="Text Placeholder 2">
            <a:extLst>
              <a:ext uri="{FF2B5EF4-FFF2-40B4-BE49-F238E27FC236}">
                <a16:creationId xmlns:a16="http://schemas.microsoft.com/office/drawing/2014/main" id="{A2B423CB-262B-594B-BA3F-C0D6E5BBBBB7}"/>
              </a:ext>
            </a:extLst>
          </p:cNvPr>
          <p:cNvSpPr>
            <a:spLocks noGrp="1"/>
          </p:cNvSpPr>
          <p:nvPr>
            <p:ph type="body" sz="quarter" idx="12" hasCustomPrompt="1"/>
          </p:nvPr>
        </p:nvSpPr>
        <p:spPr>
          <a:xfrm>
            <a:off x="3768471" y="2107778"/>
            <a:ext cx="2761809" cy="797983"/>
          </a:xfrm>
          <a:prstGeom prst="rect">
            <a:avLst/>
          </a:prstGeom>
        </p:spPr>
        <p:txBody>
          <a:bodyPr lIns="0" anchor="t">
            <a:noAutofit/>
          </a:bodyPr>
          <a:lstStyle>
            <a:lvl1pPr marL="0" indent="0">
              <a:spcAft>
                <a:spcPts val="338"/>
              </a:spcAft>
              <a:buFont typeface="Wingdings" panose="05000000000000000000" pitchFamily="2" charset="2"/>
              <a:buNone/>
              <a:defRPr sz="1575">
                <a:solidFill>
                  <a:srgbClr val="8561C5"/>
                </a:solidFill>
                <a:latin typeface="+mj-lt"/>
              </a:defRPr>
            </a:lvl1pPr>
          </a:lstStyle>
          <a:p>
            <a:pPr lvl="0"/>
            <a:r>
              <a:rPr lang="en-US"/>
              <a:t>1-3 key messages</a:t>
            </a:r>
          </a:p>
        </p:txBody>
      </p:sp>
      <p:sp>
        <p:nvSpPr>
          <p:cNvPr id="8" name="Text Placeholder 2">
            <a:extLst>
              <a:ext uri="{FF2B5EF4-FFF2-40B4-BE49-F238E27FC236}">
                <a16:creationId xmlns:a16="http://schemas.microsoft.com/office/drawing/2014/main" id="{030B09CD-159D-6E0B-A1AF-D91D1D018118}"/>
              </a:ext>
            </a:extLst>
          </p:cNvPr>
          <p:cNvSpPr>
            <a:spLocks noGrp="1"/>
          </p:cNvSpPr>
          <p:nvPr>
            <p:ph type="body" sz="quarter" idx="13" hasCustomPrompt="1"/>
          </p:nvPr>
        </p:nvSpPr>
        <p:spPr>
          <a:xfrm>
            <a:off x="3768471" y="2937996"/>
            <a:ext cx="2761810" cy="3281296"/>
          </a:xfrm>
          <a:prstGeom prst="rect">
            <a:avLst/>
          </a:prstGeom>
        </p:spPr>
        <p:txBody>
          <a:bodyPr lIns="0" anchor="t">
            <a:noAutofit/>
          </a:bodyPr>
          <a:lstStyle>
            <a:lvl1pPr marL="0" indent="0">
              <a:spcAft>
                <a:spcPts val="338"/>
              </a:spcAft>
              <a:buFont typeface="Wingdings" panose="05000000000000000000" pitchFamily="2" charset="2"/>
              <a:buNone/>
              <a:defRPr sz="1125">
                <a:solidFill>
                  <a:srgbClr val="091F2C"/>
                </a:solidFill>
                <a:latin typeface="+mn-lt"/>
              </a:defRPr>
            </a:lvl1pPr>
          </a:lstStyle>
          <a:p>
            <a:pPr lvl="0"/>
            <a:r>
              <a:rPr lang="en-US"/>
              <a:t>Body copy for message</a:t>
            </a:r>
          </a:p>
        </p:txBody>
      </p:sp>
    </p:spTree>
    <p:extLst>
      <p:ext uri="{BB962C8B-B14F-4D97-AF65-F5344CB8AC3E}">
        <p14:creationId xmlns:p14="http://schemas.microsoft.com/office/powerpoint/2010/main" val="1822510000"/>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xtContent_DarkGraphic">
    <p:bg>
      <p:bgPr>
        <a:solidFill>
          <a:srgbClr val="091F2C"/>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F78C6A0-DCCF-E1A0-6051-FD920B576B9B}"/>
              </a:ext>
              <a:ext uri="{C183D7F6-B498-43B3-948B-1728B52AA6E4}">
                <adec:decorative xmlns:adec="http://schemas.microsoft.com/office/drawing/2017/decorative" val="1"/>
              </a:ext>
            </a:extLst>
          </p:cNvPr>
          <p:cNvPicPr>
            <a:picLocks noChangeAspect="1"/>
          </p:cNvPicPr>
          <p:nvPr userDrawn="1"/>
        </p:nvPicPr>
        <p:blipFill rotWithShape="1">
          <a:blip r:embed="rId2"/>
          <a:srcRect l="13943" t="40146" r="5341" b="1516"/>
          <a:stretch/>
        </p:blipFill>
        <p:spPr>
          <a:xfrm>
            <a:off x="2450306" y="1"/>
            <a:ext cx="4407694" cy="6765431"/>
          </a:xfrm>
          <a:prstGeom prst="rect">
            <a:avLst/>
          </a:prstGeom>
        </p:spPr>
      </p:pic>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56529"/>
            <a:ext cx="4119125" cy="972458"/>
          </a:xfrm>
          <a:prstGeom prst="rect">
            <a:avLst/>
          </a:prstGeom>
        </p:spPr>
        <p:txBody>
          <a:bodyPr lIns="0" anchor="t">
            <a:noAutofit/>
          </a:bodyPr>
          <a:lstStyle>
            <a:lvl1pPr>
              <a:defRPr>
                <a:solidFill>
                  <a:schemeClr val="bg1"/>
                </a:solidFill>
              </a:defRPr>
            </a:lvl1pPr>
          </a:lstStyle>
          <a:p>
            <a:r>
              <a:rPr lang="en-US"/>
              <a:t>Slide Title</a:t>
            </a:r>
          </a:p>
        </p:txBody>
      </p:sp>
      <p:sp>
        <p:nvSpPr>
          <p:cNvPr id="3" name="Text Placeholder 2">
            <a:extLst>
              <a:ext uri="{FF2B5EF4-FFF2-40B4-BE49-F238E27FC236}">
                <a16:creationId xmlns:a16="http://schemas.microsoft.com/office/drawing/2014/main" id="{6424A308-B6D2-0FFE-D266-33A604E41201}"/>
              </a:ext>
            </a:extLst>
          </p:cNvPr>
          <p:cNvSpPr>
            <a:spLocks noGrp="1"/>
          </p:cNvSpPr>
          <p:nvPr>
            <p:ph type="body" sz="quarter" idx="12" hasCustomPrompt="1"/>
          </p:nvPr>
        </p:nvSpPr>
        <p:spPr>
          <a:xfrm>
            <a:off x="338575" y="2107779"/>
            <a:ext cx="4119123" cy="571560"/>
          </a:xfrm>
          <a:prstGeom prst="rect">
            <a:avLst/>
          </a:prstGeom>
        </p:spPr>
        <p:txBody>
          <a:bodyPr lIns="0" anchor="t">
            <a:noAutofit/>
          </a:bodyPr>
          <a:lstStyle>
            <a:lvl1pPr marL="0" indent="0">
              <a:spcAft>
                <a:spcPts val="338"/>
              </a:spcAft>
              <a:buFont typeface="Wingdings" panose="05000000000000000000" pitchFamily="2" charset="2"/>
              <a:buNone/>
              <a:defRPr sz="1125">
                <a:solidFill>
                  <a:srgbClr val="FFA38B"/>
                </a:solidFill>
                <a:latin typeface="+mj-lt"/>
              </a:defRPr>
            </a:lvl1pPr>
          </a:lstStyle>
          <a:p>
            <a:pPr lvl="0"/>
            <a:r>
              <a:rPr lang="en-US"/>
              <a:t>3-5 key messages</a:t>
            </a:r>
          </a:p>
        </p:txBody>
      </p:sp>
      <p:sp>
        <p:nvSpPr>
          <p:cNvPr id="4" name="Text Placeholder 2">
            <a:extLst>
              <a:ext uri="{FF2B5EF4-FFF2-40B4-BE49-F238E27FC236}">
                <a16:creationId xmlns:a16="http://schemas.microsoft.com/office/drawing/2014/main" id="{1C6A89F9-8ED3-F68B-7688-D696FA1BD3D0}"/>
              </a:ext>
            </a:extLst>
          </p:cNvPr>
          <p:cNvSpPr>
            <a:spLocks noGrp="1"/>
          </p:cNvSpPr>
          <p:nvPr>
            <p:ph type="body" sz="quarter" idx="13" hasCustomPrompt="1"/>
          </p:nvPr>
        </p:nvSpPr>
        <p:spPr>
          <a:xfrm>
            <a:off x="338575" y="2749307"/>
            <a:ext cx="4119124" cy="3451114"/>
          </a:xfrm>
          <a:prstGeom prst="rect">
            <a:avLst/>
          </a:prstGeom>
        </p:spPr>
        <p:txBody>
          <a:bodyPr lIns="0" anchor="t">
            <a:noAutofit/>
          </a:bodyPr>
          <a:lstStyle>
            <a:lvl1pPr marL="0" indent="0">
              <a:spcAft>
                <a:spcPts val="338"/>
              </a:spcAft>
              <a:buFont typeface="Wingdings" panose="05000000000000000000" pitchFamily="2" charset="2"/>
              <a:buNone/>
              <a:defRPr sz="900">
                <a:solidFill>
                  <a:srgbClr val="FFFFFF"/>
                </a:solidFill>
                <a:latin typeface="+mn-lt"/>
              </a:defRPr>
            </a:lvl1pPr>
          </a:lstStyle>
          <a:p>
            <a:pPr lvl="0"/>
            <a:r>
              <a:rPr lang="en-US"/>
              <a:t>Body copy for message</a:t>
            </a:r>
          </a:p>
        </p:txBody>
      </p:sp>
    </p:spTree>
    <p:extLst>
      <p:ext uri="{BB962C8B-B14F-4D97-AF65-F5344CB8AC3E}">
        <p14:creationId xmlns:p14="http://schemas.microsoft.com/office/powerpoint/2010/main" val="1441944192"/>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tContent_DarkGraphic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pic>
        <p:nvPicPr>
          <p:cNvPr id="6" name="Picture 5">
            <a:extLst>
              <a:ext uri="{FF2B5EF4-FFF2-40B4-BE49-F238E27FC236}">
                <a16:creationId xmlns:a16="http://schemas.microsoft.com/office/drawing/2014/main" id="{B1225FCA-675C-B64B-47FC-16C7A2E08559}"/>
              </a:ext>
              <a:ext uri="{C183D7F6-B498-43B3-948B-1728B52AA6E4}">
                <adec:decorative xmlns:adec="http://schemas.microsoft.com/office/drawing/2017/decorative" val="1"/>
              </a:ext>
            </a:extLst>
          </p:cNvPr>
          <p:cNvPicPr>
            <a:picLocks noChangeAspect="1"/>
          </p:cNvPicPr>
          <p:nvPr userDrawn="1"/>
        </p:nvPicPr>
        <p:blipFill rotWithShape="1">
          <a:blip r:embed="rId2"/>
          <a:srcRect l="13943" t="40146" r="21167" b="1516"/>
          <a:stretch/>
        </p:blipFill>
        <p:spPr>
          <a:xfrm>
            <a:off x="4006044" y="1"/>
            <a:ext cx="2851957" cy="5445192"/>
          </a:xfrm>
          <a:prstGeom prst="rect">
            <a:avLst/>
          </a:prstGeom>
        </p:spPr>
      </p:pic>
      <p:sp>
        <p:nvSpPr>
          <p:cNvPr id="5" name="Title 1">
            <a:extLst>
              <a:ext uri="{FF2B5EF4-FFF2-40B4-BE49-F238E27FC236}">
                <a16:creationId xmlns:a16="http://schemas.microsoft.com/office/drawing/2014/main" id="{30B88E5E-FCC6-946F-9E75-C646A54B0FE2}"/>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chemeClr val="bg1"/>
                </a:solidFill>
              </a:defRPr>
            </a:lvl1pPr>
          </a:lstStyle>
          <a:p>
            <a:r>
              <a:rPr lang="en-US"/>
              <a:t>Slide title</a:t>
            </a:r>
          </a:p>
        </p:txBody>
      </p:sp>
      <p:sp>
        <p:nvSpPr>
          <p:cNvPr id="2" name="Text Placeholder 2">
            <a:extLst>
              <a:ext uri="{FF2B5EF4-FFF2-40B4-BE49-F238E27FC236}">
                <a16:creationId xmlns:a16="http://schemas.microsoft.com/office/drawing/2014/main" id="{2612FA6D-64DB-C249-FED8-2641CAD98477}"/>
              </a:ext>
            </a:extLst>
          </p:cNvPr>
          <p:cNvSpPr>
            <a:spLocks noGrp="1"/>
          </p:cNvSpPr>
          <p:nvPr>
            <p:ph type="body" sz="quarter" idx="12" hasCustomPrompt="1"/>
          </p:nvPr>
        </p:nvSpPr>
        <p:spPr>
          <a:xfrm>
            <a:off x="3766430" y="2107779"/>
            <a:ext cx="2763850" cy="571560"/>
          </a:xfrm>
          <a:prstGeom prst="rect">
            <a:avLst/>
          </a:prstGeom>
        </p:spPr>
        <p:txBody>
          <a:bodyPr lIns="0" anchor="t">
            <a:noAutofit/>
          </a:bodyPr>
          <a:lstStyle>
            <a:lvl1pPr marL="0" indent="0">
              <a:spcAft>
                <a:spcPts val="338"/>
              </a:spcAft>
              <a:buFont typeface="Wingdings" panose="05000000000000000000" pitchFamily="2" charset="2"/>
              <a:buNone/>
              <a:defRPr sz="1125">
                <a:solidFill>
                  <a:srgbClr val="FFA38B"/>
                </a:solidFill>
                <a:latin typeface="+mj-lt"/>
              </a:defRPr>
            </a:lvl1pPr>
          </a:lstStyle>
          <a:p>
            <a:pPr lvl="0"/>
            <a:r>
              <a:rPr lang="en-US"/>
              <a:t>3-5 key messages</a:t>
            </a:r>
          </a:p>
        </p:txBody>
      </p:sp>
      <p:sp>
        <p:nvSpPr>
          <p:cNvPr id="4" name="Text Placeholder 2">
            <a:extLst>
              <a:ext uri="{FF2B5EF4-FFF2-40B4-BE49-F238E27FC236}">
                <a16:creationId xmlns:a16="http://schemas.microsoft.com/office/drawing/2014/main" id="{49203B29-1D3A-40AC-CBB0-17F7D9215213}"/>
              </a:ext>
            </a:extLst>
          </p:cNvPr>
          <p:cNvSpPr>
            <a:spLocks noGrp="1"/>
          </p:cNvSpPr>
          <p:nvPr>
            <p:ph type="body" sz="quarter" idx="13" hasCustomPrompt="1"/>
          </p:nvPr>
        </p:nvSpPr>
        <p:spPr>
          <a:xfrm>
            <a:off x="3766430" y="2749307"/>
            <a:ext cx="2763851" cy="3451114"/>
          </a:xfrm>
          <a:prstGeom prst="rect">
            <a:avLst/>
          </a:prstGeom>
        </p:spPr>
        <p:txBody>
          <a:bodyPr lIns="0" anchor="t">
            <a:noAutofit/>
          </a:bodyPr>
          <a:lstStyle>
            <a:lvl1pPr marL="0" indent="0">
              <a:spcAft>
                <a:spcPts val="338"/>
              </a:spcAft>
              <a:buFont typeface="Wingdings" panose="05000000000000000000" pitchFamily="2" charset="2"/>
              <a:buNone/>
              <a:defRPr sz="900">
                <a:solidFill>
                  <a:srgbClr val="FFFFFF"/>
                </a:solidFill>
                <a:latin typeface="+mn-lt"/>
              </a:defRPr>
            </a:lvl1pPr>
          </a:lstStyle>
          <a:p>
            <a:pPr lvl="0"/>
            <a:r>
              <a:rPr lang="en-US"/>
              <a:t>Body copy for message</a:t>
            </a:r>
          </a:p>
        </p:txBody>
      </p:sp>
    </p:spTree>
    <p:extLst>
      <p:ext uri="{BB962C8B-B14F-4D97-AF65-F5344CB8AC3E}">
        <p14:creationId xmlns:p14="http://schemas.microsoft.com/office/powerpoint/2010/main" val="2723823583"/>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26"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xtContent_LightGraphic">
    <p:bg>
      <p:bgPr>
        <a:solidFill>
          <a:srgbClr val="F4F3F5"/>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27380"/>
            <a:ext cx="4119125" cy="913553"/>
          </a:xfrm>
          <a:prstGeom prst="rect">
            <a:avLst/>
          </a:prstGeom>
        </p:spPr>
        <p:txBody>
          <a:bodyPr lIns="0" anchor="t">
            <a:noAutofit/>
          </a:bodyPr>
          <a:lstStyle>
            <a:lvl1pPr>
              <a:defRPr>
                <a:solidFill>
                  <a:srgbClr val="091F2C"/>
                </a:solidFill>
              </a:defRPr>
            </a:lvl1pPr>
          </a:lstStyle>
          <a:p>
            <a:r>
              <a:rPr lang="en-US"/>
              <a:t>Slide title</a:t>
            </a:r>
          </a:p>
        </p:txBody>
      </p:sp>
      <p:sp>
        <p:nvSpPr>
          <p:cNvPr id="2" name="Text Placeholder 2">
            <a:extLst>
              <a:ext uri="{FF2B5EF4-FFF2-40B4-BE49-F238E27FC236}">
                <a16:creationId xmlns:a16="http://schemas.microsoft.com/office/drawing/2014/main" id="{30473636-7B11-F30D-3ED9-B22BEBCBDE37}"/>
              </a:ext>
            </a:extLst>
          </p:cNvPr>
          <p:cNvSpPr>
            <a:spLocks noGrp="1"/>
          </p:cNvSpPr>
          <p:nvPr>
            <p:ph type="body" sz="quarter" idx="12" hasCustomPrompt="1"/>
          </p:nvPr>
        </p:nvSpPr>
        <p:spPr>
          <a:xfrm>
            <a:off x="338575" y="2107779"/>
            <a:ext cx="4119123" cy="571560"/>
          </a:xfrm>
          <a:prstGeom prst="rect">
            <a:avLst/>
          </a:prstGeom>
        </p:spPr>
        <p:txBody>
          <a:bodyPr lIns="0" anchor="t">
            <a:noAutofit/>
          </a:bodyPr>
          <a:lstStyle>
            <a:lvl1pPr marL="0" indent="0">
              <a:spcAft>
                <a:spcPts val="338"/>
              </a:spcAft>
              <a:buFont typeface="Wingdings" panose="05000000000000000000" pitchFamily="2" charset="2"/>
              <a:buNone/>
              <a:defRPr sz="1125">
                <a:solidFill>
                  <a:srgbClr val="8561C5"/>
                </a:solidFill>
                <a:latin typeface="+mj-lt"/>
              </a:defRPr>
            </a:lvl1pPr>
          </a:lstStyle>
          <a:p>
            <a:pPr lvl="0"/>
            <a:r>
              <a:rPr lang="en-US"/>
              <a:t>3-5 key messages</a:t>
            </a:r>
          </a:p>
        </p:txBody>
      </p:sp>
      <p:sp>
        <p:nvSpPr>
          <p:cNvPr id="3" name="Text Placeholder 2">
            <a:extLst>
              <a:ext uri="{FF2B5EF4-FFF2-40B4-BE49-F238E27FC236}">
                <a16:creationId xmlns:a16="http://schemas.microsoft.com/office/drawing/2014/main" id="{BD5FDC1A-A6F0-5B07-27C9-68A6414DB091}"/>
              </a:ext>
            </a:extLst>
          </p:cNvPr>
          <p:cNvSpPr>
            <a:spLocks noGrp="1"/>
          </p:cNvSpPr>
          <p:nvPr>
            <p:ph type="body" sz="quarter" idx="13" hasCustomPrompt="1"/>
          </p:nvPr>
        </p:nvSpPr>
        <p:spPr>
          <a:xfrm>
            <a:off x="338575" y="2749307"/>
            <a:ext cx="4119124" cy="3451114"/>
          </a:xfrm>
          <a:prstGeom prst="rect">
            <a:avLst/>
          </a:prstGeom>
        </p:spPr>
        <p:txBody>
          <a:bodyPr lIns="0" anchor="t">
            <a:noAutofit/>
          </a:bodyPr>
          <a:lstStyle>
            <a:lvl1pPr marL="0" indent="0">
              <a:spcAft>
                <a:spcPts val="338"/>
              </a:spcAft>
              <a:buFont typeface="Wingdings" panose="05000000000000000000" pitchFamily="2" charset="2"/>
              <a:buNone/>
              <a:defRPr sz="900">
                <a:solidFill>
                  <a:srgbClr val="091F2C"/>
                </a:solidFill>
                <a:latin typeface="+mn-lt"/>
              </a:defRPr>
            </a:lvl1pPr>
          </a:lstStyle>
          <a:p>
            <a:pPr lvl="0"/>
            <a:r>
              <a:rPr lang="en-US"/>
              <a:t>Body copy for message</a:t>
            </a:r>
          </a:p>
        </p:txBody>
      </p:sp>
      <p:pic>
        <p:nvPicPr>
          <p:cNvPr id="10" name="Picture 9">
            <a:extLst>
              <a:ext uri="{FF2B5EF4-FFF2-40B4-BE49-F238E27FC236}">
                <a16:creationId xmlns:a16="http://schemas.microsoft.com/office/drawing/2014/main" id="{4A489ABD-DE05-9B75-8A77-987569B2DAB6}"/>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l="69085" t="60005" r="-1173" b="7381"/>
          <a:stretch/>
        </p:blipFill>
        <p:spPr>
          <a:xfrm flipH="1">
            <a:off x="4586905" y="7549572"/>
            <a:ext cx="2271094" cy="2356428"/>
          </a:xfrm>
          <a:prstGeom prst="rect">
            <a:avLst/>
          </a:prstGeom>
        </p:spPr>
      </p:pic>
    </p:spTree>
    <p:extLst>
      <p:ext uri="{BB962C8B-B14F-4D97-AF65-F5344CB8AC3E}">
        <p14:creationId xmlns:p14="http://schemas.microsoft.com/office/powerpoint/2010/main" val="1304016353"/>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tContent_LightGraphic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C2AA2990-B108-618D-EEEB-F42728F2DBE4}"/>
              </a:ext>
              <a:ext uri="{C183D7F6-B498-43B3-948B-1728B52AA6E4}">
                <adec:decorative xmlns:adec="http://schemas.microsoft.com/office/drawing/2017/decorative" val="1"/>
              </a:ext>
            </a:extLst>
          </p:cNvPr>
          <p:cNvPicPr>
            <a:picLocks noChangeAspect="1"/>
          </p:cNvPicPr>
          <p:nvPr userDrawn="1"/>
        </p:nvPicPr>
        <p:blipFill rotWithShape="1">
          <a:blip r:embed="rId2"/>
          <a:srcRect l="69085" t="60005" r="-1173" b="7381"/>
          <a:stretch/>
        </p:blipFill>
        <p:spPr>
          <a:xfrm flipH="1">
            <a:off x="5577400" y="6200422"/>
            <a:ext cx="1280600" cy="3705579"/>
          </a:xfrm>
          <a:prstGeom prst="rect">
            <a:avLst/>
          </a:prstGeom>
        </p:spPr>
      </p:pic>
      <p:sp>
        <p:nvSpPr>
          <p:cNvPr id="9" name="Title 1">
            <a:extLst>
              <a:ext uri="{FF2B5EF4-FFF2-40B4-BE49-F238E27FC236}">
                <a16:creationId xmlns:a16="http://schemas.microsoft.com/office/drawing/2014/main" id="{7D8E0D9F-CED2-DB61-C963-BF098CC2D532}"/>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rgbClr val="091F2C"/>
                </a:solidFill>
              </a:defRPr>
            </a:lvl1pPr>
          </a:lstStyle>
          <a:p>
            <a:r>
              <a:rPr lang="en-US"/>
              <a:t>Slide title</a:t>
            </a:r>
          </a:p>
        </p:txBody>
      </p:sp>
      <p:sp>
        <p:nvSpPr>
          <p:cNvPr id="2" name="Text Placeholder 2">
            <a:extLst>
              <a:ext uri="{FF2B5EF4-FFF2-40B4-BE49-F238E27FC236}">
                <a16:creationId xmlns:a16="http://schemas.microsoft.com/office/drawing/2014/main" id="{4EAEA4DB-31F6-A925-5C07-4424C6A9B1B7}"/>
              </a:ext>
            </a:extLst>
          </p:cNvPr>
          <p:cNvSpPr>
            <a:spLocks noGrp="1"/>
          </p:cNvSpPr>
          <p:nvPr>
            <p:ph type="body" sz="quarter" idx="12" hasCustomPrompt="1"/>
          </p:nvPr>
        </p:nvSpPr>
        <p:spPr>
          <a:xfrm>
            <a:off x="3768470" y="2107779"/>
            <a:ext cx="2761809" cy="571560"/>
          </a:xfrm>
          <a:prstGeom prst="rect">
            <a:avLst/>
          </a:prstGeom>
        </p:spPr>
        <p:txBody>
          <a:bodyPr lIns="0" anchor="t">
            <a:noAutofit/>
          </a:bodyPr>
          <a:lstStyle>
            <a:lvl1pPr marL="0" indent="0">
              <a:spcAft>
                <a:spcPts val="338"/>
              </a:spcAft>
              <a:buFont typeface="Wingdings" panose="05000000000000000000" pitchFamily="2" charset="2"/>
              <a:buNone/>
              <a:defRPr sz="1125">
                <a:solidFill>
                  <a:srgbClr val="8561C5"/>
                </a:solidFill>
                <a:latin typeface="+mj-lt"/>
              </a:defRPr>
            </a:lvl1pPr>
          </a:lstStyle>
          <a:p>
            <a:pPr lvl="0"/>
            <a:r>
              <a:rPr lang="en-US"/>
              <a:t>3-5 key messages</a:t>
            </a:r>
          </a:p>
        </p:txBody>
      </p:sp>
      <p:sp>
        <p:nvSpPr>
          <p:cNvPr id="4" name="Text Placeholder 2">
            <a:extLst>
              <a:ext uri="{FF2B5EF4-FFF2-40B4-BE49-F238E27FC236}">
                <a16:creationId xmlns:a16="http://schemas.microsoft.com/office/drawing/2014/main" id="{966575F8-B5A8-1CC3-172F-A71F46C0B3DD}"/>
              </a:ext>
            </a:extLst>
          </p:cNvPr>
          <p:cNvSpPr>
            <a:spLocks noGrp="1"/>
          </p:cNvSpPr>
          <p:nvPr>
            <p:ph type="body" sz="quarter" idx="13" hasCustomPrompt="1"/>
          </p:nvPr>
        </p:nvSpPr>
        <p:spPr>
          <a:xfrm>
            <a:off x="3768470" y="2749307"/>
            <a:ext cx="2761811" cy="3451114"/>
          </a:xfrm>
          <a:prstGeom prst="rect">
            <a:avLst/>
          </a:prstGeom>
        </p:spPr>
        <p:txBody>
          <a:bodyPr lIns="0" anchor="t">
            <a:noAutofit/>
          </a:bodyPr>
          <a:lstStyle>
            <a:lvl1pPr marL="0" indent="0">
              <a:spcAft>
                <a:spcPts val="338"/>
              </a:spcAft>
              <a:buFont typeface="Wingdings" panose="05000000000000000000" pitchFamily="2" charset="2"/>
              <a:buNone/>
              <a:defRPr sz="900">
                <a:solidFill>
                  <a:srgbClr val="091F2C"/>
                </a:solidFill>
                <a:latin typeface="+mn-lt"/>
              </a:defRPr>
            </a:lvl1pPr>
          </a:lstStyle>
          <a:p>
            <a:pPr lvl="0"/>
            <a:r>
              <a:rPr lang="en-US"/>
              <a:t>Body copy for message</a:t>
            </a:r>
          </a:p>
        </p:txBody>
      </p:sp>
    </p:spTree>
    <p:extLst>
      <p:ext uri="{BB962C8B-B14F-4D97-AF65-F5344CB8AC3E}">
        <p14:creationId xmlns:p14="http://schemas.microsoft.com/office/powerpoint/2010/main" val="474525399"/>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olumn">
    <p:bg>
      <p:bgPr>
        <a:solidFill>
          <a:srgbClr val="091F2C"/>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175F33-626A-BECF-CA11-F8521AC2A838}"/>
              </a:ext>
            </a:extLst>
          </p:cNvPr>
          <p:cNvSpPr>
            <a:spLocks noGrp="1"/>
          </p:cNvSpPr>
          <p:nvPr>
            <p:ph type="title" hasCustomPrompt="1"/>
          </p:nvPr>
        </p:nvSpPr>
        <p:spPr>
          <a:xfrm>
            <a:off x="338575" y="656529"/>
            <a:ext cx="4119125" cy="972458"/>
          </a:xfrm>
          <a:prstGeom prst="rect">
            <a:avLst/>
          </a:prstGeom>
        </p:spPr>
        <p:txBody>
          <a:bodyPr lIns="0" anchor="t">
            <a:noAutofit/>
          </a:bodyPr>
          <a:lstStyle>
            <a:lvl1pPr>
              <a:defRPr>
                <a:solidFill>
                  <a:srgbClr val="FFA38B"/>
                </a:solidFill>
              </a:defRPr>
            </a:lvl1pPr>
          </a:lstStyle>
          <a:p>
            <a:r>
              <a:rPr lang="en-US"/>
              <a:t>Slide Title</a:t>
            </a:r>
          </a:p>
        </p:txBody>
      </p:sp>
      <p:sp>
        <p:nvSpPr>
          <p:cNvPr id="3" name="Text Placeholder 2">
            <a:extLst>
              <a:ext uri="{FF2B5EF4-FFF2-40B4-BE49-F238E27FC236}">
                <a16:creationId xmlns:a16="http://schemas.microsoft.com/office/drawing/2014/main" id="{6424A308-B6D2-0FFE-D266-33A604E41201}"/>
              </a:ext>
            </a:extLst>
          </p:cNvPr>
          <p:cNvSpPr>
            <a:spLocks noGrp="1"/>
          </p:cNvSpPr>
          <p:nvPr>
            <p:ph type="body" sz="quarter" idx="12" hasCustomPrompt="1"/>
          </p:nvPr>
        </p:nvSpPr>
        <p:spPr>
          <a:xfrm>
            <a:off x="338575" y="2107779"/>
            <a:ext cx="2894482" cy="6947499"/>
          </a:xfrm>
          <a:prstGeom prst="rect">
            <a:avLst/>
          </a:prstGeom>
        </p:spPr>
        <p:txBody>
          <a:bodyPr lIns="0" anchor="t">
            <a:noAutofit/>
          </a:bodyPr>
          <a:lstStyle>
            <a:lvl1pPr marL="0" indent="0">
              <a:spcAft>
                <a:spcPts val="338"/>
              </a:spcAft>
              <a:buFont typeface="Wingdings" panose="05000000000000000000" pitchFamily="2" charset="2"/>
              <a:buNone/>
              <a:defRPr sz="1125">
                <a:solidFill>
                  <a:schemeClr val="bg1"/>
                </a:solidFill>
                <a:latin typeface="+mj-lt"/>
              </a:defRPr>
            </a:lvl1pPr>
          </a:lstStyle>
          <a:p>
            <a:pPr lvl="0"/>
            <a:r>
              <a:rPr lang="en-US"/>
              <a:t>2-column content</a:t>
            </a:r>
          </a:p>
        </p:txBody>
      </p:sp>
      <p:sp>
        <p:nvSpPr>
          <p:cNvPr id="5" name="Text Placeholder 2">
            <a:extLst>
              <a:ext uri="{FF2B5EF4-FFF2-40B4-BE49-F238E27FC236}">
                <a16:creationId xmlns:a16="http://schemas.microsoft.com/office/drawing/2014/main" id="{EC6A9043-734B-2A9D-C36E-3B2130484B8D}"/>
              </a:ext>
            </a:extLst>
          </p:cNvPr>
          <p:cNvSpPr>
            <a:spLocks noGrp="1"/>
          </p:cNvSpPr>
          <p:nvPr>
            <p:ph type="body" sz="quarter" idx="13" hasCustomPrompt="1"/>
          </p:nvPr>
        </p:nvSpPr>
        <p:spPr>
          <a:xfrm>
            <a:off x="3630415" y="2107779"/>
            <a:ext cx="2894482" cy="6947499"/>
          </a:xfrm>
          <a:prstGeom prst="rect">
            <a:avLst/>
          </a:prstGeom>
        </p:spPr>
        <p:txBody>
          <a:bodyPr lIns="0" anchor="t">
            <a:noAutofit/>
          </a:bodyPr>
          <a:lstStyle>
            <a:lvl1pPr marL="0" indent="0">
              <a:spcAft>
                <a:spcPts val="338"/>
              </a:spcAft>
              <a:buFont typeface="Wingdings" panose="05000000000000000000" pitchFamily="2" charset="2"/>
              <a:buNone/>
              <a:defRPr sz="1125">
                <a:solidFill>
                  <a:schemeClr val="bg1"/>
                </a:solidFill>
                <a:latin typeface="+mj-lt"/>
              </a:defRPr>
            </a:lvl1pPr>
          </a:lstStyle>
          <a:p>
            <a:pPr lvl="0"/>
            <a:r>
              <a:rPr lang="en-US"/>
              <a:t>2-column content</a:t>
            </a:r>
          </a:p>
        </p:txBody>
      </p:sp>
    </p:spTree>
    <p:extLst>
      <p:ext uri="{BB962C8B-B14F-4D97-AF65-F5344CB8AC3E}">
        <p14:creationId xmlns:p14="http://schemas.microsoft.com/office/powerpoint/2010/main" val="1772231557"/>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olumn_50%">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8B5414-1661-7EE8-0C2B-953C2D18631C}"/>
              </a:ext>
              <a:ext uri="{C183D7F6-B498-43B3-948B-1728B52AA6E4}">
                <adec:decorative xmlns:adec="http://schemas.microsoft.com/office/drawing/2017/decorative" val="1"/>
              </a:ext>
            </a:extLst>
          </p:cNvPr>
          <p:cNvSpPr/>
          <p:nvPr userDrawn="1"/>
        </p:nvSpPr>
        <p:spPr bwMode="auto">
          <a:xfrm>
            <a:off x="3429000" y="0"/>
            <a:ext cx="3429000" cy="9906000"/>
          </a:xfrm>
          <a:prstGeom prst="rect">
            <a:avLst/>
          </a:prstGeom>
          <a:solidFill>
            <a:srgbClr val="091F2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l" defTabSz="524544" fontAlgn="base">
              <a:spcBef>
                <a:spcPct val="0"/>
              </a:spcBef>
              <a:spcAft>
                <a:spcPct val="0"/>
              </a:spcAft>
            </a:pPr>
            <a:endParaRPr lang="en-US" sz="1125">
              <a:solidFill>
                <a:srgbClr val="FFFFFF"/>
              </a:solidFill>
              <a:ea typeface="Segoe UI" pitchFamily="34" charset="0"/>
              <a:cs typeface="Segoe UI" pitchFamily="34" charset="0"/>
            </a:endParaRPr>
          </a:p>
        </p:txBody>
      </p:sp>
      <p:sp>
        <p:nvSpPr>
          <p:cNvPr id="5" name="Title 1">
            <a:extLst>
              <a:ext uri="{FF2B5EF4-FFF2-40B4-BE49-F238E27FC236}">
                <a16:creationId xmlns:a16="http://schemas.microsoft.com/office/drawing/2014/main" id="{30B88E5E-FCC6-946F-9E75-C646A54B0FE2}"/>
              </a:ext>
            </a:extLst>
          </p:cNvPr>
          <p:cNvSpPr>
            <a:spLocks noGrp="1"/>
          </p:cNvSpPr>
          <p:nvPr>
            <p:ph type="title" hasCustomPrompt="1"/>
          </p:nvPr>
        </p:nvSpPr>
        <p:spPr>
          <a:xfrm>
            <a:off x="3768470" y="637661"/>
            <a:ext cx="2761811" cy="403957"/>
          </a:xfrm>
          <a:prstGeom prst="rect">
            <a:avLst/>
          </a:prstGeom>
        </p:spPr>
        <p:txBody>
          <a:bodyPr wrap="square" lIns="0" anchor="t" anchorCtr="0">
            <a:spAutoFit/>
          </a:bodyPr>
          <a:lstStyle>
            <a:lvl1pPr>
              <a:defRPr>
                <a:solidFill>
                  <a:srgbClr val="FFA38B"/>
                </a:solidFill>
              </a:defRPr>
            </a:lvl1pPr>
          </a:lstStyle>
          <a:p>
            <a:r>
              <a:rPr lang="en-US"/>
              <a:t>Slide title</a:t>
            </a:r>
          </a:p>
        </p:txBody>
      </p:sp>
      <p:sp>
        <p:nvSpPr>
          <p:cNvPr id="7" name="Text Placeholder 2">
            <a:extLst>
              <a:ext uri="{FF2B5EF4-FFF2-40B4-BE49-F238E27FC236}">
                <a16:creationId xmlns:a16="http://schemas.microsoft.com/office/drawing/2014/main" id="{750ED99B-9CA5-3EFF-D4F7-910FB6A965ED}"/>
              </a:ext>
            </a:extLst>
          </p:cNvPr>
          <p:cNvSpPr>
            <a:spLocks noGrp="1"/>
          </p:cNvSpPr>
          <p:nvPr>
            <p:ph type="body" sz="quarter" idx="12" hasCustomPrompt="1"/>
          </p:nvPr>
        </p:nvSpPr>
        <p:spPr>
          <a:xfrm>
            <a:off x="3768470" y="2107779"/>
            <a:ext cx="1264812" cy="6947499"/>
          </a:xfrm>
          <a:prstGeom prst="rect">
            <a:avLst/>
          </a:prstGeom>
        </p:spPr>
        <p:txBody>
          <a:bodyPr lIns="0" anchor="t">
            <a:noAutofit/>
          </a:bodyPr>
          <a:lstStyle>
            <a:lvl1pPr marL="0" indent="0">
              <a:spcAft>
                <a:spcPts val="338"/>
              </a:spcAft>
              <a:buFont typeface="Wingdings" panose="05000000000000000000" pitchFamily="2" charset="2"/>
              <a:buNone/>
              <a:defRPr sz="900">
                <a:solidFill>
                  <a:schemeClr val="bg1"/>
                </a:solidFill>
                <a:latin typeface="+mj-lt"/>
              </a:defRPr>
            </a:lvl1pPr>
          </a:lstStyle>
          <a:p>
            <a:pPr lvl="0"/>
            <a:r>
              <a:rPr lang="en-US"/>
              <a:t>2-column content</a:t>
            </a:r>
          </a:p>
        </p:txBody>
      </p:sp>
      <p:sp>
        <p:nvSpPr>
          <p:cNvPr id="10" name="Text Placeholder 2">
            <a:extLst>
              <a:ext uri="{FF2B5EF4-FFF2-40B4-BE49-F238E27FC236}">
                <a16:creationId xmlns:a16="http://schemas.microsoft.com/office/drawing/2014/main" id="{2405E337-2CFF-8705-977C-DE25B2706E65}"/>
              </a:ext>
            </a:extLst>
          </p:cNvPr>
          <p:cNvSpPr>
            <a:spLocks noGrp="1"/>
          </p:cNvSpPr>
          <p:nvPr>
            <p:ph type="body" sz="quarter" idx="13" hasCustomPrompt="1"/>
          </p:nvPr>
        </p:nvSpPr>
        <p:spPr>
          <a:xfrm>
            <a:off x="5260085" y="2107779"/>
            <a:ext cx="1264812" cy="6947499"/>
          </a:xfrm>
          <a:prstGeom prst="rect">
            <a:avLst/>
          </a:prstGeom>
        </p:spPr>
        <p:txBody>
          <a:bodyPr lIns="0" anchor="t">
            <a:noAutofit/>
          </a:bodyPr>
          <a:lstStyle>
            <a:lvl1pPr marL="0" indent="0">
              <a:spcAft>
                <a:spcPts val="338"/>
              </a:spcAft>
              <a:buFont typeface="Wingdings" panose="05000000000000000000" pitchFamily="2" charset="2"/>
              <a:buNone/>
              <a:defRPr sz="900">
                <a:solidFill>
                  <a:schemeClr val="bg1"/>
                </a:solidFill>
                <a:latin typeface="+mj-lt"/>
              </a:defRPr>
            </a:lvl1pPr>
          </a:lstStyle>
          <a:p>
            <a:pPr lvl="0"/>
            <a:r>
              <a:rPr lang="en-US"/>
              <a:t>2-column content</a:t>
            </a:r>
          </a:p>
        </p:txBody>
      </p:sp>
    </p:spTree>
    <p:extLst>
      <p:ext uri="{BB962C8B-B14F-4D97-AF65-F5344CB8AC3E}">
        <p14:creationId xmlns:p14="http://schemas.microsoft.com/office/powerpoint/2010/main" val="951626964"/>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82"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_Dark">
    <p:bg>
      <p:bgPr>
        <a:solidFill>
          <a:srgbClr val="091F2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334526"/>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_Light">
    <p:bg>
      <p:bgPr>
        <a:solidFill>
          <a:srgbClr val="F4F3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997103"/>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8026389"/>
      </p:ext>
    </p:extLst>
  </p:cSld>
  <p:clrMapOvr>
    <a:masterClrMapping/>
  </p:clrMapOvr>
  <p:transition>
    <p:fade/>
  </p:transition>
  <p:extLst>
    <p:ext uri="{DCECCB84-F9BA-43D5-87BE-67443E8EF086}">
      <p15:sldGuideLst xmlns:p15="http://schemas.microsoft.com/office/powerpoint/2012/main">
        <p15:guide id="6" pos="439" userDrawn="1">
          <p15:clr>
            <a:srgbClr val="A4A3A4"/>
          </p15:clr>
        </p15:guide>
        <p15:guide id="7" pos="541" userDrawn="1">
          <p15:clr>
            <a:srgbClr val="A4A3A4"/>
          </p15:clr>
        </p15:guide>
        <p15:guide id="8" pos="772" userDrawn="1">
          <p15:clr>
            <a:srgbClr val="A4A3A4"/>
          </p15:clr>
        </p15:guide>
        <p15:guide id="9" pos="875" userDrawn="1">
          <p15:clr>
            <a:srgbClr val="A4A3A4"/>
          </p15:clr>
        </p15:guide>
        <p15:guide id="10" pos="1106" userDrawn="1">
          <p15:clr>
            <a:srgbClr val="A4A3A4"/>
          </p15:clr>
        </p15:guide>
        <p15:guide id="11" pos="1210" userDrawn="1">
          <p15:clr>
            <a:srgbClr val="A4A3A4"/>
          </p15:clr>
        </p15:guide>
        <p15:guide id="12" pos="1441" userDrawn="1">
          <p15:clr>
            <a:srgbClr val="A4A3A4"/>
          </p15:clr>
        </p15:guide>
        <p15:guide id="13" pos="1543" userDrawn="1">
          <p15:clr>
            <a:srgbClr val="A4A3A4"/>
          </p15:clr>
        </p15:guide>
        <p15:guide id="14" pos="1778" userDrawn="1">
          <p15:clr>
            <a:srgbClr val="A4A3A4"/>
          </p15:clr>
        </p15:guide>
        <p15:guide id="15" pos="1883" userDrawn="1">
          <p15:clr>
            <a:srgbClr val="A4A3A4"/>
          </p15:clr>
        </p15:guide>
        <p15:guide id="16" pos="2111" userDrawn="1">
          <p15:clr>
            <a:srgbClr val="A4A3A4"/>
          </p15:clr>
        </p15:guide>
        <p15:guide id="17" pos="2211" userDrawn="1">
          <p15:clr>
            <a:srgbClr val="A4A3A4"/>
          </p15:clr>
        </p15:guide>
        <p15:guide id="18" pos="2442" userDrawn="1">
          <p15:clr>
            <a:srgbClr val="A4A3A4"/>
          </p15:clr>
        </p15:guide>
        <p15:guide id="19" pos="2549" userDrawn="1">
          <p15:clr>
            <a:srgbClr val="A4A3A4"/>
          </p15:clr>
        </p15:guide>
        <p15:guide id="20" pos="2777" userDrawn="1">
          <p15:clr>
            <a:srgbClr val="A4A3A4"/>
          </p15:clr>
        </p15:guide>
        <p15:guide id="21" pos="2880" userDrawn="1">
          <p15:clr>
            <a:srgbClr val="A4A3A4"/>
          </p15:clr>
        </p15:guide>
        <p15:guide id="22" pos="3110" userDrawn="1">
          <p15:clr>
            <a:srgbClr val="A4A3A4"/>
          </p15:clr>
        </p15:guide>
        <p15:guide id="23" pos="3214" userDrawn="1">
          <p15:clr>
            <a:srgbClr val="A4A3A4"/>
          </p15:clr>
        </p15:guide>
        <p15:guide id="24" pos="3444" userDrawn="1">
          <p15:clr>
            <a:srgbClr val="A4A3A4"/>
          </p15:clr>
        </p15:guide>
        <p15:guide id="25" pos="3548" userDrawn="1">
          <p15:clr>
            <a:srgbClr val="A4A3A4"/>
          </p15:clr>
        </p15:guide>
        <p15:guide id="26" pos="3778" userDrawn="1">
          <p15:clr>
            <a:srgbClr val="A4A3A4"/>
          </p15:clr>
        </p15:guide>
        <p15:guide id="27" pos="3881" userDrawn="1">
          <p15:clr>
            <a:srgbClr val="A4A3A4"/>
          </p15:clr>
        </p15:guide>
        <p15:guide id="28" orient="horz" pos="1307" userDrawn="1">
          <p15:clr>
            <a:srgbClr val="5ACBF0"/>
          </p15:clr>
        </p15:guide>
        <p15:guide id="29" orient="horz" pos="1836" userDrawn="1">
          <p15:clr>
            <a:srgbClr val="5ACBF0"/>
          </p15:clr>
        </p15:guide>
        <p15:guide id="30" orient="horz" pos="416" userDrawn="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_1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978694" y="2925939"/>
            <a:ext cx="3479006" cy="2400657"/>
          </a:xfrm>
          <a:prstGeom prst="rect">
            <a:avLst/>
          </a:prstGeom>
        </p:spPr>
        <p:txBody>
          <a:bodyPr lIns="0" anchor="b"/>
          <a:lstStyle>
            <a:lvl1pPr>
              <a:defRPr>
                <a:solidFill>
                  <a:schemeClr val="tx1"/>
                </a:solidFill>
              </a:defRPr>
            </a:lvl1pPr>
          </a:lstStyle>
          <a:p>
            <a:r>
              <a:rPr lang="en-US"/>
              <a:t>“Add quote text here Add quote text here”</a:t>
            </a:r>
          </a:p>
        </p:txBody>
      </p:sp>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978694" y="5459267"/>
            <a:ext cx="3260229" cy="461283"/>
          </a:xfrm>
          <a:prstGeom prst="rect">
            <a:avLst/>
          </a:prstGeom>
        </p:spPr>
        <p:txBody>
          <a:bodyPr lIns="0"/>
          <a:lstStyle>
            <a:lvl1pPr marL="0" indent="0" algn="l">
              <a:spcBef>
                <a:spcPts val="0"/>
              </a:spcBef>
              <a:buNone/>
              <a:defRPr sz="1125">
                <a:solidFill>
                  <a:srgbClr val="FFA38B"/>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978694" y="5946230"/>
            <a:ext cx="3260229" cy="415161"/>
          </a:xfrm>
          <a:prstGeom prst="rect">
            <a:avLst/>
          </a:prstGeom>
        </p:spPr>
        <p:txBody>
          <a:bodyPr lIns="0"/>
          <a:lstStyle>
            <a:lvl1pPr marL="0" indent="0" algn="l">
              <a:spcBef>
                <a:spcPts val="0"/>
              </a:spcBef>
              <a:buNone/>
              <a:defRPr sz="900">
                <a:solidFill>
                  <a:schemeClr val="tx1"/>
                </a:solidFill>
                <a:latin typeface="+mn-lt"/>
              </a:defRPr>
            </a:lvl1pPr>
          </a:lstStyle>
          <a:p>
            <a:pPr lvl="0"/>
            <a:r>
              <a:rPr lang="en-US"/>
              <a:t>Job title or another attribute</a:t>
            </a:r>
          </a:p>
        </p:txBody>
      </p:sp>
    </p:spTree>
    <p:extLst>
      <p:ext uri="{BB962C8B-B14F-4D97-AF65-F5344CB8AC3E}">
        <p14:creationId xmlns:p14="http://schemas.microsoft.com/office/powerpoint/2010/main" val="314400217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207" userDrawn="1">
          <p15:clr>
            <a:srgbClr val="F26B43"/>
          </p15:clr>
        </p15:guide>
        <p15:guide id="3" orient="horz" pos="529" userDrawn="1">
          <p15:clr>
            <a:srgbClr val="F26B43"/>
          </p15:clr>
        </p15:guide>
        <p15:guide id="4" pos="4113" userDrawn="1">
          <p15:clr>
            <a:srgbClr val="F26B43"/>
          </p15:clr>
        </p15:guide>
        <p15:guide id="5" orient="horz" pos="5707" userDrawn="1">
          <p15:clr>
            <a:srgbClr val="F26B43"/>
          </p15:clr>
        </p15:guide>
        <p15:guide id="12" pos="1441" userDrawn="1">
          <p15:clr>
            <a:srgbClr val="A4A3A4"/>
          </p15:clr>
        </p15:guide>
        <p15:guide id="13" pos="1543" userDrawn="1">
          <p15:clr>
            <a:srgbClr val="A4A3A4"/>
          </p15:clr>
        </p15:guide>
        <p15:guide id="20" pos="2777" userDrawn="1">
          <p15:clr>
            <a:srgbClr val="A4A3A4"/>
          </p15:clr>
        </p15:guide>
        <p15:guide id="21" pos="2880" userDrawn="1">
          <p15:clr>
            <a:srgbClr val="A4A3A4"/>
          </p15:clr>
        </p15:guide>
        <p15:guide id="22" pos="1509" userDrawn="1">
          <p15:clr>
            <a:srgbClr val="F26B43"/>
          </p15:clr>
        </p15:guide>
        <p15:guide id="23" pos="2811" userDrawn="1">
          <p15:clr>
            <a:srgbClr val="F26B43"/>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_1_Dark_50%">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D09569E-481D-F094-95DE-092FC431C4AD}"/>
              </a:ext>
            </a:extLst>
          </p:cNvPr>
          <p:cNvSpPr>
            <a:spLocks noGrp="1"/>
          </p:cNvSpPr>
          <p:nvPr>
            <p:ph type="body" sz="quarter" idx="23" hasCustomPrompt="1"/>
          </p:nvPr>
        </p:nvSpPr>
        <p:spPr>
          <a:xfrm>
            <a:off x="3682856" y="4188267"/>
            <a:ext cx="2845638" cy="2380192"/>
          </a:xfrm>
          <a:prstGeom prst="rect">
            <a:avLst/>
          </a:prstGeom>
        </p:spPr>
        <p:txBody>
          <a:bodyPr lIns="0" anchor="b"/>
          <a:lstStyle>
            <a:lvl1pPr marL="0" indent="0">
              <a:buFontTx/>
              <a:buNone/>
              <a:defRPr sz="2025">
                <a:latin typeface="+mj-lt"/>
              </a:defRPr>
            </a:lvl1pPr>
          </a:lstStyle>
          <a:p>
            <a:pPr lvl="0"/>
            <a:r>
              <a:rPr lang="en-US"/>
              <a:t>“Add quote text here. Add quote text here.”</a:t>
            </a:r>
          </a:p>
        </p:txBody>
      </p:sp>
      <p:sp>
        <p:nvSpPr>
          <p:cNvPr id="4" name="Text Placeholder 3">
            <a:extLst>
              <a:ext uri="{FF2B5EF4-FFF2-40B4-BE49-F238E27FC236}">
                <a16:creationId xmlns:a16="http://schemas.microsoft.com/office/drawing/2014/main" id="{39875F7C-5C39-70FA-B1D5-59C7E90EB514}"/>
              </a:ext>
            </a:extLst>
          </p:cNvPr>
          <p:cNvSpPr>
            <a:spLocks noGrp="1"/>
          </p:cNvSpPr>
          <p:nvPr>
            <p:ph type="body" sz="quarter" idx="18" hasCustomPrompt="1"/>
          </p:nvPr>
        </p:nvSpPr>
        <p:spPr>
          <a:xfrm>
            <a:off x="3682857" y="6909168"/>
            <a:ext cx="2845638" cy="461283"/>
          </a:xfrm>
          <a:prstGeom prst="rect">
            <a:avLst/>
          </a:prstGeom>
        </p:spPr>
        <p:txBody>
          <a:bodyPr lIns="0"/>
          <a:lstStyle>
            <a:lvl1pPr marL="0" indent="0" algn="l">
              <a:spcBef>
                <a:spcPts val="0"/>
              </a:spcBef>
              <a:buNone/>
              <a:defRPr sz="1125">
                <a:solidFill>
                  <a:srgbClr val="FFA38B"/>
                </a:solidFill>
                <a:latin typeface="+mj-lt"/>
              </a:defRPr>
            </a:lvl1pPr>
          </a:lstStyle>
          <a:p>
            <a:pPr lvl="0"/>
            <a:r>
              <a:rPr lang="en-US"/>
              <a:t>Name attribute</a:t>
            </a:r>
          </a:p>
        </p:txBody>
      </p:sp>
      <p:sp>
        <p:nvSpPr>
          <p:cNvPr id="5" name="Text Placeholder 3">
            <a:extLst>
              <a:ext uri="{FF2B5EF4-FFF2-40B4-BE49-F238E27FC236}">
                <a16:creationId xmlns:a16="http://schemas.microsoft.com/office/drawing/2014/main" id="{AB50139B-E847-2502-079A-0EE4790F3AD5}"/>
              </a:ext>
            </a:extLst>
          </p:cNvPr>
          <p:cNvSpPr>
            <a:spLocks noGrp="1"/>
          </p:cNvSpPr>
          <p:nvPr>
            <p:ph type="body" sz="quarter" idx="20" hasCustomPrompt="1"/>
          </p:nvPr>
        </p:nvSpPr>
        <p:spPr>
          <a:xfrm>
            <a:off x="3682857" y="7380771"/>
            <a:ext cx="2845638" cy="415161"/>
          </a:xfrm>
          <a:prstGeom prst="rect">
            <a:avLst/>
          </a:prstGeom>
        </p:spPr>
        <p:txBody>
          <a:bodyPr lIns="0"/>
          <a:lstStyle>
            <a:lvl1pPr marL="0" indent="0" algn="l">
              <a:spcBef>
                <a:spcPts val="0"/>
              </a:spcBef>
              <a:buNone/>
              <a:defRPr sz="900">
                <a:solidFill>
                  <a:schemeClr val="tx1"/>
                </a:solidFill>
                <a:latin typeface="+mn-lt"/>
              </a:defRPr>
            </a:lvl1pPr>
          </a:lstStyle>
          <a:p>
            <a:pPr lvl="0"/>
            <a:r>
              <a:rPr lang="en-US"/>
              <a:t>Job title or another attribute</a:t>
            </a:r>
          </a:p>
        </p:txBody>
      </p:sp>
    </p:spTree>
    <p:extLst>
      <p:ext uri="{BB962C8B-B14F-4D97-AF65-F5344CB8AC3E}">
        <p14:creationId xmlns:p14="http://schemas.microsoft.com/office/powerpoint/2010/main" val="238072343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207" userDrawn="1">
          <p15:clr>
            <a:srgbClr val="F26B43"/>
          </p15:clr>
        </p15:guide>
        <p15:guide id="3" orient="horz" pos="529" userDrawn="1">
          <p15:clr>
            <a:srgbClr val="F26B43"/>
          </p15:clr>
        </p15:guide>
        <p15:guide id="4" pos="4113" userDrawn="1">
          <p15:clr>
            <a:srgbClr val="F26B43"/>
          </p15:clr>
        </p15:guide>
        <p15:guide id="5" orient="horz" pos="5707" userDrawn="1">
          <p15:clr>
            <a:srgbClr val="F26B43"/>
          </p15:clr>
        </p15:guide>
        <p15:guide id="12" pos="1441" userDrawn="1">
          <p15:clr>
            <a:srgbClr val="A4A3A4"/>
          </p15:clr>
        </p15:guide>
        <p15:guide id="13" pos="1543" userDrawn="1">
          <p15:clr>
            <a:srgbClr val="A4A3A4"/>
          </p15:clr>
        </p15:guide>
        <p15:guide id="20" pos="2777" userDrawn="1">
          <p15:clr>
            <a:srgbClr val="A4A3A4"/>
          </p15:clr>
        </p15:guide>
        <p15:guide id="21" pos="2880" userDrawn="1">
          <p15:clr>
            <a:srgbClr val="A4A3A4"/>
          </p15:clr>
        </p15:guide>
        <p15:guide id="22" pos="1509" userDrawn="1">
          <p15:clr>
            <a:srgbClr val="F26B43"/>
          </p15:clr>
        </p15:guide>
        <p15:guide id="23" pos="2811" userDrawn="1">
          <p15:clr>
            <a:srgbClr val="F26B43"/>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_1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978693" y="2925939"/>
            <a:ext cx="3484365" cy="2400657"/>
          </a:xfrm>
          <a:prstGeom prst="rect">
            <a:avLst/>
          </a:prstGeom>
        </p:spPr>
        <p:txBody>
          <a:bodyPr lIns="0" anchor="b"/>
          <a:lstStyle>
            <a:lvl1pPr>
              <a:defRPr>
                <a:solidFill>
                  <a:srgbClr val="091F2C"/>
                </a:solidFill>
              </a:defRPr>
            </a:lvl1pPr>
          </a:lstStyle>
          <a:p>
            <a:r>
              <a:rPr lang="en-US"/>
              <a:t>“Add quote text here. Add quote text here.</a:t>
            </a:r>
          </a:p>
        </p:txBody>
      </p:sp>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978694" y="5459268"/>
            <a:ext cx="3260229" cy="471383"/>
          </a:xfrm>
          <a:prstGeom prst="rect">
            <a:avLst/>
          </a:prstGeom>
        </p:spPr>
        <p:txBody>
          <a:bodyPr lIns="0"/>
          <a:lstStyle>
            <a:lvl1pPr marL="0" indent="0" algn="l">
              <a:spcBef>
                <a:spcPts val="0"/>
              </a:spcBef>
              <a:buNone/>
              <a:defRPr sz="1125">
                <a:solidFill>
                  <a:srgbClr val="8561C5"/>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978694" y="5940258"/>
            <a:ext cx="3260229" cy="400108"/>
          </a:xfrm>
          <a:prstGeom prst="rect">
            <a:avLst/>
          </a:prstGeom>
        </p:spPr>
        <p:txBody>
          <a:bodyPr lIns="0"/>
          <a:lstStyle>
            <a:lvl1pPr marL="0" indent="0" algn="l">
              <a:spcBef>
                <a:spcPts val="0"/>
              </a:spcBef>
              <a:buNone/>
              <a:defRPr sz="900">
                <a:solidFill>
                  <a:srgbClr val="091F2C"/>
                </a:solidFill>
                <a:latin typeface="+mn-lt"/>
              </a:defRPr>
            </a:lvl1pPr>
          </a:lstStyle>
          <a:p>
            <a:pPr lvl="0"/>
            <a:r>
              <a:rPr lang="en-US"/>
              <a:t>Job title or another attribute</a:t>
            </a:r>
          </a:p>
        </p:txBody>
      </p:sp>
    </p:spTree>
    <p:extLst>
      <p:ext uri="{BB962C8B-B14F-4D97-AF65-F5344CB8AC3E}">
        <p14:creationId xmlns:p14="http://schemas.microsoft.com/office/powerpoint/2010/main" val="29149561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207" userDrawn="1">
          <p15:clr>
            <a:srgbClr val="F26B43"/>
          </p15:clr>
        </p15:guide>
        <p15:guide id="3" orient="horz" pos="529" userDrawn="1">
          <p15:clr>
            <a:srgbClr val="F26B43"/>
          </p15:clr>
        </p15:guide>
        <p15:guide id="4" pos="4113" userDrawn="1">
          <p15:clr>
            <a:srgbClr val="F26B43"/>
          </p15:clr>
        </p15:guide>
        <p15:guide id="5" orient="horz" pos="5707" userDrawn="1">
          <p15:clr>
            <a:srgbClr val="F26B43"/>
          </p15:clr>
        </p15:guide>
        <p15:guide id="12" pos="1441" userDrawn="1">
          <p15:clr>
            <a:srgbClr val="A4A3A4"/>
          </p15:clr>
        </p15:guide>
        <p15:guide id="13" pos="1543" userDrawn="1">
          <p15:clr>
            <a:srgbClr val="A4A3A4"/>
          </p15:clr>
        </p15:guide>
        <p15:guide id="20" pos="2777" userDrawn="1">
          <p15:clr>
            <a:srgbClr val="A4A3A4"/>
          </p15:clr>
        </p15:guide>
        <p15:guide id="21" pos="2880" userDrawn="1">
          <p15:clr>
            <a:srgbClr val="A4A3A4"/>
          </p15:clr>
        </p15:guide>
        <p15:guide id="22" pos="1509" userDrawn="1">
          <p15:clr>
            <a:srgbClr val="F26B43"/>
          </p15:clr>
        </p15:guide>
        <p15:guide id="23" pos="2811" userDrawn="1">
          <p15:clr>
            <a:srgbClr val="F26B43"/>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_1_Light_50%">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D09569E-481D-F094-95DE-092FC431C4AD}"/>
              </a:ext>
            </a:extLst>
          </p:cNvPr>
          <p:cNvSpPr>
            <a:spLocks noGrp="1"/>
          </p:cNvSpPr>
          <p:nvPr>
            <p:ph type="body" sz="quarter" idx="23" hasCustomPrompt="1"/>
          </p:nvPr>
        </p:nvSpPr>
        <p:spPr>
          <a:xfrm>
            <a:off x="3675036" y="4188267"/>
            <a:ext cx="2853459" cy="2380192"/>
          </a:xfrm>
          <a:prstGeom prst="rect">
            <a:avLst/>
          </a:prstGeom>
        </p:spPr>
        <p:txBody>
          <a:bodyPr lIns="0" anchor="b"/>
          <a:lstStyle>
            <a:lvl1pPr marL="0" indent="0">
              <a:buFontTx/>
              <a:buNone/>
              <a:defRPr sz="2025">
                <a:solidFill>
                  <a:srgbClr val="091F2C"/>
                </a:solidFill>
                <a:latin typeface="+mj-lt"/>
              </a:defRPr>
            </a:lvl1pPr>
          </a:lstStyle>
          <a:p>
            <a:pPr lvl="0"/>
            <a:r>
              <a:rPr lang="en-US"/>
              <a:t>“Add quote text here. Add quote text here.”</a:t>
            </a:r>
          </a:p>
        </p:txBody>
      </p:sp>
      <p:sp>
        <p:nvSpPr>
          <p:cNvPr id="4" name="Text Placeholder 3">
            <a:extLst>
              <a:ext uri="{FF2B5EF4-FFF2-40B4-BE49-F238E27FC236}">
                <a16:creationId xmlns:a16="http://schemas.microsoft.com/office/drawing/2014/main" id="{C6DB5B32-10BE-C215-F56D-29BB09A0FE1E}"/>
              </a:ext>
            </a:extLst>
          </p:cNvPr>
          <p:cNvSpPr>
            <a:spLocks noGrp="1"/>
          </p:cNvSpPr>
          <p:nvPr>
            <p:ph type="body" sz="quarter" idx="18" hasCustomPrompt="1"/>
          </p:nvPr>
        </p:nvSpPr>
        <p:spPr>
          <a:xfrm>
            <a:off x="3675037" y="6807875"/>
            <a:ext cx="2862827" cy="471383"/>
          </a:xfrm>
          <a:prstGeom prst="rect">
            <a:avLst/>
          </a:prstGeom>
        </p:spPr>
        <p:txBody>
          <a:bodyPr lIns="0"/>
          <a:lstStyle>
            <a:lvl1pPr marL="0" indent="0" algn="l">
              <a:spcBef>
                <a:spcPts val="0"/>
              </a:spcBef>
              <a:buNone/>
              <a:defRPr sz="1125">
                <a:solidFill>
                  <a:srgbClr val="8561C5"/>
                </a:solidFill>
                <a:latin typeface="+mj-lt"/>
              </a:defRPr>
            </a:lvl1pPr>
          </a:lstStyle>
          <a:p>
            <a:pPr lvl="0"/>
            <a:r>
              <a:rPr lang="en-US"/>
              <a:t>Name attribute</a:t>
            </a:r>
          </a:p>
        </p:txBody>
      </p:sp>
      <p:sp>
        <p:nvSpPr>
          <p:cNvPr id="5" name="Text Placeholder 3">
            <a:extLst>
              <a:ext uri="{FF2B5EF4-FFF2-40B4-BE49-F238E27FC236}">
                <a16:creationId xmlns:a16="http://schemas.microsoft.com/office/drawing/2014/main" id="{6E1B7740-1BD9-D0B7-2B79-85577A05F574}"/>
              </a:ext>
            </a:extLst>
          </p:cNvPr>
          <p:cNvSpPr>
            <a:spLocks noGrp="1"/>
          </p:cNvSpPr>
          <p:nvPr>
            <p:ph type="body" sz="quarter" idx="20" hasCustomPrompt="1"/>
          </p:nvPr>
        </p:nvSpPr>
        <p:spPr>
          <a:xfrm>
            <a:off x="3675037" y="7288865"/>
            <a:ext cx="2862827" cy="400108"/>
          </a:xfrm>
          <a:prstGeom prst="rect">
            <a:avLst/>
          </a:prstGeom>
        </p:spPr>
        <p:txBody>
          <a:bodyPr lIns="0"/>
          <a:lstStyle>
            <a:lvl1pPr marL="0" indent="0" algn="l">
              <a:spcBef>
                <a:spcPts val="0"/>
              </a:spcBef>
              <a:buNone/>
              <a:defRPr sz="900">
                <a:solidFill>
                  <a:srgbClr val="091F2C"/>
                </a:solidFill>
                <a:latin typeface="+mn-lt"/>
              </a:defRPr>
            </a:lvl1pPr>
          </a:lstStyle>
          <a:p>
            <a:pPr lvl="0"/>
            <a:r>
              <a:rPr lang="en-US"/>
              <a:t>Job title or another attribute</a:t>
            </a:r>
          </a:p>
        </p:txBody>
      </p:sp>
    </p:spTree>
    <p:extLst>
      <p:ext uri="{BB962C8B-B14F-4D97-AF65-F5344CB8AC3E}">
        <p14:creationId xmlns:p14="http://schemas.microsoft.com/office/powerpoint/2010/main" val="166775167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207" userDrawn="1">
          <p15:clr>
            <a:srgbClr val="F26B43"/>
          </p15:clr>
        </p15:guide>
        <p15:guide id="3" orient="horz" pos="529" userDrawn="1">
          <p15:clr>
            <a:srgbClr val="F26B43"/>
          </p15:clr>
        </p15:guide>
        <p15:guide id="4" pos="4113" userDrawn="1">
          <p15:clr>
            <a:srgbClr val="F26B43"/>
          </p15:clr>
        </p15:guide>
        <p15:guide id="5" orient="horz" pos="5707" userDrawn="1">
          <p15:clr>
            <a:srgbClr val="F26B43"/>
          </p15:clr>
        </p15:guide>
        <p15:guide id="12" pos="1441" userDrawn="1">
          <p15:clr>
            <a:srgbClr val="A4A3A4"/>
          </p15:clr>
        </p15:guide>
        <p15:guide id="13" pos="1543" userDrawn="1">
          <p15:clr>
            <a:srgbClr val="A4A3A4"/>
          </p15:clr>
        </p15:guide>
        <p15:guide id="20" pos="2777" userDrawn="1">
          <p15:clr>
            <a:srgbClr val="A4A3A4"/>
          </p15:clr>
        </p15:guide>
        <p15:guide id="21" pos="2880" userDrawn="1">
          <p15:clr>
            <a:srgbClr val="A4A3A4"/>
          </p15:clr>
        </p15:guide>
        <p15:guide id="22" pos="1509" userDrawn="1">
          <p15:clr>
            <a:srgbClr val="F26B43"/>
          </p15:clr>
        </p15:guide>
        <p15:guide id="23" pos="2811" userDrawn="1">
          <p15:clr>
            <a:srgbClr val="F26B43"/>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91F2C"/>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184" y="4821058"/>
            <a:ext cx="5143500" cy="280461"/>
          </a:xfrm>
          <a:prstGeom prst="rect">
            <a:avLst/>
          </a:prstGeom>
          <a:noFill/>
        </p:spPr>
        <p:txBody>
          <a:bodyPr lIns="0" tIns="0" rIns="0" bIns="0" anchor="b" anchorCtr="0">
            <a:spAutoFit/>
          </a:bodyPr>
          <a:lstStyle>
            <a:lvl1pPr algn="l" defTabSz="524695" rtl="0" eaLnBrk="1" latinLnBrk="0" hangingPunct="1">
              <a:lnSpc>
                <a:spcPct val="90000"/>
              </a:lnSpc>
              <a:spcBef>
                <a:spcPct val="0"/>
              </a:spcBef>
              <a:buNone/>
              <a:defRPr lang="en-US" sz="2025" b="0" kern="1200" cap="none" spc="-28" baseline="0" dirty="0">
                <a:ln w="3175">
                  <a:noFill/>
                </a:ln>
                <a:solidFill>
                  <a:srgbClr val="FFA38B"/>
                </a:solidFill>
                <a:effectLst/>
                <a:latin typeface="+mj-lt"/>
                <a:ea typeface="+mn-ea"/>
                <a:cs typeface="Segoe UI" pitchFamily="34" charset="0"/>
              </a:defRPr>
            </a:lvl1pPr>
          </a:lstStyle>
          <a:p>
            <a:r>
              <a:rPr lang="en-US"/>
              <a:t>Thank you</a:t>
            </a:r>
          </a:p>
        </p:txBody>
      </p:sp>
      <p:sp>
        <p:nvSpPr>
          <p:cNvPr id="5" name="Text Placeholder 4"/>
          <p:cNvSpPr>
            <a:spLocks noGrp="1"/>
          </p:cNvSpPr>
          <p:nvPr>
            <p:ph type="body" sz="quarter" idx="12" hasCustomPrompt="1"/>
          </p:nvPr>
        </p:nvSpPr>
        <p:spPr>
          <a:xfrm>
            <a:off x="329184" y="5745017"/>
            <a:ext cx="5143500" cy="173124"/>
          </a:xfrm>
          <a:prstGeom prst="rect">
            <a:avLst/>
          </a:prstGeom>
          <a:noFill/>
        </p:spPr>
        <p:txBody>
          <a:bodyPr lIns="0" tIns="0" rIns="0" bIns="0">
            <a:spAutoFit/>
          </a:bodyPr>
          <a:lstStyle>
            <a:lvl1pPr marL="0" indent="0">
              <a:spcBef>
                <a:spcPts val="0"/>
              </a:spcBef>
              <a:spcAft>
                <a:spcPts val="0"/>
              </a:spcAft>
              <a:buFont typeface="Arial" panose="020B0604020202020204" pitchFamily="34" charset="0"/>
              <a:buNone/>
              <a:defRPr sz="1125" spc="0" baseline="0">
                <a:solidFill>
                  <a:schemeClr val="tx1"/>
                </a:solidFill>
                <a:latin typeface="+mj-lt"/>
              </a:defRPr>
            </a:lvl1pPr>
          </a:lstStyle>
          <a:p>
            <a:pPr lvl="0"/>
            <a:r>
              <a:rPr lang="en-US"/>
              <a:t>Subtitle</a:t>
            </a:r>
          </a:p>
        </p:txBody>
      </p:sp>
    </p:spTree>
    <p:extLst>
      <p:ext uri="{BB962C8B-B14F-4D97-AF65-F5344CB8AC3E}">
        <p14:creationId xmlns:p14="http://schemas.microsoft.com/office/powerpoint/2010/main" val="15070393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120" userDrawn="1">
          <p15:clr>
            <a:srgbClr val="FBAE40"/>
          </p15:clr>
        </p15:guide>
        <p15:guide id="2" pos="3451" userDrawn="1">
          <p15:clr>
            <a:srgbClr val="5ACBF0"/>
          </p15:clr>
        </p15:guide>
        <p15:guide id="3" orient="horz" pos="2759" userDrawn="1">
          <p15:clr>
            <a:srgbClr val="5ACBF0"/>
          </p15:clr>
        </p15:guide>
        <p15:guide id="4" orient="horz" pos="3618" userDrawn="1">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91F2C"/>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328613" y="8994620"/>
            <a:ext cx="2521195" cy="6065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524441" eaLnBrk="0" hangingPunct="0"/>
            <a:r>
              <a:rPr lang="en-US" sz="394">
                <a:solidFill>
                  <a:schemeClr val="tx1"/>
                </a:solidFill>
                <a:cs typeface="Segoe UI" pitchFamily="34" charset="0"/>
              </a:rPr>
              <a:t>© Copyright Microsoft Corporation. All rights reserved. </a:t>
            </a:r>
          </a:p>
        </p:txBody>
      </p:sp>
      <p:pic>
        <p:nvPicPr>
          <p:cNvPr id="5" name="MS logo white - EMF" descr="Microsoft logo">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328613" y="522181"/>
            <a:ext cx="1155366" cy="277380"/>
          </a:xfrm>
          <a:prstGeom prst="rect">
            <a:avLst/>
          </a:prstGeom>
        </p:spPr>
      </p:pic>
    </p:spTree>
    <p:extLst>
      <p:ext uri="{BB962C8B-B14F-4D97-AF65-F5344CB8AC3E}">
        <p14:creationId xmlns:p14="http://schemas.microsoft.com/office/powerpoint/2010/main" val="7587543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only (White, Black bar)">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D5560B4-DB4F-B384-F636-1383689A3E40}"/>
              </a:ext>
            </a:extLst>
          </p:cNvPr>
          <p:cNvSpPr>
            <a:spLocks noGrp="1"/>
          </p:cNvSpPr>
          <p:nvPr>
            <p:ph type="title"/>
          </p:nvPr>
        </p:nvSpPr>
        <p:spPr>
          <a:xfrm>
            <a:off x="330898" y="660400"/>
            <a:ext cx="6197918" cy="800219"/>
          </a:xfrm>
          <a:prstGeom prst="rect">
            <a:avLst/>
          </a:prstGeom>
        </p:spPr>
        <p:txBody>
          <a:bodyPr/>
          <a:lstStyle>
            <a:lvl1pPr>
              <a:defRPr>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CC99B60E-C249-669E-3992-355C677222AB}"/>
              </a:ext>
            </a:extLst>
          </p:cNvPr>
          <p:cNvPicPr>
            <a:picLocks noChangeAspect="1"/>
          </p:cNvPicPr>
          <p:nvPr userDrawn="1"/>
        </p:nvPicPr>
        <p:blipFill>
          <a:blip r:embed="rId2"/>
          <a:stretch>
            <a:fillRect/>
          </a:stretch>
        </p:blipFill>
        <p:spPr>
          <a:xfrm>
            <a:off x="6574535" y="9197502"/>
            <a:ext cx="239068" cy="563183"/>
          </a:xfrm>
          <a:prstGeom prst="rect">
            <a:avLst/>
          </a:prstGeom>
        </p:spPr>
      </p:pic>
    </p:spTree>
    <p:extLst>
      <p:ext uri="{BB962C8B-B14F-4D97-AF65-F5344CB8AC3E}">
        <p14:creationId xmlns:p14="http://schemas.microsoft.com/office/powerpoint/2010/main" val="26948560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329844" y="2071868"/>
            <a:ext cx="6197918" cy="5939790"/>
          </a:xfrm>
        </p:spPr>
        <p:txBody>
          <a:bodyPr wrap="square">
            <a:spAutoFit/>
          </a:bodyPr>
          <a:lstStyle>
            <a:lvl1pPr marL="0" indent="0">
              <a:buNone/>
              <a:defRPr/>
            </a:lvl1pPr>
            <a:lvl2pPr marL="128595" indent="0">
              <a:buNone/>
              <a:defRPr/>
            </a:lvl2pPr>
            <a:lvl3pPr marL="257189" indent="0">
              <a:buNone/>
              <a:defRPr/>
            </a:lvl3pPr>
            <a:lvl4pPr marL="385784" indent="0">
              <a:buNone/>
              <a:defRPr/>
            </a:lvl4pPr>
            <a:lvl5pPr marL="514377"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0990564"/>
      </p:ext>
    </p:extLst>
  </p:cSld>
  <p:clrMapOvr>
    <a:masterClrMapping/>
  </p:clrMapOvr>
  <p:transition>
    <p:fade/>
  </p:transition>
  <p:extLst>
    <p:ext uri="{DCECCB84-F9BA-43D5-87BE-67443E8EF086}">
      <p15:sldGuideLst xmlns:p15="http://schemas.microsoft.com/office/powerpoint/2012/main">
        <p15:guide id="1" orient="horz" pos="416" userDrawn="1">
          <p15:clr>
            <a:srgbClr val="5ACBF0"/>
          </p15:clr>
        </p15:guide>
        <p15:guide id="2" orient="horz" pos="1307" userDrawn="1">
          <p15:clr>
            <a:srgbClr val="5ACBF0"/>
          </p15:clr>
        </p15:guide>
        <p15:guide id="4" orient="horz" pos="1838"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Blank_Ligh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4935597"/>
      </p:ext>
    </p:extLst>
  </p:cSld>
  <p:clrMapOvr>
    <a:masterClrMapping/>
  </p:clrMapOvr>
  <p:transition>
    <p:fade/>
  </p:transition>
  <p:extLst>
    <p:ext uri="{DCECCB84-F9BA-43D5-87BE-67443E8EF086}">
      <p15:sldGuideLst xmlns:p15="http://schemas.microsoft.com/office/powerpoint/2012/main">
        <p15:guide id="11" pos="1210" userDrawn="1">
          <p15:clr>
            <a:srgbClr val="A4A3A4"/>
          </p15:clr>
        </p15:guide>
        <p15:guide id="12" pos="1431" userDrawn="1">
          <p15:clr>
            <a:srgbClr val="A4A3A4"/>
          </p15:clr>
        </p15:guide>
        <p15:guide id="13" pos="1543" userDrawn="1">
          <p15:clr>
            <a:srgbClr val="A4A3A4"/>
          </p15:clr>
        </p15:guide>
        <p15:guide id="14" pos="1778" userDrawn="1">
          <p15:clr>
            <a:srgbClr val="A4A3A4"/>
          </p15:clr>
        </p15:guide>
        <p15:guide id="15" pos="1890" userDrawn="1">
          <p15:clr>
            <a:srgbClr val="A4A3A4"/>
          </p15:clr>
        </p15:guide>
        <p15:guide id="18" pos="2442" userDrawn="1">
          <p15:clr>
            <a:srgbClr val="A4A3A4"/>
          </p15:clr>
        </p15:guide>
        <p15:guide id="19" pos="2538" userDrawn="1">
          <p15:clr>
            <a:srgbClr val="A4A3A4"/>
          </p15:clr>
        </p15:guide>
        <p15:guide id="28" orient="horz" pos="1307" userDrawn="1">
          <p15:clr>
            <a:srgbClr val="5ACBF0"/>
          </p15:clr>
        </p15:guide>
        <p15:guide id="30" orient="horz" pos="381" userDrawn="1">
          <p15:clr>
            <a:srgbClr val="5ACBF0"/>
          </p15:clr>
        </p15:guide>
        <p15:guide id="31" orient="horz" pos="3906" userDrawn="1">
          <p15:clr>
            <a:srgbClr val="5ACBF0"/>
          </p15:clr>
        </p15:guide>
        <p15:guide id="32" pos="3902"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6858000" cy="9906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1"/>
            <a:ext cx="329184" cy="845312"/>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ctr" defTabSz="524544" fontAlgn="base">
              <a:lnSpc>
                <a:spcPct val="90000"/>
              </a:lnSpc>
              <a:spcBef>
                <a:spcPct val="0"/>
              </a:spcBef>
              <a:spcAft>
                <a:spcPct val="0"/>
              </a:spcAft>
            </a:pPr>
            <a:endParaRPr lang="en-US" sz="135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64592" cy="42265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algn="ctr" defTabSz="524544" fontAlgn="base">
              <a:lnSpc>
                <a:spcPct val="90000"/>
              </a:lnSpc>
              <a:spcBef>
                <a:spcPct val="0"/>
              </a:spcBef>
              <a:spcAft>
                <a:spcPct val="0"/>
              </a:spcAft>
            </a:pPr>
            <a:endParaRPr lang="en-US" sz="135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4" cstate="hqprint">
            <a:extLst>
              <a:ext uri="{28A0092B-C50C-407E-A947-70E740481C1C}">
                <a14:useLocalDpi xmlns:a14="http://schemas.microsoft.com/office/drawing/2010/main"/>
              </a:ext>
            </a:extLst>
          </a:blip>
          <a:srcRect l="762"/>
          <a:stretch/>
        </p:blipFill>
        <p:spPr>
          <a:xfrm rot="5400000">
            <a:off x="2325053" y="4623811"/>
            <a:ext cx="9906000" cy="658381"/>
          </a:xfrm>
          <a:prstGeom prst="rect">
            <a:avLst/>
          </a:prstGeom>
        </p:spPr>
      </p:pic>
    </p:spTree>
    <p:extLst>
      <p:ext uri="{BB962C8B-B14F-4D97-AF65-F5344CB8AC3E}">
        <p14:creationId xmlns:p14="http://schemas.microsoft.com/office/powerpoint/2010/main" val="73967999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721" r:id="rId3"/>
    <p:sldLayoutId id="2147483664" r:id="rId4"/>
    <p:sldLayoutId id="2147483722" r:id="rId5"/>
    <p:sldLayoutId id="2147483725"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723" r:id="rId28"/>
    <p:sldLayoutId id="2147483724" r:id="rId29"/>
    <p:sldLayoutId id="2147483686" r:id="rId30"/>
    <p:sldLayoutId id="2147483687" r:id="rId31"/>
    <p:sldLayoutId id="2147483688" r:id="rId32"/>
    <p:sldLayoutId id="2147483689" r:id="rId33"/>
    <p:sldLayoutId id="2147483690" r:id="rId34"/>
    <p:sldLayoutId id="2147483691" r:id="rId35"/>
    <p:sldLayoutId id="2147483692" r:id="rId36"/>
    <p:sldLayoutId id="2147483693" r:id="rId37"/>
    <p:sldLayoutId id="2147483694" r:id="rId38"/>
    <p:sldLayoutId id="2147483695" r:id="rId39"/>
    <p:sldLayoutId id="2147483696" r:id="rId40"/>
    <p:sldLayoutId id="2147483697" r:id="rId41"/>
    <p:sldLayoutId id="2147483698" r:id="rId42"/>
    <p:sldLayoutId id="2147483699" r:id="rId43"/>
    <p:sldLayoutId id="2147483700" r:id="rId44"/>
    <p:sldLayoutId id="2147483701" r:id="rId45"/>
    <p:sldLayoutId id="2147483702" r:id="rId46"/>
    <p:sldLayoutId id="2147483703" r:id="rId47"/>
    <p:sldLayoutId id="2147483704" r:id="rId48"/>
    <p:sldLayoutId id="2147483705" r:id="rId49"/>
    <p:sldLayoutId id="2147483706" r:id="rId50"/>
    <p:sldLayoutId id="2147483707" r:id="rId51"/>
    <p:sldLayoutId id="2147483720" r:id="rId52"/>
  </p:sldLayoutIdLst>
  <p:transition>
    <p:fade/>
  </p:transition>
  <p:hf hdr="0" dt="0"/>
  <p:txStyles>
    <p:titleStyle>
      <a:lvl1pPr algn="l" defTabSz="524695" rtl="0" eaLnBrk="1" latinLnBrk="0" hangingPunct="1">
        <a:lnSpc>
          <a:spcPct val="100000"/>
        </a:lnSpc>
        <a:spcBef>
          <a:spcPct val="0"/>
        </a:spcBef>
        <a:buNone/>
        <a:defRPr lang="en-US" sz="2025" b="0" kern="1200" cap="none" spc="-28" baseline="0" dirty="0" smtClean="0">
          <a:ln w="3175">
            <a:noFill/>
          </a:ln>
          <a:solidFill>
            <a:schemeClr val="tx1"/>
          </a:solidFill>
          <a:effectLst/>
          <a:latin typeface="+mj-lt"/>
          <a:ea typeface="+mn-ea"/>
          <a:cs typeface="Segoe UI" pitchFamily="34" charset="0"/>
        </a:defRPr>
      </a:lvl1pPr>
    </p:titleStyle>
    <p:bodyStyle>
      <a:lvl1pPr marL="128595" marR="0" indent="-128595" algn="l" defTabSz="52469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575" kern="1200" spc="0" baseline="0">
          <a:solidFill>
            <a:schemeClr val="tx1"/>
          </a:solidFill>
          <a:latin typeface="+mn-lt"/>
          <a:ea typeface="+mn-ea"/>
          <a:cs typeface="Segoe UI" panose="020B0502040204020203" pitchFamily="34" charset="0"/>
        </a:defRPr>
      </a:lvl1pPr>
      <a:lvl2pPr marL="257189" marR="0" indent="-128595" algn="l" defTabSz="52469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25" kern="1200" spc="0" baseline="0">
          <a:solidFill>
            <a:schemeClr val="tx1"/>
          </a:solidFill>
          <a:latin typeface="+mn-lt"/>
          <a:ea typeface="+mn-ea"/>
          <a:cs typeface="+mn-cs"/>
        </a:defRPr>
      </a:lvl2pPr>
      <a:lvl3pPr marL="369709" marR="0" indent="-112520" algn="l" defTabSz="52469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900" kern="1200" spc="0" baseline="0">
          <a:solidFill>
            <a:schemeClr val="tx1"/>
          </a:solidFill>
          <a:latin typeface="+mn-lt"/>
          <a:ea typeface="+mn-ea"/>
          <a:cs typeface="+mn-cs"/>
        </a:defRPr>
      </a:lvl3pPr>
      <a:lvl4pPr marL="474192" marR="0" indent="-101804" algn="l" defTabSz="52469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88" kern="1200" spc="0" baseline="0">
          <a:solidFill>
            <a:schemeClr val="tx1"/>
          </a:solidFill>
          <a:latin typeface="+mn-lt"/>
          <a:ea typeface="+mn-ea"/>
          <a:cs typeface="+mn-cs"/>
        </a:defRPr>
      </a:lvl4pPr>
      <a:lvl5pPr marL="575995" marR="0" indent="-94659" algn="l" defTabSz="52469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88" kern="1200" spc="0" baseline="0">
          <a:solidFill>
            <a:schemeClr val="tx1"/>
          </a:solidFill>
          <a:latin typeface="+mn-lt"/>
          <a:ea typeface="+mn-ea"/>
          <a:cs typeface="+mn-cs"/>
        </a:defRPr>
      </a:lvl5pPr>
      <a:lvl6pPr marL="1442912" indent="-131174" algn="l" defTabSz="524695"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705260" indent="-131174" algn="l" defTabSz="524695"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67608" indent="-131174" algn="l" defTabSz="524695"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229956" indent="-131174" algn="l" defTabSz="524695"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24695" rtl="0" eaLnBrk="1" latinLnBrk="0" hangingPunct="1">
        <a:defRPr sz="1013" kern="1200">
          <a:solidFill>
            <a:schemeClr val="tx1"/>
          </a:solidFill>
          <a:latin typeface="+mn-lt"/>
          <a:ea typeface="+mn-ea"/>
          <a:cs typeface="+mn-cs"/>
        </a:defRPr>
      </a:lvl1pPr>
      <a:lvl2pPr marL="262348" algn="l" defTabSz="524695" rtl="0" eaLnBrk="1" latinLnBrk="0" hangingPunct="1">
        <a:defRPr sz="1013" kern="1200">
          <a:solidFill>
            <a:schemeClr val="tx1"/>
          </a:solidFill>
          <a:latin typeface="+mn-lt"/>
          <a:ea typeface="+mn-ea"/>
          <a:cs typeface="+mn-cs"/>
        </a:defRPr>
      </a:lvl2pPr>
      <a:lvl3pPr marL="524695" algn="l" defTabSz="524695" rtl="0" eaLnBrk="1" latinLnBrk="0" hangingPunct="1">
        <a:defRPr sz="1013" kern="1200">
          <a:solidFill>
            <a:schemeClr val="tx1"/>
          </a:solidFill>
          <a:latin typeface="+mn-lt"/>
          <a:ea typeface="+mn-ea"/>
          <a:cs typeface="+mn-cs"/>
        </a:defRPr>
      </a:lvl3pPr>
      <a:lvl4pPr marL="787043" algn="l" defTabSz="524695" rtl="0" eaLnBrk="1" latinLnBrk="0" hangingPunct="1">
        <a:defRPr sz="1013" kern="1200">
          <a:solidFill>
            <a:schemeClr val="tx1"/>
          </a:solidFill>
          <a:latin typeface="+mn-lt"/>
          <a:ea typeface="+mn-ea"/>
          <a:cs typeface="+mn-cs"/>
        </a:defRPr>
      </a:lvl4pPr>
      <a:lvl5pPr marL="1049391" algn="l" defTabSz="524695" rtl="0" eaLnBrk="1" latinLnBrk="0" hangingPunct="1">
        <a:defRPr sz="1013" kern="1200">
          <a:solidFill>
            <a:schemeClr val="tx1"/>
          </a:solidFill>
          <a:latin typeface="+mn-lt"/>
          <a:ea typeface="+mn-ea"/>
          <a:cs typeface="+mn-cs"/>
        </a:defRPr>
      </a:lvl5pPr>
      <a:lvl6pPr marL="1311739" algn="l" defTabSz="524695" rtl="0" eaLnBrk="1" latinLnBrk="0" hangingPunct="1">
        <a:defRPr sz="1013" kern="1200">
          <a:solidFill>
            <a:schemeClr val="tx1"/>
          </a:solidFill>
          <a:latin typeface="+mn-lt"/>
          <a:ea typeface="+mn-ea"/>
          <a:cs typeface="+mn-cs"/>
        </a:defRPr>
      </a:lvl6pPr>
      <a:lvl7pPr marL="1574086" algn="l" defTabSz="524695" rtl="0" eaLnBrk="1" latinLnBrk="0" hangingPunct="1">
        <a:defRPr sz="1013" kern="1200">
          <a:solidFill>
            <a:schemeClr val="tx1"/>
          </a:solidFill>
          <a:latin typeface="+mn-lt"/>
          <a:ea typeface="+mn-ea"/>
          <a:cs typeface="+mn-cs"/>
        </a:defRPr>
      </a:lvl7pPr>
      <a:lvl8pPr marL="1836434" algn="l" defTabSz="524695" rtl="0" eaLnBrk="1" latinLnBrk="0" hangingPunct="1">
        <a:defRPr sz="1013" kern="1200">
          <a:solidFill>
            <a:schemeClr val="tx1"/>
          </a:solidFill>
          <a:latin typeface="+mn-lt"/>
          <a:ea typeface="+mn-ea"/>
          <a:cs typeface="+mn-cs"/>
        </a:defRPr>
      </a:lvl8pPr>
      <a:lvl9pPr marL="2098782" algn="l" defTabSz="524695"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07" userDrawn="1">
          <p15:clr>
            <a:srgbClr val="C35EA4"/>
          </p15:clr>
        </p15:guide>
        <p15:guide id="17" pos="4114" userDrawn="1">
          <p15:clr>
            <a:srgbClr val="C35EA4"/>
          </p15:clr>
        </p15:guide>
        <p15:guide id="25" orient="horz" pos="533" userDrawn="1">
          <p15:clr>
            <a:srgbClr val="C35EA4"/>
          </p15:clr>
        </p15:guide>
        <p15:guide id="26" orient="horz" pos="5704" userDrawn="1">
          <p15:clr>
            <a:srgbClr val="C35EA4"/>
          </p15:clr>
        </p15:guide>
        <p15:guide id="27" orient="horz" pos="266" userDrawn="1">
          <p15:clr>
            <a:srgbClr val="A4A3A4"/>
          </p15:clr>
        </p15:guide>
        <p15:guide id="28" pos="104" userDrawn="1">
          <p15:clr>
            <a:srgbClr val="A4A3A4"/>
          </p15:clr>
        </p15:guide>
        <p15:guide id="29" orient="horz" pos="5973" userDrawn="1">
          <p15:clr>
            <a:srgbClr val="A4A3A4"/>
          </p15:clr>
        </p15:guide>
        <p15:guide id="30" pos="4216" userDrawn="1">
          <p15:clr>
            <a:srgbClr val="A4A3A4"/>
          </p15:clr>
        </p15:guide>
        <p15:guide id="31" pos="2160" userDrawn="1">
          <p15:clr>
            <a:srgbClr val="F26B43"/>
          </p15:clr>
        </p15:guide>
        <p15:guide id="32" pos="280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37.xml"/><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6.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6.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EA47C-DF27-17B4-186C-28A6C2381B40}"/>
              </a:ext>
            </a:extLst>
          </p:cNvPr>
          <p:cNvSpPr>
            <a:spLocks noGrp="1"/>
          </p:cNvSpPr>
          <p:nvPr>
            <p:ph type="title"/>
          </p:nvPr>
        </p:nvSpPr>
        <p:spPr>
          <a:xfrm>
            <a:off x="594324" y="1035024"/>
            <a:ext cx="2834676" cy="943244"/>
          </a:xfrm>
        </p:spPr>
        <p:txBody>
          <a:bodyPr wrap="square" lIns="0" tIns="40341" rIns="80682" bIns="40341" anchor="b" anchorCtr="0">
            <a:spAutoFit/>
          </a:bodyPr>
          <a:lstStyle/>
          <a:p>
            <a:r>
              <a:rPr lang="en-US" sz="2800" dirty="0">
                <a:cs typeface="Segoe UI"/>
              </a:rPr>
              <a:t>Envisioning the </a:t>
            </a:r>
            <a:r>
              <a:rPr lang="en-US" sz="2800">
                <a:cs typeface="Segoe UI"/>
              </a:rPr>
              <a:t>frontier of work</a:t>
            </a:r>
            <a:endParaRPr lang="en-US" sz="2800" dirty="0"/>
          </a:p>
        </p:txBody>
      </p:sp>
      <p:sp>
        <p:nvSpPr>
          <p:cNvPr id="3" name="Text Placeholder 2">
            <a:extLst>
              <a:ext uri="{FF2B5EF4-FFF2-40B4-BE49-F238E27FC236}">
                <a16:creationId xmlns:a16="http://schemas.microsoft.com/office/drawing/2014/main" id="{DE349621-565B-E2C0-4F39-8E46463B1C51}"/>
              </a:ext>
            </a:extLst>
          </p:cNvPr>
          <p:cNvSpPr>
            <a:spLocks noGrp="1"/>
          </p:cNvSpPr>
          <p:nvPr>
            <p:ph type="body" sz="quarter" idx="12"/>
          </p:nvPr>
        </p:nvSpPr>
        <p:spPr>
          <a:xfrm>
            <a:off x="590613" y="2162045"/>
            <a:ext cx="2838387" cy="271613"/>
          </a:xfrm>
        </p:spPr>
        <p:txBody>
          <a:bodyPr wrap="square" lIns="0" tIns="0" rIns="0" bIns="0" anchor="t">
            <a:spAutoFit/>
          </a:bodyPr>
          <a:lstStyle/>
          <a:p>
            <a:r>
              <a:rPr lang="en-US" sz="1765">
                <a:cs typeface="Segoe UI"/>
              </a:rPr>
              <a:t>Kickstarter workshop</a:t>
            </a:r>
            <a:endParaRPr lang="en-US" sz="1765"/>
          </a:p>
        </p:txBody>
      </p:sp>
    </p:spTree>
    <p:extLst>
      <p:ext uri="{BB962C8B-B14F-4D97-AF65-F5344CB8AC3E}">
        <p14:creationId xmlns:p14="http://schemas.microsoft.com/office/powerpoint/2010/main" val="1544322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1241-2A7D-55FF-87F0-D2D2868A482C}"/>
              </a:ext>
            </a:extLst>
          </p:cNvPr>
          <p:cNvSpPr>
            <a:spLocks noGrp="1"/>
          </p:cNvSpPr>
          <p:nvPr>
            <p:ph type="title"/>
          </p:nvPr>
        </p:nvSpPr>
        <p:spPr>
          <a:xfrm>
            <a:off x="431438" y="1026094"/>
            <a:ext cx="2834676" cy="1654299"/>
          </a:xfrm>
        </p:spPr>
        <p:txBody>
          <a:bodyPr wrap="square" lIns="0" tIns="45720" rIns="91440" bIns="45720" anchor="b" anchorCtr="0">
            <a:spAutoFit/>
          </a:bodyPr>
          <a:lstStyle/>
          <a:p>
            <a:r>
              <a:rPr lang="en-US" sz="2800">
                <a:cs typeface="Segoe UI"/>
              </a:rPr>
              <a:t>Envisioning the frontier of work</a:t>
            </a:r>
            <a:br>
              <a:rPr lang="en-US" sz="2800" dirty="0"/>
            </a:br>
            <a:br>
              <a:rPr lang="en-US" sz="2800" dirty="0"/>
            </a:br>
            <a:r>
              <a:rPr lang="en-US" sz="1750">
                <a:solidFill>
                  <a:srgbClr val="0070C0"/>
                </a:solidFill>
                <a:cs typeface="Segoe UI"/>
              </a:rPr>
              <a:t>Kickstarter workshop</a:t>
            </a:r>
          </a:p>
        </p:txBody>
      </p:sp>
      <p:sp>
        <p:nvSpPr>
          <p:cNvPr id="6" name="TextBox 5">
            <a:extLst>
              <a:ext uri="{FF2B5EF4-FFF2-40B4-BE49-F238E27FC236}">
                <a16:creationId xmlns:a16="http://schemas.microsoft.com/office/drawing/2014/main" id="{7B05ECE4-B2B6-1468-A2FA-F5285B6F4FDB}"/>
              </a:ext>
            </a:extLst>
          </p:cNvPr>
          <p:cNvSpPr txBox="1"/>
          <p:nvPr/>
        </p:nvSpPr>
        <p:spPr>
          <a:xfrm>
            <a:off x="431438" y="2910327"/>
            <a:ext cx="2834676" cy="6301790"/>
          </a:xfrm>
          <a:prstGeom prst="rect">
            <a:avLst/>
          </a:prstGeom>
          <a:noFill/>
        </p:spPr>
        <p:txBody>
          <a:bodyPr wrap="square" lIns="0" tIns="0" rIns="0" bIns="0" rtlCol="0" anchor="t">
            <a:spAutoFit/>
          </a:bodyPr>
          <a:lstStyle/>
          <a:p>
            <a:r>
              <a:rPr lang="en-US" sz="1412" dirty="0"/>
              <a:t>Welcome to the </a:t>
            </a:r>
            <a:r>
              <a:rPr lang="en-US" sz="1412" i="1" dirty="0"/>
              <a:t>Reimagining Work</a:t>
            </a:r>
            <a:r>
              <a:rPr lang="en-US" sz="1412" dirty="0"/>
              <a:t> workshop.</a:t>
            </a:r>
          </a:p>
          <a:p>
            <a:br>
              <a:rPr lang="en-US" sz="1412" dirty="0"/>
            </a:br>
            <a:r>
              <a:rPr lang="en-US" sz="1412" dirty="0"/>
              <a:t>This session is designed to help you step back from tools and solutions, and instead focus on how work actually happens today — across </a:t>
            </a:r>
            <a:r>
              <a:rPr lang="en-US" sz="1412" dirty="0">
                <a:latin typeface="+mj-lt"/>
              </a:rPr>
              <a:t>roles, processes, and moments of innovation.</a:t>
            </a:r>
          </a:p>
          <a:p>
            <a:endParaRPr lang="en-US" sz="1412" dirty="0"/>
          </a:p>
          <a:p>
            <a:r>
              <a:rPr lang="en-US" sz="1412" dirty="0"/>
              <a:t>Rather than starting with technology, we start with reality:</a:t>
            </a:r>
          </a:p>
          <a:p>
            <a:pPr marL="252146" indent="-252146">
              <a:buFont typeface="Arial" panose="020B0604020202020204" pitchFamily="34" charset="0"/>
              <a:buChar char="•"/>
            </a:pPr>
            <a:r>
              <a:rPr lang="en-US" sz="1412" dirty="0"/>
              <a:t>How people spend their time</a:t>
            </a:r>
          </a:p>
          <a:p>
            <a:pPr marL="252146" indent="-252146">
              <a:buFont typeface="Arial" panose="020B0604020202020204" pitchFamily="34" charset="0"/>
              <a:buChar char="•"/>
            </a:pPr>
            <a:r>
              <a:rPr lang="en-US" sz="1412" dirty="0"/>
              <a:t>Where friction, delays, and workarounds exist</a:t>
            </a:r>
          </a:p>
          <a:p>
            <a:pPr marL="252146" indent="-252146">
              <a:buFont typeface="Arial" panose="020B0604020202020204" pitchFamily="34" charset="0"/>
              <a:buChar char="•"/>
            </a:pPr>
            <a:r>
              <a:rPr lang="en-US" sz="1412" dirty="0"/>
              <a:t>Where automation and AI could create meaningful improvement</a:t>
            </a:r>
          </a:p>
          <a:p>
            <a:br>
              <a:rPr lang="en-US" sz="1412" dirty="0"/>
            </a:br>
            <a:r>
              <a:rPr lang="en-US" sz="1412" dirty="0"/>
              <a:t>During the workshop, you will:</a:t>
            </a:r>
          </a:p>
          <a:p>
            <a:pPr marL="252146" indent="-252146">
              <a:buFont typeface="Arial" panose="020B0604020202020204" pitchFamily="34" charset="0"/>
              <a:buChar char="•"/>
            </a:pPr>
            <a:r>
              <a:rPr lang="en-US" sz="1412" dirty="0"/>
              <a:t>Examine real roles and processes from your organization</a:t>
            </a:r>
          </a:p>
          <a:p>
            <a:pPr marL="252146" indent="-252146">
              <a:buFont typeface="Arial" panose="020B0604020202020204" pitchFamily="34" charset="0"/>
              <a:buChar char="•"/>
            </a:pPr>
            <a:r>
              <a:rPr lang="en-US" sz="1412" dirty="0"/>
              <a:t>Identify friction points that matter</a:t>
            </a:r>
          </a:p>
          <a:p>
            <a:pPr marL="252146" indent="-252146">
              <a:buFont typeface="Arial" panose="020B0604020202020204" pitchFamily="34" charset="0"/>
              <a:buChar char="•"/>
            </a:pPr>
            <a:r>
              <a:rPr lang="en-US" sz="1412" dirty="0"/>
              <a:t>Explore how AI agents could augment work, not just automate tasks</a:t>
            </a:r>
          </a:p>
          <a:p>
            <a:pPr marL="252146" indent="-252146">
              <a:buFont typeface="Arial" panose="020B0604020202020204" pitchFamily="34" charset="0"/>
              <a:buChar char="•"/>
            </a:pPr>
            <a:r>
              <a:rPr lang="en-US" sz="1412" dirty="0"/>
              <a:t>Translate ideas into clear, high-value use cases</a:t>
            </a:r>
          </a:p>
        </p:txBody>
      </p:sp>
    </p:spTree>
    <p:extLst>
      <p:ext uri="{BB962C8B-B14F-4D97-AF65-F5344CB8AC3E}">
        <p14:creationId xmlns:p14="http://schemas.microsoft.com/office/powerpoint/2010/main" val="3465559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B6A40-A24C-E3A2-C3D7-677B7CC9BAA9}"/>
              </a:ext>
            </a:extLst>
          </p:cNvPr>
          <p:cNvSpPr>
            <a:spLocks noGrp="1"/>
          </p:cNvSpPr>
          <p:nvPr>
            <p:ph type="title"/>
          </p:nvPr>
        </p:nvSpPr>
        <p:spPr>
          <a:xfrm>
            <a:off x="336794" y="755687"/>
            <a:ext cx="2761811" cy="403957"/>
          </a:xfrm>
        </p:spPr>
        <p:txBody>
          <a:bodyPr/>
          <a:lstStyle/>
          <a:p>
            <a:r>
              <a:rPr lang="en-US">
                <a:solidFill>
                  <a:srgbClr val="0070C0"/>
                </a:solidFill>
              </a:rPr>
              <a:t>Kickstarter workshops</a:t>
            </a:r>
          </a:p>
        </p:txBody>
      </p:sp>
      <p:sp>
        <p:nvSpPr>
          <p:cNvPr id="5" name="TextBox 4">
            <a:extLst>
              <a:ext uri="{FF2B5EF4-FFF2-40B4-BE49-F238E27FC236}">
                <a16:creationId xmlns:a16="http://schemas.microsoft.com/office/drawing/2014/main" id="{EBFFFBD1-821B-EC60-E746-9FFA31C6C033}"/>
              </a:ext>
            </a:extLst>
          </p:cNvPr>
          <p:cNvSpPr txBox="1"/>
          <p:nvPr/>
        </p:nvSpPr>
        <p:spPr>
          <a:xfrm>
            <a:off x="324488" y="2425565"/>
            <a:ext cx="3063749" cy="229743"/>
          </a:xfrm>
          <a:prstGeom prst="rect">
            <a:avLst/>
          </a:prstGeom>
          <a:noFill/>
        </p:spPr>
        <p:txBody>
          <a:bodyPr wrap="square" lIns="0" tIns="0" rIns="0" bIns="0" rtlCol="0">
            <a:spAutoFit/>
          </a:bodyPr>
          <a:lstStyle/>
          <a:p>
            <a:r>
              <a:rPr lang="en-US" sz="1493">
                <a:solidFill>
                  <a:srgbClr val="0070C0"/>
                </a:solidFill>
                <a:latin typeface="+mj-lt"/>
              </a:rPr>
              <a:t>Presentation + lab content</a:t>
            </a:r>
          </a:p>
        </p:txBody>
      </p:sp>
      <p:sp>
        <p:nvSpPr>
          <p:cNvPr id="9" name="TextBox 8">
            <a:extLst>
              <a:ext uri="{FF2B5EF4-FFF2-40B4-BE49-F238E27FC236}">
                <a16:creationId xmlns:a16="http://schemas.microsoft.com/office/drawing/2014/main" id="{055E36DF-E7A0-742D-4C12-467A1CADF22C}"/>
              </a:ext>
            </a:extLst>
          </p:cNvPr>
          <p:cNvSpPr txBox="1"/>
          <p:nvPr/>
        </p:nvSpPr>
        <p:spPr>
          <a:xfrm>
            <a:off x="3794251" y="2419283"/>
            <a:ext cx="3063749" cy="229743"/>
          </a:xfrm>
          <a:prstGeom prst="rect">
            <a:avLst/>
          </a:prstGeom>
          <a:noFill/>
        </p:spPr>
        <p:txBody>
          <a:bodyPr wrap="square" lIns="0" tIns="0" rIns="0" bIns="0" rtlCol="0">
            <a:spAutoFit/>
          </a:bodyPr>
          <a:lstStyle/>
          <a:p>
            <a:r>
              <a:rPr lang="en-US" sz="1493">
                <a:solidFill>
                  <a:srgbClr val="0070C0"/>
                </a:solidFill>
                <a:latin typeface="+mj-lt"/>
              </a:rPr>
              <a:t>Principles-focused </a:t>
            </a:r>
          </a:p>
        </p:txBody>
      </p:sp>
      <p:sp>
        <p:nvSpPr>
          <p:cNvPr id="11" name="Rounded Rectangle 10">
            <a:extLst>
              <a:ext uri="{FF2B5EF4-FFF2-40B4-BE49-F238E27FC236}">
                <a16:creationId xmlns:a16="http://schemas.microsoft.com/office/drawing/2014/main" id="{896F563A-37C3-2BE7-7B1D-CE3F6CFD48C0}"/>
              </a:ext>
            </a:extLst>
          </p:cNvPr>
          <p:cNvSpPr/>
          <p:nvPr/>
        </p:nvSpPr>
        <p:spPr bwMode="auto">
          <a:xfrm>
            <a:off x="3794251" y="3083599"/>
            <a:ext cx="2736030" cy="1346460"/>
          </a:xfrm>
          <a:prstGeom prst="roundRect">
            <a:avLst>
              <a:gd name="adj" fmla="val 557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r>
              <a:rPr lang="en-US" sz="1412">
                <a:solidFill>
                  <a:schemeClr val="tx1"/>
                </a:solidFill>
                <a:latin typeface="+mj-lt"/>
                <a:ea typeface="Segoe UI" pitchFamily="34" charset="0"/>
                <a:cs typeface="Segoe UI" pitchFamily="34" charset="0"/>
              </a:rPr>
              <a:t>Principles-driven learning</a:t>
            </a:r>
            <a:endParaRPr lang="en-US" sz="2118">
              <a:solidFill>
                <a:srgbClr val="FFFFFF"/>
              </a:solidFill>
              <a:latin typeface="+mj-lt"/>
              <a:ea typeface="Segoe UI" pitchFamily="34" charset="0"/>
              <a:cs typeface="Segoe UI" pitchFamily="34" charset="0"/>
            </a:endParaRPr>
          </a:p>
        </p:txBody>
      </p:sp>
      <p:sp>
        <p:nvSpPr>
          <p:cNvPr id="14" name="TextBox 13">
            <a:extLst>
              <a:ext uri="{FF2B5EF4-FFF2-40B4-BE49-F238E27FC236}">
                <a16:creationId xmlns:a16="http://schemas.microsoft.com/office/drawing/2014/main" id="{AB2DA3F7-A09D-9392-034E-972C327EAB48}"/>
              </a:ext>
            </a:extLst>
          </p:cNvPr>
          <p:cNvSpPr txBox="1"/>
          <p:nvPr/>
        </p:nvSpPr>
        <p:spPr>
          <a:xfrm>
            <a:off x="3974354" y="3608294"/>
            <a:ext cx="2349059" cy="570156"/>
          </a:xfrm>
          <a:prstGeom prst="rect">
            <a:avLst/>
          </a:prstGeom>
          <a:noFill/>
        </p:spPr>
        <p:txBody>
          <a:bodyPr wrap="square" lIns="0" tIns="0" rIns="0" bIns="0" rtlCol="0">
            <a:spAutoFit/>
          </a:bodyPr>
          <a:lstStyle/>
          <a:p>
            <a:pPr algn="l"/>
            <a:r>
              <a:rPr lang="en-US" sz="1235"/>
              <a:t>Emphasizes understanding the core principles and ‘why’ behind the processes</a:t>
            </a:r>
          </a:p>
        </p:txBody>
      </p:sp>
      <p:sp>
        <p:nvSpPr>
          <p:cNvPr id="15" name="Rounded Rectangle 14">
            <a:extLst>
              <a:ext uri="{FF2B5EF4-FFF2-40B4-BE49-F238E27FC236}">
                <a16:creationId xmlns:a16="http://schemas.microsoft.com/office/drawing/2014/main" id="{5A2C12A7-11EE-CA9E-275A-F247D6607CC9}"/>
              </a:ext>
            </a:extLst>
          </p:cNvPr>
          <p:cNvSpPr/>
          <p:nvPr/>
        </p:nvSpPr>
        <p:spPr bwMode="auto">
          <a:xfrm>
            <a:off x="3794251" y="4720022"/>
            <a:ext cx="2736030" cy="1893954"/>
          </a:xfrm>
          <a:prstGeom prst="roundRect">
            <a:avLst>
              <a:gd name="adj" fmla="val 557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r>
              <a:rPr lang="en-US" sz="1412">
                <a:solidFill>
                  <a:schemeClr val="tx1"/>
                </a:solidFill>
                <a:latin typeface="+mj-lt"/>
                <a:ea typeface="Segoe UI" pitchFamily="34" charset="0"/>
                <a:cs typeface="Segoe UI" pitchFamily="34" charset="0"/>
              </a:rPr>
              <a:t>Collaborative and conversation heavy</a:t>
            </a:r>
            <a:endParaRPr lang="en-US" sz="2118">
              <a:solidFill>
                <a:srgbClr val="FFFFFF"/>
              </a:solidFill>
              <a:latin typeface="+mj-lt"/>
              <a:ea typeface="Segoe UI" pitchFamily="34" charset="0"/>
              <a:cs typeface="Segoe UI" pitchFamily="34" charset="0"/>
            </a:endParaRPr>
          </a:p>
        </p:txBody>
      </p:sp>
      <p:sp>
        <p:nvSpPr>
          <p:cNvPr id="16" name="Rounded Rectangle 15">
            <a:extLst>
              <a:ext uri="{FF2B5EF4-FFF2-40B4-BE49-F238E27FC236}">
                <a16:creationId xmlns:a16="http://schemas.microsoft.com/office/drawing/2014/main" id="{1D7632CA-15A3-AAF8-863A-177894BF5280}"/>
              </a:ext>
            </a:extLst>
          </p:cNvPr>
          <p:cNvSpPr/>
          <p:nvPr/>
        </p:nvSpPr>
        <p:spPr bwMode="auto">
          <a:xfrm>
            <a:off x="3794251" y="6903938"/>
            <a:ext cx="2736030" cy="2140390"/>
          </a:xfrm>
          <a:prstGeom prst="roundRect">
            <a:avLst>
              <a:gd name="adj" fmla="val 557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r>
              <a:rPr lang="en-US" sz="1412">
                <a:solidFill>
                  <a:schemeClr val="tx1"/>
                </a:solidFill>
                <a:latin typeface="+mj-lt"/>
                <a:ea typeface="Segoe UI" pitchFamily="34" charset="0"/>
                <a:cs typeface="Segoe UI" pitchFamily="34" charset="0"/>
              </a:rPr>
              <a:t>Minimal lab, maximum reflection</a:t>
            </a:r>
            <a:endParaRPr lang="en-US" sz="2118">
              <a:solidFill>
                <a:srgbClr val="FFFFFF"/>
              </a:solidFill>
              <a:latin typeface="+mj-lt"/>
              <a:ea typeface="Segoe UI" pitchFamily="34" charset="0"/>
              <a:cs typeface="Segoe UI" pitchFamily="34" charset="0"/>
            </a:endParaRPr>
          </a:p>
        </p:txBody>
      </p:sp>
      <p:sp>
        <p:nvSpPr>
          <p:cNvPr id="18" name="TextBox 17">
            <a:extLst>
              <a:ext uri="{FF2B5EF4-FFF2-40B4-BE49-F238E27FC236}">
                <a16:creationId xmlns:a16="http://schemas.microsoft.com/office/drawing/2014/main" id="{F4C7A92A-C370-B589-F8F2-CA3E12309FF2}"/>
              </a:ext>
            </a:extLst>
          </p:cNvPr>
          <p:cNvSpPr txBox="1"/>
          <p:nvPr/>
        </p:nvSpPr>
        <p:spPr>
          <a:xfrm>
            <a:off x="3522561" y="5403765"/>
            <a:ext cx="2977030" cy="1042593"/>
          </a:xfrm>
          <a:prstGeom prst="rect">
            <a:avLst/>
          </a:prstGeom>
          <a:noFill/>
        </p:spPr>
        <p:txBody>
          <a:bodyPr wrap="square">
            <a:spAutoFit/>
          </a:bodyPr>
          <a:lstStyle/>
          <a:p>
            <a:pPr marL="403418" lvl="1"/>
            <a:r>
              <a:rPr lang="en-US" sz="1235"/>
              <a:t>Sessions center around group discussions, encouraging participants to share perspectives and explore topics deeply together.</a:t>
            </a:r>
          </a:p>
        </p:txBody>
      </p:sp>
      <p:sp>
        <p:nvSpPr>
          <p:cNvPr id="20" name="TextBox 19">
            <a:extLst>
              <a:ext uri="{FF2B5EF4-FFF2-40B4-BE49-F238E27FC236}">
                <a16:creationId xmlns:a16="http://schemas.microsoft.com/office/drawing/2014/main" id="{7519E4EA-0A20-07D4-3CDB-FDAA4BA40B69}"/>
              </a:ext>
            </a:extLst>
          </p:cNvPr>
          <p:cNvSpPr txBox="1"/>
          <p:nvPr/>
        </p:nvSpPr>
        <p:spPr>
          <a:xfrm>
            <a:off x="3974354" y="7681558"/>
            <a:ext cx="2349059" cy="1232645"/>
          </a:xfrm>
          <a:prstGeom prst="rect">
            <a:avLst/>
          </a:prstGeom>
          <a:noFill/>
        </p:spPr>
        <p:txBody>
          <a:bodyPr wrap="square">
            <a:spAutoFit/>
          </a:bodyPr>
          <a:lstStyle/>
          <a:p>
            <a:r>
              <a:rPr lang="en-US" sz="1235"/>
              <a:t>Rather than focusing on hands-on-labs, this workshop prioritizes reflective exercises and activities that encourage participants to think critically about real-world </a:t>
            </a:r>
          </a:p>
        </p:txBody>
      </p:sp>
      <p:sp>
        <p:nvSpPr>
          <p:cNvPr id="21" name="Rounded Rectangle 20">
            <a:extLst>
              <a:ext uri="{FF2B5EF4-FFF2-40B4-BE49-F238E27FC236}">
                <a16:creationId xmlns:a16="http://schemas.microsoft.com/office/drawing/2014/main" id="{EE05C565-F057-F73F-293B-33AD7D7C0EA0}"/>
              </a:ext>
            </a:extLst>
          </p:cNvPr>
          <p:cNvSpPr/>
          <p:nvPr/>
        </p:nvSpPr>
        <p:spPr bwMode="auto">
          <a:xfrm>
            <a:off x="324488" y="3083598"/>
            <a:ext cx="2736030" cy="1609846"/>
          </a:xfrm>
          <a:prstGeom prst="roundRect">
            <a:avLst>
              <a:gd name="adj" fmla="val 557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r>
              <a:rPr lang="en-US" sz="1412">
                <a:solidFill>
                  <a:schemeClr val="tx1"/>
                </a:solidFill>
                <a:latin typeface="+mj-lt"/>
                <a:ea typeface="Segoe UI" pitchFamily="34" charset="0"/>
                <a:cs typeface="Segoe UI" pitchFamily="34" charset="0"/>
              </a:rPr>
              <a:t>Balanced learning approach</a:t>
            </a:r>
            <a:endParaRPr lang="en-US" sz="2118">
              <a:solidFill>
                <a:srgbClr val="FFFFFF"/>
              </a:solidFill>
              <a:latin typeface="+mj-lt"/>
              <a:ea typeface="Segoe UI" pitchFamily="34" charset="0"/>
              <a:cs typeface="Segoe UI" pitchFamily="34" charset="0"/>
            </a:endParaRPr>
          </a:p>
        </p:txBody>
      </p:sp>
      <p:sp>
        <p:nvSpPr>
          <p:cNvPr id="23" name="TextBox 22">
            <a:extLst>
              <a:ext uri="{FF2B5EF4-FFF2-40B4-BE49-F238E27FC236}">
                <a16:creationId xmlns:a16="http://schemas.microsoft.com/office/drawing/2014/main" id="{63E5D115-4A4B-C8E0-6D41-BF685470B8DD}"/>
              </a:ext>
            </a:extLst>
          </p:cNvPr>
          <p:cNvSpPr txBox="1"/>
          <p:nvPr/>
        </p:nvSpPr>
        <p:spPr>
          <a:xfrm>
            <a:off x="0" y="3608295"/>
            <a:ext cx="3003176" cy="852541"/>
          </a:xfrm>
          <a:prstGeom prst="rect">
            <a:avLst/>
          </a:prstGeom>
          <a:noFill/>
        </p:spPr>
        <p:txBody>
          <a:bodyPr wrap="square">
            <a:spAutoFit/>
          </a:bodyPr>
          <a:lstStyle/>
          <a:p>
            <a:pPr marL="403418" lvl="1"/>
            <a:r>
              <a:rPr lang="en-US" sz="1235"/>
              <a:t>A mix of presentation-heavy segments and hands-on labs offer conceptual understanding and practical application.</a:t>
            </a:r>
          </a:p>
        </p:txBody>
      </p:sp>
      <p:sp>
        <p:nvSpPr>
          <p:cNvPr id="24" name="Rounded Rectangle 23">
            <a:extLst>
              <a:ext uri="{FF2B5EF4-FFF2-40B4-BE49-F238E27FC236}">
                <a16:creationId xmlns:a16="http://schemas.microsoft.com/office/drawing/2014/main" id="{80C0B560-3204-2F56-E857-BD0C7D8CCE54}"/>
              </a:ext>
            </a:extLst>
          </p:cNvPr>
          <p:cNvSpPr/>
          <p:nvPr/>
        </p:nvSpPr>
        <p:spPr bwMode="auto">
          <a:xfrm>
            <a:off x="324488" y="4974849"/>
            <a:ext cx="2736030" cy="1929090"/>
          </a:xfrm>
          <a:prstGeom prst="roundRect">
            <a:avLst>
              <a:gd name="adj" fmla="val 557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r>
              <a:rPr lang="en-US" sz="1412">
                <a:solidFill>
                  <a:schemeClr val="tx1"/>
                </a:solidFill>
                <a:latin typeface="+mj-lt"/>
                <a:ea typeface="Segoe UI" pitchFamily="34" charset="0"/>
                <a:cs typeface="Segoe UI" pitchFamily="34" charset="0"/>
              </a:rPr>
              <a:t>Structured, step-by-step guides</a:t>
            </a:r>
            <a:endParaRPr lang="en-US" sz="2118">
              <a:solidFill>
                <a:srgbClr val="FFFFFF"/>
              </a:solidFill>
              <a:latin typeface="+mj-lt"/>
              <a:ea typeface="Segoe UI" pitchFamily="34" charset="0"/>
              <a:cs typeface="Segoe UI" pitchFamily="34" charset="0"/>
            </a:endParaRPr>
          </a:p>
        </p:txBody>
      </p:sp>
      <p:sp>
        <p:nvSpPr>
          <p:cNvPr id="25" name="TextBox 24">
            <a:extLst>
              <a:ext uri="{FF2B5EF4-FFF2-40B4-BE49-F238E27FC236}">
                <a16:creationId xmlns:a16="http://schemas.microsoft.com/office/drawing/2014/main" id="{16D25374-0D70-6C53-800D-815311CF177B}"/>
              </a:ext>
            </a:extLst>
          </p:cNvPr>
          <p:cNvSpPr txBox="1"/>
          <p:nvPr/>
        </p:nvSpPr>
        <p:spPr>
          <a:xfrm>
            <a:off x="522941" y="5783758"/>
            <a:ext cx="2315883" cy="1099660"/>
          </a:xfrm>
          <a:prstGeom prst="rect">
            <a:avLst/>
          </a:prstGeom>
          <a:noFill/>
        </p:spPr>
        <p:txBody>
          <a:bodyPr wrap="square" lIns="0" tIns="0" rIns="0" bIns="0" rtlCol="0">
            <a:spAutoFit/>
          </a:bodyPr>
          <a:lstStyle/>
          <a:p>
            <a:r>
              <a:rPr lang="en-US" sz="1235"/>
              <a:t>Participants receive clear instructions for each lab task allowing them to follow along at their own pace with guided support.</a:t>
            </a:r>
          </a:p>
          <a:p>
            <a:pPr algn="l"/>
            <a:endParaRPr lang="en-US" sz="971" err="1"/>
          </a:p>
        </p:txBody>
      </p:sp>
      <p:sp>
        <p:nvSpPr>
          <p:cNvPr id="26" name="Rounded Rectangle 25">
            <a:extLst>
              <a:ext uri="{FF2B5EF4-FFF2-40B4-BE49-F238E27FC236}">
                <a16:creationId xmlns:a16="http://schemas.microsoft.com/office/drawing/2014/main" id="{2EC19DA1-3315-F37A-D030-F628590D4EF4}"/>
              </a:ext>
            </a:extLst>
          </p:cNvPr>
          <p:cNvSpPr/>
          <p:nvPr/>
        </p:nvSpPr>
        <p:spPr bwMode="auto">
          <a:xfrm>
            <a:off x="326911" y="7115239"/>
            <a:ext cx="2736030" cy="1929090"/>
          </a:xfrm>
          <a:prstGeom prst="roundRect">
            <a:avLst>
              <a:gd name="adj" fmla="val 557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r>
              <a:rPr lang="en-US" sz="1412">
                <a:solidFill>
                  <a:schemeClr val="tx1"/>
                </a:solidFill>
                <a:latin typeface="+mj-lt"/>
                <a:ea typeface="Segoe UI" pitchFamily="34" charset="0"/>
                <a:cs typeface="Segoe UI" pitchFamily="34" charset="0"/>
              </a:rPr>
              <a:t>Reinforces key concepts</a:t>
            </a:r>
            <a:endParaRPr lang="en-US" sz="2118">
              <a:solidFill>
                <a:srgbClr val="FFFFFF"/>
              </a:solidFill>
              <a:latin typeface="+mj-lt"/>
              <a:ea typeface="Segoe UI" pitchFamily="34" charset="0"/>
              <a:cs typeface="Segoe UI" pitchFamily="34" charset="0"/>
            </a:endParaRPr>
          </a:p>
        </p:txBody>
      </p:sp>
      <p:sp>
        <p:nvSpPr>
          <p:cNvPr id="28" name="TextBox 27">
            <a:extLst>
              <a:ext uri="{FF2B5EF4-FFF2-40B4-BE49-F238E27FC236}">
                <a16:creationId xmlns:a16="http://schemas.microsoft.com/office/drawing/2014/main" id="{918288F8-D431-971B-C503-AEBE4FCECF10}"/>
              </a:ext>
            </a:extLst>
          </p:cNvPr>
          <p:cNvSpPr txBox="1"/>
          <p:nvPr/>
        </p:nvSpPr>
        <p:spPr>
          <a:xfrm>
            <a:off x="41492" y="7712848"/>
            <a:ext cx="2797331" cy="1042593"/>
          </a:xfrm>
          <a:prstGeom prst="rect">
            <a:avLst/>
          </a:prstGeom>
          <a:noFill/>
        </p:spPr>
        <p:txBody>
          <a:bodyPr wrap="square">
            <a:spAutoFit/>
          </a:bodyPr>
          <a:lstStyle/>
          <a:p>
            <a:pPr marL="403418" lvl="1"/>
            <a:r>
              <a:rPr lang="en-US" sz="1235"/>
              <a:t>The flow from theory to proactive reinforces learning, helping participants see immediate application of what they just learned.</a:t>
            </a:r>
          </a:p>
        </p:txBody>
      </p:sp>
      <p:sp>
        <p:nvSpPr>
          <p:cNvPr id="29" name="TextBox 28">
            <a:extLst>
              <a:ext uri="{FF2B5EF4-FFF2-40B4-BE49-F238E27FC236}">
                <a16:creationId xmlns:a16="http://schemas.microsoft.com/office/drawing/2014/main" id="{2A17F52B-1C0E-A8AB-183C-516562965155}"/>
              </a:ext>
            </a:extLst>
          </p:cNvPr>
          <p:cNvSpPr txBox="1"/>
          <p:nvPr/>
        </p:nvSpPr>
        <p:spPr>
          <a:xfrm>
            <a:off x="324488" y="1323304"/>
            <a:ext cx="6175103" cy="760208"/>
          </a:xfrm>
          <a:prstGeom prst="rect">
            <a:avLst/>
          </a:prstGeom>
          <a:noFill/>
        </p:spPr>
        <p:txBody>
          <a:bodyPr wrap="square" lIns="0" tIns="0" rIns="0" bIns="0" rtlCol="0">
            <a:spAutoFit/>
          </a:bodyPr>
          <a:lstStyle/>
          <a:p>
            <a:pPr algn="l"/>
            <a:r>
              <a:rPr lang="en-US" sz="1235"/>
              <a:t>Workshops generally follow either a </a:t>
            </a:r>
            <a:r>
              <a:rPr lang="en-US" sz="1235">
                <a:latin typeface="+mj-lt"/>
              </a:rPr>
              <a:t>presentation + lab format, or a principles-based approach</a:t>
            </a:r>
            <a:r>
              <a:rPr lang="en-US" sz="1235"/>
              <a:t>. Kickstarter workshops use the principles-based method, focusing on understanding the ‘why’ through discussions – ideal for fostering strategic, adaptable insights.</a:t>
            </a:r>
          </a:p>
        </p:txBody>
      </p:sp>
    </p:spTree>
    <p:extLst>
      <p:ext uri="{BB962C8B-B14F-4D97-AF65-F5344CB8AC3E}">
        <p14:creationId xmlns:p14="http://schemas.microsoft.com/office/powerpoint/2010/main" val="281177609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3F5"/>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0854DC-F867-ECA1-45DD-775384191BF9}"/>
              </a:ext>
            </a:extLst>
          </p:cNvPr>
          <p:cNvSpPr/>
          <p:nvPr/>
        </p:nvSpPr>
        <p:spPr bwMode="auto">
          <a:xfrm>
            <a:off x="227837" y="1866615"/>
            <a:ext cx="6353740" cy="2246244"/>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defTabSz="524544" fontAlgn="base">
              <a:lnSpc>
                <a:spcPct val="114000"/>
              </a:lnSpc>
              <a:spcBef>
                <a:spcPct val="0"/>
              </a:spcBef>
              <a:spcAft>
                <a:spcPts val="529"/>
              </a:spcAft>
              <a:defRPr/>
            </a:pPr>
            <a:r>
              <a:rPr lang="en-US" sz="1765" dirty="0">
                <a:solidFill>
                  <a:srgbClr val="2F2F2F"/>
                </a:solidFill>
                <a:latin typeface="+mj-lt"/>
                <a:ea typeface="Segoe UI" pitchFamily="34" charset="0"/>
                <a:cs typeface="Segoe UI" pitchFamily="34" charset="0"/>
              </a:rPr>
              <a:t>The reality of work</a:t>
            </a:r>
          </a:p>
          <a:p>
            <a:pPr defTabSz="524544" fontAlgn="base">
              <a:lnSpc>
                <a:spcPct val="114000"/>
              </a:lnSpc>
              <a:spcBef>
                <a:spcPct val="0"/>
              </a:spcBef>
              <a:spcAft>
                <a:spcPts val="529"/>
              </a:spcAft>
              <a:defRPr/>
            </a:pPr>
            <a:r>
              <a:rPr lang="en-US" sz="1493" dirty="0">
                <a:solidFill>
                  <a:schemeClr val="tx1"/>
                </a:solidFill>
              </a:rPr>
              <a:t>Before redesigning processes or deploying AI agents, it helps to understand where work time actually goes. These statistics reveal a consistent pattern: knowledge workers spend far more time on coordination, repetition, and friction than on the skilled work they were hired to do. This is the opportunity space for intelligent automation.</a:t>
            </a:r>
          </a:p>
          <a:p>
            <a:pPr defTabSz="524544" fontAlgn="base">
              <a:lnSpc>
                <a:spcPct val="114000"/>
              </a:lnSpc>
              <a:spcBef>
                <a:spcPct val="0"/>
              </a:spcBef>
              <a:spcAft>
                <a:spcPts val="529"/>
              </a:spcAft>
              <a:defRPr/>
            </a:pPr>
            <a:endParaRPr lang="en-US" sz="1412" dirty="0">
              <a:solidFill>
                <a:schemeClr val="tx1"/>
              </a:solidFill>
              <a:latin typeface="+mj-lt"/>
            </a:endParaRPr>
          </a:p>
          <a:p>
            <a:pPr defTabSz="524544" fontAlgn="base">
              <a:lnSpc>
                <a:spcPct val="114000"/>
              </a:lnSpc>
              <a:spcBef>
                <a:spcPct val="0"/>
              </a:spcBef>
              <a:spcAft>
                <a:spcPts val="529"/>
              </a:spcAft>
              <a:defRPr/>
            </a:pPr>
            <a:endParaRPr lang="en-US" sz="1059" dirty="0">
              <a:solidFill>
                <a:srgbClr val="2F2F2F"/>
              </a:solidFill>
              <a:ea typeface="Segoe UI" pitchFamily="34" charset="0"/>
              <a:cs typeface="Segoe UI" pitchFamily="34" charset="0"/>
            </a:endParaRPr>
          </a:p>
        </p:txBody>
      </p:sp>
      <p:sp>
        <p:nvSpPr>
          <p:cNvPr id="6" name="Rectangle 5">
            <a:extLst>
              <a:ext uri="{FF2B5EF4-FFF2-40B4-BE49-F238E27FC236}">
                <a16:creationId xmlns:a16="http://schemas.microsoft.com/office/drawing/2014/main" id="{4D4177B4-B392-7234-BCFD-FC334A4AE693}"/>
              </a:ext>
            </a:extLst>
          </p:cNvPr>
          <p:cNvSpPr/>
          <p:nvPr/>
        </p:nvSpPr>
        <p:spPr bwMode="auto">
          <a:xfrm>
            <a:off x="3998099" y="4225419"/>
            <a:ext cx="2694215" cy="727581"/>
          </a:xfrm>
          <a:custGeom>
            <a:avLst/>
            <a:gdLst>
              <a:gd name="connsiteX0" fmla="*/ 0 w 3331029"/>
              <a:gd name="connsiteY0" fmla="*/ 0 h 4661807"/>
              <a:gd name="connsiteX1" fmla="*/ 3331029 w 3331029"/>
              <a:gd name="connsiteY1" fmla="*/ 0 h 4661807"/>
              <a:gd name="connsiteX2" fmla="*/ 3331029 w 3331029"/>
              <a:gd name="connsiteY2" fmla="*/ 4661807 h 4661807"/>
              <a:gd name="connsiteX3" fmla="*/ 0 w 3331029"/>
              <a:gd name="connsiteY3" fmla="*/ 4661807 h 4661807"/>
              <a:gd name="connsiteX4" fmla="*/ 0 w 3331029"/>
              <a:gd name="connsiteY4" fmla="*/ 0 h 4661807"/>
              <a:gd name="connsiteX0" fmla="*/ 0 w 3477986"/>
              <a:gd name="connsiteY0" fmla="*/ 0 h 4669971"/>
              <a:gd name="connsiteX1" fmla="*/ 3477986 w 3477986"/>
              <a:gd name="connsiteY1" fmla="*/ 8164 h 4669971"/>
              <a:gd name="connsiteX2" fmla="*/ 3477986 w 3477986"/>
              <a:gd name="connsiteY2" fmla="*/ 4669971 h 4669971"/>
              <a:gd name="connsiteX3" fmla="*/ 146957 w 3477986"/>
              <a:gd name="connsiteY3" fmla="*/ 4669971 h 4669971"/>
              <a:gd name="connsiteX4" fmla="*/ 0 w 3477986"/>
              <a:gd name="connsiteY4" fmla="*/ 0 h 4669971"/>
              <a:gd name="connsiteX0" fmla="*/ 0 w 3388179"/>
              <a:gd name="connsiteY0" fmla="*/ 0 h 4661807"/>
              <a:gd name="connsiteX1" fmla="*/ 3388179 w 3388179"/>
              <a:gd name="connsiteY1" fmla="*/ 0 h 4661807"/>
              <a:gd name="connsiteX2" fmla="*/ 3388179 w 3388179"/>
              <a:gd name="connsiteY2" fmla="*/ 4661807 h 4661807"/>
              <a:gd name="connsiteX3" fmla="*/ 57150 w 3388179"/>
              <a:gd name="connsiteY3" fmla="*/ 4661807 h 4661807"/>
              <a:gd name="connsiteX4" fmla="*/ 0 w 3388179"/>
              <a:gd name="connsiteY4" fmla="*/ 0 h 4661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8179" h="4661807">
                <a:moveTo>
                  <a:pt x="0" y="0"/>
                </a:moveTo>
                <a:lnTo>
                  <a:pt x="3388179" y="0"/>
                </a:lnTo>
                <a:lnTo>
                  <a:pt x="3388179" y="4661807"/>
                </a:lnTo>
                <a:lnTo>
                  <a:pt x="57150" y="4661807"/>
                </a:lnTo>
                <a:lnTo>
                  <a:pt x="0" y="0"/>
                </a:lnTo>
                <a:close/>
              </a:path>
            </a:pathLst>
          </a:cu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defTabSz="524544" fontAlgn="base">
              <a:lnSpc>
                <a:spcPct val="114000"/>
              </a:lnSpc>
              <a:spcBef>
                <a:spcPct val="0"/>
              </a:spcBef>
              <a:spcAft>
                <a:spcPts val="529"/>
              </a:spcAft>
              <a:defRPr/>
            </a:pPr>
            <a:endParaRPr lang="en-US" sz="1412" b="1" dirty="0">
              <a:solidFill>
                <a:srgbClr val="2F2F2F"/>
              </a:solidFill>
              <a:cs typeface="Segoe UI" pitchFamily="34" charset="0"/>
            </a:endParaRPr>
          </a:p>
          <a:p>
            <a:pPr defTabSz="514359">
              <a:lnSpc>
                <a:spcPct val="114000"/>
              </a:lnSpc>
              <a:spcAft>
                <a:spcPts val="529"/>
              </a:spcAft>
              <a:defRPr/>
            </a:pPr>
            <a:endParaRPr lang="en-US" sz="1059" dirty="0">
              <a:solidFill>
                <a:srgbClr val="2F2F2F"/>
              </a:solidFill>
            </a:endParaRPr>
          </a:p>
          <a:p>
            <a:pPr defTabSz="524544" fontAlgn="base">
              <a:lnSpc>
                <a:spcPct val="114000"/>
              </a:lnSpc>
              <a:spcBef>
                <a:spcPct val="0"/>
              </a:spcBef>
              <a:spcAft>
                <a:spcPts val="529"/>
              </a:spcAft>
              <a:defRPr/>
            </a:pPr>
            <a:endParaRPr lang="en-US" sz="1059" dirty="0">
              <a:solidFill>
                <a:srgbClr val="2F2F2F"/>
              </a:solidFill>
              <a:ea typeface="Segoe UI" pitchFamily="34" charset="0"/>
              <a:cs typeface="Segoe UI" pitchFamily="34" charset="0"/>
            </a:endParaRPr>
          </a:p>
        </p:txBody>
      </p:sp>
      <p:sp>
        <p:nvSpPr>
          <p:cNvPr id="8" name="Title 7">
            <a:extLst>
              <a:ext uri="{FF2B5EF4-FFF2-40B4-BE49-F238E27FC236}">
                <a16:creationId xmlns:a16="http://schemas.microsoft.com/office/drawing/2014/main" id="{31ACE0E5-A3E0-DA9D-1DC0-0562B55B26B1}"/>
              </a:ext>
            </a:extLst>
          </p:cNvPr>
          <p:cNvSpPr>
            <a:spLocks noGrp="1"/>
          </p:cNvSpPr>
          <p:nvPr>
            <p:ph type="title"/>
          </p:nvPr>
        </p:nvSpPr>
        <p:spPr>
          <a:xfrm>
            <a:off x="298743" y="1069042"/>
            <a:ext cx="3634522" cy="827700"/>
          </a:xfrm>
        </p:spPr>
        <p:txBody>
          <a:bodyPr wrap="square" lIns="0" tIns="40341" rIns="80682" bIns="40341" anchor="t" anchorCtr="0">
            <a:spAutoFit/>
          </a:bodyPr>
          <a:lstStyle/>
          <a:p>
            <a:r>
              <a:rPr lang="en-US" sz="2824" dirty="0">
                <a:solidFill>
                  <a:schemeClr val="tx2"/>
                </a:solidFill>
                <a:latin typeface="Segoe UI Semibold"/>
                <a:cs typeface="Segoe UI"/>
              </a:rPr>
              <a:t>Why we are here…</a:t>
            </a:r>
            <a:br>
              <a:rPr lang="en-US" sz="2824" dirty="0">
                <a:solidFill>
                  <a:schemeClr val="tx2"/>
                </a:solidFill>
                <a:latin typeface="Segoe UI Semibold"/>
                <a:cs typeface="Segoe UI"/>
              </a:rPr>
            </a:br>
            <a:endParaRPr lang="en-US" dirty="0">
              <a:solidFill>
                <a:schemeClr val="tx2"/>
              </a:solidFill>
            </a:endParaRPr>
          </a:p>
        </p:txBody>
      </p:sp>
      <p:sp>
        <p:nvSpPr>
          <p:cNvPr id="5" name="TextBox 4">
            <a:extLst>
              <a:ext uri="{FF2B5EF4-FFF2-40B4-BE49-F238E27FC236}">
                <a16:creationId xmlns:a16="http://schemas.microsoft.com/office/drawing/2014/main" id="{6782993D-7BB5-3653-575F-F66476776489}"/>
              </a:ext>
            </a:extLst>
          </p:cNvPr>
          <p:cNvSpPr txBox="1"/>
          <p:nvPr/>
        </p:nvSpPr>
        <p:spPr>
          <a:xfrm>
            <a:off x="227837" y="4428560"/>
            <a:ext cx="6464478" cy="4202882"/>
          </a:xfrm>
          <a:prstGeom prst="rect">
            <a:avLst/>
          </a:prstGeom>
          <a:noFill/>
        </p:spPr>
        <p:txBody>
          <a:bodyPr wrap="square">
            <a:spAutoFit/>
          </a:bodyPr>
          <a:lstStyle/>
          <a:p>
            <a:pPr>
              <a:spcBef>
                <a:spcPts val="1324"/>
              </a:spcBef>
              <a:spcAft>
                <a:spcPts val="529"/>
              </a:spcAft>
            </a:pPr>
            <a:r>
              <a:rPr lang="en-US" sz="1493" kern="0" dirty="0">
                <a:solidFill>
                  <a:srgbClr val="0078D4"/>
                </a:solidFill>
                <a:latin typeface="+mj-lt"/>
              </a:rPr>
              <a:t>Anatomy of a Role</a:t>
            </a:r>
          </a:p>
          <a:p>
            <a:pPr>
              <a:spcBef>
                <a:spcPts val="882"/>
              </a:spcBef>
              <a:spcAft>
                <a:spcPts val="353"/>
              </a:spcAft>
            </a:pPr>
            <a:r>
              <a:rPr lang="en-US" sz="1412" dirty="0">
                <a:solidFill>
                  <a:srgbClr val="1A1A2E"/>
                </a:solidFill>
                <a:latin typeface="+mj-lt"/>
              </a:rPr>
              <a:t>Tasks</a:t>
            </a:r>
          </a:p>
          <a:p>
            <a:pPr marL="302575" indent="-302575">
              <a:buFont typeface="Arial" panose="020B0604020202020204" pitchFamily="34" charset="0"/>
              <a:buChar char="•"/>
            </a:pPr>
            <a:r>
              <a:rPr lang="en-US" sz="1235" dirty="0">
                <a:ea typeface="Arial" panose="020B0604020202020204" pitchFamily="34" charset="0"/>
              </a:rPr>
              <a:t>Only 26% of time goes to skilled work; 60% to coordination; 14% to strategy (Asana)</a:t>
            </a:r>
          </a:p>
          <a:p>
            <a:pPr marL="302575" indent="-302575">
              <a:buFont typeface="Arial" panose="020B0604020202020204" pitchFamily="34" charset="0"/>
              <a:buChar char="•"/>
            </a:pPr>
            <a:r>
              <a:rPr lang="en-US" sz="1235" dirty="0">
                <a:ea typeface="Arial" panose="020B0604020202020204" pitchFamily="34" charset="0"/>
              </a:rPr>
              <a:t>Just 4% of activities require creativity at median human level (McKinsey)</a:t>
            </a:r>
          </a:p>
          <a:p>
            <a:pPr marL="302575" indent="-302575">
              <a:buFont typeface="Arial" panose="020B0604020202020204" pitchFamily="34" charset="0"/>
              <a:buChar char="•"/>
            </a:pPr>
            <a:r>
              <a:rPr lang="en-US" sz="1235" dirty="0">
                <a:ea typeface="Arial" panose="020B0604020202020204" pitchFamily="34" charset="0"/>
              </a:rPr>
              <a:t>Only 29% require emotional sensing at median human level</a:t>
            </a:r>
          </a:p>
          <a:p>
            <a:pPr>
              <a:spcBef>
                <a:spcPts val="882"/>
              </a:spcBef>
              <a:spcAft>
                <a:spcPts val="353"/>
              </a:spcAft>
            </a:pPr>
            <a:r>
              <a:rPr lang="en-US" sz="1412" dirty="0">
                <a:solidFill>
                  <a:srgbClr val="1A1A2E"/>
                </a:solidFill>
                <a:latin typeface="+mj-lt"/>
              </a:rPr>
              <a:t>Collaboration</a:t>
            </a:r>
          </a:p>
          <a:p>
            <a:pPr marL="302575" indent="-302575">
              <a:buFont typeface="Arial" panose="020B0604020202020204" pitchFamily="34" charset="0"/>
              <a:buChar char="•"/>
            </a:pPr>
            <a:r>
              <a:rPr lang="en-US" sz="1235" dirty="0">
                <a:ea typeface="Arial" panose="020B0604020202020204" pitchFamily="34" charset="0"/>
              </a:rPr>
              <a:t>50%+ of working hours spent collaborating with coworkers (Gensler)</a:t>
            </a:r>
          </a:p>
          <a:p>
            <a:pPr marL="302575" indent="-302575">
              <a:buFont typeface="Arial" panose="020B0604020202020204" pitchFamily="34" charset="0"/>
              <a:buChar char="•"/>
            </a:pPr>
            <a:r>
              <a:rPr lang="en-US" sz="1235" dirty="0">
                <a:ea typeface="Arial" panose="020B0604020202020204" pitchFamily="34" charset="0"/>
              </a:rPr>
              <a:t>Time on collaborative activities has increased 50%+ over two decades (HBR)</a:t>
            </a:r>
          </a:p>
          <a:p>
            <a:pPr marL="302575" indent="-302575">
              <a:buFont typeface="Arial" panose="020B0604020202020204" pitchFamily="34" charset="0"/>
              <a:buChar char="•"/>
            </a:pPr>
            <a:r>
              <a:rPr lang="en-US" sz="1235" dirty="0">
                <a:ea typeface="Arial" panose="020B0604020202020204" pitchFamily="34" charset="0"/>
              </a:rPr>
              <a:t>But 20-35% of value-added collaboration comes from just 3-5% of employees</a:t>
            </a:r>
          </a:p>
          <a:p>
            <a:pPr>
              <a:spcBef>
                <a:spcPts val="882"/>
              </a:spcBef>
              <a:spcAft>
                <a:spcPts val="353"/>
              </a:spcAft>
            </a:pPr>
            <a:r>
              <a:rPr lang="en-US" sz="1412" dirty="0">
                <a:solidFill>
                  <a:srgbClr val="1A1A2E"/>
                </a:solidFill>
                <a:latin typeface="+mj-lt"/>
              </a:rPr>
              <a:t>Friction</a:t>
            </a:r>
          </a:p>
          <a:p>
            <a:pPr marL="302575" indent="-302575">
              <a:buFont typeface="Arial" panose="020B0604020202020204" pitchFamily="34" charset="0"/>
              <a:buChar char="•"/>
            </a:pPr>
            <a:r>
              <a:rPr lang="en-US" sz="1235" dirty="0">
                <a:ea typeface="Arial" panose="020B0604020202020204" pitchFamily="34" charset="0"/>
              </a:rPr>
              <a:t>88% of workers report friction in their environment (Dayforce 2025)</a:t>
            </a:r>
          </a:p>
          <a:p>
            <a:pPr marL="302575" indent="-302575">
              <a:buFont typeface="Arial" panose="020B0604020202020204" pitchFamily="34" charset="0"/>
              <a:buChar char="•"/>
            </a:pPr>
            <a:r>
              <a:rPr lang="en-US" sz="1235" dirty="0">
                <a:ea typeface="Arial" panose="020B0604020202020204" pitchFamily="34" charset="0"/>
              </a:rPr>
              <a:t>2 hours/day wasted trying to work around friction (Gartner)</a:t>
            </a:r>
          </a:p>
          <a:p>
            <a:pPr marL="302575" indent="-302575">
              <a:buFont typeface="Arial" panose="020B0604020202020204" pitchFamily="34" charset="0"/>
              <a:buChar char="•"/>
            </a:pPr>
            <a:r>
              <a:rPr lang="en-US" sz="1235" dirty="0">
                <a:ea typeface="Arial" panose="020B0604020202020204" pitchFamily="34" charset="0"/>
              </a:rPr>
              <a:t>95% say friction makes them feel bad about their job (FOUNT)</a:t>
            </a:r>
          </a:p>
          <a:p>
            <a:pPr>
              <a:spcBef>
                <a:spcPts val="882"/>
              </a:spcBef>
              <a:spcAft>
                <a:spcPts val="353"/>
              </a:spcAft>
            </a:pPr>
            <a:r>
              <a:rPr lang="en-US" sz="1412" dirty="0">
                <a:solidFill>
                  <a:srgbClr val="1A1A2E"/>
                </a:solidFill>
                <a:latin typeface="+mj-lt"/>
              </a:rPr>
              <a:t>Repetition</a:t>
            </a:r>
          </a:p>
          <a:p>
            <a:pPr marL="302575" indent="-302575">
              <a:buFont typeface="Arial" panose="020B0604020202020204" pitchFamily="34" charset="0"/>
              <a:buChar char="•"/>
            </a:pPr>
            <a:r>
              <a:rPr lang="en-US" sz="1235" dirty="0">
                <a:ea typeface="Arial" panose="020B0604020202020204" pitchFamily="34" charset="0"/>
              </a:rPr>
              <a:t>90% of employees feel burdened with boring, recurring tasks (</a:t>
            </a:r>
            <a:r>
              <a:rPr lang="en-US" sz="1235" dirty="0" err="1">
                <a:ea typeface="Arial" panose="020B0604020202020204" pitchFamily="34" charset="0"/>
              </a:rPr>
              <a:t>Clockify</a:t>
            </a:r>
            <a:r>
              <a:rPr lang="en-US" sz="1235" dirty="0">
                <a:ea typeface="Arial" panose="020B0604020202020204" pitchFamily="34" charset="0"/>
              </a:rPr>
              <a:t>)</a:t>
            </a:r>
          </a:p>
          <a:p>
            <a:pPr marL="302575" indent="-302575">
              <a:buFont typeface="Arial" panose="020B0604020202020204" pitchFamily="34" charset="0"/>
              <a:buChar char="•"/>
            </a:pPr>
            <a:r>
              <a:rPr lang="en-US" sz="1235" dirty="0">
                <a:ea typeface="Arial" panose="020B0604020202020204" pitchFamily="34" charset="0"/>
              </a:rPr>
              <a:t>3+ hours/day on automatable tasks — that's 60 hours/month (Automation Anywhere)</a:t>
            </a:r>
          </a:p>
          <a:p>
            <a:pPr marL="302575" indent="-302575">
              <a:buFont typeface="Arial" panose="020B0604020202020204" pitchFamily="34" charset="0"/>
              <a:buChar char="•"/>
            </a:pPr>
            <a:r>
              <a:rPr lang="en-US" sz="1235" dirty="0">
                <a:ea typeface="Arial" panose="020B0604020202020204" pitchFamily="34" charset="0"/>
              </a:rPr>
              <a:t>60% could save 6+ hours/week if repetitive aspects were automated</a:t>
            </a:r>
          </a:p>
        </p:txBody>
      </p:sp>
    </p:spTree>
    <p:extLst>
      <p:ext uri="{BB962C8B-B14F-4D97-AF65-F5344CB8AC3E}">
        <p14:creationId xmlns:p14="http://schemas.microsoft.com/office/powerpoint/2010/main" val="714311270"/>
      </p:ext>
    </p:extLst>
  </p:cSld>
  <p:clrMapOvr>
    <a:masterClrMapping/>
  </p:clrMapOvr>
  <p:transition advTm="67194">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3F5"/>
        </a:solidFill>
        <a:effectLst/>
      </p:bgPr>
    </p:bg>
    <p:spTree>
      <p:nvGrpSpPr>
        <p:cNvPr id="1" name="">
          <a:extLst>
            <a:ext uri="{FF2B5EF4-FFF2-40B4-BE49-F238E27FC236}">
              <a16:creationId xmlns:a16="http://schemas.microsoft.com/office/drawing/2014/main" id="{33143D6E-4988-6651-2159-4AB101FFDCA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FF63420-4BD9-A514-AE79-125B311D0F84}"/>
              </a:ext>
            </a:extLst>
          </p:cNvPr>
          <p:cNvSpPr/>
          <p:nvPr/>
        </p:nvSpPr>
        <p:spPr bwMode="auto">
          <a:xfrm>
            <a:off x="3998099" y="4225419"/>
            <a:ext cx="2694215" cy="727581"/>
          </a:xfrm>
          <a:custGeom>
            <a:avLst/>
            <a:gdLst>
              <a:gd name="connsiteX0" fmla="*/ 0 w 3331029"/>
              <a:gd name="connsiteY0" fmla="*/ 0 h 4661807"/>
              <a:gd name="connsiteX1" fmla="*/ 3331029 w 3331029"/>
              <a:gd name="connsiteY1" fmla="*/ 0 h 4661807"/>
              <a:gd name="connsiteX2" fmla="*/ 3331029 w 3331029"/>
              <a:gd name="connsiteY2" fmla="*/ 4661807 h 4661807"/>
              <a:gd name="connsiteX3" fmla="*/ 0 w 3331029"/>
              <a:gd name="connsiteY3" fmla="*/ 4661807 h 4661807"/>
              <a:gd name="connsiteX4" fmla="*/ 0 w 3331029"/>
              <a:gd name="connsiteY4" fmla="*/ 0 h 4661807"/>
              <a:gd name="connsiteX0" fmla="*/ 0 w 3477986"/>
              <a:gd name="connsiteY0" fmla="*/ 0 h 4669971"/>
              <a:gd name="connsiteX1" fmla="*/ 3477986 w 3477986"/>
              <a:gd name="connsiteY1" fmla="*/ 8164 h 4669971"/>
              <a:gd name="connsiteX2" fmla="*/ 3477986 w 3477986"/>
              <a:gd name="connsiteY2" fmla="*/ 4669971 h 4669971"/>
              <a:gd name="connsiteX3" fmla="*/ 146957 w 3477986"/>
              <a:gd name="connsiteY3" fmla="*/ 4669971 h 4669971"/>
              <a:gd name="connsiteX4" fmla="*/ 0 w 3477986"/>
              <a:gd name="connsiteY4" fmla="*/ 0 h 4669971"/>
              <a:gd name="connsiteX0" fmla="*/ 0 w 3388179"/>
              <a:gd name="connsiteY0" fmla="*/ 0 h 4661807"/>
              <a:gd name="connsiteX1" fmla="*/ 3388179 w 3388179"/>
              <a:gd name="connsiteY1" fmla="*/ 0 h 4661807"/>
              <a:gd name="connsiteX2" fmla="*/ 3388179 w 3388179"/>
              <a:gd name="connsiteY2" fmla="*/ 4661807 h 4661807"/>
              <a:gd name="connsiteX3" fmla="*/ 57150 w 3388179"/>
              <a:gd name="connsiteY3" fmla="*/ 4661807 h 4661807"/>
              <a:gd name="connsiteX4" fmla="*/ 0 w 3388179"/>
              <a:gd name="connsiteY4" fmla="*/ 0 h 4661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8179" h="4661807">
                <a:moveTo>
                  <a:pt x="0" y="0"/>
                </a:moveTo>
                <a:lnTo>
                  <a:pt x="3388179" y="0"/>
                </a:lnTo>
                <a:lnTo>
                  <a:pt x="3388179" y="4661807"/>
                </a:lnTo>
                <a:lnTo>
                  <a:pt x="57150" y="4661807"/>
                </a:lnTo>
                <a:lnTo>
                  <a:pt x="0" y="0"/>
                </a:lnTo>
                <a:close/>
              </a:path>
            </a:pathLst>
          </a:cu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02870" tIns="82296" rIns="102870" bIns="82296" numCol="1" spcCol="0" rtlCol="0" fromWordArt="0" anchor="t" anchorCtr="0" forceAA="0" compatLnSpc="1">
            <a:prstTxWarp prst="textNoShape">
              <a:avLst/>
            </a:prstTxWarp>
            <a:noAutofit/>
          </a:bodyPr>
          <a:lstStyle/>
          <a:p>
            <a:pPr defTabSz="524544" fontAlgn="base">
              <a:lnSpc>
                <a:spcPct val="114000"/>
              </a:lnSpc>
              <a:spcBef>
                <a:spcPct val="0"/>
              </a:spcBef>
              <a:spcAft>
                <a:spcPts val="529"/>
              </a:spcAft>
              <a:defRPr/>
            </a:pPr>
            <a:endParaRPr lang="en-US" sz="1412" b="1" dirty="0">
              <a:solidFill>
                <a:srgbClr val="2F2F2F"/>
              </a:solidFill>
              <a:cs typeface="Segoe UI" pitchFamily="34" charset="0"/>
            </a:endParaRPr>
          </a:p>
          <a:p>
            <a:pPr defTabSz="514359">
              <a:lnSpc>
                <a:spcPct val="114000"/>
              </a:lnSpc>
              <a:spcAft>
                <a:spcPts val="529"/>
              </a:spcAft>
              <a:defRPr/>
            </a:pPr>
            <a:endParaRPr lang="en-US" sz="1059" dirty="0">
              <a:solidFill>
                <a:srgbClr val="2F2F2F"/>
              </a:solidFill>
            </a:endParaRPr>
          </a:p>
          <a:p>
            <a:pPr defTabSz="524544" fontAlgn="base">
              <a:lnSpc>
                <a:spcPct val="114000"/>
              </a:lnSpc>
              <a:spcBef>
                <a:spcPct val="0"/>
              </a:spcBef>
              <a:spcAft>
                <a:spcPts val="529"/>
              </a:spcAft>
              <a:defRPr/>
            </a:pPr>
            <a:endParaRPr lang="en-US" sz="1059" dirty="0">
              <a:solidFill>
                <a:srgbClr val="2F2F2F"/>
              </a:solidFill>
              <a:ea typeface="Segoe UI" pitchFamily="34" charset="0"/>
              <a:cs typeface="Segoe UI" pitchFamily="34" charset="0"/>
            </a:endParaRPr>
          </a:p>
        </p:txBody>
      </p:sp>
      <p:sp>
        <p:nvSpPr>
          <p:cNvPr id="8" name="Title 7">
            <a:extLst>
              <a:ext uri="{FF2B5EF4-FFF2-40B4-BE49-F238E27FC236}">
                <a16:creationId xmlns:a16="http://schemas.microsoft.com/office/drawing/2014/main" id="{DA6C285F-3447-3191-DADE-2984FA82C42C}"/>
              </a:ext>
            </a:extLst>
          </p:cNvPr>
          <p:cNvSpPr>
            <a:spLocks noGrp="1"/>
          </p:cNvSpPr>
          <p:nvPr>
            <p:ph type="title"/>
          </p:nvPr>
        </p:nvSpPr>
        <p:spPr>
          <a:xfrm>
            <a:off x="298743" y="1069042"/>
            <a:ext cx="3634522" cy="827700"/>
          </a:xfrm>
        </p:spPr>
        <p:txBody>
          <a:bodyPr wrap="square" lIns="0" tIns="40341" rIns="80682" bIns="40341" anchor="t" anchorCtr="0">
            <a:spAutoFit/>
          </a:bodyPr>
          <a:lstStyle/>
          <a:p>
            <a:r>
              <a:rPr lang="en-US" sz="2824" dirty="0">
                <a:solidFill>
                  <a:schemeClr val="tx2"/>
                </a:solidFill>
                <a:latin typeface="Segoe UI Semibold"/>
                <a:cs typeface="Segoe UI"/>
              </a:rPr>
              <a:t>Why we are here…</a:t>
            </a:r>
            <a:br>
              <a:rPr lang="en-US" sz="2824" dirty="0">
                <a:solidFill>
                  <a:schemeClr val="tx2"/>
                </a:solidFill>
                <a:latin typeface="Segoe UI Semibold"/>
                <a:cs typeface="Segoe UI"/>
              </a:rPr>
            </a:br>
            <a:endParaRPr lang="en-US" dirty="0">
              <a:solidFill>
                <a:schemeClr val="tx2"/>
              </a:solidFill>
            </a:endParaRPr>
          </a:p>
        </p:txBody>
      </p:sp>
      <p:graphicFrame>
        <p:nvGraphicFramePr>
          <p:cNvPr id="2" name="Table 1">
            <a:extLst>
              <a:ext uri="{FF2B5EF4-FFF2-40B4-BE49-F238E27FC236}">
                <a16:creationId xmlns:a16="http://schemas.microsoft.com/office/drawing/2014/main" id="{886B5094-531B-6A92-F6A8-45E5E6DEF373}"/>
              </a:ext>
            </a:extLst>
          </p:cNvPr>
          <p:cNvGraphicFramePr>
            <a:graphicFrameLocks noGrp="1"/>
          </p:cNvGraphicFramePr>
          <p:nvPr>
            <p:extLst>
              <p:ext uri="{D42A27DB-BD31-4B8C-83A1-F6EECF244321}">
                <p14:modId xmlns:p14="http://schemas.microsoft.com/office/powerpoint/2010/main" val="701357533"/>
              </p:ext>
            </p:extLst>
          </p:nvPr>
        </p:nvGraphicFramePr>
        <p:xfrm>
          <a:off x="326679" y="2578340"/>
          <a:ext cx="5244353" cy="731520"/>
        </p:xfrm>
        <a:graphic>
          <a:graphicData uri="http://schemas.openxmlformats.org/drawingml/2006/table">
            <a:tbl>
              <a:tblPr>
                <a:tableStyleId>{5C22544A-7EE6-4342-B048-85BDC9FD1C3A}</a:tableStyleId>
              </a:tblPr>
              <a:tblGrid>
                <a:gridCol w="1120588">
                  <a:extLst>
                    <a:ext uri="{9D8B030D-6E8A-4147-A177-3AD203B41FA5}">
                      <a16:colId xmlns:a16="http://schemas.microsoft.com/office/drawing/2014/main" val="1361001748"/>
                    </a:ext>
                  </a:extLst>
                </a:gridCol>
                <a:gridCol w="4123765">
                  <a:extLst>
                    <a:ext uri="{9D8B030D-6E8A-4147-A177-3AD203B41FA5}">
                      <a16:colId xmlns:a16="http://schemas.microsoft.com/office/drawing/2014/main" val="889355881"/>
                    </a:ext>
                  </a:extLst>
                </a:gridCol>
              </a:tblGrid>
              <a:tr h="242047">
                <a:tc>
                  <a:txBody>
                    <a:bodyPr/>
                    <a:lstStyle/>
                    <a:p>
                      <a:pPr marL="0" marR="0" algn="ctr">
                        <a:buNone/>
                      </a:pPr>
                      <a:r>
                        <a:rPr lang="en-US" sz="1600">
                          <a:effectLst/>
                        </a:rPr>
                        <a:t>80%</a:t>
                      </a:r>
                      <a:endParaRPr lang="en-US" sz="1000">
                        <a:effectLst/>
                        <a:latin typeface="Arial" panose="020B0604020202020204" pitchFamily="34" charset="0"/>
                        <a:ea typeface="Arial" panose="020B0604020202020204" pitchFamily="34" charset="0"/>
                      </a:endParaRPr>
                    </a:p>
                  </a:txBody>
                  <a:tcPr marL="5603" marR="5603" marT="0" marB="0" anchor="ctr"/>
                </a:tc>
                <a:tc>
                  <a:txBody>
                    <a:bodyPr/>
                    <a:lstStyle/>
                    <a:p>
                      <a:pPr marL="0" marR="0">
                        <a:buNone/>
                      </a:pPr>
                      <a:r>
                        <a:rPr lang="en-US" sz="1000" dirty="0">
                          <a:effectLst/>
                        </a:rPr>
                        <a:t>of process flows are sequential (step-by-step)</a:t>
                      </a:r>
                      <a:endParaRPr lang="en-US" sz="1000" dirty="0">
                        <a:effectLst/>
                        <a:latin typeface="Arial" panose="020B0604020202020204" pitchFamily="34" charset="0"/>
                        <a:ea typeface="Arial" panose="020B0604020202020204" pitchFamily="34" charset="0"/>
                      </a:endParaRPr>
                    </a:p>
                  </a:txBody>
                  <a:tcPr marL="5603" marR="5603" marT="0" marB="0" anchor="ctr"/>
                </a:tc>
                <a:extLst>
                  <a:ext uri="{0D108BD9-81ED-4DB2-BD59-A6C34878D82A}">
                    <a16:rowId xmlns:a16="http://schemas.microsoft.com/office/drawing/2014/main" val="1682961139"/>
                  </a:ext>
                </a:extLst>
              </a:tr>
              <a:tr h="242047">
                <a:tc>
                  <a:txBody>
                    <a:bodyPr/>
                    <a:lstStyle/>
                    <a:p>
                      <a:pPr marL="0" marR="0" algn="ctr">
                        <a:buNone/>
                      </a:pPr>
                      <a:r>
                        <a:rPr lang="en-US" sz="1600">
                          <a:effectLst/>
                        </a:rPr>
                        <a:t>15%</a:t>
                      </a:r>
                      <a:endParaRPr lang="en-US" sz="1000">
                        <a:effectLst/>
                        <a:latin typeface="Arial" panose="020B0604020202020204" pitchFamily="34" charset="0"/>
                        <a:ea typeface="Arial" panose="020B0604020202020204" pitchFamily="34" charset="0"/>
                      </a:endParaRPr>
                    </a:p>
                  </a:txBody>
                  <a:tcPr marL="5603" marR="5603" marT="0" marB="0" anchor="ctr"/>
                </a:tc>
                <a:tc>
                  <a:txBody>
                    <a:bodyPr/>
                    <a:lstStyle/>
                    <a:p>
                      <a:pPr marL="0" marR="0">
                        <a:buNone/>
                      </a:pPr>
                      <a:r>
                        <a:rPr lang="en-US" sz="1000">
                          <a:effectLst/>
                        </a:rPr>
                        <a:t>involve decision points (branching paths)</a:t>
                      </a:r>
                      <a:endParaRPr lang="en-US" sz="1000">
                        <a:effectLst/>
                        <a:latin typeface="Arial" panose="020B0604020202020204" pitchFamily="34" charset="0"/>
                        <a:ea typeface="Arial" panose="020B0604020202020204" pitchFamily="34" charset="0"/>
                      </a:endParaRPr>
                    </a:p>
                  </a:txBody>
                  <a:tcPr marL="5603" marR="5603" marT="0" marB="0" anchor="ctr"/>
                </a:tc>
                <a:extLst>
                  <a:ext uri="{0D108BD9-81ED-4DB2-BD59-A6C34878D82A}">
                    <a16:rowId xmlns:a16="http://schemas.microsoft.com/office/drawing/2014/main" val="2917859052"/>
                  </a:ext>
                </a:extLst>
              </a:tr>
              <a:tr h="242047">
                <a:tc>
                  <a:txBody>
                    <a:bodyPr/>
                    <a:lstStyle/>
                    <a:p>
                      <a:pPr marL="0" marR="0" algn="ctr">
                        <a:buNone/>
                      </a:pPr>
                      <a:r>
                        <a:rPr lang="en-US" sz="1600">
                          <a:effectLst/>
                        </a:rPr>
                        <a:t>10%</a:t>
                      </a:r>
                      <a:endParaRPr lang="en-US" sz="1000">
                        <a:effectLst/>
                        <a:latin typeface="Arial" panose="020B0604020202020204" pitchFamily="34" charset="0"/>
                        <a:ea typeface="Arial" panose="020B0604020202020204" pitchFamily="34" charset="0"/>
                      </a:endParaRPr>
                    </a:p>
                  </a:txBody>
                  <a:tcPr marL="5603" marR="5603" marT="0" marB="0" anchor="ctr"/>
                </a:tc>
                <a:tc>
                  <a:txBody>
                    <a:bodyPr/>
                    <a:lstStyle/>
                    <a:p>
                      <a:pPr marL="0" marR="0">
                        <a:buNone/>
                      </a:pPr>
                      <a:r>
                        <a:rPr lang="en-US" sz="1000" dirty="0">
                          <a:effectLst/>
                        </a:rPr>
                        <a:t>have parallel work streams (simultaneous)</a:t>
                      </a:r>
                      <a:endParaRPr lang="en-US" sz="1000" dirty="0">
                        <a:effectLst/>
                        <a:latin typeface="Arial" panose="020B0604020202020204" pitchFamily="34" charset="0"/>
                        <a:ea typeface="Arial" panose="020B0604020202020204" pitchFamily="34" charset="0"/>
                      </a:endParaRPr>
                    </a:p>
                  </a:txBody>
                  <a:tcPr marL="5603" marR="5603" marT="0" marB="0" anchor="ctr"/>
                </a:tc>
                <a:extLst>
                  <a:ext uri="{0D108BD9-81ED-4DB2-BD59-A6C34878D82A}">
                    <a16:rowId xmlns:a16="http://schemas.microsoft.com/office/drawing/2014/main" val="2364294133"/>
                  </a:ext>
                </a:extLst>
              </a:tr>
            </a:tbl>
          </a:graphicData>
        </a:graphic>
      </p:graphicFrame>
      <p:graphicFrame>
        <p:nvGraphicFramePr>
          <p:cNvPr id="4" name="Table 3">
            <a:extLst>
              <a:ext uri="{FF2B5EF4-FFF2-40B4-BE49-F238E27FC236}">
                <a16:creationId xmlns:a16="http://schemas.microsoft.com/office/drawing/2014/main" id="{C9798698-15A2-5D62-7B7C-BFD3093403A5}"/>
              </a:ext>
            </a:extLst>
          </p:cNvPr>
          <p:cNvGraphicFramePr>
            <a:graphicFrameLocks noGrp="1"/>
          </p:cNvGraphicFramePr>
          <p:nvPr>
            <p:extLst>
              <p:ext uri="{D42A27DB-BD31-4B8C-83A1-F6EECF244321}">
                <p14:modId xmlns:p14="http://schemas.microsoft.com/office/powerpoint/2010/main" val="2746312875"/>
              </p:ext>
            </p:extLst>
          </p:nvPr>
        </p:nvGraphicFramePr>
        <p:xfrm>
          <a:off x="326679" y="4383186"/>
          <a:ext cx="5244353" cy="731520"/>
        </p:xfrm>
        <a:graphic>
          <a:graphicData uri="http://schemas.openxmlformats.org/drawingml/2006/table">
            <a:tbl>
              <a:tblPr>
                <a:tableStyleId>{5C22544A-7EE6-4342-B048-85BDC9FD1C3A}</a:tableStyleId>
              </a:tblPr>
              <a:tblGrid>
                <a:gridCol w="1120588">
                  <a:extLst>
                    <a:ext uri="{9D8B030D-6E8A-4147-A177-3AD203B41FA5}">
                      <a16:colId xmlns:a16="http://schemas.microsoft.com/office/drawing/2014/main" val="2915519900"/>
                    </a:ext>
                  </a:extLst>
                </a:gridCol>
                <a:gridCol w="4123765">
                  <a:extLst>
                    <a:ext uri="{9D8B030D-6E8A-4147-A177-3AD203B41FA5}">
                      <a16:colId xmlns:a16="http://schemas.microsoft.com/office/drawing/2014/main" val="3033746249"/>
                    </a:ext>
                  </a:extLst>
                </a:gridCol>
              </a:tblGrid>
              <a:tr h="242047">
                <a:tc>
                  <a:txBody>
                    <a:bodyPr/>
                    <a:lstStyle/>
                    <a:p>
                      <a:pPr marL="0" marR="0" algn="ctr">
                        <a:buNone/>
                      </a:pPr>
                      <a:r>
                        <a:rPr lang="en-US" sz="1600">
                          <a:effectLst/>
                        </a:rPr>
                        <a:t>45%</a:t>
                      </a:r>
                      <a:endParaRPr lang="en-US" sz="1000">
                        <a:effectLst/>
                        <a:latin typeface="Arial" panose="020B0604020202020204" pitchFamily="34" charset="0"/>
                        <a:ea typeface="Arial" panose="020B0604020202020204" pitchFamily="34" charset="0"/>
                      </a:endParaRPr>
                    </a:p>
                  </a:txBody>
                  <a:tcPr marL="5603" marR="5603" marT="0" marB="0" anchor="ctr"/>
                </a:tc>
                <a:tc>
                  <a:txBody>
                    <a:bodyPr/>
                    <a:lstStyle/>
                    <a:p>
                      <a:pPr marL="0" marR="0">
                        <a:buNone/>
                      </a:pPr>
                      <a:r>
                        <a:rPr lang="en-US" sz="1000">
                          <a:effectLst/>
                        </a:rPr>
                        <a:t>of work activities automatable with current technology (2017)</a:t>
                      </a:r>
                      <a:endParaRPr lang="en-US" sz="1000">
                        <a:effectLst/>
                        <a:latin typeface="Arial" panose="020B0604020202020204" pitchFamily="34" charset="0"/>
                        <a:ea typeface="Arial" panose="020B0604020202020204" pitchFamily="34" charset="0"/>
                      </a:endParaRPr>
                    </a:p>
                  </a:txBody>
                  <a:tcPr marL="5603" marR="5603" marT="0" marB="0" anchor="ctr"/>
                </a:tc>
                <a:extLst>
                  <a:ext uri="{0D108BD9-81ED-4DB2-BD59-A6C34878D82A}">
                    <a16:rowId xmlns:a16="http://schemas.microsoft.com/office/drawing/2014/main" val="2434713099"/>
                  </a:ext>
                </a:extLst>
              </a:tr>
              <a:tr h="242047">
                <a:tc>
                  <a:txBody>
                    <a:bodyPr/>
                    <a:lstStyle/>
                    <a:p>
                      <a:pPr marL="0" marR="0" algn="ctr">
                        <a:buNone/>
                      </a:pPr>
                      <a:r>
                        <a:rPr lang="en-US" sz="1600">
                          <a:effectLst/>
                        </a:rPr>
                        <a:t>57%</a:t>
                      </a:r>
                      <a:endParaRPr lang="en-US" sz="1000">
                        <a:effectLst/>
                        <a:latin typeface="Arial" panose="020B0604020202020204" pitchFamily="34" charset="0"/>
                        <a:ea typeface="Arial" panose="020B0604020202020204" pitchFamily="34" charset="0"/>
                      </a:endParaRPr>
                    </a:p>
                  </a:txBody>
                  <a:tcPr marL="5603" marR="5603" marT="0" marB="0" anchor="ctr"/>
                </a:tc>
                <a:tc>
                  <a:txBody>
                    <a:bodyPr/>
                    <a:lstStyle/>
                    <a:p>
                      <a:pPr marL="0" marR="0">
                        <a:buNone/>
                      </a:pPr>
                      <a:r>
                        <a:rPr lang="en-US" sz="1000">
                          <a:effectLst/>
                        </a:rPr>
                        <a:t>automatable with current tech including GenAI (2025)</a:t>
                      </a:r>
                      <a:endParaRPr lang="en-US" sz="1000">
                        <a:effectLst/>
                        <a:latin typeface="Arial" panose="020B0604020202020204" pitchFamily="34" charset="0"/>
                        <a:ea typeface="Arial" panose="020B0604020202020204" pitchFamily="34" charset="0"/>
                      </a:endParaRPr>
                    </a:p>
                  </a:txBody>
                  <a:tcPr marL="5603" marR="5603" marT="0" marB="0" anchor="ctr"/>
                </a:tc>
                <a:extLst>
                  <a:ext uri="{0D108BD9-81ED-4DB2-BD59-A6C34878D82A}">
                    <a16:rowId xmlns:a16="http://schemas.microsoft.com/office/drawing/2014/main" val="2484308492"/>
                  </a:ext>
                </a:extLst>
              </a:tr>
              <a:tr h="242047">
                <a:tc>
                  <a:txBody>
                    <a:bodyPr/>
                    <a:lstStyle/>
                    <a:p>
                      <a:pPr marL="0" marR="0" algn="ctr">
                        <a:buNone/>
                      </a:pPr>
                      <a:r>
                        <a:rPr lang="en-US" sz="1600">
                          <a:effectLst/>
                        </a:rPr>
                        <a:t>30%</a:t>
                      </a:r>
                      <a:endParaRPr lang="en-US" sz="1000">
                        <a:effectLst/>
                        <a:latin typeface="Arial" panose="020B0604020202020204" pitchFamily="34" charset="0"/>
                        <a:ea typeface="Arial" panose="020B0604020202020204" pitchFamily="34" charset="0"/>
                      </a:endParaRPr>
                    </a:p>
                  </a:txBody>
                  <a:tcPr marL="5603" marR="5603" marT="0" marB="0" anchor="ctr"/>
                </a:tc>
                <a:tc>
                  <a:txBody>
                    <a:bodyPr/>
                    <a:lstStyle/>
                    <a:p>
                      <a:pPr marL="0" marR="0">
                        <a:buNone/>
                      </a:pPr>
                      <a:r>
                        <a:rPr lang="en-US" sz="1000" dirty="0">
                          <a:effectLst/>
                        </a:rPr>
                        <a:t>of activities in 60% of all occupations could be automated</a:t>
                      </a:r>
                      <a:endParaRPr lang="en-US" sz="1000" dirty="0">
                        <a:effectLst/>
                        <a:latin typeface="Arial" panose="020B0604020202020204" pitchFamily="34" charset="0"/>
                        <a:ea typeface="Arial" panose="020B0604020202020204" pitchFamily="34" charset="0"/>
                      </a:endParaRPr>
                    </a:p>
                  </a:txBody>
                  <a:tcPr marL="5603" marR="5603" marT="0" marB="0" anchor="ctr"/>
                </a:tc>
                <a:extLst>
                  <a:ext uri="{0D108BD9-81ED-4DB2-BD59-A6C34878D82A}">
                    <a16:rowId xmlns:a16="http://schemas.microsoft.com/office/drawing/2014/main" val="1891946270"/>
                  </a:ext>
                </a:extLst>
              </a:tr>
            </a:tbl>
          </a:graphicData>
        </a:graphic>
      </p:graphicFrame>
      <p:graphicFrame>
        <p:nvGraphicFramePr>
          <p:cNvPr id="7" name="Table 6">
            <a:extLst>
              <a:ext uri="{FF2B5EF4-FFF2-40B4-BE49-F238E27FC236}">
                <a16:creationId xmlns:a16="http://schemas.microsoft.com/office/drawing/2014/main" id="{F4F35A60-F053-7E89-FA3B-E4118EFBCE32}"/>
              </a:ext>
            </a:extLst>
          </p:cNvPr>
          <p:cNvGraphicFramePr>
            <a:graphicFrameLocks noGrp="1"/>
          </p:cNvGraphicFramePr>
          <p:nvPr>
            <p:extLst>
              <p:ext uri="{D42A27DB-BD31-4B8C-83A1-F6EECF244321}">
                <p14:modId xmlns:p14="http://schemas.microsoft.com/office/powerpoint/2010/main" val="3367872747"/>
              </p:ext>
            </p:extLst>
          </p:nvPr>
        </p:nvGraphicFramePr>
        <p:xfrm>
          <a:off x="338575" y="7616988"/>
          <a:ext cx="5244353" cy="1371600"/>
        </p:xfrm>
        <a:graphic>
          <a:graphicData uri="http://schemas.openxmlformats.org/drawingml/2006/table">
            <a:tbl>
              <a:tblPr>
                <a:tableStyleId>{5C22544A-7EE6-4342-B048-85BDC9FD1C3A}</a:tableStyleId>
              </a:tblPr>
              <a:tblGrid>
                <a:gridCol w="1232647">
                  <a:extLst>
                    <a:ext uri="{9D8B030D-6E8A-4147-A177-3AD203B41FA5}">
                      <a16:colId xmlns:a16="http://schemas.microsoft.com/office/drawing/2014/main" val="1781981083"/>
                    </a:ext>
                  </a:extLst>
                </a:gridCol>
                <a:gridCol w="1736912">
                  <a:extLst>
                    <a:ext uri="{9D8B030D-6E8A-4147-A177-3AD203B41FA5}">
                      <a16:colId xmlns:a16="http://schemas.microsoft.com/office/drawing/2014/main" val="877764547"/>
                    </a:ext>
                  </a:extLst>
                </a:gridCol>
                <a:gridCol w="2274794">
                  <a:extLst>
                    <a:ext uri="{9D8B030D-6E8A-4147-A177-3AD203B41FA5}">
                      <a16:colId xmlns:a16="http://schemas.microsoft.com/office/drawing/2014/main" val="2306386177"/>
                    </a:ext>
                  </a:extLst>
                </a:gridCol>
              </a:tblGrid>
              <a:tr h="147918">
                <a:tc>
                  <a:txBody>
                    <a:bodyPr/>
                    <a:lstStyle/>
                    <a:p>
                      <a:pPr marL="0" marR="0" algn="ctr">
                        <a:buNone/>
                      </a:pPr>
                      <a:r>
                        <a:rPr lang="en-US" sz="1000" dirty="0">
                          <a:effectLst/>
                        </a:rPr>
                        <a:t>Dimension</a:t>
                      </a:r>
                      <a:endParaRPr lang="en-US" sz="1000" dirty="0">
                        <a:effectLst/>
                        <a:latin typeface="Arial" panose="020B0604020202020204" pitchFamily="34" charset="0"/>
                        <a:ea typeface="Arial" panose="020B0604020202020204" pitchFamily="34" charset="0"/>
                      </a:endParaRPr>
                    </a:p>
                  </a:txBody>
                  <a:tcPr marL="5603" marR="5603" marT="0" marB="0"/>
                </a:tc>
                <a:tc>
                  <a:txBody>
                    <a:bodyPr/>
                    <a:lstStyle/>
                    <a:p>
                      <a:pPr marL="0" marR="0" algn="ctr">
                        <a:buNone/>
                      </a:pPr>
                      <a:r>
                        <a:rPr lang="en-US" sz="1000">
                          <a:effectLst/>
                        </a:rPr>
                        <a:t>Key Statistic</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lgn="ctr">
                        <a:buNone/>
                      </a:pPr>
                      <a:r>
                        <a:rPr lang="en-US" sz="1000">
                          <a:effectLst/>
                        </a:rPr>
                        <a:t>Agent Opportunity</a:t>
                      </a:r>
                      <a:endParaRPr lang="en-US" sz="1000">
                        <a:effectLst/>
                        <a:latin typeface="Arial" panose="020B0604020202020204" pitchFamily="34" charset="0"/>
                        <a:ea typeface="Arial" panose="020B0604020202020204" pitchFamily="34" charset="0"/>
                      </a:endParaRPr>
                    </a:p>
                  </a:txBody>
                  <a:tcPr marL="5603" marR="5603" marT="0" marB="0"/>
                </a:tc>
                <a:extLst>
                  <a:ext uri="{0D108BD9-81ED-4DB2-BD59-A6C34878D82A}">
                    <a16:rowId xmlns:a16="http://schemas.microsoft.com/office/drawing/2014/main" val="59823134"/>
                  </a:ext>
                </a:extLst>
              </a:tr>
              <a:tr h="147918">
                <a:tc>
                  <a:txBody>
                    <a:bodyPr/>
                    <a:lstStyle/>
                    <a:p>
                      <a:pPr marL="0" marR="0">
                        <a:buNone/>
                      </a:pPr>
                      <a:r>
                        <a:rPr lang="en-US" sz="1000">
                          <a:effectLst/>
                        </a:rPr>
                        <a:t>Tasks</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26% skilled, 60% coordination</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Agents absorb coordination overhead</a:t>
                      </a:r>
                      <a:endParaRPr lang="en-US" sz="1000">
                        <a:effectLst/>
                        <a:latin typeface="Arial" panose="020B0604020202020204" pitchFamily="34" charset="0"/>
                        <a:ea typeface="Arial" panose="020B0604020202020204" pitchFamily="34" charset="0"/>
                      </a:endParaRPr>
                    </a:p>
                  </a:txBody>
                  <a:tcPr marL="5603" marR="5603" marT="0" marB="0"/>
                </a:tc>
                <a:extLst>
                  <a:ext uri="{0D108BD9-81ED-4DB2-BD59-A6C34878D82A}">
                    <a16:rowId xmlns:a16="http://schemas.microsoft.com/office/drawing/2014/main" val="2508215545"/>
                  </a:ext>
                </a:extLst>
              </a:tr>
              <a:tr h="295835">
                <a:tc>
                  <a:txBody>
                    <a:bodyPr/>
                    <a:lstStyle/>
                    <a:p>
                      <a:pPr marL="0" marR="0">
                        <a:buNone/>
                      </a:pPr>
                      <a:r>
                        <a:rPr lang="en-US" sz="1000">
                          <a:effectLst/>
                        </a:rPr>
                        <a:t>Collaboration</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dirty="0">
                          <a:effectLst/>
                        </a:rPr>
                        <a:t>50%+ time collaborating</a:t>
                      </a:r>
                      <a:endParaRPr lang="en-US" sz="1000" dirty="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Handle routine status, scheduling, drafting</a:t>
                      </a:r>
                      <a:endParaRPr lang="en-US" sz="1000">
                        <a:effectLst/>
                        <a:latin typeface="Arial" panose="020B0604020202020204" pitchFamily="34" charset="0"/>
                        <a:ea typeface="Arial" panose="020B0604020202020204" pitchFamily="34" charset="0"/>
                      </a:endParaRPr>
                    </a:p>
                  </a:txBody>
                  <a:tcPr marL="5603" marR="5603" marT="0" marB="0"/>
                </a:tc>
                <a:extLst>
                  <a:ext uri="{0D108BD9-81ED-4DB2-BD59-A6C34878D82A}">
                    <a16:rowId xmlns:a16="http://schemas.microsoft.com/office/drawing/2014/main" val="192856472"/>
                  </a:ext>
                </a:extLst>
              </a:tr>
              <a:tr h="295835">
                <a:tc>
                  <a:txBody>
                    <a:bodyPr/>
                    <a:lstStyle/>
                    <a:p>
                      <a:pPr marL="0" marR="0">
                        <a:buNone/>
                      </a:pPr>
                      <a:r>
                        <a:rPr lang="en-US" sz="1000">
                          <a:effectLst/>
                        </a:rPr>
                        <a:t>Time</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Only 4-5 hrs/day on core work</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Reclaim time from communication overhead</a:t>
                      </a:r>
                      <a:endParaRPr lang="en-US" sz="1000">
                        <a:effectLst/>
                        <a:latin typeface="Arial" panose="020B0604020202020204" pitchFamily="34" charset="0"/>
                        <a:ea typeface="Arial" panose="020B0604020202020204" pitchFamily="34" charset="0"/>
                      </a:endParaRPr>
                    </a:p>
                  </a:txBody>
                  <a:tcPr marL="5603" marR="5603" marT="0" marB="0"/>
                </a:tc>
                <a:extLst>
                  <a:ext uri="{0D108BD9-81ED-4DB2-BD59-A6C34878D82A}">
                    <a16:rowId xmlns:a16="http://schemas.microsoft.com/office/drawing/2014/main" val="3116933286"/>
                  </a:ext>
                </a:extLst>
              </a:tr>
              <a:tr h="295835">
                <a:tc>
                  <a:txBody>
                    <a:bodyPr/>
                    <a:lstStyle/>
                    <a:p>
                      <a:pPr marL="0" marR="0">
                        <a:buNone/>
                      </a:pPr>
                      <a:r>
                        <a:rPr lang="en-US" sz="1000">
                          <a:effectLst/>
                        </a:rPr>
                        <a:t>Friction</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88% experience friction</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Eliminate friction at handoffs and data-gathering</a:t>
                      </a:r>
                      <a:endParaRPr lang="en-US" sz="1000">
                        <a:effectLst/>
                        <a:latin typeface="Arial" panose="020B0604020202020204" pitchFamily="34" charset="0"/>
                        <a:ea typeface="Arial" panose="020B0604020202020204" pitchFamily="34" charset="0"/>
                      </a:endParaRPr>
                    </a:p>
                  </a:txBody>
                  <a:tcPr marL="5603" marR="5603" marT="0" marB="0"/>
                </a:tc>
                <a:extLst>
                  <a:ext uri="{0D108BD9-81ED-4DB2-BD59-A6C34878D82A}">
                    <a16:rowId xmlns:a16="http://schemas.microsoft.com/office/drawing/2014/main" val="3892460187"/>
                  </a:ext>
                </a:extLst>
              </a:tr>
              <a:tr h="147918">
                <a:tc>
                  <a:txBody>
                    <a:bodyPr/>
                    <a:lstStyle/>
                    <a:p>
                      <a:pPr marL="0" marR="0">
                        <a:buNone/>
                      </a:pPr>
                      <a:r>
                        <a:rPr lang="en-US" sz="1000">
                          <a:effectLst/>
                        </a:rPr>
                        <a:t>Repetition</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a:effectLst/>
                        </a:rPr>
                        <a:t>62% on repetitive tasks</a:t>
                      </a:r>
                      <a:endParaRPr lang="en-US" sz="1000">
                        <a:effectLst/>
                        <a:latin typeface="Arial" panose="020B0604020202020204" pitchFamily="34" charset="0"/>
                        <a:ea typeface="Arial" panose="020B0604020202020204" pitchFamily="34" charset="0"/>
                      </a:endParaRPr>
                    </a:p>
                  </a:txBody>
                  <a:tcPr marL="5603" marR="5603" marT="0" marB="0"/>
                </a:tc>
                <a:tc>
                  <a:txBody>
                    <a:bodyPr/>
                    <a:lstStyle/>
                    <a:p>
                      <a:pPr marL="0" marR="0">
                        <a:buNone/>
                      </a:pPr>
                      <a:r>
                        <a:rPr lang="en-US" sz="1000" dirty="0">
                          <a:effectLst/>
                        </a:rPr>
                        <a:t>Highest automation potential</a:t>
                      </a:r>
                      <a:endParaRPr lang="en-US" sz="1000" dirty="0">
                        <a:effectLst/>
                        <a:latin typeface="Arial" panose="020B0604020202020204" pitchFamily="34" charset="0"/>
                        <a:ea typeface="Arial" panose="020B0604020202020204" pitchFamily="34" charset="0"/>
                      </a:endParaRPr>
                    </a:p>
                  </a:txBody>
                  <a:tcPr marL="5603" marR="5603" marT="0" marB="0"/>
                </a:tc>
                <a:extLst>
                  <a:ext uri="{0D108BD9-81ED-4DB2-BD59-A6C34878D82A}">
                    <a16:rowId xmlns:a16="http://schemas.microsoft.com/office/drawing/2014/main" val="1825228648"/>
                  </a:ext>
                </a:extLst>
              </a:tr>
            </a:tbl>
          </a:graphicData>
        </a:graphic>
      </p:graphicFrame>
      <p:sp>
        <p:nvSpPr>
          <p:cNvPr id="10" name="TextBox 9">
            <a:extLst>
              <a:ext uri="{FF2B5EF4-FFF2-40B4-BE49-F238E27FC236}">
                <a16:creationId xmlns:a16="http://schemas.microsoft.com/office/drawing/2014/main" id="{18C52229-C631-8D2F-CC00-B36A4817B529}"/>
              </a:ext>
            </a:extLst>
          </p:cNvPr>
          <p:cNvSpPr txBox="1"/>
          <p:nvPr/>
        </p:nvSpPr>
        <p:spPr>
          <a:xfrm>
            <a:off x="241227" y="1804740"/>
            <a:ext cx="6451088" cy="7692170"/>
          </a:xfrm>
          <a:prstGeom prst="rect">
            <a:avLst/>
          </a:prstGeom>
          <a:noFill/>
        </p:spPr>
        <p:txBody>
          <a:bodyPr wrap="square">
            <a:spAutoFit/>
          </a:bodyPr>
          <a:lstStyle/>
          <a:p>
            <a:pPr>
              <a:spcBef>
                <a:spcPts val="1324"/>
              </a:spcBef>
              <a:spcAft>
                <a:spcPts val="529"/>
              </a:spcAft>
            </a:pPr>
            <a:r>
              <a:rPr lang="en-US" sz="1493" kern="0" dirty="0">
                <a:solidFill>
                  <a:srgbClr val="0078D4"/>
                </a:solidFill>
                <a:latin typeface="+mj-lt"/>
              </a:rPr>
              <a:t>Process Patterns</a:t>
            </a:r>
          </a:p>
          <a:p>
            <a:pPr>
              <a:spcBef>
                <a:spcPts val="882"/>
              </a:spcBef>
              <a:spcAft>
                <a:spcPts val="353"/>
              </a:spcAft>
            </a:pPr>
            <a:r>
              <a:rPr lang="en-US" sz="1412" dirty="0">
                <a:solidFill>
                  <a:srgbClr val="1A1A2E"/>
                </a:solidFill>
                <a:latin typeface="+mj-lt"/>
              </a:rPr>
              <a:t>How Processes Break Down</a:t>
            </a:r>
          </a:p>
          <a:p>
            <a:pPr>
              <a:spcBef>
                <a:spcPts val="882"/>
              </a:spcBef>
              <a:spcAft>
                <a:spcPts val="353"/>
              </a:spcAft>
            </a:pPr>
            <a:endParaRPr lang="en-US" sz="1412" b="1" dirty="0">
              <a:solidFill>
                <a:srgbClr val="1A1A2E"/>
              </a:solidFill>
            </a:endParaRPr>
          </a:p>
          <a:p>
            <a:pPr>
              <a:spcBef>
                <a:spcPts val="882"/>
              </a:spcBef>
              <a:spcAft>
                <a:spcPts val="353"/>
              </a:spcAft>
            </a:pPr>
            <a:endParaRPr lang="en-US" sz="1412" b="1" dirty="0">
              <a:solidFill>
                <a:srgbClr val="1A1A2E"/>
              </a:solidFill>
            </a:endParaRPr>
          </a:p>
          <a:p>
            <a:r>
              <a:rPr lang="en-US" sz="1235" dirty="0">
                <a:ea typeface="Arial" panose="020B0604020202020204" pitchFamily="34" charset="0"/>
              </a:rPr>
              <a:t> </a:t>
            </a:r>
          </a:p>
          <a:p>
            <a:pPr algn="just">
              <a:spcAft>
                <a:spcPts val="529"/>
              </a:spcAft>
            </a:pPr>
            <a:r>
              <a:rPr lang="en-US" sz="1235" dirty="0">
                <a:solidFill>
                  <a:srgbClr val="1A1A2E"/>
                </a:solidFill>
                <a:latin typeface="+mj-lt"/>
                <a:ea typeface="Arial" panose="020B0604020202020204" pitchFamily="34" charset="0"/>
              </a:rPr>
              <a:t>Key insight</a:t>
            </a:r>
            <a:r>
              <a:rPr lang="en-US" sz="1235" b="1" dirty="0">
                <a:solidFill>
                  <a:srgbClr val="1A1A2E"/>
                </a:solidFill>
                <a:ea typeface="Arial" panose="020B0604020202020204" pitchFamily="34" charset="0"/>
              </a:rPr>
              <a:t>: </a:t>
            </a:r>
            <a:r>
              <a:rPr lang="en-US" sz="1235" dirty="0">
                <a:solidFill>
                  <a:srgbClr val="1A1A2E"/>
                </a:solidFill>
                <a:ea typeface="Arial" panose="020B0604020202020204" pitchFamily="34" charset="0"/>
              </a:rPr>
              <a:t>5 basic control-flow patterns cover virtually all moderate-complexity processes. Handoffs between people and systems are the most failure-prone points.</a:t>
            </a:r>
          </a:p>
          <a:p>
            <a:pPr>
              <a:spcBef>
                <a:spcPts val="882"/>
              </a:spcBef>
              <a:spcAft>
                <a:spcPts val="353"/>
              </a:spcAft>
            </a:pPr>
            <a:r>
              <a:rPr lang="en-US" sz="1412" dirty="0">
                <a:solidFill>
                  <a:srgbClr val="1A1A2E"/>
                </a:solidFill>
                <a:latin typeface="+mj-lt"/>
              </a:rPr>
              <a:t>Automation Potential (McKinsey)</a:t>
            </a:r>
          </a:p>
          <a:p>
            <a:pPr>
              <a:spcBef>
                <a:spcPts val="882"/>
              </a:spcBef>
              <a:spcAft>
                <a:spcPts val="353"/>
              </a:spcAft>
            </a:pPr>
            <a:endParaRPr lang="en-US" sz="2471" b="1" dirty="0">
              <a:solidFill>
                <a:srgbClr val="1A1A2E"/>
              </a:solidFill>
            </a:endParaRPr>
          </a:p>
          <a:p>
            <a:pPr>
              <a:spcBef>
                <a:spcPts val="882"/>
              </a:spcBef>
              <a:spcAft>
                <a:spcPts val="353"/>
              </a:spcAft>
            </a:pPr>
            <a:endParaRPr lang="en-US" sz="1493" b="1" dirty="0">
              <a:solidFill>
                <a:srgbClr val="1A1A2E"/>
              </a:solidFill>
            </a:endParaRPr>
          </a:p>
          <a:p>
            <a:r>
              <a:rPr lang="en-US" sz="1235" dirty="0">
                <a:solidFill>
                  <a:srgbClr val="1A1A2E"/>
                </a:solidFill>
                <a:latin typeface="+mj-lt"/>
                <a:ea typeface="Arial" panose="020B0604020202020204" pitchFamily="34" charset="0"/>
              </a:rPr>
              <a:t>Most automatable</a:t>
            </a:r>
            <a:r>
              <a:rPr lang="en-US" sz="1235" b="1" dirty="0">
                <a:solidFill>
                  <a:srgbClr val="1A1A2E"/>
                </a:solidFill>
                <a:ea typeface="Arial" panose="020B0604020202020204" pitchFamily="34" charset="0"/>
              </a:rPr>
              <a:t>: </a:t>
            </a:r>
            <a:r>
              <a:rPr lang="en-US" sz="1235" dirty="0">
                <a:solidFill>
                  <a:srgbClr val="1A1A2E"/>
                </a:solidFill>
                <a:ea typeface="Arial" panose="020B0604020202020204" pitchFamily="34" charset="0"/>
              </a:rPr>
              <a:t>Data collection, data processing, routine cognitive tasks, predictable physical tasks.</a:t>
            </a:r>
          </a:p>
          <a:p>
            <a:pPr algn="just">
              <a:spcAft>
                <a:spcPts val="529"/>
              </a:spcAft>
            </a:pPr>
            <a:r>
              <a:rPr lang="en-US" sz="1235" dirty="0">
                <a:solidFill>
                  <a:srgbClr val="1A1A2E"/>
                </a:solidFill>
                <a:latin typeface="+mj-lt"/>
                <a:ea typeface="Arial" panose="020B0604020202020204" pitchFamily="34" charset="0"/>
              </a:rPr>
              <a:t>Least automatable</a:t>
            </a:r>
            <a:r>
              <a:rPr lang="en-US" sz="1235" b="1" dirty="0">
                <a:solidFill>
                  <a:srgbClr val="1A1A2E"/>
                </a:solidFill>
                <a:ea typeface="Arial" panose="020B0604020202020204" pitchFamily="34" charset="0"/>
              </a:rPr>
              <a:t>: </a:t>
            </a:r>
            <a:r>
              <a:rPr lang="en-US" sz="1235" dirty="0">
                <a:solidFill>
                  <a:srgbClr val="1A1A2E"/>
                </a:solidFill>
                <a:ea typeface="Arial" panose="020B0604020202020204" pitchFamily="34" charset="0"/>
              </a:rPr>
              <a:t>Managing others, applying expertise/judgment, stakeholder interaction requiring empathy.</a:t>
            </a:r>
          </a:p>
          <a:p>
            <a:pPr>
              <a:spcBef>
                <a:spcPts val="1324"/>
              </a:spcBef>
              <a:spcAft>
                <a:spcPts val="529"/>
              </a:spcAft>
            </a:pPr>
            <a:r>
              <a:rPr lang="en-US" sz="1493" kern="0" dirty="0">
                <a:solidFill>
                  <a:srgbClr val="0078D4"/>
                </a:solidFill>
                <a:latin typeface="+mj-lt"/>
              </a:rPr>
              <a:t>The Opportunity for AI Agents</a:t>
            </a:r>
          </a:p>
          <a:p>
            <a:pPr algn="just">
              <a:spcAft>
                <a:spcPts val="529"/>
              </a:spcAft>
            </a:pPr>
            <a:r>
              <a:rPr lang="en-US" sz="1235" dirty="0">
                <a:solidFill>
                  <a:srgbClr val="1A1A2E"/>
                </a:solidFill>
                <a:ea typeface="Arial" panose="020B0604020202020204" pitchFamily="34" charset="0"/>
              </a:rPr>
              <a:t>These statistics point to a clear opportunity: AI agents can reclaim the 60%+ of time currently lost to coordination, repetition, and friction — freeing humans for the creative, strategic, and interpersonal work that only they can do.</a:t>
            </a:r>
          </a:p>
          <a:p>
            <a:pPr>
              <a:spcBef>
                <a:spcPts val="882"/>
              </a:spcBef>
              <a:spcAft>
                <a:spcPts val="353"/>
              </a:spcAft>
            </a:pPr>
            <a:r>
              <a:rPr lang="en-US" sz="1412" dirty="0">
                <a:solidFill>
                  <a:srgbClr val="0070C0"/>
                </a:solidFill>
                <a:latin typeface="+mj-lt"/>
              </a:rPr>
              <a:t>Where Agents Add Value</a:t>
            </a:r>
          </a:p>
          <a:p>
            <a:pPr>
              <a:spcBef>
                <a:spcPts val="882"/>
              </a:spcBef>
              <a:spcAft>
                <a:spcPts val="353"/>
              </a:spcAft>
            </a:pPr>
            <a:endParaRPr lang="en-US" sz="265" b="1" dirty="0">
              <a:solidFill>
                <a:srgbClr val="1A1A2E"/>
              </a:solidFill>
            </a:endParaRPr>
          </a:p>
          <a:p>
            <a:pPr>
              <a:spcBef>
                <a:spcPts val="882"/>
              </a:spcBef>
              <a:spcAft>
                <a:spcPts val="353"/>
              </a:spcAft>
            </a:pPr>
            <a:endParaRPr lang="en-US" sz="1412" b="1" dirty="0">
              <a:solidFill>
                <a:srgbClr val="1A1A2E"/>
              </a:solidFill>
            </a:endParaRPr>
          </a:p>
          <a:p>
            <a:pPr>
              <a:spcBef>
                <a:spcPts val="882"/>
              </a:spcBef>
              <a:spcAft>
                <a:spcPts val="353"/>
              </a:spcAft>
            </a:pPr>
            <a:endParaRPr lang="en-US" sz="1412" b="1" dirty="0">
              <a:solidFill>
                <a:srgbClr val="1A1A2E"/>
              </a:solidFill>
            </a:endParaRPr>
          </a:p>
          <a:p>
            <a:pPr>
              <a:spcBef>
                <a:spcPts val="882"/>
              </a:spcBef>
              <a:spcAft>
                <a:spcPts val="353"/>
              </a:spcAft>
            </a:pPr>
            <a:endParaRPr lang="en-US" sz="1412" b="1" dirty="0">
              <a:solidFill>
                <a:srgbClr val="1A1A2E"/>
              </a:solidFill>
            </a:endParaRPr>
          </a:p>
          <a:p>
            <a:r>
              <a:rPr lang="en-US" sz="1235" dirty="0">
                <a:ea typeface="Arial" panose="020B0604020202020204" pitchFamily="34" charset="0"/>
              </a:rPr>
              <a:t> </a:t>
            </a:r>
          </a:p>
          <a:p>
            <a:pPr algn="ctr">
              <a:spcAft>
                <a:spcPts val="529"/>
              </a:spcAft>
            </a:pPr>
            <a:r>
              <a:rPr lang="en-US" sz="971" i="1" dirty="0">
                <a:solidFill>
                  <a:srgbClr val="4A5568"/>
                </a:solidFill>
                <a:ea typeface="Arial" panose="020B0604020202020204" pitchFamily="34" charset="0"/>
              </a:rPr>
              <a:t>Automation isn't about replacing people — it's about removing the friction, repetition, and coordination overhead that prevents them from doing their best work</a:t>
            </a:r>
            <a:r>
              <a:rPr lang="en-US" sz="1235" i="1" dirty="0">
                <a:solidFill>
                  <a:srgbClr val="4A5568"/>
                </a:solidFill>
                <a:ea typeface="Arial" panose="020B0604020202020204" pitchFamily="34" charset="0"/>
              </a:rPr>
              <a:t>.</a:t>
            </a:r>
            <a:endParaRPr lang="en-US" sz="1235" dirty="0">
              <a:solidFill>
                <a:srgbClr val="1A1A2E"/>
              </a:solidFill>
              <a:ea typeface="Arial" panose="020B0604020202020204" pitchFamily="34" charset="0"/>
            </a:endParaRPr>
          </a:p>
        </p:txBody>
      </p:sp>
    </p:spTree>
    <p:extLst>
      <p:ext uri="{BB962C8B-B14F-4D97-AF65-F5344CB8AC3E}">
        <p14:creationId xmlns:p14="http://schemas.microsoft.com/office/powerpoint/2010/main" val="755299378"/>
      </p:ext>
    </p:extLst>
  </p:cSld>
  <p:clrMapOvr>
    <a:masterClrMapping/>
  </p:clrMapOvr>
  <p:transition advTm="67194">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474647-39C7-5866-C66D-57F73CED6CAA}"/>
              </a:ext>
            </a:extLst>
          </p:cNvPr>
          <p:cNvSpPr txBox="1"/>
          <p:nvPr/>
        </p:nvSpPr>
        <p:spPr>
          <a:xfrm>
            <a:off x="237301" y="974254"/>
            <a:ext cx="3037453" cy="6705105"/>
          </a:xfrm>
          <a:prstGeom prst="rect">
            <a:avLst/>
          </a:prstGeom>
          <a:noFill/>
        </p:spPr>
        <p:txBody>
          <a:bodyPr wrap="square">
            <a:spAutoFit/>
          </a:bodyPr>
          <a:lstStyle/>
          <a:p>
            <a:pPr>
              <a:buNone/>
            </a:pPr>
            <a:r>
              <a:rPr lang="en-US" sz="2824" dirty="0">
                <a:latin typeface="+mj-lt"/>
              </a:rPr>
              <a:t>What it means to</a:t>
            </a:r>
          </a:p>
          <a:p>
            <a:pPr>
              <a:buNone/>
            </a:pPr>
            <a:r>
              <a:rPr lang="en-US" sz="2824" dirty="0">
                <a:latin typeface="+mj-lt"/>
              </a:rPr>
              <a:t>become Frontier</a:t>
            </a:r>
          </a:p>
          <a:p>
            <a:pPr>
              <a:buNone/>
            </a:pPr>
            <a:br>
              <a:rPr lang="en-US" sz="1493" dirty="0"/>
            </a:br>
            <a:endParaRPr lang="en-US" sz="1493" dirty="0"/>
          </a:p>
          <a:p>
            <a:pPr>
              <a:buNone/>
            </a:pPr>
            <a:r>
              <a:rPr lang="en-US" sz="1493" dirty="0"/>
              <a:t>To </a:t>
            </a:r>
            <a:r>
              <a:rPr lang="en-US" sz="1493" b="1" dirty="0"/>
              <a:t>become Frontier</a:t>
            </a:r>
            <a:r>
              <a:rPr lang="en-US" sz="1493" dirty="0"/>
              <a:t> means more than adopting a few new tools — it’s a </a:t>
            </a:r>
            <a:r>
              <a:rPr lang="en-US" sz="1493" b="1" dirty="0"/>
              <a:t>strategic transformation</a:t>
            </a:r>
            <a:r>
              <a:rPr lang="en-US" sz="1493" dirty="0"/>
              <a:t> in how work gets done, how decisions are made, and how value is created.</a:t>
            </a:r>
          </a:p>
          <a:p>
            <a:pPr>
              <a:buNone/>
            </a:pPr>
            <a:endParaRPr lang="en-US" sz="1493" dirty="0"/>
          </a:p>
          <a:p>
            <a:pPr>
              <a:buNone/>
            </a:pPr>
            <a:r>
              <a:rPr lang="en-US" sz="1493" dirty="0"/>
              <a:t>A </a:t>
            </a:r>
            <a:r>
              <a:rPr lang="en-US" sz="1493" b="1" dirty="0"/>
              <a:t>Frontier Firm</a:t>
            </a:r>
            <a:r>
              <a:rPr lang="en-US" sz="1493" dirty="0"/>
              <a:t> is defined not by its industry or size, but by its </a:t>
            </a:r>
            <a:r>
              <a:rPr lang="en-US" sz="1493" b="1" dirty="0"/>
              <a:t>mindset and execution</a:t>
            </a:r>
            <a:r>
              <a:rPr lang="en-US" sz="1493" dirty="0"/>
              <a:t>:</a:t>
            </a:r>
          </a:p>
          <a:p>
            <a:pPr marL="252146" indent="-252146">
              <a:buFont typeface="Arial" panose="020B0604020202020204" pitchFamily="34" charset="0"/>
              <a:buChar char="•"/>
            </a:pPr>
            <a:r>
              <a:rPr lang="en-US" sz="1493" dirty="0"/>
              <a:t>Intelligence is embedded throughout the company, not siloed in pockets.</a:t>
            </a:r>
          </a:p>
          <a:p>
            <a:pPr marL="252146" indent="-252146">
              <a:buFont typeface="Arial" panose="020B0604020202020204" pitchFamily="34" charset="0"/>
              <a:buChar char="•"/>
            </a:pPr>
            <a:r>
              <a:rPr lang="en-US" sz="1493" dirty="0"/>
              <a:t>AI and automation are integrated into core work, not just experiments at the edge.</a:t>
            </a:r>
          </a:p>
          <a:p>
            <a:pPr marL="252146" indent="-252146">
              <a:buFont typeface="Arial" panose="020B0604020202020204" pitchFamily="34" charset="0"/>
              <a:buChar char="•"/>
            </a:pPr>
            <a:r>
              <a:rPr lang="en-US" sz="1493" dirty="0"/>
              <a:t>Humans lead with purpose and judgment, while AI handles routine and data-intensive work.  </a:t>
            </a:r>
          </a:p>
          <a:p>
            <a:pPr>
              <a:buNone/>
            </a:pPr>
            <a:br>
              <a:rPr lang="en-US" sz="1493" dirty="0"/>
            </a:br>
            <a:endParaRPr lang="en-US" sz="1493" dirty="0"/>
          </a:p>
          <a:p>
            <a:pPr>
              <a:buNone/>
            </a:pPr>
            <a:r>
              <a:rPr lang="en-US" sz="1493" dirty="0"/>
              <a:t>.</a:t>
            </a:r>
          </a:p>
        </p:txBody>
      </p:sp>
      <p:sp>
        <p:nvSpPr>
          <p:cNvPr id="6" name="TextBox 5">
            <a:extLst>
              <a:ext uri="{FF2B5EF4-FFF2-40B4-BE49-F238E27FC236}">
                <a16:creationId xmlns:a16="http://schemas.microsoft.com/office/drawing/2014/main" id="{CE18EACC-4D3A-1137-B8F0-EE27E9A08AEE}"/>
              </a:ext>
            </a:extLst>
          </p:cNvPr>
          <p:cNvSpPr txBox="1"/>
          <p:nvPr/>
        </p:nvSpPr>
        <p:spPr>
          <a:xfrm>
            <a:off x="3923378" y="1731318"/>
            <a:ext cx="2697322" cy="6662530"/>
          </a:xfrm>
          <a:prstGeom prst="rect">
            <a:avLst/>
          </a:prstGeom>
          <a:noFill/>
        </p:spPr>
        <p:txBody>
          <a:bodyPr wrap="square" lIns="0" tIns="0" rIns="0" bIns="0" rtlCol="0">
            <a:spAutoFit/>
          </a:bodyPr>
          <a:lstStyle/>
          <a:p>
            <a:pPr>
              <a:buNone/>
            </a:pPr>
            <a:r>
              <a:rPr lang="en-US" sz="1493" dirty="0">
                <a:solidFill>
                  <a:schemeClr val="bg1"/>
                </a:solidFill>
              </a:rPr>
              <a:t>In a Frontier organization:</a:t>
            </a:r>
          </a:p>
          <a:p>
            <a:pPr>
              <a:buNone/>
            </a:pPr>
            <a:endParaRPr lang="en-US" sz="1493" dirty="0">
              <a:solidFill>
                <a:schemeClr val="bg1"/>
              </a:solidFill>
            </a:endParaRPr>
          </a:p>
          <a:p>
            <a:pPr marL="302575" indent="-302575">
              <a:buFont typeface="Arial" panose="020B0604020202020204" pitchFamily="34" charset="0"/>
              <a:buChar char="•"/>
            </a:pPr>
            <a:r>
              <a:rPr lang="en-US" sz="1493" dirty="0">
                <a:solidFill>
                  <a:schemeClr val="bg1"/>
                </a:solidFill>
              </a:rPr>
              <a:t>AI isn’t an add-on — it’s central to how the business operates.</a:t>
            </a:r>
          </a:p>
          <a:p>
            <a:pPr marL="302575" indent="-302575">
              <a:buFont typeface="Arial" panose="020B0604020202020204" pitchFamily="34" charset="0"/>
              <a:buChar char="•"/>
            </a:pPr>
            <a:r>
              <a:rPr lang="en-US" sz="1493" dirty="0">
                <a:solidFill>
                  <a:schemeClr val="bg1"/>
                </a:solidFill>
              </a:rPr>
              <a:t>Employees and AI agents work together — humans set direction, AI executes at scale.</a:t>
            </a:r>
          </a:p>
          <a:p>
            <a:pPr marL="302575" indent="-302575">
              <a:buFont typeface="Arial" panose="020B0604020202020204" pitchFamily="34" charset="0"/>
              <a:buChar char="•"/>
            </a:pPr>
            <a:r>
              <a:rPr lang="en-US" sz="1493" dirty="0">
                <a:solidFill>
                  <a:schemeClr val="bg1"/>
                </a:solidFill>
              </a:rPr>
              <a:t>Value is unlocked through speed, agility, and deeper insights across functions.  </a:t>
            </a:r>
          </a:p>
          <a:p>
            <a:pPr>
              <a:buNone/>
            </a:pPr>
            <a:br>
              <a:rPr lang="en-US" sz="1493" dirty="0">
                <a:solidFill>
                  <a:schemeClr val="bg1"/>
                </a:solidFill>
              </a:rPr>
            </a:br>
            <a:endParaRPr lang="en-US" sz="1493" dirty="0">
              <a:solidFill>
                <a:schemeClr val="bg1"/>
              </a:solidFill>
            </a:endParaRPr>
          </a:p>
          <a:p>
            <a:pPr>
              <a:buNone/>
            </a:pPr>
            <a:r>
              <a:rPr lang="en-US" sz="1493" dirty="0">
                <a:solidFill>
                  <a:schemeClr val="bg1"/>
                </a:solidFill>
              </a:rPr>
              <a:t>This evolution is not about replacing people, but </a:t>
            </a:r>
            <a:r>
              <a:rPr lang="en-US" sz="1493" b="1" dirty="0">
                <a:solidFill>
                  <a:schemeClr val="bg1"/>
                </a:solidFill>
              </a:rPr>
              <a:t>amplifying human impact</a:t>
            </a:r>
            <a:r>
              <a:rPr lang="en-US" sz="1493" dirty="0">
                <a:solidFill>
                  <a:schemeClr val="bg1"/>
                </a:solidFill>
              </a:rPr>
              <a:t>:</a:t>
            </a:r>
          </a:p>
          <a:p>
            <a:pPr>
              <a:buNone/>
            </a:pPr>
            <a:endParaRPr lang="en-US" sz="1493" dirty="0">
              <a:solidFill>
                <a:schemeClr val="bg1"/>
              </a:solidFill>
            </a:endParaRPr>
          </a:p>
          <a:p>
            <a:pPr marL="252146" indent="-252146">
              <a:buFont typeface="Arial" panose="020B0604020202020204" pitchFamily="34" charset="0"/>
              <a:buChar char="•"/>
            </a:pPr>
            <a:r>
              <a:rPr lang="en-US" sz="1493" dirty="0">
                <a:solidFill>
                  <a:schemeClr val="bg1"/>
                </a:solidFill>
              </a:rPr>
              <a:t>Creativity, strategy, and decision-making become the focus of human work.</a:t>
            </a:r>
          </a:p>
          <a:p>
            <a:pPr marL="252146" indent="-252146">
              <a:buFont typeface="Arial" panose="020B0604020202020204" pitchFamily="34" charset="0"/>
              <a:buChar char="•"/>
            </a:pPr>
            <a:r>
              <a:rPr lang="en-US" sz="1493" dirty="0">
                <a:solidFill>
                  <a:schemeClr val="bg1"/>
                </a:solidFill>
              </a:rPr>
              <a:t>Routine task work is delegated to intelligent systems.</a:t>
            </a:r>
          </a:p>
          <a:p>
            <a:pPr marL="252146" indent="-252146">
              <a:buFont typeface="Arial" panose="020B0604020202020204" pitchFamily="34" charset="0"/>
              <a:buChar char="•"/>
            </a:pPr>
            <a:r>
              <a:rPr lang="en-US" sz="1493" dirty="0">
                <a:solidFill>
                  <a:schemeClr val="bg1"/>
                </a:solidFill>
              </a:rPr>
              <a:t>Organizations scale more quickly and adapt more fluidly to change.  </a:t>
            </a:r>
          </a:p>
          <a:p>
            <a:pPr>
              <a:buNone/>
            </a:pPr>
            <a:br>
              <a:rPr lang="en-US" sz="1493" dirty="0">
                <a:solidFill>
                  <a:schemeClr val="bg1"/>
                </a:solidFill>
              </a:rPr>
            </a:br>
            <a:endParaRPr lang="en-US" sz="1493" dirty="0">
              <a:solidFill>
                <a:schemeClr val="bg1"/>
              </a:solidFill>
            </a:endParaRPr>
          </a:p>
        </p:txBody>
      </p:sp>
      <p:sp>
        <p:nvSpPr>
          <p:cNvPr id="8" name="Title 7">
            <a:extLst>
              <a:ext uri="{FF2B5EF4-FFF2-40B4-BE49-F238E27FC236}">
                <a16:creationId xmlns:a16="http://schemas.microsoft.com/office/drawing/2014/main" id="{21D20988-8C3E-64D7-086A-18A3B4F5C52A}"/>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416130636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38DB5-FDE8-F88E-F666-1AE3C7B6CC81}"/>
              </a:ext>
            </a:extLst>
          </p:cNvPr>
          <p:cNvSpPr>
            <a:spLocks noGrp="1"/>
          </p:cNvSpPr>
          <p:nvPr>
            <p:ph type="title"/>
          </p:nvPr>
        </p:nvSpPr>
        <p:spPr>
          <a:xfrm>
            <a:off x="495939" y="1082613"/>
            <a:ext cx="4087176" cy="515978"/>
          </a:xfrm>
        </p:spPr>
        <p:txBody>
          <a:bodyPr wrap="square" lIns="0" tIns="40341" rIns="80682" bIns="40341" anchor="t" anchorCtr="0">
            <a:spAutoFit/>
          </a:bodyPr>
          <a:lstStyle/>
          <a:p>
            <a:r>
              <a:rPr lang="en-US" dirty="0">
                <a:cs typeface="Segoe UI"/>
              </a:rPr>
              <a:t>Workshop flow</a:t>
            </a:r>
            <a:endParaRPr lang="en-US" dirty="0">
              <a:solidFill>
                <a:schemeClr val="tx2"/>
              </a:solidFill>
              <a:cs typeface="Segoe UI"/>
            </a:endParaRPr>
          </a:p>
        </p:txBody>
      </p:sp>
      <p:sp>
        <p:nvSpPr>
          <p:cNvPr id="3" name="TextBox 2">
            <a:extLst>
              <a:ext uri="{FF2B5EF4-FFF2-40B4-BE49-F238E27FC236}">
                <a16:creationId xmlns:a16="http://schemas.microsoft.com/office/drawing/2014/main" id="{640D589E-B017-BA5E-233E-DC03D44A93A6}"/>
              </a:ext>
            </a:extLst>
          </p:cNvPr>
          <p:cNvSpPr txBox="1"/>
          <p:nvPr/>
        </p:nvSpPr>
        <p:spPr>
          <a:xfrm>
            <a:off x="495939" y="2494419"/>
            <a:ext cx="2024137" cy="1921680"/>
          </a:xfrm>
          <a:prstGeom prst="rect">
            <a:avLst/>
          </a:prstGeom>
          <a:noFill/>
        </p:spPr>
        <p:txBody>
          <a:bodyPr wrap="square" lIns="0" tIns="0" rIns="0" bIns="0" rtlCol="0">
            <a:spAutoFit/>
          </a:bodyPr>
          <a:lstStyle/>
          <a:p>
            <a:pPr algn="l"/>
            <a:r>
              <a:rPr lang="en-US" sz="1765" dirty="0">
                <a:latin typeface="+mj-lt"/>
              </a:rPr>
              <a:t>Select</a:t>
            </a:r>
          </a:p>
          <a:p>
            <a:pPr algn="l"/>
            <a:endParaRPr lang="en-US" sz="1765" dirty="0"/>
          </a:p>
          <a:p>
            <a:pPr algn="l"/>
            <a:r>
              <a:rPr lang="en-US" sz="1493" dirty="0"/>
              <a:t>Start by choosing your entry point – will you explore a single role, an existing process or a new/reimagined experience?</a:t>
            </a:r>
          </a:p>
        </p:txBody>
      </p:sp>
      <p:sp>
        <p:nvSpPr>
          <p:cNvPr id="5" name="TextBox 4">
            <a:extLst>
              <a:ext uri="{FF2B5EF4-FFF2-40B4-BE49-F238E27FC236}">
                <a16:creationId xmlns:a16="http://schemas.microsoft.com/office/drawing/2014/main" id="{51DBDEEE-4F23-5E1F-1E39-69C93A57CDF0}"/>
              </a:ext>
            </a:extLst>
          </p:cNvPr>
          <p:cNvSpPr txBox="1"/>
          <p:nvPr/>
        </p:nvSpPr>
        <p:spPr>
          <a:xfrm>
            <a:off x="3758678" y="3058146"/>
            <a:ext cx="2024137" cy="2151423"/>
          </a:xfrm>
          <a:prstGeom prst="rect">
            <a:avLst/>
          </a:prstGeom>
          <a:noFill/>
        </p:spPr>
        <p:txBody>
          <a:bodyPr wrap="square" lIns="0" tIns="0" rIns="0" bIns="0" rtlCol="0">
            <a:spAutoFit/>
          </a:bodyPr>
          <a:lstStyle/>
          <a:p>
            <a:pPr algn="l"/>
            <a:r>
              <a:rPr lang="en-US" sz="1765" dirty="0">
                <a:latin typeface="+mj-lt"/>
              </a:rPr>
              <a:t>Map &amp; identify</a:t>
            </a:r>
          </a:p>
          <a:p>
            <a:pPr algn="l"/>
            <a:endParaRPr lang="en-US" sz="1765" dirty="0"/>
          </a:p>
          <a:p>
            <a:pPr algn="l"/>
            <a:r>
              <a:rPr lang="en-US" sz="1493" dirty="0"/>
              <a:t>Use the mapping tools to capture what happens today. Break the work into steps or moments and note where the flow slows down or feels painful.</a:t>
            </a:r>
          </a:p>
        </p:txBody>
      </p:sp>
      <p:sp>
        <p:nvSpPr>
          <p:cNvPr id="6" name="TextBox 5">
            <a:extLst>
              <a:ext uri="{FF2B5EF4-FFF2-40B4-BE49-F238E27FC236}">
                <a16:creationId xmlns:a16="http://schemas.microsoft.com/office/drawing/2014/main" id="{F40AA9F4-1093-BE37-7854-CE97F4C4CF13}"/>
              </a:ext>
            </a:extLst>
          </p:cNvPr>
          <p:cNvSpPr txBox="1"/>
          <p:nvPr/>
        </p:nvSpPr>
        <p:spPr>
          <a:xfrm>
            <a:off x="703021" y="5312157"/>
            <a:ext cx="2024137" cy="2193293"/>
          </a:xfrm>
          <a:prstGeom prst="rect">
            <a:avLst/>
          </a:prstGeom>
          <a:noFill/>
        </p:spPr>
        <p:txBody>
          <a:bodyPr wrap="square" lIns="0" tIns="0" rIns="0" bIns="0" rtlCol="0">
            <a:spAutoFit/>
          </a:bodyPr>
          <a:lstStyle/>
          <a:p>
            <a:pPr algn="l"/>
            <a:r>
              <a:rPr lang="en-US" sz="1765" dirty="0">
                <a:latin typeface="+mj-lt"/>
              </a:rPr>
              <a:t>Assess, prioritize &amp; ideate</a:t>
            </a:r>
          </a:p>
          <a:p>
            <a:pPr algn="l"/>
            <a:endParaRPr lang="en-US" sz="1765" dirty="0"/>
          </a:p>
          <a:p>
            <a:pPr algn="l"/>
            <a:r>
              <a:rPr lang="en-US" sz="1493" dirty="0"/>
              <a:t>Evaluate each pain point for impact &amp; value, brainstorm ideas and improvements, then prioritize the most promising.</a:t>
            </a:r>
          </a:p>
        </p:txBody>
      </p:sp>
      <p:sp>
        <p:nvSpPr>
          <p:cNvPr id="7" name="TextBox 6">
            <a:extLst>
              <a:ext uri="{FF2B5EF4-FFF2-40B4-BE49-F238E27FC236}">
                <a16:creationId xmlns:a16="http://schemas.microsoft.com/office/drawing/2014/main" id="{EFE1A277-AF58-6BC1-430F-76F4C37CE461}"/>
              </a:ext>
            </a:extLst>
          </p:cNvPr>
          <p:cNvSpPr txBox="1"/>
          <p:nvPr/>
        </p:nvSpPr>
        <p:spPr>
          <a:xfrm>
            <a:off x="4485405" y="6324967"/>
            <a:ext cx="2024137" cy="2381165"/>
          </a:xfrm>
          <a:prstGeom prst="rect">
            <a:avLst/>
          </a:prstGeom>
          <a:noFill/>
        </p:spPr>
        <p:txBody>
          <a:bodyPr wrap="square" lIns="0" tIns="0" rIns="0" bIns="0" rtlCol="0">
            <a:spAutoFit/>
          </a:bodyPr>
          <a:lstStyle/>
          <a:p>
            <a:pPr algn="l"/>
            <a:r>
              <a:rPr lang="en-US" sz="1765" dirty="0">
                <a:latin typeface="+mj-lt"/>
              </a:rPr>
              <a:t>Design</a:t>
            </a:r>
          </a:p>
          <a:p>
            <a:pPr algn="l"/>
            <a:endParaRPr lang="en-US" sz="1765" dirty="0"/>
          </a:p>
          <a:p>
            <a:pPr algn="l"/>
            <a:r>
              <a:rPr lang="en-US" sz="1493" dirty="0"/>
              <a:t>Take your top idea and design a solution – define what the agent does, how it interacts with humans and systems, what data it needs and how you’ll measure its success.</a:t>
            </a:r>
          </a:p>
        </p:txBody>
      </p:sp>
      <p:sp>
        <p:nvSpPr>
          <p:cNvPr id="15" name="Freeform 14">
            <a:extLst>
              <a:ext uri="{FF2B5EF4-FFF2-40B4-BE49-F238E27FC236}">
                <a16:creationId xmlns:a16="http://schemas.microsoft.com/office/drawing/2014/main" id="{06F6ED0A-D542-A5CE-FC27-91FA95E13D13}"/>
              </a:ext>
            </a:extLst>
          </p:cNvPr>
          <p:cNvSpPr/>
          <p:nvPr/>
        </p:nvSpPr>
        <p:spPr bwMode="auto">
          <a:xfrm>
            <a:off x="1281425" y="2459937"/>
            <a:ext cx="3084914" cy="3940599"/>
          </a:xfrm>
          <a:custGeom>
            <a:avLst/>
            <a:gdLst>
              <a:gd name="csX0" fmla="*/ 0 w 3496236"/>
              <a:gd name="csY0" fmla="*/ 198812 h 4466012"/>
              <a:gd name="csX1" fmla="*/ 430306 w 3496236"/>
              <a:gd name="csY1" fmla="*/ 55377 h 4466012"/>
              <a:gd name="csX2" fmla="*/ 806824 w 3496236"/>
              <a:gd name="csY2" fmla="*/ 1589 h 4466012"/>
              <a:gd name="csX3" fmla="*/ 1129553 w 3496236"/>
              <a:gd name="csY3" fmla="*/ 19518 h 4466012"/>
              <a:gd name="csX4" fmla="*/ 1613647 w 3496236"/>
              <a:gd name="csY4" fmla="*/ 73306 h 4466012"/>
              <a:gd name="csX5" fmla="*/ 2079812 w 3496236"/>
              <a:gd name="csY5" fmla="*/ 198812 h 4466012"/>
              <a:gd name="csX6" fmla="*/ 2366683 w 3496236"/>
              <a:gd name="csY6" fmla="*/ 306389 h 4466012"/>
              <a:gd name="csX7" fmla="*/ 2635624 w 3496236"/>
              <a:gd name="csY7" fmla="*/ 521542 h 4466012"/>
              <a:gd name="csX8" fmla="*/ 2725271 w 3496236"/>
              <a:gd name="csY8" fmla="*/ 826342 h 4466012"/>
              <a:gd name="csX9" fmla="*/ 2653553 w 3496236"/>
              <a:gd name="csY9" fmla="*/ 1113212 h 4466012"/>
              <a:gd name="csX10" fmla="*/ 2384612 w 3496236"/>
              <a:gd name="csY10" fmla="*/ 1597306 h 4466012"/>
              <a:gd name="csX11" fmla="*/ 1918447 w 3496236"/>
              <a:gd name="csY11" fmla="*/ 2063471 h 4466012"/>
              <a:gd name="csX12" fmla="*/ 1452283 w 3496236"/>
              <a:gd name="csY12" fmla="*/ 2529636 h 4466012"/>
              <a:gd name="csX13" fmla="*/ 1344706 w 3496236"/>
              <a:gd name="csY13" fmla="*/ 2816506 h 4466012"/>
              <a:gd name="csX14" fmla="*/ 1416424 w 3496236"/>
              <a:gd name="csY14" fmla="*/ 3121306 h 4466012"/>
              <a:gd name="csX15" fmla="*/ 1631577 w 3496236"/>
              <a:gd name="csY15" fmla="*/ 3390247 h 4466012"/>
              <a:gd name="csX16" fmla="*/ 1792942 w 3496236"/>
              <a:gd name="csY16" fmla="*/ 3587471 h 4466012"/>
              <a:gd name="csX17" fmla="*/ 2169459 w 3496236"/>
              <a:gd name="csY17" fmla="*/ 3910200 h 4466012"/>
              <a:gd name="csX18" fmla="*/ 2779059 w 3496236"/>
              <a:gd name="csY18" fmla="*/ 4215000 h 4466012"/>
              <a:gd name="csX19" fmla="*/ 3496236 w 3496236"/>
              <a:gd name="csY19" fmla="*/ 4466012 h 4466012"/>
              <a:gd name="csX20" fmla="*/ 3496236 w 3496236"/>
              <a:gd name="csY20" fmla="*/ 4466012 h 4466012"/>
              <a:gd name="csX21" fmla="*/ 3496236 w 3496236"/>
              <a:gd name="csY21" fmla="*/ 4466012 h 4466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496236" h="4466012">
                <a:moveTo>
                  <a:pt x="0" y="198812"/>
                </a:moveTo>
                <a:cubicBezTo>
                  <a:pt x="147917" y="143529"/>
                  <a:pt x="295835" y="88247"/>
                  <a:pt x="430306" y="55377"/>
                </a:cubicBezTo>
                <a:cubicBezTo>
                  <a:pt x="564777" y="22507"/>
                  <a:pt x="690283" y="7565"/>
                  <a:pt x="806824" y="1589"/>
                </a:cubicBezTo>
                <a:cubicBezTo>
                  <a:pt x="923365" y="-4388"/>
                  <a:pt x="995082" y="7565"/>
                  <a:pt x="1129553" y="19518"/>
                </a:cubicBezTo>
                <a:cubicBezTo>
                  <a:pt x="1264024" y="31471"/>
                  <a:pt x="1455271" y="43424"/>
                  <a:pt x="1613647" y="73306"/>
                </a:cubicBezTo>
                <a:cubicBezTo>
                  <a:pt x="1772024" y="103188"/>
                  <a:pt x="1954306" y="159965"/>
                  <a:pt x="2079812" y="198812"/>
                </a:cubicBezTo>
                <a:cubicBezTo>
                  <a:pt x="2205318" y="237659"/>
                  <a:pt x="2274048" y="252601"/>
                  <a:pt x="2366683" y="306389"/>
                </a:cubicBezTo>
                <a:cubicBezTo>
                  <a:pt x="2459318" y="360177"/>
                  <a:pt x="2575859" y="434883"/>
                  <a:pt x="2635624" y="521542"/>
                </a:cubicBezTo>
                <a:cubicBezTo>
                  <a:pt x="2695389" y="608201"/>
                  <a:pt x="2722283" y="727730"/>
                  <a:pt x="2725271" y="826342"/>
                </a:cubicBezTo>
                <a:cubicBezTo>
                  <a:pt x="2728259" y="924954"/>
                  <a:pt x="2710330" y="984718"/>
                  <a:pt x="2653553" y="1113212"/>
                </a:cubicBezTo>
                <a:cubicBezTo>
                  <a:pt x="2596776" y="1241706"/>
                  <a:pt x="2507130" y="1438930"/>
                  <a:pt x="2384612" y="1597306"/>
                </a:cubicBezTo>
                <a:cubicBezTo>
                  <a:pt x="2262094" y="1755682"/>
                  <a:pt x="1918447" y="2063471"/>
                  <a:pt x="1918447" y="2063471"/>
                </a:cubicBezTo>
                <a:cubicBezTo>
                  <a:pt x="1763059" y="2218859"/>
                  <a:pt x="1547907" y="2404130"/>
                  <a:pt x="1452283" y="2529636"/>
                </a:cubicBezTo>
                <a:cubicBezTo>
                  <a:pt x="1356659" y="2655142"/>
                  <a:pt x="1350683" y="2717894"/>
                  <a:pt x="1344706" y="2816506"/>
                </a:cubicBezTo>
                <a:cubicBezTo>
                  <a:pt x="1338730" y="2915118"/>
                  <a:pt x="1368612" y="3025683"/>
                  <a:pt x="1416424" y="3121306"/>
                </a:cubicBezTo>
                <a:cubicBezTo>
                  <a:pt x="1464236" y="3216930"/>
                  <a:pt x="1568824" y="3312553"/>
                  <a:pt x="1631577" y="3390247"/>
                </a:cubicBezTo>
                <a:cubicBezTo>
                  <a:pt x="1694330" y="3467941"/>
                  <a:pt x="1703295" y="3500812"/>
                  <a:pt x="1792942" y="3587471"/>
                </a:cubicBezTo>
                <a:cubicBezTo>
                  <a:pt x="1882589" y="3674130"/>
                  <a:pt x="2005106" y="3805612"/>
                  <a:pt x="2169459" y="3910200"/>
                </a:cubicBezTo>
                <a:cubicBezTo>
                  <a:pt x="2333812" y="4014788"/>
                  <a:pt x="2557930" y="4122365"/>
                  <a:pt x="2779059" y="4215000"/>
                </a:cubicBezTo>
                <a:cubicBezTo>
                  <a:pt x="3000189" y="4307635"/>
                  <a:pt x="3496236" y="4466012"/>
                  <a:pt x="3496236" y="4466012"/>
                </a:cubicBezTo>
                <a:lnTo>
                  <a:pt x="3496236" y="4466012"/>
                </a:lnTo>
                <a:lnTo>
                  <a:pt x="3496236" y="4466012"/>
                </a:lnTo>
              </a:path>
            </a:pathLst>
          </a:custGeom>
          <a:ln w="12700">
            <a:prstDash val="dash"/>
            <a:headEnd type="oval" w="med" len="med"/>
            <a:tailEnd type="oval"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sz="1493"/>
          </a:p>
        </p:txBody>
      </p:sp>
      <p:sp>
        <p:nvSpPr>
          <p:cNvPr id="16" name="Oval 15">
            <a:extLst>
              <a:ext uri="{FF2B5EF4-FFF2-40B4-BE49-F238E27FC236}">
                <a16:creationId xmlns:a16="http://schemas.microsoft.com/office/drawing/2014/main" id="{F94DC2E0-3421-7D77-13BA-F035F99B8F64}"/>
              </a:ext>
            </a:extLst>
          </p:cNvPr>
          <p:cNvSpPr/>
          <p:nvPr/>
        </p:nvSpPr>
        <p:spPr bwMode="auto">
          <a:xfrm>
            <a:off x="3589484" y="3340280"/>
            <a:ext cx="100257" cy="100257"/>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7" name="Oval 16">
            <a:extLst>
              <a:ext uri="{FF2B5EF4-FFF2-40B4-BE49-F238E27FC236}">
                <a16:creationId xmlns:a16="http://schemas.microsoft.com/office/drawing/2014/main" id="{E1F2AE7B-6130-BAA2-0F59-183BD23EBF94}"/>
              </a:ext>
            </a:extLst>
          </p:cNvPr>
          <p:cNvSpPr/>
          <p:nvPr/>
        </p:nvSpPr>
        <p:spPr bwMode="auto">
          <a:xfrm>
            <a:off x="2773754" y="5538103"/>
            <a:ext cx="100257" cy="100257"/>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417489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C45AFD3-975C-3A71-8E2F-C50E9DC51172}"/>
              </a:ext>
            </a:extLst>
          </p:cNvPr>
          <p:cNvSpPr>
            <a:spLocks noGrp="1"/>
          </p:cNvSpPr>
          <p:nvPr>
            <p:ph type="title"/>
          </p:nvPr>
        </p:nvSpPr>
        <p:spPr>
          <a:xfrm>
            <a:off x="495939" y="1082613"/>
            <a:ext cx="4087176" cy="950682"/>
          </a:xfrm>
        </p:spPr>
        <p:txBody>
          <a:bodyPr wrap="square" lIns="0" tIns="40341" rIns="80682" bIns="40341" anchor="t" anchorCtr="0">
            <a:spAutoFit/>
          </a:bodyPr>
          <a:lstStyle/>
          <a:p>
            <a:r>
              <a:rPr lang="en-US" sz="2824" dirty="0">
                <a:solidFill>
                  <a:schemeClr val="tx2"/>
                </a:solidFill>
                <a:cs typeface="Segoe UI"/>
              </a:rPr>
              <a:t>Selecting your starting lens</a:t>
            </a:r>
          </a:p>
        </p:txBody>
      </p:sp>
      <p:sp>
        <p:nvSpPr>
          <p:cNvPr id="6" name="Text Placeholder 2">
            <a:extLst>
              <a:ext uri="{FF2B5EF4-FFF2-40B4-BE49-F238E27FC236}">
                <a16:creationId xmlns:a16="http://schemas.microsoft.com/office/drawing/2014/main" id="{7F969726-2350-FDB7-57A0-919CB09D4E93}"/>
              </a:ext>
            </a:extLst>
          </p:cNvPr>
          <p:cNvSpPr txBox="1">
            <a:spLocks/>
          </p:cNvSpPr>
          <p:nvPr/>
        </p:nvSpPr>
        <p:spPr>
          <a:xfrm>
            <a:off x="-117704" y="6283424"/>
            <a:ext cx="2729495" cy="325881"/>
          </a:xfrm>
          <a:prstGeom prst="rect">
            <a:avLst/>
          </a:prstGeom>
        </p:spPr>
        <p:txBody>
          <a:bodyPr/>
          <a:lstStyle>
            <a:lvl1pPr marL="145733" marR="0" indent="-145733"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785" kern="1200" spc="0" baseline="0">
                <a:solidFill>
                  <a:schemeClr val="tx1"/>
                </a:solidFill>
                <a:latin typeface="+mn-lt"/>
                <a:ea typeface="+mn-ea"/>
                <a:cs typeface="Segoe UI" panose="020B0502040204020203" pitchFamily="34" charset="0"/>
              </a:defRPr>
            </a:lvl1pPr>
            <a:lvl2pPr marL="291465" marR="0" indent="-145733"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75" kern="1200" spc="0" baseline="0">
                <a:solidFill>
                  <a:schemeClr val="tx1"/>
                </a:solidFill>
                <a:latin typeface="+mn-lt"/>
                <a:ea typeface="+mn-ea"/>
                <a:cs typeface="+mn-cs"/>
              </a:defRPr>
            </a:lvl2pPr>
            <a:lvl3pPr marL="418981" marR="0" indent="-127516"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20" kern="1200" spc="0" baseline="0">
                <a:solidFill>
                  <a:schemeClr val="tx1"/>
                </a:solidFill>
                <a:latin typeface="+mn-lt"/>
                <a:ea typeface="+mn-ea"/>
                <a:cs typeface="+mn-cs"/>
              </a:defRPr>
            </a:lvl3pPr>
            <a:lvl4pPr marL="5373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chemeClr val="tx1"/>
                </a:solidFill>
                <a:latin typeface="+mn-lt"/>
                <a:ea typeface="+mn-ea"/>
                <a:cs typeface="+mn-cs"/>
              </a:defRPr>
            </a:lvl4pPr>
            <a:lvl5pPr marL="652760" marR="0" indent="-10727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chemeClr val="tx1"/>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a:lstStyle>
          <a:p>
            <a:pPr marL="0" indent="0" algn="ctr">
              <a:buNone/>
            </a:pPr>
            <a:r>
              <a:rPr lang="en-US" sz="1588" dirty="0"/>
              <a:t>Role </a:t>
            </a:r>
          </a:p>
          <a:p>
            <a:pPr marL="0" indent="0" algn="ctr">
              <a:buNone/>
            </a:pPr>
            <a:r>
              <a:rPr lang="en-US" sz="1588" dirty="0"/>
              <a:t>augmentation</a:t>
            </a:r>
          </a:p>
        </p:txBody>
      </p:sp>
      <p:sp>
        <p:nvSpPr>
          <p:cNvPr id="7" name="Text Placeholder 3">
            <a:extLst>
              <a:ext uri="{FF2B5EF4-FFF2-40B4-BE49-F238E27FC236}">
                <a16:creationId xmlns:a16="http://schemas.microsoft.com/office/drawing/2014/main" id="{E1536CFD-D20D-152A-7F15-80E8CBB0340D}"/>
              </a:ext>
            </a:extLst>
          </p:cNvPr>
          <p:cNvSpPr txBox="1">
            <a:spLocks/>
          </p:cNvSpPr>
          <p:nvPr/>
        </p:nvSpPr>
        <p:spPr>
          <a:xfrm>
            <a:off x="2113525" y="6283424"/>
            <a:ext cx="2729495" cy="325881"/>
          </a:xfrm>
          <a:prstGeom prst="rect">
            <a:avLst/>
          </a:prstGeom>
        </p:spPr>
        <p:txBody>
          <a:bodyPr/>
          <a:lstStyle>
            <a:lvl1pPr marL="145733" marR="0" indent="-145733"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785" kern="1200" spc="0" baseline="0">
                <a:solidFill>
                  <a:schemeClr val="tx1"/>
                </a:solidFill>
                <a:latin typeface="+mn-lt"/>
                <a:ea typeface="+mn-ea"/>
                <a:cs typeface="Segoe UI" panose="020B0502040204020203" pitchFamily="34" charset="0"/>
              </a:defRPr>
            </a:lvl1pPr>
            <a:lvl2pPr marL="291465" marR="0" indent="-145733"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75" kern="1200" spc="0" baseline="0">
                <a:solidFill>
                  <a:schemeClr val="tx1"/>
                </a:solidFill>
                <a:latin typeface="+mn-lt"/>
                <a:ea typeface="+mn-ea"/>
                <a:cs typeface="+mn-cs"/>
              </a:defRPr>
            </a:lvl2pPr>
            <a:lvl3pPr marL="418981" marR="0" indent="-127516"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20" kern="1200" spc="0" baseline="0">
                <a:solidFill>
                  <a:schemeClr val="tx1"/>
                </a:solidFill>
                <a:latin typeface="+mn-lt"/>
                <a:ea typeface="+mn-ea"/>
                <a:cs typeface="+mn-cs"/>
              </a:defRPr>
            </a:lvl3pPr>
            <a:lvl4pPr marL="5373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chemeClr val="tx1"/>
                </a:solidFill>
                <a:latin typeface="+mn-lt"/>
                <a:ea typeface="+mn-ea"/>
                <a:cs typeface="+mn-cs"/>
              </a:defRPr>
            </a:lvl4pPr>
            <a:lvl5pPr marL="652760" marR="0" indent="-10727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chemeClr val="tx1"/>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a:lstStyle>
          <a:p>
            <a:pPr marL="0" indent="0" algn="ctr">
              <a:buNone/>
            </a:pPr>
            <a:r>
              <a:rPr lang="en-US" sz="1588" dirty="0"/>
              <a:t>Process </a:t>
            </a:r>
          </a:p>
          <a:p>
            <a:pPr marL="0" indent="0" algn="ctr">
              <a:buNone/>
            </a:pPr>
            <a:r>
              <a:rPr lang="en-US" sz="1588" dirty="0"/>
              <a:t>optimization</a:t>
            </a:r>
          </a:p>
        </p:txBody>
      </p:sp>
      <p:sp>
        <p:nvSpPr>
          <p:cNvPr id="8" name="Text Placeholder 4">
            <a:extLst>
              <a:ext uri="{FF2B5EF4-FFF2-40B4-BE49-F238E27FC236}">
                <a16:creationId xmlns:a16="http://schemas.microsoft.com/office/drawing/2014/main" id="{48E63CE5-BB03-204F-F300-1ABD85B8E1E0}"/>
              </a:ext>
            </a:extLst>
          </p:cNvPr>
          <p:cNvSpPr>
            <a:spLocks noGrp="1"/>
          </p:cNvSpPr>
          <p:nvPr>
            <p:ph type="body" sz="quarter" idx="12"/>
          </p:nvPr>
        </p:nvSpPr>
        <p:spPr>
          <a:xfrm>
            <a:off x="4128505" y="6283424"/>
            <a:ext cx="2729495" cy="651762"/>
          </a:xfrm>
        </p:spPr>
        <p:txBody>
          <a:bodyPr/>
          <a:lstStyle/>
          <a:p>
            <a:pPr algn="ctr"/>
            <a:r>
              <a:rPr lang="en-US" sz="1588" dirty="0">
                <a:solidFill>
                  <a:schemeClr val="tx1"/>
                </a:solidFill>
                <a:latin typeface="+mn-lt"/>
              </a:rPr>
              <a:t>Reimagined </a:t>
            </a:r>
          </a:p>
          <a:p>
            <a:pPr algn="ctr"/>
            <a:r>
              <a:rPr lang="en-US" sz="1588" dirty="0">
                <a:solidFill>
                  <a:schemeClr val="tx1"/>
                </a:solidFill>
                <a:latin typeface="+mn-lt"/>
              </a:rPr>
              <a:t>experiences</a:t>
            </a:r>
          </a:p>
        </p:txBody>
      </p:sp>
      <p:pic>
        <p:nvPicPr>
          <p:cNvPr id="9" name="Graphic 8" descr="Work from home desk with solid fill">
            <a:extLst>
              <a:ext uri="{FF2B5EF4-FFF2-40B4-BE49-F238E27FC236}">
                <a16:creationId xmlns:a16="http://schemas.microsoft.com/office/drawing/2014/main" id="{FF01819D-5176-5D8D-8397-42B9257DDC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7789" y="5436634"/>
            <a:ext cx="639233" cy="639233"/>
          </a:xfrm>
          <a:prstGeom prst="rect">
            <a:avLst/>
          </a:prstGeom>
        </p:spPr>
      </p:pic>
      <p:pic>
        <p:nvPicPr>
          <p:cNvPr id="10" name="Graphic 9" descr="Flowchart with solid fill">
            <a:extLst>
              <a:ext uri="{FF2B5EF4-FFF2-40B4-BE49-F238E27FC236}">
                <a16:creationId xmlns:a16="http://schemas.microsoft.com/office/drawing/2014/main" id="{8EE757E2-2FED-BFD3-286A-6117460526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8656" y="5436634"/>
            <a:ext cx="639233" cy="639233"/>
          </a:xfrm>
          <a:prstGeom prst="rect">
            <a:avLst/>
          </a:prstGeom>
        </p:spPr>
      </p:pic>
      <p:pic>
        <p:nvPicPr>
          <p:cNvPr id="11" name="Graphic 10" descr="New Moon with solid fill">
            <a:extLst>
              <a:ext uri="{FF2B5EF4-FFF2-40B4-BE49-F238E27FC236}">
                <a16:creationId xmlns:a16="http://schemas.microsoft.com/office/drawing/2014/main" id="{4DFC6D0C-B7CB-157C-A1E1-98D100FAA2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73636" y="5436634"/>
            <a:ext cx="639233" cy="639233"/>
          </a:xfrm>
          <a:prstGeom prst="rect">
            <a:avLst/>
          </a:prstGeom>
        </p:spPr>
      </p:pic>
      <p:sp>
        <p:nvSpPr>
          <p:cNvPr id="12" name="TextBox 11">
            <a:extLst>
              <a:ext uri="{FF2B5EF4-FFF2-40B4-BE49-F238E27FC236}">
                <a16:creationId xmlns:a16="http://schemas.microsoft.com/office/drawing/2014/main" id="{237588C2-D957-1AAD-A25C-25EB363BA6CB}"/>
              </a:ext>
            </a:extLst>
          </p:cNvPr>
          <p:cNvSpPr txBox="1"/>
          <p:nvPr/>
        </p:nvSpPr>
        <p:spPr>
          <a:xfrm>
            <a:off x="495939" y="2604227"/>
            <a:ext cx="5827306" cy="1837939"/>
          </a:xfrm>
          <a:prstGeom prst="rect">
            <a:avLst/>
          </a:prstGeom>
          <a:noFill/>
        </p:spPr>
        <p:txBody>
          <a:bodyPr wrap="square" lIns="0" tIns="0" rIns="0" bIns="0" rtlCol="0">
            <a:spAutoFit/>
          </a:bodyPr>
          <a:lstStyle/>
          <a:p>
            <a:r>
              <a:rPr lang="en-US" sz="1493" dirty="0">
                <a:solidFill>
                  <a:srgbClr val="00B0F0"/>
                </a:solidFill>
                <a:latin typeface="+mj-lt"/>
              </a:rPr>
              <a:t>Instructions</a:t>
            </a:r>
          </a:p>
          <a:p>
            <a:endParaRPr lang="en-US" sz="1493" dirty="0">
              <a:latin typeface="+mj-lt"/>
            </a:endParaRPr>
          </a:p>
          <a:p>
            <a:r>
              <a:rPr lang="en-US" sz="1493" dirty="0"/>
              <a:t>Select the lens that best describes where you want to focus your improvement or innovation efforts.</a:t>
            </a:r>
          </a:p>
          <a:p>
            <a:endParaRPr lang="en-US" sz="1493" dirty="0"/>
          </a:p>
          <a:p>
            <a:r>
              <a:rPr lang="en-US" sz="1493" dirty="0"/>
              <a:t>Then complete the related fields to help your team frame the </a:t>
            </a:r>
            <a:r>
              <a:rPr lang="en-US" sz="1493" i="1" dirty="0"/>
              <a:t>who</a:t>
            </a:r>
            <a:r>
              <a:rPr lang="en-US" sz="1493" dirty="0"/>
              <a:t>, </a:t>
            </a:r>
            <a:r>
              <a:rPr lang="en-US" sz="1493" i="1" dirty="0"/>
              <a:t>what</a:t>
            </a:r>
            <a:r>
              <a:rPr lang="en-US" sz="1493" dirty="0"/>
              <a:t>, </a:t>
            </a:r>
            <a:r>
              <a:rPr lang="en-US" sz="1493" i="1" dirty="0"/>
              <a:t>why</a:t>
            </a:r>
            <a:r>
              <a:rPr lang="en-US" sz="1493" dirty="0"/>
              <a:t>, and </a:t>
            </a:r>
            <a:r>
              <a:rPr lang="en-US" sz="1493" i="1" dirty="0"/>
              <a:t>value</a:t>
            </a:r>
            <a:r>
              <a:rPr lang="en-US" sz="1493" dirty="0"/>
              <a:t>.</a:t>
            </a:r>
          </a:p>
          <a:p>
            <a:pPr algn="l"/>
            <a:endParaRPr lang="en-US" sz="1493" dirty="0" err="1"/>
          </a:p>
        </p:txBody>
      </p:sp>
      <p:sp>
        <p:nvSpPr>
          <p:cNvPr id="16" name="TextBox 15">
            <a:extLst>
              <a:ext uri="{FF2B5EF4-FFF2-40B4-BE49-F238E27FC236}">
                <a16:creationId xmlns:a16="http://schemas.microsoft.com/office/drawing/2014/main" id="{AB5D191A-51DA-2332-6C5E-CCC6763F94FF}"/>
              </a:ext>
            </a:extLst>
          </p:cNvPr>
          <p:cNvSpPr txBox="1"/>
          <p:nvPr/>
        </p:nvSpPr>
        <p:spPr>
          <a:xfrm>
            <a:off x="630331" y="7681454"/>
            <a:ext cx="3952784" cy="689228"/>
          </a:xfrm>
          <a:prstGeom prst="rect">
            <a:avLst/>
          </a:prstGeom>
          <a:noFill/>
        </p:spPr>
        <p:txBody>
          <a:bodyPr wrap="square" lIns="0" tIns="0" rIns="0" bIns="0" rtlCol="0">
            <a:spAutoFit/>
          </a:bodyPr>
          <a:lstStyle/>
          <a:p>
            <a:pPr algn="l"/>
            <a:r>
              <a:rPr lang="en-US" sz="1493" dirty="0"/>
              <a:t>All three paths lead to a prioritized agent concept – they just start from different perspectives.</a:t>
            </a:r>
          </a:p>
        </p:txBody>
      </p:sp>
    </p:spTree>
    <p:extLst>
      <p:ext uri="{BB962C8B-B14F-4D97-AF65-F5344CB8AC3E}">
        <p14:creationId xmlns:p14="http://schemas.microsoft.com/office/powerpoint/2010/main" val="273016736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5953C0-5040-0742-CA8C-3913BC74EE77}"/>
              </a:ext>
            </a:extLst>
          </p:cNvPr>
          <p:cNvSpPr txBox="1"/>
          <p:nvPr/>
        </p:nvSpPr>
        <p:spPr>
          <a:xfrm>
            <a:off x="431437" y="2709308"/>
            <a:ext cx="4824121" cy="217304"/>
          </a:xfrm>
          <a:prstGeom prst="rect">
            <a:avLst/>
          </a:prstGeom>
          <a:noFill/>
        </p:spPr>
        <p:txBody>
          <a:bodyPr wrap="square" lIns="0" tIns="0" rIns="0" bIns="0" rtlCol="0">
            <a:spAutoFit/>
          </a:bodyPr>
          <a:lstStyle/>
          <a:p>
            <a:pPr algn="l"/>
            <a:r>
              <a:rPr lang="en-US" sz="1412"/>
              <a:t>Starting lens selected</a:t>
            </a:r>
            <a:r>
              <a:rPr lang="en-US" sz="1412" dirty="0"/>
              <a:t>:         Role        Process         Experience</a:t>
            </a:r>
          </a:p>
        </p:txBody>
      </p:sp>
      <p:sp>
        <p:nvSpPr>
          <p:cNvPr id="2" name="Title 1">
            <a:extLst>
              <a:ext uri="{FF2B5EF4-FFF2-40B4-BE49-F238E27FC236}">
                <a16:creationId xmlns:a16="http://schemas.microsoft.com/office/drawing/2014/main" id="{2F9D25D7-BB7D-29C3-962A-B1D4F4349F97}"/>
              </a:ext>
            </a:extLst>
          </p:cNvPr>
          <p:cNvSpPr>
            <a:spLocks noGrp="1"/>
          </p:cNvSpPr>
          <p:nvPr>
            <p:ph type="title"/>
          </p:nvPr>
        </p:nvSpPr>
        <p:spPr>
          <a:xfrm>
            <a:off x="431438" y="941910"/>
            <a:ext cx="2834676" cy="961545"/>
          </a:xfrm>
        </p:spPr>
        <p:txBody>
          <a:bodyPr/>
          <a:lstStyle/>
          <a:p>
            <a:r>
              <a:rPr lang="en-US" dirty="0"/>
              <a:t>Work insight canvas</a:t>
            </a:r>
          </a:p>
        </p:txBody>
      </p:sp>
      <p:sp>
        <p:nvSpPr>
          <p:cNvPr id="4" name="TextBox 3">
            <a:extLst>
              <a:ext uri="{FF2B5EF4-FFF2-40B4-BE49-F238E27FC236}">
                <a16:creationId xmlns:a16="http://schemas.microsoft.com/office/drawing/2014/main" id="{D1F696C6-5E94-26E0-D61A-6257362ED761}"/>
              </a:ext>
            </a:extLst>
          </p:cNvPr>
          <p:cNvSpPr txBox="1"/>
          <p:nvPr/>
        </p:nvSpPr>
        <p:spPr>
          <a:xfrm>
            <a:off x="431438" y="2279225"/>
            <a:ext cx="2834676" cy="271613"/>
          </a:xfrm>
          <a:prstGeom prst="rect">
            <a:avLst/>
          </a:prstGeom>
          <a:noFill/>
        </p:spPr>
        <p:txBody>
          <a:bodyPr wrap="square" lIns="0" tIns="0" rIns="0" bIns="0" rtlCol="0">
            <a:spAutoFit/>
          </a:bodyPr>
          <a:lstStyle/>
          <a:p>
            <a:pPr algn="l"/>
            <a:r>
              <a:rPr lang="en-US" sz="1765" dirty="0">
                <a:latin typeface="+mj-lt"/>
              </a:rPr>
              <a:t>1. High-level information</a:t>
            </a:r>
          </a:p>
        </p:txBody>
      </p:sp>
      <p:sp>
        <p:nvSpPr>
          <p:cNvPr id="6" name="Rectangle 5">
            <a:extLst>
              <a:ext uri="{FF2B5EF4-FFF2-40B4-BE49-F238E27FC236}">
                <a16:creationId xmlns:a16="http://schemas.microsoft.com/office/drawing/2014/main" id="{6CE25479-34D2-CEB8-FEEF-DA0C6606CFB1}"/>
              </a:ext>
            </a:extLst>
          </p:cNvPr>
          <p:cNvSpPr/>
          <p:nvPr/>
        </p:nvSpPr>
        <p:spPr bwMode="auto">
          <a:xfrm>
            <a:off x="2291603" y="2765338"/>
            <a:ext cx="136986" cy="136986"/>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7" name="Rectangle 6">
            <a:extLst>
              <a:ext uri="{FF2B5EF4-FFF2-40B4-BE49-F238E27FC236}">
                <a16:creationId xmlns:a16="http://schemas.microsoft.com/office/drawing/2014/main" id="{2A8FAB31-956E-976A-1BC8-3EC6110CB1B1}"/>
              </a:ext>
            </a:extLst>
          </p:cNvPr>
          <p:cNvSpPr/>
          <p:nvPr/>
        </p:nvSpPr>
        <p:spPr bwMode="auto">
          <a:xfrm>
            <a:off x="3014383" y="2759735"/>
            <a:ext cx="136986" cy="136986"/>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8" name="Rectangle 7">
            <a:extLst>
              <a:ext uri="{FF2B5EF4-FFF2-40B4-BE49-F238E27FC236}">
                <a16:creationId xmlns:a16="http://schemas.microsoft.com/office/drawing/2014/main" id="{FCB3690D-CB97-21C5-8255-4F0890192D58}"/>
              </a:ext>
            </a:extLst>
          </p:cNvPr>
          <p:cNvSpPr/>
          <p:nvPr/>
        </p:nvSpPr>
        <p:spPr bwMode="auto">
          <a:xfrm>
            <a:off x="4050927" y="2759735"/>
            <a:ext cx="136986" cy="136986"/>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2B74EBD6-4850-6BD3-B79B-7596245A1E21}"/>
              </a:ext>
            </a:extLst>
          </p:cNvPr>
          <p:cNvSpPr txBox="1"/>
          <p:nvPr/>
        </p:nvSpPr>
        <p:spPr>
          <a:xfrm>
            <a:off x="431437" y="3139391"/>
            <a:ext cx="4824121" cy="651910"/>
          </a:xfrm>
          <a:prstGeom prst="rect">
            <a:avLst/>
          </a:prstGeom>
          <a:noFill/>
        </p:spPr>
        <p:txBody>
          <a:bodyPr wrap="square" lIns="0" tIns="0" rIns="0" bIns="0" rtlCol="0">
            <a:spAutoFit/>
          </a:bodyPr>
          <a:lstStyle/>
          <a:p>
            <a:pPr algn="l"/>
            <a:r>
              <a:rPr lang="en-US" sz="1412" dirty="0"/>
              <a:t>Name / title:  ________________________________________</a:t>
            </a:r>
          </a:p>
          <a:p>
            <a:pPr algn="l"/>
            <a:endParaRPr lang="en-US" sz="1412" dirty="0"/>
          </a:p>
          <a:p>
            <a:pPr algn="l"/>
            <a:r>
              <a:rPr lang="en-US" sz="1412" dirty="0"/>
              <a:t>Owner/ lead: ________________________________________</a:t>
            </a:r>
          </a:p>
        </p:txBody>
      </p:sp>
      <p:sp>
        <p:nvSpPr>
          <p:cNvPr id="10" name="TextBox 9">
            <a:extLst>
              <a:ext uri="{FF2B5EF4-FFF2-40B4-BE49-F238E27FC236}">
                <a16:creationId xmlns:a16="http://schemas.microsoft.com/office/drawing/2014/main" id="{F3955B2F-5AEE-7840-2FD7-21958A0FAE54}"/>
              </a:ext>
            </a:extLst>
          </p:cNvPr>
          <p:cNvSpPr txBox="1"/>
          <p:nvPr/>
        </p:nvSpPr>
        <p:spPr>
          <a:xfrm>
            <a:off x="431438" y="4142661"/>
            <a:ext cx="2834676" cy="271613"/>
          </a:xfrm>
          <a:prstGeom prst="rect">
            <a:avLst/>
          </a:prstGeom>
          <a:noFill/>
        </p:spPr>
        <p:txBody>
          <a:bodyPr wrap="square" lIns="0" tIns="0" rIns="0" bIns="0" rtlCol="0">
            <a:spAutoFit/>
          </a:bodyPr>
          <a:lstStyle/>
          <a:p>
            <a:pPr algn="l"/>
            <a:r>
              <a:rPr lang="en-US" sz="1765" dirty="0">
                <a:latin typeface="+mj-lt"/>
              </a:rPr>
              <a:t>2. Context &amp; scope</a:t>
            </a:r>
          </a:p>
        </p:txBody>
      </p:sp>
      <p:sp>
        <p:nvSpPr>
          <p:cNvPr id="11" name="TextBox 10">
            <a:extLst>
              <a:ext uri="{FF2B5EF4-FFF2-40B4-BE49-F238E27FC236}">
                <a16:creationId xmlns:a16="http://schemas.microsoft.com/office/drawing/2014/main" id="{7D01B76D-00E2-AA7F-47DA-BA258B5B5119}"/>
              </a:ext>
            </a:extLst>
          </p:cNvPr>
          <p:cNvSpPr txBox="1"/>
          <p:nvPr/>
        </p:nvSpPr>
        <p:spPr>
          <a:xfrm>
            <a:off x="431437" y="4577952"/>
            <a:ext cx="4824121" cy="3259547"/>
          </a:xfrm>
          <a:prstGeom prst="rect">
            <a:avLst/>
          </a:prstGeom>
          <a:noFill/>
        </p:spPr>
        <p:txBody>
          <a:bodyPr wrap="square" lIns="0" tIns="0" rIns="0" bIns="0" rtlCol="0">
            <a:spAutoFit/>
          </a:bodyPr>
          <a:lstStyle/>
          <a:p>
            <a:pPr marL="302575" indent="-302575">
              <a:buAutoNum type="alphaLcParenR"/>
            </a:pPr>
            <a:r>
              <a:rPr lang="en-US" sz="1412" dirty="0"/>
              <a:t>Describe the focus area:</a:t>
            </a:r>
          </a:p>
          <a:p>
            <a:pPr algn="l"/>
            <a:r>
              <a:rPr lang="en-US" sz="1412" dirty="0"/>
              <a:t>      (What are we analyzing?)</a:t>
            </a:r>
          </a:p>
          <a:p>
            <a:pPr algn="l"/>
            <a:endParaRPr lang="en-US" sz="1412" dirty="0"/>
          </a:p>
          <a:p>
            <a:pPr algn="l"/>
            <a:endParaRPr lang="en-US" sz="1412" dirty="0"/>
          </a:p>
          <a:p>
            <a:pPr algn="l"/>
            <a:endParaRPr lang="en-US" sz="1412" dirty="0"/>
          </a:p>
          <a:p>
            <a:pPr algn="l"/>
            <a:endParaRPr lang="en-US" sz="1412" dirty="0"/>
          </a:p>
          <a:p>
            <a:pPr algn="l"/>
            <a:endParaRPr lang="en-US" sz="1412" dirty="0"/>
          </a:p>
          <a:p>
            <a:pPr algn="l"/>
            <a:endParaRPr lang="en-US" sz="1412" dirty="0"/>
          </a:p>
          <a:p>
            <a:pPr algn="l"/>
            <a:endParaRPr lang="en-US" sz="1412" dirty="0"/>
          </a:p>
          <a:p>
            <a:pPr algn="l"/>
            <a:endParaRPr lang="en-US" sz="1412" dirty="0"/>
          </a:p>
          <a:p>
            <a:pPr marL="302575" indent="-302575">
              <a:buAutoNum type="alphaLcParenR" startAt="2"/>
            </a:pPr>
            <a:r>
              <a:rPr lang="en-US" sz="1412" dirty="0"/>
              <a:t>Why is this important now?</a:t>
            </a:r>
          </a:p>
          <a:p>
            <a:pPr algn="l"/>
            <a:r>
              <a:rPr lang="en-US" sz="1412" dirty="0"/>
              <a:t>      (What strategic priority or problem does this tie to?)</a:t>
            </a:r>
          </a:p>
          <a:p>
            <a:pPr algn="l"/>
            <a:endParaRPr lang="en-US" sz="1412" dirty="0"/>
          </a:p>
          <a:p>
            <a:pPr algn="l"/>
            <a:endParaRPr lang="en-US" sz="1412" dirty="0"/>
          </a:p>
          <a:p>
            <a:pPr algn="l"/>
            <a:endParaRPr lang="en-US" sz="1412" dirty="0"/>
          </a:p>
        </p:txBody>
      </p:sp>
    </p:spTree>
    <p:extLst>
      <p:ext uri="{BB962C8B-B14F-4D97-AF65-F5344CB8AC3E}">
        <p14:creationId xmlns:p14="http://schemas.microsoft.com/office/powerpoint/2010/main" val="3407433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53581-D4D6-8637-7E0A-733BA18BD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8A26B-9216-0973-B373-F043D8ADF9BB}"/>
              </a:ext>
            </a:extLst>
          </p:cNvPr>
          <p:cNvSpPr>
            <a:spLocks noGrp="1"/>
          </p:cNvSpPr>
          <p:nvPr>
            <p:ph type="title"/>
          </p:nvPr>
        </p:nvSpPr>
        <p:spPr>
          <a:xfrm>
            <a:off x="431438" y="941910"/>
            <a:ext cx="2834676" cy="961545"/>
          </a:xfrm>
        </p:spPr>
        <p:txBody>
          <a:bodyPr/>
          <a:lstStyle/>
          <a:p>
            <a:r>
              <a:rPr lang="en-US" dirty="0"/>
              <a:t>Work insight canvas</a:t>
            </a:r>
          </a:p>
        </p:txBody>
      </p:sp>
      <p:sp>
        <p:nvSpPr>
          <p:cNvPr id="4" name="TextBox 3">
            <a:extLst>
              <a:ext uri="{FF2B5EF4-FFF2-40B4-BE49-F238E27FC236}">
                <a16:creationId xmlns:a16="http://schemas.microsoft.com/office/drawing/2014/main" id="{68BD7B03-9CAF-CD2F-5252-89C541A56FC0}"/>
              </a:ext>
            </a:extLst>
          </p:cNvPr>
          <p:cNvSpPr txBox="1"/>
          <p:nvPr/>
        </p:nvSpPr>
        <p:spPr>
          <a:xfrm>
            <a:off x="431438" y="2279225"/>
            <a:ext cx="2834676" cy="271613"/>
          </a:xfrm>
          <a:prstGeom prst="rect">
            <a:avLst/>
          </a:prstGeom>
          <a:noFill/>
        </p:spPr>
        <p:txBody>
          <a:bodyPr wrap="square" lIns="0" tIns="0" rIns="0" bIns="0" rtlCol="0">
            <a:spAutoFit/>
          </a:bodyPr>
          <a:lstStyle/>
          <a:p>
            <a:pPr algn="l"/>
            <a:r>
              <a:rPr lang="en-US" sz="1765" dirty="0">
                <a:latin typeface="+mj-lt"/>
              </a:rPr>
              <a:t>3. Current reality</a:t>
            </a:r>
          </a:p>
        </p:txBody>
      </p:sp>
      <p:sp>
        <p:nvSpPr>
          <p:cNvPr id="11" name="TextBox 10">
            <a:extLst>
              <a:ext uri="{FF2B5EF4-FFF2-40B4-BE49-F238E27FC236}">
                <a16:creationId xmlns:a16="http://schemas.microsoft.com/office/drawing/2014/main" id="{1269813D-D951-93E2-D82C-4546ABC90AD5}"/>
              </a:ext>
            </a:extLst>
          </p:cNvPr>
          <p:cNvSpPr txBox="1"/>
          <p:nvPr/>
        </p:nvSpPr>
        <p:spPr>
          <a:xfrm>
            <a:off x="431438" y="2652654"/>
            <a:ext cx="4824121" cy="1521122"/>
          </a:xfrm>
          <a:prstGeom prst="rect">
            <a:avLst/>
          </a:prstGeom>
          <a:noFill/>
        </p:spPr>
        <p:txBody>
          <a:bodyPr wrap="square" lIns="0" tIns="0" rIns="0" bIns="0" rtlCol="0">
            <a:spAutoFit/>
          </a:bodyPr>
          <a:lstStyle/>
          <a:p>
            <a:pPr algn="l"/>
            <a:r>
              <a:rPr lang="en-US" sz="1412" dirty="0"/>
              <a:t>a) Who is affected?</a:t>
            </a:r>
          </a:p>
          <a:p>
            <a:pPr algn="l"/>
            <a:endParaRPr lang="en-US" sz="1412" dirty="0"/>
          </a:p>
          <a:p>
            <a:pPr algn="l"/>
            <a:r>
              <a:rPr lang="en-US" sz="1412" dirty="0"/>
              <a:t>(Check all that apply or write role name)</a:t>
            </a:r>
          </a:p>
          <a:p>
            <a:pPr marL="252146" indent="-252146">
              <a:buFont typeface="Wingdings" pitchFamily="2" charset="2"/>
              <a:buChar char="q"/>
            </a:pPr>
            <a:r>
              <a:rPr lang="en-US" sz="1412" dirty="0"/>
              <a:t>Individual role</a:t>
            </a:r>
          </a:p>
          <a:p>
            <a:pPr marL="252146" indent="-252146">
              <a:buFont typeface="Wingdings" pitchFamily="2" charset="2"/>
              <a:buChar char="q"/>
            </a:pPr>
            <a:r>
              <a:rPr lang="en-US" sz="1412" dirty="0"/>
              <a:t>Team/ group</a:t>
            </a:r>
          </a:p>
          <a:p>
            <a:pPr marL="252146" indent="-252146">
              <a:buFont typeface="Wingdings" pitchFamily="2" charset="2"/>
              <a:buChar char="q"/>
            </a:pPr>
            <a:r>
              <a:rPr lang="en-US" sz="1412" dirty="0"/>
              <a:t>Customer/ external user</a:t>
            </a:r>
          </a:p>
          <a:p>
            <a:pPr marL="252146" indent="-252146">
              <a:buFont typeface="Wingdings" pitchFamily="2" charset="2"/>
              <a:buChar char="q"/>
            </a:pPr>
            <a:r>
              <a:rPr lang="en-US" sz="1412" dirty="0"/>
              <a:t>Other: ____________________</a:t>
            </a:r>
          </a:p>
        </p:txBody>
      </p:sp>
      <p:sp>
        <p:nvSpPr>
          <p:cNvPr id="3" name="TextBox 2">
            <a:extLst>
              <a:ext uri="{FF2B5EF4-FFF2-40B4-BE49-F238E27FC236}">
                <a16:creationId xmlns:a16="http://schemas.microsoft.com/office/drawing/2014/main" id="{A638F5A7-209F-F335-79F2-0A3581E14088}"/>
              </a:ext>
            </a:extLst>
          </p:cNvPr>
          <p:cNvSpPr txBox="1"/>
          <p:nvPr/>
        </p:nvSpPr>
        <p:spPr>
          <a:xfrm>
            <a:off x="431438" y="4552051"/>
            <a:ext cx="5846658" cy="4997971"/>
          </a:xfrm>
          <a:prstGeom prst="rect">
            <a:avLst/>
          </a:prstGeom>
          <a:noFill/>
        </p:spPr>
        <p:txBody>
          <a:bodyPr wrap="square" lIns="0" tIns="0" rIns="0" bIns="0" rtlCol="0">
            <a:spAutoFit/>
          </a:bodyPr>
          <a:lstStyle/>
          <a:p>
            <a:pPr algn="l"/>
            <a:r>
              <a:rPr lang="en-US" sz="1412" dirty="0"/>
              <a:t>b) What happens now (steps)?</a:t>
            </a:r>
          </a:p>
          <a:p>
            <a:pPr algn="l"/>
            <a:endParaRPr lang="en-US" sz="1412" dirty="0"/>
          </a:p>
          <a:p>
            <a:pPr algn="l"/>
            <a:r>
              <a:rPr lang="en-US" sz="1412" dirty="0"/>
              <a:t>Map the actual sequence of work.</a:t>
            </a:r>
          </a:p>
          <a:p>
            <a:pPr algn="l"/>
            <a:r>
              <a:rPr lang="en-US" sz="1412" dirty="0"/>
              <a:t>(Write each step on its own line)</a:t>
            </a:r>
          </a:p>
          <a:p>
            <a:pPr algn="l"/>
            <a:endParaRPr lang="en-US" sz="1412" dirty="0"/>
          </a:p>
          <a:p>
            <a:pPr algn="l"/>
            <a:r>
              <a:rPr lang="en-US" sz="1412" dirty="0"/>
              <a:t>1. ____________________________________________________________________________</a:t>
            </a:r>
          </a:p>
          <a:p>
            <a:pPr algn="l"/>
            <a:endParaRPr lang="en-US" sz="1412" dirty="0"/>
          </a:p>
          <a:p>
            <a:pPr algn="l"/>
            <a:endParaRPr lang="en-US" sz="1412" dirty="0"/>
          </a:p>
          <a:p>
            <a:pPr algn="l"/>
            <a:r>
              <a:rPr lang="en-US" sz="1412" dirty="0"/>
              <a:t>2. ____________________________________________________________________________</a:t>
            </a:r>
          </a:p>
          <a:p>
            <a:pPr algn="l"/>
            <a:endParaRPr lang="en-US" sz="1412" dirty="0"/>
          </a:p>
          <a:p>
            <a:pPr algn="l"/>
            <a:endParaRPr lang="en-US" sz="1412" dirty="0"/>
          </a:p>
          <a:p>
            <a:pPr algn="l"/>
            <a:r>
              <a:rPr lang="en-US" sz="1412" dirty="0"/>
              <a:t>3. ____________________________________________________________________________</a:t>
            </a:r>
          </a:p>
          <a:p>
            <a:pPr algn="l"/>
            <a:endParaRPr lang="en-US" sz="1412" dirty="0"/>
          </a:p>
          <a:p>
            <a:pPr algn="l"/>
            <a:endParaRPr lang="en-US" sz="1412" dirty="0"/>
          </a:p>
          <a:p>
            <a:pPr algn="l"/>
            <a:r>
              <a:rPr lang="en-US" sz="1412" dirty="0"/>
              <a:t>4. ____________________________________________________________________________</a:t>
            </a:r>
          </a:p>
          <a:p>
            <a:pPr algn="l"/>
            <a:endParaRPr lang="en-US" sz="1412" dirty="0"/>
          </a:p>
          <a:p>
            <a:pPr algn="l"/>
            <a:endParaRPr lang="en-US" sz="1412" dirty="0"/>
          </a:p>
          <a:p>
            <a:pPr algn="l"/>
            <a:r>
              <a:rPr lang="en-US" sz="1412" dirty="0"/>
              <a:t>5. ____________________________________________________________________________</a:t>
            </a:r>
          </a:p>
        </p:txBody>
      </p:sp>
    </p:spTree>
    <p:extLst>
      <p:ext uri="{BB962C8B-B14F-4D97-AF65-F5344CB8AC3E}">
        <p14:creationId xmlns:p14="http://schemas.microsoft.com/office/powerpoint/2010/main" val="390130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3EFD0-7D33-E0B3-8FC0-67C9DAF47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73297-7CD7-B33F-448F-56164D16F824}"/>
              </a:ext>
            </a:extLst>
          </p:cNvPr>
          <p:cNvSpPr>
            <a:spLocks noGrp="1"/>
          </p:cNvSpPr>
          <p:nvPr>
            <p:ph type="title"/>
          </p:nvPr>
        </p:nvSpPr>
        <p:spPr>
          <a:xfrm>
            <a:off x="431438" y="941910"/>
            <a:ext cx="2834676" cy="961545"/>
          </a:xfrm>
        </p:spPr>
        <p:txBody>
          <a:bodyPr/>
          <a:lstStyle/>
          <a:p>
            <a:r>
              <a:rPr lang="en-US" dirty="0"/>
              <a:t>Work insight canvas</a:t>
            </a:r>
          </a:p>
        </p:txBody>
      </p:sp>
      <p:sp>
        <p:nvSpPr>
          <p:cNvPr id="10" name="TextBox 9">
            <a:extLst>
              <a:ext uri="{FF2B5EF4-FFF2-40B4-BE49-F238E27FC236}">
                <a16:creationId xmlns:a16="http://schemas.microsoft.com/office/drawing/2014/main" id="{1A3202C9-4815-AA44-2E26-75A4C56B6EB5}"/>
              </a:ext>
            </a:extLst>
          </p:cNvPr>
          <p:cNvSpPr txBox="1"/>
          <p:nvPr/>
        </p:nvSpPr>
        <p:spPr>
          <a:xfrm>
            <a:off x="431438" y="2293004"/>
            <a:ext cx="3980879" cy="271613"/>
          </a:xfrm>
          <a:prstGeom prst="rect">
            <a:avLst/>
          </a:prstGeom>
          <a:noFill/>
        </p:spPr>
        <p:txBody>
          <a:bodyPr wrap="square" lIns="0" tIns="0" rIns="0" bIns="0" rtlCol="0">
            <a:spAutoFit/>
          </a:bodyPr>
          <a:lstStyle/>
          <a:p>
            <a:pPr algn="l"/>
            <a:r>
              <a:rPr lang="en-US" sz="1765" dirty="0">
                <a:latin typeface="+mj-lt"/>
              </a:rPr>
              <a:t>5. Tools, systems used and pain points</a:t>
            </a:r>
          </a:p>
        </p:txBody>
      </p:sp>
      <p:sp>
        <p:nvSpPr>
          <p:cNvPr id="11" name="TextBox 10">
            <a:extLst>
              <a:ext uri="{FF2B5EF4-FFF2-40B4-BE49-F238E27FC236}">
                <a16:creationId xmlns:a16="http://schemas.microsoft.com/office/drawing/2014/main" id="{43ED517B-5FE1-3B4A-F969-2CEE28DCE5C5}"/>
              </a:ext>
            </a:extLst>
          </p:cNvPr>
          <p:cNvSpPr txBox="1"/>
          <p:nvPr/>
        </p:nvSpPr>
        <p:spPr>
          <a:xfrm>
            <a:off x="431437" y="2728295"/>
            <a:ext cx="4824121" cy="3694153"/>
          </a:xfrm>
          <a:prstGeom prst="rect">
            <a:avLst/>
          </a:prstGeom>
          <a:noFill/>
        </p:spPr>
        <p:txBody>
          <a:bodyPr wrap="square" lIns="0" tIns="0" rIns="0" bIns="0" rtlCol="0">
            <a:spAutoFit/>
          </a:bodyPr>
          <a:lstStyle/>
          <a:p>
            <a:pPr marL="302575" indent="-302575">
              <a:buAutoNum type="alphaLcParenR"/>
            </a:pPr>
            <a:r>
              <a:rPr lang="en-US" sz="1412" dirty="0"/>
              <a:t>Tasks / steps (list or process map)</a:t>
            </a:r>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r>
              <a:rPr lang="en-US" sz="1412" dirty="0"/>
              <a:t>Tools/ systems used:</a:t>
            </a:r>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endParaRPr lang="en-US" sz="1412" dirty="0"/>
          </a:p>
          <a:p>
            <a:pPr marL="302575" indent="-302575">
              <a:buAutoNum type="alphaLcParenR"/>
            </a:pPr>
            <a:r>
              <a:rPr lang="en-US" sz="1412" dirty="0"/>
              <a:t>Highest priority pain point/ friction area:</a:t>
            </a:r>
          </a:p>
          <a:p>
            <a:pPr algn="l"/>
            <a:endParaRPr lang="en-US" sz="1412" dirty="0"/>
          </a:p>
          <a:p>
            <a:pPr algn="l"/>
            <a:endParaRPr lang="en-US" sz="1412" dirty="0"/>
          </a:p>
        </p:txBody>
      </p:sp>
    </p:spTree>
    <p:extLst>
      <p:ext uri="{BB962C8B-B14F-4D97-AF65-F5344CB8AC3E}">
        <p14:creationId xmlns:p14="http://schemas.microsoft.com/office/powerpoint/2010/main" val="236877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7E961-9DB5-41B2-E92F-B8305939B14C}"/>
              </a:ext>
            </a:extLst>
          </p:cNvPr>
          <p:cNvSpPr>
            <a:spLocks noGrp="1"/>
          </p:cNvSpPr>
          <p:nvPr>
            <p:ph type="title"/>
          </p:nvPr>
        </p:nvSpPr>
        <p:spPr>
          <a:xfrm>
            <a:off x="594324" y="1451329"/>
            <a:ext cx="2834676" cy="526939"/>
          </a:xfrm>
        </p:spPr>
        <p:txBody>
          <a:bodyPr/>
          <a:lstStyle/>
          <a:p>
            <a:r>
              <a:rPr lang="en-US" dirty="0"/>
              <a:t>Mapping</a:t>
            </a:r>
          </a:p>
        </p:txBody>
      </p:sp>
      <p:sp>
        <p:nvSpPr>
          <p:cNvPr id="3" name="Text Placeholder 2">
            <a:extLst>
              <a:ext uri="{FF2B5EF4-FFF2-40B4-BE49-F238E27FC236}">
                <a16:creationId xmlns:a16="http://schemas.microsoft.com/office/drawing/2014/main" id="{CB84C8C4-0626-3C9E-7102-B45FB0254D11}"/>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66032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E749D-9011-6246-A44C-F6637F865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7A6D5-A68C-015E-B3BF-AE8F2478EB52}"/>
              </a:ext>
            </a:extLst>
          </p:cNvPr>
          <p:cNvSpPr>
            <a:spLocks noGrp="1"/>
          </p:cNvSpPr>
          <p:nvPr>
            <p:ph type="title"/>
          </p:nvPr>
        </p:nvSpPr>
        <p:spPr>
          <a:xfrm>
            <a:off x="431438" y="941910"/>
            <a:ext cx="2834676" cy="961545"/>
          </a:xfrm>
        </p:spPr>
        <p:txBody>
          <a:bodyPr/>
          <a:lstStyle/>
          <a:p>
            <a:r>
              <a:rPr lang="en-US" dirty="0"/>
              <a:t>Role mapping  cards</a:t>
            </a:r>
          </a:p>
        </p:txBody>
      </p:sp>
      <p:pic>
        <p:nvPicPr>
          <p:cNvPr id="4" name="Picture 3" descr="A blue card with text and lines&#10;&#10;AI-generated content may be incorrect.">
            <a:extLst>
              <a:ext uri="{FF2B5EF4-FFF2-40B4-BE49-F238E27FC236}">
                <a16:creationId xmlns:a16="http://schemas.microsoft.com/office/drawing/2014/main" id="{9D1D3547-06BE-B249-9D02-C1EBF46D5E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438" y="2573014"/>
            <a:ext cx="2480691" cy="1595912"/>
          </a:xfrm>
          <a:prstGeom prst="rect">
            <a:avLst/>
          </a:prstGeom>
        </p:spPr>
      </p:pic>
      <p:pic>
        <p:nvPicPr>
          <p:cNvPr id="6" name="Picture 5" descr="A close-up of a graphic&#10;&#10;AI-generated content may be incorrect.">
            <a:extLst>
              <a:ext uri="{FF2B5EF4-FFF2-40B4-BE49-F238E27FC236}">
                <a16:creationId xmlns:a16="http://schemas.microsoft.com/office/drawing/2014/main" id="{C31D9102-9689-59D1-56C7-3B6AD5F08B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438" y="4831582"/>
            <a:ext cx="2480691" cy="1595912"/>
          </a:xfrm>
          <a:prstGeom prst="rect">
            <a:avLst/>
          </a:prstGeom>
        </p:spPr>
      </p:pic>
      <p:pic>
        <p:nvPicPr>
          <p:cNvPr id="8" name="Picture 7" descr="A yellow task card with orange text&#10;&#10;AI-generated content may be incorrect.">
            <a:extLst>
              <a:ext uri="{FF2B5EF4-FFF2-40B4-BE49-F238E27FC236}">
                <a16:creationId xmlns:a16="http://schemas.microsoft.com/office/drawing/2014/main" id="{9A75A44C-DAC0-23DB-C98A-57B893B990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5871" y="4831582"/>
            <a:ext cx="2480691" cy="1595912"/>
          </a:xfrm>
          <a:prstGeom prst="rect">
            <a:avLst/>
          </a:prstGeom>
        </p:spPr>
      </p:pic>
      <p:pic>
        <p:nvPicPr>
          <p:cNvPr id="12" name="Picture 11" descr="A close-up of a tool&#10;&#10;AI-generated content may be incorrect.">
            <a:extLst>
              <a:ext uri="{FF2B5EF4-FFF2-40B4-BE49-F238E27FC236}">
                <a16:creationId xmlns:a16="http://schemas.microsoft.com/office/drawing/2014/main" id="{524C27E0-A5A5-AE14-CF87-76DC52912C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5871" y="2573014"/>
            <a:ext cx="2480691" cy="1595912"/>
          </a:xfrm>
          <a:prstGeom prst="rect">
            <a:avLst/>
          </a:prstGeom>
        </p:spPr>
      </p:pic>
      <p:pic>
        <p:nvPicPr>
          <p:cNvPr id="14" name="Picture 13" descr="A close-up of a goal&#10;&#10;AI-generated content may be incorrect.">
            <a:extLst>
              <a:ext uri="{FF2B5EF4-FFF2-40B4-BE49-F238E27FC236}">
                <a16:creationId xmlns:a16="http://schemas.microsoft.com/office/drawing/2014/main" id="{A7522F4B-FA32-8901-B184-2A1EFE3897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1438" y="7090150"/>
            <a:ext cx="2480691" cy="1595912"/>
          </a:xfrm>
          <a:prstGeom prst="rect">
            <a:avLst/>
          </a:prstGeom>
        </p:spPr>
      </p:pic>
      <p:pic>
        <p:nvPicPr>
          <p:cNvPr id="16" name="Picture 15" descr="A close-up of a card&#10;&#10;AI-generated content may be incorrect.">
            <a:extLst>
              <a:ext uri="{FF2B5EF4-FFF2-40B4-BE49-F238E27FC236}">
                <a16:creationId xmlns:a16="http://schemas.microsoft.com/office/drawing/2014/main" id="{05C1DE4F-4B15-9158-5570-0686DC44034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45871" y="7090150"/>
            <a:ext cx="2480691" cy="1595912"/>
          </a:xfrm>
          <a:prstGeom prst="rect">
            <a:avLst/>
          </a:prstGeom>
        </p:spPr>
      </p:pic>
      <p:sp>
        <p:nvSpPr>
          <p:cNvPr id="17" name="TextBox 16">
            <a:extLst>
              <a:ext uri="{FF2B5EF4-FFF2-40B4-BE49-F238E27FC236}">
                <a16:creationId xmlns:a16="http://schemas.microsoft.com/office/drawing/2014/main" id="{4BFC2863-CFB5-C531-5105-42710C9A0442}"/>
              </a:ext>
            </a:extLst>
          </p:cNvPr>
          <p:cNvSpPr txBox="1"/>
          <p:nvPr/>
        </p:nvSpPr>
        <p:spPr>
          <a:xfrm>
            <a:off x="431439" y="4351483"/>
            <a:ext cx="2480691" cy="366639"/>
          </a:xfrm>
          <a:prstGeom prst="rect">
            <a:avLst/>
          </a:prstGeom>
          <a:noFill/>
        </p:spPr>
        <p:txBody>
          <a:bodyPr wrap="square" lIns="0" tIns="0" rIns="0" bIns="0" rtlCol="0">
            <a:spAutoFit/>
          </a:bodyPr>
          <a:lstStyle/>
          <a:p>
            <a:pPr algn="ctr"/>
            <a:r>
              <a:rPr lang="en-US" sz="794" dirty="0"/>
              <a:t>Defines </a:t>
            </a:r>
            <a:r>
              <a:rPr lang="en-US" sz="794" i="1" dirty="0"/>
              <a:t>who</a:t>
            </a:r>
            <a:r>
              <a:rPr lang="en-US" sz="794" dirty="0"/>
              <a:t> the work is for and what they are fundamentally accountable for.</a:t>
            </a:r>
          </a:p>
          <a:p>
            <a:pPr algn="ctr"/>
            <a:endParaRPr lang="en-US" sz="794" dirty="0" err="1"/>
          </a:p>
        </p:txBody>
      </p:sp>
      <p:sp>
        <p:nvSpPr>
          <p:cNvPr id="18" name="TextBox 17">
            <a:extLst>
              <a:ext uri="{FF2B5EF4-FFF2-40B4-BE49-F238E27FC236}">
                <a16:creationId xmlns:a16="http://schemas.microsoft.com/office/drawing/2014/main" id="{6D847C11-185E-DD50-6B64-F433AF600A81}"/>
              </a:ext>
            </a:extLst>
          </p:cNvPr>
          <p:cNvSpPr txBox="1"/>
          <p:nvPr/>
        </p:nvSpPr>
        <p:spPr>
          <a:xfrm>
            <a:off x="3945870" y="4351483"/>
            <a:ext cx="2480691" cy="366639"/>
          </a:xfrm>
          <a:prstGeom prst="rect">
            <a:avLst/>
          </a:prstGeom>
          <a:noFill/>
        </p:spPr>
        <p:txBody>
          <a:bodyPr wrap="square" lIns="0" tIns="0" rIns="0" bIns="0" rtlCol="0">
            <a:spAutoFit/>
          </a:bodyPr>
          <a:lstStyle/>
          <a:p>
            <a:pPr algn="ctr"/>
            <a:r>
              <a:rPr lang="en-US" sz="794" dirty="0"/>
              <a:t>Shows which systems or applications the role uses to get work done.</a:t>
            </a:r>
          </a:p>
          <a:p>
            <a:pPr algn="ctr"/>
            <a:endParaRPr lang="en-US" sz="794" dirty="0" err="1"/>
          </a:p>
        </p:txBody>
      </p:sp>
      <p:sp>
        <p:nvSpPr>
          <p:cNvPr id="19" name="TextBox 18">
            <a:extLst>
              <a:ext uri="{FF2B5EF4-FFF2-40B4-BE49-F238E27FC236}">
                <a16:creationId xmlns:a16="http://schemas.microsoft.com/office/drawing/2014/main" id="{523E5B6E-9B36-FC33-67B5-5B3D46D36DD8}"/>
              </a:ext>
            </a:extLst>
          </p:cNvPr>
          <p:cNvSpPr txBox="1"/>
          <p:nvPr/>
        </p:nvSpPr>
        <p:spPr>
          <a:xfrm>
            <a:off x="431438" y="6604013"/>
            <a:ext cx="2480691" cy="366639"/>
          </a:xfrm>
          <a:prstGeom prst="rect">
            <a:avLst/>
          </a:prstGeom>
          <a:noFill/>
        </p:spPr>
        <p:txBody>
          <a:bodyPr wrap="square" lIns="0" tIns="0" rIns="0" bIns="0" rtlCol="0">
            <a:spAutoFit/>
          </a:bodyPr>
          <a:lstStyle/>
          <a:p>
            <a:pPr algn="ctr"/>
            <a:r>
              <a:rPr lang="en-US" sz="794" dirty="0"/>
              <a:t>Identifies who the role regularly depends on, or hands work to and from.</a:t>
            </a:r>
          </a:p>
          <a:p>
            <a:pPr algn="ctr"/>
            <a:endParaRPr lang="en-US" sz="794" dirty="0" err="1"/>
          </a:p>
        </p:txBody>
      </p:sp>
      <p:sp>
        <p:nvSpPr>
          <p:cNvPr id="20" name="TextBox 19">
            <a:extLst>
              <a:ext uri="{FF2B5EF4-FFF2-40B4-BE49-F238E27FC236}">
                <a16:creationId xmlns:a16="http://schemas.microsoft.com/office/drawing/2014/main" id="{EBA69758-CF65-3357-5C20-B86E299E5AC9}"/>
              </a:ext>
            </a:extLst>
          </p:cNvPr>
          <p:cNvSpPr txBox="1"/>
          <p:nvPr/>
        </p:nvSpPr>
        <p:spPr>
          <a:xfrm>
            <a:off x="3945870" y="6610370"/>
            <a:ext cx="2480691" cy="366639"/>
          </a:xfrm>
          <a:prstGeom prst="rect">
            <a:avLst/>
          </a:prstGeom>
          <a:noFill/>
        </p:spPr>
        <p:txBody>
          <a:bodyPr wrap="square" lIns="0" tIns="0" rIns="0" bIns="0" rtlCol="0">
            <a:spAutoFit/>
          </a:bodyPr>
          <a:lstStyle/>
          <a:p>
            <a:pPr algn="ctr"/>
            <a:r>
              <a:rPr lang="en-US" sz="794" dirty="0"/>
              <a:t>Captures the specific pieces of work the role performs on a typical day.</a:t>
            </a:r>
          </a:p>
          <a:p>
            <a:pPr algn="ctr"/>
            <a:endParaRPr lang="en-US" sz="794" dirty="0" err="1"/>
          </a:p>
        </p:txBody>
      </p:sp>
      <p:sp>
        <p:nvSpPr>
          <p:cNvPr id="21" name="TextBox 20">
            <a:extLst>
              <a:ext uri="{FF2B5EF4-FFF2-40B4-BE49-F238E27FC236}">
                <a16:creationId xmlns:a16="http://schemas.microsoft.com/office/drawing/2014/main" id="{C5C27679-A837-0605-08D0-60036723494F}"/>
              </a:ext>
            </a:extLst>
          </p:cNvPr>
          <p:cNvSpPr txBox="1"/>
          <p:nvPr/>
        </p:nvSpPr>
        <p:spPr>
          <a:xfrm>
            <a:off x="431438" y="8868618"/>
            <a:ext cx="2480691" cy="366639"/>
          </a:xfrm>
          <a:prstGeom prst="rect">
            <a:avLst/>
          </a:prstGeom>
          <a:noFill/>
        </p:spPr>
        <p:txBody>
          <a:bodyPr wrap="square" lIns="0" tIns="0" rIns="0" bIns="0" rtlCol="0">
            <a:spAutoFit/>
          </a:bodyPr>
          <a:lstStyle/>
          <a:p>
            <a:pPr algn="ctr"/>
            <a:r>
              <a:rPr lang="en-US" sz="794" dirty="0"/>
              <a:t>Describes what success looks like for the role beyond just completing tasks.</a:t>
            </a:r>
          </a:p>
          <a:p>
            <a:pPr algn="ctr"/>
            <a:endParaRPr lang="en-US" sz="794" dirty="0" err="1"/>
          </a:p>
        </p:txBody>
      </p:sp>
      <p:sp>
        <p:nvSpPr>
          <p:cNvPr id="22" name="TextBox 21">
            <a:extLst>
              <a:ext uri="{FF2B5EF4-FFF2-40B4-BE49-F238E27FC236}">
                <a16:creationId xmlns:a16="http://schemas.microsoft.com/office/drawing/2014/main" id="{42C51FF7-3E0D-5146-04F4-7EE3C66567F5}"/>
              </a:ext>
            </a:extLst>
          </p:cNvPr>
          <p:cNvSpPr txBox="1"/>
          <p:nvPr/>
        </p:nvSpPr>
        <p:spPr>
          <a:xfrm>
            <a:off x="3945870" y="8862261"/>
            <a:ext cx="2480691" cy="366639"/>
          </a:xfrm>
          <a:prstGeom prst="rect">
            <a:avLst/>
          </a:prstGeom>
          <a:noFill/>
        </p:spPr>
        <p:txBody>
          <a:bodyPr wrap="square" lIns="0" tIns="0" rIns="0" bIns="0" rtlCol="0">
            <a:spAutoFit/>
          </a:bodyPr>
          <a:lstStyle/>
          <a:p>
            <a:pPr algn="ctr"/>
            <a:r>
              <a:rPr lang="en-US" sz="794" dirty="0"/>
              <a:t>Defines how success is measured and how often it’s reviewed.</a:t>
            </a:r>
          </a:p>
          <a:p>
            <a:pPr algn="ctr"/>
            <a:endParaRPr lang="en-US" sz="794" dirty="0" err="1"/>
          </a:p>
        </p:txBody>
      </p:sp>
    </p:spTree>
    <p:extLst>
      <p:ext uri="{BB962C8B-B14F-4D97-AF65-F5344CB8AC3E}">
        <p14:creationId xmlns:p14="http://schemas.microsoft.com/office/powerpoint/2010/main" val="390806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B57A4-498A-DAF2-6772-F071299D0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07379-9E8B-8FE1-6643-920D6573FDA7}"/>
              </a:ext>
            </a:extLst>
          </p:cNvPr>
          <p:cNvSpPr>
            <a:spLocks noGrp="1"/>
          </p:cNvSpPr>
          <p:nvPr>
            <p:ph type="title"/>
          </p:nvPr>
        </p:nvSpPr>
        <p:spPr>
          <a:xfrm>
            <a:off x="431438" y="941910"/>
            <a:ext cx="2834676" cy="961545"/>
          </a:xfrm>
        </p:spPr>
        <p:txBody>
          <a:bodyPr/>
          <a:lstStyle/>
          <a:p>
            <a:r>
              <a:rPr lang="en-US" dirty="0"/>
              <a:t>Process mapping  cards</a:t>
            </a:r>
          </a:p>
        </p:txBody>
      </p:sp>
      <p:pic>
        <p:nvPicPr>
          <p:cNvPr id="5" name="Picture 4" descr="A green circle with text&#10;&#10;AI-generated content may be incorrect.">
            <a:extLst>
              <a:ext uri="{FF2B5EF4-FFF2-40B4-BE49-F238E27FC236}">
                <a16:creationId xmlns:a16="http://schemas.microsoft.com/office/drawing/2014/main" id="{1FA8EE53-49A0-2E0F-554A-B8B834A4B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3451" y="4581405"/>
            <a:ext cx="1209236" cy="1879642"/>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C3004C25-D627-C497-6DD2-750B7A945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6113" y="4581406"/>
            <a:ext cx="1209236" cy="1879642"/>
          </a:xfrm>
          <a:prstGeom prst="rect">
            <a:avLst/>
          </a:prstGeom>
        </p:spPr>
      </p:pic>
      <p:pic>
        <p:nvPicPr>
          <p:cNvPr id="11" name="Picture 10" descr="A yellow diamond on a white background&#10;&#10;AI-generated content may be incorrect.">
            <a:extLst>
              <a:ext uri="{FF2B5EF4-FFF2-40B4-BE49-F238E27FC236}">
                <a16:creationId xmlns:a16="http://schemas.microsoft.com/office/drawing/2014/main" id="{3CC2BB21-E9EC-8A3B-EEEA-67CE645163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8776" y="4581407"/>
            <a:ext cx="1209236" cy="1879642"/>
          </a:xfrm>
          <a:prstGeom prst="rect">
            <a:avLst/>
          </a:prstGeom>
        </p:spPr>
      </p:pic>
      <p:pic>
        <p:nvPicPr>
          <p:cNvPr id="15" name="Picture 14" descr="A close-up of a blue cross&#10;&#10;AI-generated content may be incorrect.">
            <a:extLst>
              <a:ext uri="{FF2B5EF4-FFF2-40B4-BE49-F238E27FC236}">
                <a16:creationId xmlns:a16="http://schemas.microsoft.com/office/drawing/2014/main" id="{9BAD04E0-5905-6CD0-EAE8-35B9CB3927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438" y="4581408"/>
            <a:ext cx="1209236" cy="1879642"/>
          </a:xfrm>
          <a:prstGeom prst="rect">
            <a:avLst/>
          </a:prstGeom>
        </p:spPr>
      </p:pic>
      <p:pic>
        <p:nvPicPr>
          <p:cNvPr id="18" name="Picture 17" descr="A red triangle with a lightning bolt in it&#10;&#10;AI-generated content may be incorrect.">
            <a:extLst>
              <a:ext uri="{FF2B5EF4-FFF2-40B4-BE49-F238E27FC236}">
                <a16:creationId xmlns:a16="http://schemas.microsoft.com/office/drawing/2014/main" id="{89AAB7B3-7C59-9069-CDE1-7EACD7D1AD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8776" y="6631887"/>
            <a:ext cx="1209236" cy="1879642"/>
          </a:xfrm>
          <a:prstGeom prst="rect">
            <a:avLst/>
          </a:prstGeom>
        </p:spPr>
      </p:pic>
      <p:pic>
        <p:nvPicPr>
          <p:cNvPr id="20" name="Picture 19" descr="A yellow arrow with black text&#10;&#10;AI-generated content may be incorrect.">
            <a:extLst>
              <a:ext uri="{FF2B5EF4-FFF2-40B4-BE49-F238E27FC236}">
                <a16:creationId xmlns:a16="http://schemas.microsoft.com/office/drawing/2014/main" id="{0BAB9756-0E21-B936-9A8B-6010EC2AED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1438" y="6631888"/>
            <a:ext cx="1209236" cy="1879642"/>
          </a:xfrm>
          <a:prstGeom prst="rect">
            <a:avLst/>
          </a:prstGeom>
        </p:spPr>
      </p:pic>
      <p:pic>
        <p:nvPicPr>
          <p:cNvPr id="22" name="Picture 21" descr="A red circle with text&#10;&#10;AI-generated content may be incorrect.">
            <a:extLst>
              <a:ext uri="{FF2B5EF4-FFF2-40B4-BE49-F238E27FC236}">
                <a16:creationId xmlns:a16="http://schemas.microsoft.com/office/drawing/2014/main" id="{32D13469-4D7D-07BB-84EB-F6D5425D87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66113" y="6631887"/>
            <a:ext cx="1209236" cy="1879642"/>
          </a:xfrm>
          <a:prstGeom prst="rect">
            <a:avLst/>
          </a:prstGeom>
        </p:spPr>
      </p:pic>
      <p:pic>
        <p:nvPicPr>
          <p:cNvPr id="24" name="Picture 23" descr="A red lightning bolt with text&#10;&#10;AI-generated content may be incorrect.">
            <a:extLst>
              <a:ext uri="{FF2B5EF4-FFF2-40B4-BE49-F238E27FC236}">
                <a16:creationId xmlns:a16="http://schemas.microsoft.com/office/drawing/2014/main" id="{75BCF304-D9DE-5235-5837-0163DDA3FFF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83451" y="6631887"/>
            <a:ext cx="1209236" cy="1879642"/>
          </a:xfrm>
          <a:prstGeom prst="rect">
            <a:avLst/>
          </a:prstGeom>
        </p:spPr>
      </p:pic>
      <p:pic>
        <p:nvPicPr>
          <p:cNvPr id="26" name="Picture 25" descr="A grey hourglass with text&#10;&#10;AI-generated content may be incorrect.">
            <a:extLst>
              <a:ext uri="{FF2B5EF4-FFF2-40B4-BE49-F238E27FC236}">
                <a16:creationId xmlns:a16="http://schemas.microsoft.com/office/drawing/2014/main" id="{29F74851-DF60-1010-13EF-4117EE1109A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31438" y="2530928"/>
            <a:ext cx="1209236" cy="1879642"/>
          </a:xfrm>
          <a:prstGeom prst="rect">
            <a:avLst/>
          </a:prstGeom>
        </p:spPr>
      </p:pic>
      <p:sp>
        <p:nvSpPr>
          <p:cNvPr id="28" name="TextBox 27">
            <a:extLst>
              <a:ext uri="{FF2B5EF4-FFF2-40B4-BE49-F238E27FC236}">
                <a16:creationId xmlns:a16="http://schemas.microsoft.com/office/drawing/2014/main" id="{39F931CF-5A69-B759-69D9-9F851C1849DE}"/>
              </a:ext>
            </a:extLst>
          </p:cNvPr>
          <p:cNvSpPr txBox="1"/>
          <p:nvPr/>
        </p:nvSpPr>
        <p:spPr>
          <a:xfrm>
            <a:off x="1848776" y="2530928"/>
            <a:ext cx="3842206" cy="1241045"/>
          </a:xfrm>
          <a:prstGeom prst="rect">
            <a:avLst/>
          </a:prstGeom>
          <a:noFill/>
        </p:spPr>
        <p:txBody>
          <a:bodyPr wrap="square">
            <a:spAutoFit/>
          </a:bodyPr>
          <a:lstStyle/>
          <a:p>
            <a:pPr>
              <a:buNone/>
            </a:pPr>
            <a:r>
              <a:rPr lang="en-US" sz="1493" dirty="0">
                <a:solidFill>
                  <a:srgbClr val="0E0E0E"/>
                </a:solidFill>
              </a:rPr>
              <a:t>These cards represent the core elements of any process, helping teams visualize how work moves, where friction exists, and where change could have the biggest impact.</a:t>
            </a:r>
          </a:p>
        </p:txBody>
      </p:sp>
    </p:spTree>
    <p:extLst>
      <p:ext uri="{BB962C8B-B14F-4D97-AF65-F5344CB8AC3E}">
        <p14:creationId xmlns:p14="http://schemas.microsoft.com/office/powerpoint/2010/main" val="813043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CF594-3B11-3A06-2CD0-A023DE327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0BFB2-C762-0C2B-2151-8E57EBC12E8A}"/>
              </a:ext>
            </a:extLst>
          </p:cNvPr>
          <p:cNvSpPr>
            <a:spLocks noGrp="1"/>
          </p:cNvSpPr>
          <p:nvPr>
            <p:ph type="title"/>
          </p:nvPr>
        </p:nvSpPr>
        <p:spPr>
          <a:xfrm>
            <a:off x="431438" y="941910"/>
            <a:ext cx="2834676" cy="961545"/>
          </a:xfrm>
        </p:spPr>
        <p:txBody>
          <a:bodyPr/>
          <a:lstStyle/>
          <a:p>
            <a:r>
              <a:rPr lang="en-US" dirty="0"/>
              <a:t>Experience mapping  cards</a:t>
            </a:r>
          </a:p>
        </p:txBody>
      </p:sp>
      <p:pic>
        <p:nvPicPr>
          <p:cNvPr id="4" name="Picture 3" descr="A blue and white logo&#10;&#10;AI-generated content may be incorrect.">
            <a:extLst>
              <a:ext uri="{FF2B5EF4-FFF2-40B4-BE49-F238E27FC236}">
                <a16:creationId xmlns:a16="http://schemas.microsoft.com/office/drawing/2014/main" id="{B4A3F047-41ED-3A72-A431-C56C64890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1707" y="7119055"/>
            <a:ext cx="1138054" cy="1768996"/>
          </a:xfrm>
          <a:prstGeom prst="rect">
            <a:avLst/>
          </a:prstGeom>
        </p:spPr>
      </p:pic>
      <p:pic>
        <p:nvPicPr>
          <p:cNvPr id="7" name="Picture 6" descr="A yellow thumbtack with black text&#10;&#10;AI-generated content may be incorrect.">
            <a:extLst>
              <a:ext uri="{FF2B5EF4-FFF2-40B4-BE49-F238E27FC236}">
                <a16:creationId xmlns:a16="http://schemas.microsoft.com/office/drawing/2014/main" id="{A4A87CEC-F169-E52B-397B-A1974E077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356" y="4953000"/>
            <a:ext cx="1138054" cy="1768996"/>
          </a:xfrm>
          <a:prstGeom prst="rect">
            <a:avLst/>
          </a:prstGeom>
        </p:spPr>
      </p:pic>
      <p:pic>
        <p:nvPicPr>
          <p:cNvPr id="10" name="Picture 9" descr="A purple and white touchpoint&#10;&#10;AI-generated content may be incorrect.">
            <a:extLst>
              <a:ext uri="{FF2B5EF4-FFF2-40B4-BE49-F238E27FC236}">
                <a16:creationId xmlns:a16="http://schemas.microsoft.com/office/drawing/2014/main" id="{928C2C9D-0B7C-F411-9DA3-BFD7C3587D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9362" y="4953000"/>
            <a:ext cx="1138054" cy="1768996"/>
          </a:xfrm>
          <a:prstGeom prst="rect">
            <a:avLst/>
          </a:prstGeom>
        </p:spPr>
      </p:pic>
      <p:pic>
        <p:nvPicPr>
          <p:cNvPr id="13" name="Picture 12" descr="A screen shot of a phone&#10;&#10;AI-generated content may be incorrect.">
            <a:extLst>
              <a:ext uri="{FF2B5EF4-FFF2-40B4-BE49-F238E27FC236}">
                <a16:creationId xmlns:a16="http://schemas.microsoft.com/office/drawing/2014/main" id="{E0E03BB6-84DA-6F6E-B9B4-D28F709BB0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4369" y="4961404"/>
            <a:ext cx="1138054" cy="1768996"/>
          </a:xfrm>
          <a:prstGeom prst="rect">
            <a:avLst/>
          </a:prstGeom>
        </p:spPr>
      </p:pic>
      <p:pic>
        <p:nvPicPr>
          <p:cNvPr id="16" name="Picture 15" descr="A red triangle with a lightning bolt in it&#10;&#10;AI-generated content may be incorrect.">
            <a:extLst>
              <a:ext uri="{FF2B5EF4-FFF2-40B4-BE49-F238E27FC236}">
                <a16:creationId xmlns:a16="http://schemas.microsoft.com/office/drawing/2014/main" id="{C08C9B93-C052-3315-64BF-8393CB825B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9375" y="4961404"/>
            <a:ext cx="1138054" cy="1768996"/>
          </a:xfrm>
          <a:prstGeom prst="rect">
            <a:avLst/>
          </a:prstGeom>
        </p:spPr>
      </p:pic>
      <p:pic>
        <p:nvPicPr>
          <p:cNvPr id="19" name="Picture 18" descr="A screenshot of a phone&#10;&#10;AI-generated content may be incorrect.">
            <a:extLst>
              <a:ext uri="{FF2B5EF4-FFF2-40B4-BE49-F238E27FC236}">
                <a16:creationId xmlns:a16="http://schemas.microsoft.com/office/drawing/2014/main" id="{82FB7A08-6ECA-C8ED-5DAF-5209095E6C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9376" y="7119055"/>
            <a:ext cx="1138054" cy="1768996"/>
          </a:xfrm>
          <a:prstGeom prst="rect">
            <a:avLst/>
          </a:prstGeom>
        </p:spPr>
      </p:pic>
      <p:pic>
        <p:nvPicPr>
          <p:cNvPr id="23" name="Picture 22" descr="A green target with a arrow&#10;&#10;AI-generated content may be incorrect.">
            <a:extLst>
              <a:ext uri="{FF2B5EF4-FFF2-40B4-BE49-F238E27FC236}">
                <a16:creationId xmlns:a16="http://schemas.microsoft.com/office/drawing/2014/main" id="{6113D721-FDF9-AD19-E65E-20F0DF568D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04355" y="7119055"/>
            <a:ext cx="1138054" cy="1768996"/>
          </a:xfrm>
          <a:prstGeom prst="rect">
            <a:avLst/>
          </a:prstGeom>
        </p:spPr>
      </p:pic>
      <p:pic>
        <p:nvPicPr>
          <p:cNvPr id="27" name="Picture 26" descr="A screen shot of a phone&#10;&#10;AI-generated content may be incorrect.">
            <a:extLst>
              <a:ext uri="{FF2B5EF4-FFF2-40B4-BE49-F238E27FC236}">
                <a16:creationId xmlns:a16="http://schemas.microsoft.com/office/drawing/2014/main" id="{A2E3D9D7-6A17-5DDE-D97E-6F85978B4E5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14369" y="7119055"/>
            <a:ext cx="1138054" cy="1768996"/>
          </a:xfrm>
          <a:prstGeom prst="rect">
            <a:avLst/>
          </a:prstGeom>
        </p:spPr>
      </p:pic>
      <p:pic>
        <p:nvPicPr>
          <p:cNvPr id="29" name="Picture 28" descr="A black and white sign with text&#10;&#10;AI-generated content may be incorrect.">
            <a:extLst>
              <a:ext uri="{FF2B5EF4-FFF2-40B4-BE49-F238E27FC236}">
                <a16:creationId xmlns:a16="http://schemas.microsoft.com/office/drawing/2014/main" id="{BF919F4C-028A-29CA-0A60-2DD88B15E8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9375" y="2803754"/>
            <a:ext cx="1138054" cy="1768996"/>
          </a:xfrm>
          <a:prstGeom prst="rect">
            <a:avLst/>
          </a:prstGeom>
        </p:spPr>
      </p:pic>
      <p:sp>
        <p:nvSpPr>
          <p:cNvPr id="31" name="TextBox 30">
            <a:extLst>
              <a:ext uri="{FF2B5EF4-FFF2-40B4-BE49-F238E27FC236}">
                <a16:creationId xmlns:a16="http://schemas.microsoft.com/office/drawing/2014/main" id="{37309F05-E590-2CF4-188D-0FA3334E2846}"/>
              </a:ext>
            </a:extLst>
          </p:cNvPr>
          <p:cNvSpPr txBox="1"/>
          <p:nvPr/>
        </p:nvSpPr>
        <p:spPr>
          <a:xfrm>
            <a:off x="2214368" y="2807588"/>
            <a:ext cx="3807198" cy="1241045"/>
          </a:xfrm>
          <a:prstGeom prst="rect">
            <a:avLst/>
          </a:prstGeom>
          <a:noFill/>
        </p:spPr>
        <p:txBody>
          <a:bodyPr wrap="square">
            <a:spAutoFit/>
          </a:bodyPr>
          <a:lstStyle/>
          <a:p>
            <a:pPr>
              <a:buNone/>
            </a:pPr>
            <a:r>
              <a:rPr lang="en-US" sz="1493" dirty="0">
                <a:solidFill>
                  <a:srgbClr val="0E0E0E"/>
                </a:solidFill>
              </a:rPr>
              <a:t>These cards focus on the experience of work, helping teams understand what users encounter, feel, and remember—so improvement isn’t just efficient, but meaningful.</a:t>
            </a:r>
          </a:p>
        </p:txBody>
      </p:sp>
    </p:spTree>
    <p:extLst>
      <p:ext uri="{BB962C8B-B14F-4D97-AF65-F5344CB8AC3E}">
        <p14:creationId xmlns:p14="http://schemas.microsoft.com/office/powerpoint/2010/main" val="1467775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3329A-8E0B-146A-F744-F2EE3FC93E5E}"/>
              </a:ext>
            </a:extLst>
          </p:cNvPr>
          <p:cNvSpPr>
            <a:spLocks noGrp="1"/>
          </p:cNvSpPr>
          <p:nvPr>
            <p:ph type="title"/>
          </p:nvPr>
        </p:nvSpPr>
        <p:spPr>
          <a:xfrm>
            <a:off x="515470" y="1388981"/>
            <a:ext cx="3263861" cy="1384994"/>
          </a:xfrm>
        </p:spPr>
        <p:txBody>
          <a:bodyPr/>
          <a:lstStyle/>
          <a:p>
            <a:r>
              <a:rPr lang="en-US" dirty="0"/>
              <a:t>Pain point identification and prioritization</a:t>
            </a:r>
          </a:p>
        </p:txBody>
      </p:sp>
    </p:spTree>
    <p:extLst>
      <p:ext uri="{BB962C8B-B14F-4D97-AF65-F5344CB8AC3E}">
        <p14:creationId xmlns:p14="http://schemas.microsoft.com/office/powerpoint/2010/main" val="1684912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D97B-B335-6213-C8E2-A14C9578952F}"/>
              </a:ext>
            </a:extLst>
          </p:cNvPr>
          <p:cNvSpPr>
            <a:spLocks noGrp="1"/>
          </p:cNvSpPr>
          <p:nvPr>
            <p:ph type="title"/>
          </p:nvPr>
        </p:nvSpPr>
        <p:spPr>
          <a:xfrm>
            <a:off x="338575" y="1077558"/>
            <a:ext cx="4119125" cy="1064167"/>
          </a:xfrm>
        </p:spPr>
        <p:txBody>
          <a:bodyPr/>
          <a:lstStyle/>
          <a:p>
            <a:r>
              <a:rPr lang="en-US" dirty="0"/>
              <a:t>Pain point identification and prioritization</a:t>
            </a:r>
          </a:p>
        </p:txBody>
      </p:sp>
      <p:graphicFrame>
        <p:nvGraphicFramePr>
          <p:cNvPr id="3" name="Table 2">
            <a:extLst>
              <a:ext uri="{FF2B5EF4-FFF2-40B4-BE49-F238E27FC236}">
                <a16:creationId xmlns:a16="http://schemas.microsoft.com/office/drawing/2014/main" id="{7180A30F-1448-9AD0-F0EF-1C085DCBEBCA}"/>
              </a:ext>
            </a:extLst>
          </p:cNvPr>
          <p:cNvGraphicFramePr>
            <a:graphicFrameLocks noGrp="1"/>
          </p:cNvGraphicFramePr>
          <p:nvPr>
            <p:extLst>
              <p:ext uri="{D42A27DB-BD31-4B8C-83A1-F6EECF244321}">
                <p14:modId xmlns:p14="http://schemas.microsoft.com/office/powerpoint/2010/main" val="3237468364"/>
              </p:ext>
            </p:extLst>
          </p:nvPr>
        </p:nvGraphicFramePr>
        <p:xfrm>
          <a:off x="338573" y="2551720"/>
          <a:ext cx="6166439" cy="4388222"/>
        </p:xfrm>
        <a:graphic>
          <a:graphicData uri="http://schemas.openxmlformats.org/drawingml/2006/table">
            <a:tbl>
              <a:tblPr firstRow="1" bandRow="1">
                <a:tableStyleId>{FABFCF23-3B69-468F-B69F-88F6DE6A72F2}</a:tableStyleId>
              </a:tblPr>
              <a:tblGrid>
                <a:gridCol w="2346635">
                  <a:extLst>
                    <a:ext uri="{9D8B030D-6E8A-4147-A177-3AD203B41FA5}">
                      <a16:colId xmlns:a16="http://schemas.microsoft.com/office/drawing/2014/main" val="3618441500"/>
                    </a:ext>
                  </a:extLst>
                </a:gridCol>
                <a:gridCol w="806824">
                  <a:extLst>
                    <a:ext uri="{9D8B030D-6E8A-4147-A177-3AD203B41FA5}">
                      <a16:colId xmlns:a16="http://schemas.microsoft.com/office/drawing/2014/main" val="2974251784"/>
                    </a:ext>
                  </a:extLst>
                </a:gridCol>
                <a:gridCol w="1121989">
                  <a:extLst>
                    <a:ext uri="{9D8B030D-6E8A-4147-A177-3AD203B41FA5}">
                      <a16:colId xmlns:a16="http://schemas.microsoft.com/office/drawing/2014/main" val="78963639"/>
                    </a:ext>
                  </a:extLst>
                </a:gridCol>
                <a:gridCol w="1159809">
                  <a:extLst>
                    <a:ext uri="{9D8B030D-6E8A-4147-A177-3AD203B41FA5}">
                      <a16:colId xmlns:a16="http://schemas.microsoft.com/office/drawing/2014/main" val="3030778931"/>
                    </a:ext>
                  </a:extLst>
                </a:gridCol>
                <a:gridCol w="731182">
                  <a:extLst>
                    <a:ext uri="{9D8B030D-6E8A-4147-A177-3AD203B41FA5}">
                      <a16:colId xmlns:a16="http://schemas.microsoft.com/office/drawing/2014/main" val="2323643201"/>
                    </a:ext>
                  </a:extLst>
                </a:gridCol>
              </a:tblGrid>
              <a:tr h="327212">
                <a:tc>
                  <a:txBody>
                    <a:bodyPr/>
                    <a:lstStyle/>
                    <a:p>
                      <a:r>
                        <a:rPr lang="en-US" sz="1400" b="0" dirty="0">
                          <a:latin typeface="+mn-lt"/>
                        </a:rPr>
                        <a:t>Pain point description</a:t>
                      </a:r>
                    </a:p>
                  </a:txBody>
                  <a:tcPr marL="80682" marR="80682" marT="40341" marB="40341">
                    <a:lnR w="12700" cap="flat" cmpd="sng" algn="ctr">
                      <a:solidFill>
                        <a:schemeClr val="tx1"/>
                      </a:solidFill>
                      <a:prstDash val="solid"/>
                      <a:round/>
                      <a:headEnd type="none" w="med" len="med"/>
                      <a:tailEnd type="none" w="med" len="med"/>
                    </a:lnR>
                  </a:tcPr>
                </a:tc>
                <a:tc>
                  <a:txBody>
                    <a:bodyPr/>
                    <a:lstStyle/>
                    <a:p>
                      <a:pPr algn="r"/>
                      <a:r>
                        <a:rPr lang="en-US" sz="1400" b="0" dirty="0">
                          <a:latin typeface="+mn-lt"/>
                        </a:rPr>
                        <a:t>Impact </a:t>
                      </a:r>
                    </a:p>
                  </a:txBody>
                  <a:tcPr marL="80682" marR="80682" marT="40341" marB="40341">
                    <a:lnL w="12700" cap="flat" cmpd="sng" algn="ctr">
                      <a:solidFill>
                        <a:schemeClr val="tx1"/>
                      </a:solidFill>
                      <a:prstDash val="solid"/>
                      <a:round/>
                      <a:headEnd type="none" w="med" len="med"/>
                      <a:tailEnd type="none" w="med" len="med"/>
                    </a:lnL>
                  </a:tcPr>
                </a:tc>
                <a:tc>
                  <a:txBody>
                    <a:bodyPr/>
                    <a:lstStyle/>
                    <a:p>
                      <a:pPr algn="r"/>
                      <a:r>
                        <a:rPr lang="en-US" sz="1400" b="0" dirty="0">
                          <a:latin typeface="+mn-lt"/>
                        </a:rPr>
                        <a:t>Frequency</a:t>
                      </a:r>
                    </a:p>
                  </a:txBody>
                  <a:tcPr marL="80682" marR="80682" marT="40341" marB="40341"/>
                </a:tc>
                <a:tc>
                  <a:txBody>
                    <a:bodyPr/>
                    <a:lstStyle/>
                    <a:p>
                      <a:pPr algn="r"/>
                      <a:r>
                        <a:rPr lang="en-US" sz="1400" b="0" dirty="0">
                          <a:latin typeface="+mn-lt"/>
                        </a:rPr>
                        <a:t>Population</a:t>
                      </a:r>
                    </a:p>
                  </a:txBody>
                  <a:tcPr marL="80682" marR="80682" marT="40341" marB="40341"/>
                </a:tc>
                <a:tc>
                  <a:txBody>
                    <a:bodyPr/>
                    <a:lstStyle/>
                    <a:p>
                      <a:pPr algn="r"/>
                      <a:r>
                        <a:rPr lang="en-US" sz="1400" b="0" dirty="0">
                          <a:latin typeface="+mn-lt"/>
                        </a:rPr>
                        <a:t>Score</a:t>
                      </a:r>
                    </a:p>
                  </a:txBody>
                  <a:tcPr marL="80682" marR="80682" marT="40341" marB="40341"/>
                </a:tc>
                <a:extLst>
                  <a:ext uri="{0D108BD9-81ED-4DB2-BD59-A6C34878D82A}">
                    <a16:rowId xmlns:a16="http://schemas.microsoft.com/office/drawing/2014/main" val="597031455"/>
                  </a:ext>
                </a:extLst>
              </a:tr>
              <a:tr h="806824">
                <a:tc>
                  <a:txBody>
                    <a:bodyPr/>
                    <a:lstStyle/>
                    <a:p>
                      <a:endParaRPr lang="en-US" sz="1600" dirty="0">
                        <a:latin typeface="+mj-lt"/>
                      </a:endParaRPr>
                    </a:p>
                    <a:p>
                      <a:endParaRPr lang="en-US" sz="1600" dirty="0">
                        <a:latin typeface="+mj-lt"/>
                      </a:endParaRPr>
                    </a:p>
                    <a:p>
                      <a:endParaRPr lang="en-US" sz="1600" dirty="0">
                        <a:latin typeface="+mj-lt"/>
                      </a:endParaRPr>
                    </a:p>
                  </a:txBody>
                  <a:tcPr marL="80682" marR="80682" marT="40341" marB="40341">
                    <a:lnR w="12700" cap="flat" cmpd="sng" algn="ctr">
                      <a:solidFill>
                        <a:schemeClr val="tx1"/>
                      </a:solidFill>
                      <a:prstDash val="solid"/>
                      <a:round/>
                      <a:headEnd type="none" w="med" len="med"/>
                      <a:tailEnd type="none" w="med" len="med"/>
                    </a:lnR>
                  </a:tcPr>
                </a:tc>
                <a:tc>
                  <a:txBody>
                    <a:bodyPr/>
                    <a:lstStyle/>
                    <a:p>
                      <a:endParaRPr lang="en-US" sz="1600" dirty="0">
                        <a:latin typeface="+mj-lt"/>
                      </a:endParaRPr>
                    </a:p>
                  </a:txBody>
                  <a:tcPr marL="80682" marR="80682" marT="40341" marB="40341">
                    <a:lnL w="12700" cap="flat" cmpd="sng" algn="ctr">
                      <a:solidFill>
                        <a:schemeClr val="tx1"/>
                      </a:solidFill>
                      <a:prstDash val="solid"/>
                      <a:round/>
                      <a:headEnd type="none" w="med" len="med"/>
                      <a:tailEnd type="none" w="med" len="med"/>
                    </a:lnL>
                  </a:tcPr>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extLst>
                  <a:ext uri="{0D108BD9-81ED-4DB2-BD59-A6C34878D82A}">
                    <a16:rowId xmlns:a16="http://schemas.microsoft.com/office/drawing/2014/main" val="3090755822"/>
                  </a:ext>
                </a:extLst>
              </a:tr>
              <a:tr h="806824">
                <a:tc>
                  <a:txBody>
                    <a:bodyPr/>
                    <a:lstStyle/>
                    <a:p>
                      <a:endParaRPr lang="en-US" sz="1600" dirty="0">
                        <a:latin typeface="+mj-lt"/>
                      </a:endParaRPr>
                    </a:p>
                    <a:p>
                      <a:endParaRPr lang="en-US" sz="1600" dirty="0">
                        <a:latin typeface="+mj-lt"/>
                      </a:endParaRPr>
                    </a:p>
                    <a:p>
                      <a:endParaRPr lang="en-US" sz="1600" dirty="0">
                        <a:latin typeface="+mj-lt"/>
                      </a:endParaRPr>
                    </a:p>
                  </a:txBody>
                  <a:tcPr marL="80682" marR="80682" marT="40341" marB="40341">
                    <a:lnR w="12700" cap="flat" cmpd="sng" algn="ctr">
                      <a:solidFill>
                        <a:schemeClr val="tx1"/>
                      </a:solidFill>
                      <a:prstDash val="solid"/>
                      <a:round/>
                      <a:headEnd type="none" w="med" len="med"/>
                      <a:tailEnd type="none" w="med" len="med"/>
                    </a:lnR>
                  </a:tcPr>
                </a:tc>
                <a:tc>
                  <a:txBody>
                    <a:bodyPr/>
                    <a:lstStyle/>
                    <a:p>
                      <a:endParaRPr lang="en-US" sz="1600" dirty="0">
                        <a:latin typeface="+mj-lt"/>
                      </a:endParaRPr>
                    </a:p>
                  </a:txBody>
                  <a:tcPr marL="80682" marR="80682" marT="40341" marB="40341">
                    <a:lnL w="12700" cap="flat" cmpd="sng" algn="ctr">
                      <a:solidFill>
                        <a:schemeClr val="tx1"/>
                      </a:solidFill>
                      <a:prstDash val="solid"/>
                      <a:round/>
                      <a:headEnd type="none" w="med" len="med"/>
                      <a:tailEnd type="none" w="med" len="med"/>
                    </a:lnL>
                  </a:tcPr>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extLst>
                  <a:ext uri="{0D108BD9-81ED-4DB2-BD59-A6C34878D82A}">
                    <a16:rowId xmlns:a16="http://schemas.microsoft.com/office/drawing/2014/main" val="482818493"/>
                  </a:ext>
                </a:extLst>
              </a:tr>
              <a:tr h="806824">
                <a:tc>
                  <a:txBody>
                    <a:bodyPr/>
                    <a:lstStyle/>
                    <a:p>
                      <a:endParaRPr lang="en-US" sz="1600" dirty="0">
                        <a:latin typeface="+mj-lt"/>
                      </a:endParaRPr>
                    </a:p>
                    <a:p>
                      <a:endParaRPr lang="en-US" sz="1600" dirty="0">
                        <a:latin typeface="+mj-lt"/>
                      </a:endParaRPr>
                    </a:p>
                    <a:p>
                      <a:endParaRPr lang="en-US" sz="1600" dirty="0">
                        <a:latin typeface="+mj-lt"/>
                      </a:endParaRPr>
                    </a:p>
                  </a:txBody>
                  <a:tcPr marL="80682" marR="80682" marT="40341" marB="40341">
                    <a:lnR w="12700" cap="flat" cmpd="sng" algn="ctr">
                      <a:solidFill>
                        <a:schemeClr val="tx1"/>
                      </a:solidFill>
                      <a:prstDash val="solid"/>
                      <a:round/>
                      <a:headEnd type="none" w="med" len="med"/>
                      <a:tailEnd type="none" w="med" len="med"/>
                    </a:lnR>
                  </a:tcPr>
                </a:tc>
                <a:tc>
                  <a:txBody>
                    <a:bodyPr/>
                    <a:lstStyle/>
                    <a:p>
                      <a:endParaRPr lang="en-US" sz="1600" dirty="0">
                        <a:latin typeface="+mj-lt"/>
                      </a:endParaRPr>
                    </a:p>
                  </a:txBody>
                  <a:tcPr marL="80682" marR="80682" marT="40341" marB="40341">
                    <a:lnL w="12700" cap="flat" cmpd="sng" algn="ctr">
                      <a:solidFill>
                        <a:schemeClr val="tx1"/>
                      </a:solidFill>
                      <a:prstDash val="solid"/>
                      <a:round/>
                      <a:headEnd type="none" w="med" len="med"/>
                      <a:tailEnd type="none" w="med" len="med"/>
                    </a:lnL>
                  </a:tcPr>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extLst>
                  <a:ext uri="{0D108BD9-81ED-4DB2-BD59-A6C34878D82A}">
                    <a16:rowId xmlns:a16="http://schemas.microsoft.com/office/drawing/2014/main" val="3072316648"/>
                  </a:ext>
                </a:extLst>
              </a:tr>
              <a:tr h="806824">
                <a:tc>
                  <a:txBody>
                    <a:bodyPr/>
                    <a:lstStyle/>
                    <a:p>
                      <a:endParaRPr lang="en-US" sz="1600" dirty="0">
                        <a:latin typeface="+mj-lt"/>
                      </a:endParaRPr>
                    </a:p>
                    <a:p>
                      <a:endParaRPr lang="en-US" sz="1600" dirty="0">
                        <a:latin typeface="+mj-lt"/>
                      </a:endParaRPr>
                    </a:p>
                    <a:p>
                      <a:endParaRPr lang="en-US" sz="1600" dirty="0">
                        <a:latin typeface="+mj-lt"/>
                      </a:endParaRPr>
                    </a:p>
                  </a:txBody>
                  <a:tcPr marL="80682" marR="80682" marT="40341" marB="40341">
                    <a:lnR w="12700" cap="flat" cmpd="sng" algn="ctr">
                      <a:solidFill>
                        <a:schemeClr val="tx1"/>
                      </a:solidFill>
                      <a:prstDash val="solid"/>
                      <a:round/>
                      <a:headEnd type="none" w="med" len="med"/>
                      <a:tailEnd type="none" w="med" len="med"/>
                    </a:lnR>
                  </a:tcPr>
                </a:tc>
                <a:tc>
                  <a:txBody>
                    <a:bodyPr/>
                    <a:lstStyle/>
                    <a:p>
                      <a:endParaRPr lang="en-US" sz="1600" dirty="0">
                        <a:latin typeface="+mj-lt"/>
                      </a:endParaRPr>
                    </a:p>
                  </a:txBody>
                  <a:tcPr marL="80682" marR="80682" marT="40341" marB="40341">
                    <a:lnL w="12700" cap="flat" cmpd="sng" algn="ctr">
                      <a:solidFill>
                        <a:schemeClr val="tx1"/>
                      </a:solidFill>
                      <a:prstDash val="solid"/>
                      <a:round/>
                      <a:headEnd type="none" w="med" len="med"/>
                      <a:tailEnd type="none" w="med" len="med"/>
                    </a:lnL>
                  </a:tcPr>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extLst>
                  <a:ext uri="{0D108BD9-81ED-4DB2-BD59-A6C34878D82A}">
                    <a16:rowId xmlns:a16="http://schemas.microsoft.com/office/drawing/2014/main" val="767987270"/>
                  </a:ext>
                </a:extLst>
              </a:tr>
              <a:tr h="806824">
                <a:tc>
                  <a:txBody>
                    <a:bodyPr/>
                    <a:lstStyle/>
                    <a:p>
                      <a:endParaRPr lang="en-US" sz="1600" dirty="0">
                        <a:latin typeface="+mj-lt"/>
                      </a:endParaRPr>
                    </a:p>
                    <a:p>
                      <a:endParaRPr lang="en-US" sz="1600" dirty="0">
                        <a:latin typeface="+mj-lt"/>
                      </a:endParaRPr>
                    </a:p>
                    <a:p>
                      <a:endParaRPr lang="en-US" sz="1600" dirty="0">
                        <a:latin typeface="+mj-lt"/>
                      </a:endParaRPr>
                    </a:p>
                  </a:txBody>
                  <a:tcPr marL="80682" marR="80682" marT="40341" marB="40341">
                    <a:lnR w="12700" cap="flat" cmpd="sng" algn="ctr">
                      <a:solidFill>
                        <a:schemeClr val="tx1"/>
                      </a:solidFill>
                      <a:prstDash val="solid"/>
                      <a:round/>
                      <a:headEnd type="none" w="med" len="med"/>
                      <a:tailEnd type="none" w="med" len="med"/>
                    </a:lnR>
                  </a:tcPr>
                </a:tc>
                <a:tc>
                  <a:txBody>
                    <a:bodyPr/>
                    <a:lstStyle/>
                    <a:p>
                      <a:endParaRPr lang="en-US" sz="1600" dirty="0">
                        <a:latin typeface="+mj-lt"/>
                      </a:endParaRPr>
                    </a:p>
                  </a:txBody>
                  <a:tcPr marL="80682" marR="80682" marT="40341" marB="40341">
                    <a:lnL w="12700" cap="flat" cmpd="sng" algn="ctr">
                      <a:solidFill>
                        <a:schemeClr val="tx1"/>
                      </a:solidFill>
                      <a:prstDash val="solid"/>
                      <a:round/>
                      <a:headEnd type="none" w="med" len="med"/>
                      <a:tailEnd type="none" w="med" len="med"/>
                    </a:lnL>
                  </a:tcPr>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tc>
                  <a:txBody>
                    <a:bodyPr/>
                    <a:lstStyle/>
                    <a:p>
                      <a:endParaRPr lang="en-US" sz="1600" dirty="0">
                        <a:latin typeface="+mj-lt"/>
                      </a:endParaRPr>
                    </a:p>
                  </a:txBody>
                  <a:tcPr marL="80682" marR="80682" marT="40341" marB="40341"/>
                </a:tc>
                <a:extLst>
                  <a:ext uri="{0D108BD9-81ED-4DB2-BD59-A6C34878D82A}">
                    <a16:rowId xmlns:a16="http://schemas.microsoft.com/office/drawing/2014/main" val="219727121"/>
                  </a:ext>
                </a:extLst>
              </a:tr>
            </a:tbl>
          </a:graphicData>
        </a:graphic>
      </p:graphicFrame>
      <p:sp>
        <p:nvSpPr>
          <p:cNvPr id="4" name="TextBox 3">
            <a:extLst>
              <a:ext uri="{FF2B5EF4-FFF2-40B4-BE49-F238E27FC236}">
                <a16:creationId xmlns:a16="http://schemas.microsoft.com/office/drawing/2014/main" id="{28D4D210-C1E0-5D6F-F6B4-9A36A3168091}"/>
              </a:ext>
            </a:extLst>
          </p:cNvPr>
          <p:cNvSpPr txBox="1"/>
          <p:nvPr/>
        </p:nvSpPr>
        <p:spPr>
          <a:xfrm>
            <a:off x="338575" y="6995265"/>
            <a:ext cx="2283602" cy="217304"/>
          </a:xfrm>
          <a:prstGeom prst="rect">
            <a:avLst/>
          </a:prstGeom>
          <a:noFill/>
        </p:spPr>
        <p:txBody>
          <a:bodyPr wrap="square" lIns="0" tIns="0" rIns="0" bIns="0" rtlCol="0">
            <a:spAutoFit/>
          </a:bodyPr>
          <a:lstStyle/>
          <a:p>
            <a:pPr algn="l"/>
            <a:r>
              <a:rPr lang="en-US" sz="1412" dirty="0"/>
              <a:t>Scoring guidance:</a:t>
            </a:r>
          </a:p>
        </p:txBody>
      </p:sp>
      <p:graphicFrame>
        <p:nvGraphicFramePr>
          <p:cNvPr id="5" name="Table 4">
            <a:extLst>
              <a:ext uri="{FF2B5EF4-FFF2-40B4-BE49-F238E27FC236}">
                <a16:creationId xmlns:a16="http://schemas.microsoft.com/office/drawing/2014/main" id="{B23E7791-A5C3-124F-181F-1E9C286D4DAB}"/>
              </a:ext>
            </a:extLst>
          </p:cNvPr>
          <p:cNvGraphicFramePr>
            <a:graphicFrameLocks noGrp="1"/>
          </p:cNvGraphicFramePr>
          <p:nvPr>
            <p:extLst>
              <p:ext uri="{D42A27DB-BD31-4B8C-83A1-F6EECF244321}">
                <p14:modId xmlns:p14="http://schemas.microsoft.com/office/powerpoint/2010/main" val="1966149295"/>
              </p:ext>
            </p:extLst>
          </p:nvPr>
        </p:nvGraphicFramePr>
        <p:xfrm>
          <a:off x="338574" y="7351470"/>
          <a:ext cx="6166437" cy="1529378"/>
        </p:xfrm>
        <a:graphic>
          <a:graphicData uri="http://schemas.openxmlformats.org/drawingml/2006/table">
            <a:tbl>
              <a:tblPr firstRow="1" bandRow="1">
                <a:tableStyleId>{FABFCF23-3B69-468F-B69F-88F6DE6A72F2}</a:tableStyleId>
              </a:tblPr>
              <a:tblGrid>
                <a:gridCol w="2055479">
                  <a:extLst>
                    <a:ext uri="{9D8B030D-6E8A-4147-A177-3AD203B41FA5}">
                      <a16:colId xmlns:a16="http://schemas.microsoft.com/office/drawing/2014/main" val="1203468602"/>
                    </a:ext>
                  </a:extLst>
                </a:gridCol>
                <a:gridCol w="2055479">
                  <a:extLst>
                    <a:ext uri="{9D8B030D-6E8A-4147-A177-3AD203B41FA5}">
                      <a16:colId xmlns:a16="http://schemas.microsoft.com/office/drawing/2014/main" val="3097511068"/>
                    </a:ext>
                  </a:extLst>
                </a:gridCol>
                <a:gridCol w="2055479">
                  <a:extLst>
                    <a:ext uri="{9D8B030D-6E8A-4147-A177-3AD203B41FA5}">
                      <a16:colId xmlns:a16="http://schemas.microsoft.com/office/drawing/2014/main" val="4173954260"/>
                    </a:ext>
                  </a:extLst>
                </a:gridCol>
              </a:tblGrid>
              <a:tr h="327212">
                <a:tc>
                  <a:txBody>
                    <a:bodyPr/>
                    <a:lstStyle/>
                    <a:p>
                      <a:r>
                        <a:rPr lang="en-US" sz="900" b="0" dirty="0"/>
                        <a:t>Criterion</a:t>
                      </a:r>
                    </a:p>
                  </a:txBody>
                  <a:tcPr marL="80682" marR="80682" marT="40341" marB="40341"/>
                </a:tc>
                <a:tc>
                  <a:txBody>
                    <a:bodyPr/>
                    <a:lstStyle/>
                    <a:p>
                      <a:r>
                        <a:rPr lang="en-US" sz="900" b="0" dirty="0"/>
                        <a:t>1 (low)</a:t>
                      </a:r>
                    </a:p>
                  </a:txBody>
                  <a:tcPr marL="80682" marR="80682" marT="40341" marB="40341"/>
                </a:tc>
                <a:tc>
                  <a:txBody>
                    <a:bodyPr/>
                    <a:lstStyle/>
                    <a:p>
                      <a:r>
                        <a:rPr lang="en-US" sz="900" b="0" dirty="0"/>
                        <a:t>5 (high)</a:t>
                      </a:r>
                    </a:p>
                  </a:txBody>
                  <a:tcPr marL="80682" marR="80682" marT="40341" marB="40341"/>
                </a:tc>
                <a:extLst>
                  <a:ext uri="{0D108BD9-81ED-4DB2-BD59-A6C34878D82A}">
                    <a16:rowId xmlns:a16="http://schemas.microsoft.com/office/drawing/2014/main" val="1506653454"/>
                  </a:ext>
                </a:extLst>
              </a:tr>
              <a:tr h="353097">
                <a:tc>
                  <a:txBody>
                    <a:bodyPr/>
                    <a:lstStyle/>
                    <a:p>
                      <a:r>
                        <a:rPr lang="en-US" sz="900" b="0" dirty="0"/>
                        <a:t>Impact</a:t>
                      </a:r>
                    </a:p>
                  </a:txBody>
                  <a:tcPr marL="80682" marR="80682" marT="40341" marB="40341"/>
                </a:tc>
                <a:tc>
                  <a:txBody>
                    <a:bodyPr/>
                    <a:lstStyle/>
                    <a:p>
                      <a:r>
                        <a:rPr lang="en-US" sz="900" b="0" dirty="0"/>
                        <a:t>Minor inconvenience; minimal effect on outcome</a:t>
                      </a:r>
                    </a:p>
                  </a:txBody>
                  <a:tcPr marL="80682" marR="80682" marT="40341" marB="40341"/>
                </a:tc>
                <a:tc>
                  <a:txBody>
                    <a:bodyPr/>
                    <a:lstStyle/>
                    <a:p>
                      <a:r>
                        <a:rPr lang="en-US" sz="900" b="0" dirty="0"/>
                        <a:t>Severe problem; significant impact on customer, employee or organization</a:t>
                      </a:r>
                    </a:p>
                  </a:txBody>
                  <a:tcPr marL="80682" marR="80682" marT="40341" marB="40341"/>
                </a:tc>
                <a:extLst>
                  <a:ext uri="{0D108BD9-81ED-4DB2-BD59-A6C34878D82A}">
                    <a16:rowId xmlns:a16="http://schemas.microsoft.com/office/drawing/2014/main" val="2678963180"/>
                  </a:ext>
                </a:extLst>
              </a:tr>
              <a:tr h="353097">
                <a:tc>
                  <a:txBody>
                    <a:bodyPr/>
                    <a:lstStyle/>
                    <a:p>
                      <a:r>
                        <a:rPr lang="en-US" sz="900" b="0" dirty="0"/>
                        <a:t>Frequency</a:t>
                      </a:r>
                    </a:p>
                  </a:txBody>
                  <a:tcPr marL="80682" marR="80682" marT="40341" marB="40341"/>
                </a:tc>
                <a:tc>
                  <a:txBody>
                    <a:bodyPr/>
                    <a:lstStyle/>
                    <a:p>
                      <a:r>
                        <a:rPr lang="en-US" sz="900" b="0" dirty="0"/>
                        <a:t>Rarely occurs</a:t>
                      </a:r>
                    </a:p>
                  </a:txBody>
                  <a:tcPr marL="80682" marR="80682" marT="40341" marB="40341"/>
                </a:tc>
                <a:tc>
                  <a:txBody>
                    <a:bodyPr/>
                    <a:lstStyle/>
                    <a:p>
                      <a:r>
                        <a:rPr lang="en-US" sz="900" b="0" dirty="0"/>
                        <a:t>Occurs often, many times per day/ week</a:t>
                      </a:r>
                    </a:p>
                  </a:txBody>
                  <a:tcPr marL="80682" marR="80682" marT="40341" marB="40341"/>
                </a:tc>
                <a:extLst>
                  <a:ext uri="{0D108BD9-81ED-4DB2-BD59-A6C34878D82A}">
                    <a16:rowId xmlns:a16="http://schemas.microsoft.com/office/drawing/2014/main" val="269138843"/>
                  </a:ext>
                </a:extLst>
              </a:tr>
              <a:tr h="353097">
                <a:tc>
                  <a:txBody>
                    <a:bodyPr/>
                    <a:lstStyle/>
                    <a:p>
                      <a:r>
                        <a:rPr lang="en-US" sz="900" b="0" dirty="0"/>
                        <a:t>Population</a:t>
                      </a:r>
                    </a:p>
                  </a:txBody>
                  <a:tcPr marL="80682" marR="80682" marT="40341" marB="40341"/>
                </a:tc>
                <a:tc>
                  <a:txBody>
                    <a:bodyPr/>
                    <a:lstStyle/>
                    <a:p>
                      <a:r>
                        <a:rPr lang="en-US" sz="900" b="0" dirty="0"/>
                        <a:t>Few people affected</a:t>
                      </a:r>
                    </a:p>
                  </a:txBody>
                  <a:tcPr marL="80682" marR="80682" marT="40341" marB="40341"/>
                </a:tc>
                <a:tc>
                  <a:txBody>
                    <a:bodyPr/>
                    <a:lstStyle/>
                    <a:p>
                      <a:r>
                        <a:rPr lang="en-US" sz="900" b="0" dirty="0"/>
                        <a:t>Majority of team or multiple customers</a:t>
                      </a:r>
                    </a:p>
                  </a:txBody>
                  <a:tcPr marL="80682" marR="80682" marT="40341" marB="40341"/>
                </a:tc>
                <a:extLst>
                  <a:ext uri="{0D108BD9-81ED-4DB2-BD59-A6C34878D82A}">
                    <a16:rowId xmlns:a16="http://schemas.microsoft.com/office/drawing/2014/main" val="3051784941"/>
                  </a:ext>
                </a:extLst>
              </a:tr>
            </a:tbl>
          </a:graphicData>
        </a:graphic>
      </p:graphicFrame>
    </p:spTree>
    <p:extLst>
      <p:ext uri="{BB962C8B-B14F-4D97-AF65-F5344CB8AC3E}">
        <p14:creationId xmlns:p14="http://schemas.microsoft.com/office/powerpoint/2010/main" val="39877407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428D-FAB2-E833-AF94-452457CFC03C}"/>
              </a:ext>
            </a:extLst>
          </p:cNvPr>
          <p:cNvSpPr>
            <a:spLocks noGrp="1"/>
          </p:cNvSpPr>
          <p:nvPr>
            <p:ph type="title"/>
          </p:nvPr>
        </p:nvSpPr>
        <p:spPr>
          <a:xfrm>
            <a:off x="594324" y="1016723"/>
            <a:ext cx="2834676" cy="961545"/>
          </a:xfrm>
        </p:spPr>
        <p:txBody>
          <a:bodyPr/>
          <a:lstStyle/>
          <a:p>
            <a:r>
              <a:rPr lang="en-US" dirty="0"/>
              <a:t>If we solved this problem…</a:t>
            </a:r>
          </a:p>
        </p:txBody>
      </p:sp>
      <p:sp>
        <p:nvSpPr>
          <p:cNvPr id="3" name="Text Placeholder 2">
            <a:extLst>
              <a:ext uri="{FF2B5EF4-FFF2-40B4-BE49-F238E27FC236}">
                <a16:creationId xmlns:a16="http://schemas.microsoft.com/office/drawing/2014/main" id="{6D24B490-55F9-1B50-7E5F-D85C0D129AB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4842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5B25E-C0C4-2B90-9312-167DFA85CCC7}"/>
              </a:ext>
            </a:extLst>
          </p:cNvPr>
          <p:cNvSpPr>
            <a:spLocks noGrp="1"/>
          </p:cNvSpPr>
          <p:nvPr>
            <p:ph type="title"/>
          </p:nvPr>
        </p:nvSpPr>
        <p:spPr>
          <a:xfrm>
            <a:off x="431438" y="941910"/>
            <a:ext cx="2834676" cy="961545"/>
          </a:xfrm>
        </p:spPr>
        <p:txBody>
          <a:bodyPr/>
          <a:lstStyle/>
          <a:p>
            <a:r>
              <a:rPr lang="en-US" dirty="0"/>
              <a:t>If we solved this problem…</a:t>
            </a:r>
          </a:p>
        </p:txBody>
      </p:sp>
      <p:sp>
        <p:nvSpPr>
          <p:cNvPr id="4" name="TextBox 3">
            <a:extLst>
              <a:ext uri="{FF2B5EF4-FFF2-40B4-BE49-F238E27FC236}">
                <a16:creationId xmlns:a16="http://schemas.microsoft.com/office/drawing/2014/main" id="{5718C323-3383-E9EF-C283-717A056928C5}"/>
              </a:ext>
            </a:extLst>
          </p:cNvPr>
          <p:cNvSpPr txBox="1"/>
          <p:nvPr/>
        </p:nvSpPr>
        <p:spPr>
          <a:xfrm>
            <a:off x="431438" y="2267791"/>
            <a:ext cx="3842206" cy="543226"/>
          </a:xfrm>
          <a:prstGeom prst="rect">
            <a:avLst/>
          </a:prstGeom>
          <a:noFill/>
        </p:spPr>
        <p:txBody>
          <a:bodyPr wrap="square" lIns="0" tIns="0" rIns="0" bIns="0" rtlCol="0">
            <a:spAutoFit/>
          </a:bodyPr>
          <a:lstStyle/>
          <a:p>
            <a:pPr algn="l"/>
            <a:r>
              <a:rPr lang="en-US" sz="1765" dirty="0"/>
              <a:t>Use these starter templates to finish the sentence:</a:t>
            </a:r>
          </a:p>
        </p:txBody>
      </p:sp>
      <p:sp>
        <p:nvSpPr>
          <p:cNvPr id="5" name="TextBox 4">
            <a:extLst>
              <a:ext uri="{FF2B5EF4-FFF2-40B4-BE49-F238E27FC236}">
                <a16:creationId xmlns:a16="http://schemas.microsoft.com/office/drawing/2014/main" id="{E7B16F27-E73D-E0EE-631F-AC764429DCB5}"/>
              </a:ext>
            </a:extLst>
          </p:cNvPr>
          <p:cNvSpPr txBox="1"/>
          <p:nvPr/>
        </p:nvSpPr>
        <p:spPr>
          <a:xfrm>
            <a:off x="431439" y="3288926"/>
            <a:ext cx="6023150" cy="5284075"/>
          </a:xfrm>
          <a:prstGeom prst="rect">
            <a:avLst/>
          </a:prstGeom>
          <a:noFill/>
        </p:spPr>
        <p:txBody>
          <a:bodyPr wrap="square" lIns="0" tIns="0" rIns="0" bIns="0" rtlCol="0">
            <a:spAutoFit/>
          </a:bodyPr>
          <a:lstStyle/>
          <a:p>
            <a:pPr algn="l"/>
            <a:r>
              <a:rPr lang="en-US" sz="1493" dirty="0">
                <a:solidFill>
                  <a:srgbClr val="0070C0"/>
                </a:solidFill>
                <a:latin typeface="+mj-lt"/>
              </a:rPr>
              <a:t>Core format:</a:t>
            </a:r>
          </a:p>
          <a:p>
            <a:pPr algn="l"/>
            <a:endParaRPr lang="en-US" sz="1493" dirty="0"/>
          </a:p>
          <a:p>
            <a:pPr algn="l"/>
            <a:r>
              <a:rPr lang="en-US" sz="1493" dirty="0"/>
              <a:t>“If we eliminated this pain point, then ____ would improve by _____.”</a:t>
            </a:r>
          </a:p>
          <a:p>
            <a:pPr algn="l"/>
            <a:endParaRPr lang="en-US" sz="1493" dirty="0"/>
          </a:p>
          <a:p>
            <a:pPr algn="l"/>
            <a:r>
              <a:rPr lang="en-US" sz="1493" dirty="0">
                <a:solidFill>
                  <a:srgbClr val="0070C0"/>
                </a:solidFill>
                <a:latin typeface="+mj-lt"/>
              </a:rPr>
              <a:t>Outcome + metric:</a:t>
            </a:r>
          </a:p>
          <a:p>
            <a:pPr algn="l"/>
            <a:endParaRPr lang="en-US" sz="1493" dirty="0"/>
          </a:p>
          <a:p>
            <a:pPr algn="l"/>
            <a:r>
              <a:rPr lang="en-US" sz="1493" dirty="0"/>
              <a:t>“By solving this problem, we would reduce _____ by _____ and increase _____ by _____”</a:t>
            </a:r>
          </a:p>
          <a:p>
            <a:pPr algn="l"/>
            <a:endParaRPr lang="en-US" sz="1493" dirty="0"/>
          </a:p>
          <a:p>
            <a:pPr algn="l"/>
            <a:r>
              <a:rPr lang="en-US" sz="1493" dirty="0">
                <a:solidFill>
                  <a:srgbClr val="0070C0"/>
                </a:solidFill>
                <a:latin typeface="+mj-lt"/>
              </a:rPr>
              <a:t>Person-focused:</a:t>
            </a:r>
          </a:p>
          <a:p>
            <a:pPr algn="l"/>
            <a:endParaRPr lang="en-US" sz="1493" dirty="0"/>
          </a:p>
          <a:p>
            <a:pPr algn="l"/>
            <a:r>
              <a:rPr lang="en-US" sz="1493" dirty="0"/>
              <a:t>“Fixing this issue would help _____ (role/team/customer) to _____ so they can _____.”</a:t>
            </a:r>
          </a:p>
          <a:p>
            <a:pPr algn="l"/>
            <a:endParaRPr lang="en-US" sz="1493" dirty="0"/>
          </a:p>
          <a:p>
            <a:pPr algn="l"/>
            <a:r>
              <a:rPr lang="en-US" sz="1493" dirty="0">
                <a:solidFill>
                  <a:srgbClr val="0070C0"/>
                </a:solidFill>
                <a:latin typeface="+mj-lt"/>
              </a:rPr>
              <a:t>Time/ quality focus:</a:t>
            </a:r>
          </a:p>
          <a:p>
            <a:pPr algn="l"/>
            <a:endParaRPr lang="en-US" sz="1493" dirty="0"/>
          </a:p>
          <a:p>
            <a:pPr algn="l"/>
            <a:r>
              <a:rPr lang="en-US" sz="1493" dirty="0"/>
              <a:t>“Resolving this pain would save _____ hours per _____ and improve _____ (speed/quality/accuracy).”</a:t>
            </a:r>
          </a:p>
          <a:p>
            <a:pPr algn="l"/>
            <a:endParaRPr lang="en-US" sz="1493" dirty="0"/>
          </a:p>
          <a:p>
            <a:pPr algn="l"/>
            <a:r>
              <a:rPr lang="en-US" sz="1493" dirty="0">
                <a:solidFill>
                  <a:srgbClr val="0070C0"/>
                </a:solidFill>
                <a:latin typeface="+mj-lt"/>
              </a:rPr>
              <a:t>Strategic impact:</a:t>
            </a:r>
          </a:p>
          <a:p>
            <a:pPr algn="l"/>
            <a:endParaRPr lang="en-US" sz="1493" dirty="0"/>
          </a:p>
          <a:p>
            <a:pPr algn="l"/>
            <a:r>
              <a:rPr lang="en-US" sz="1493" dirty="0"/>
              <a:t>“Addressing this pain point will enable us to _____ so that we can achieve _____.”</a:t>
            </a:r>
          </a:p>
        </p:txBody>
      </p:sp>
    </p:spTree>
    <p:extLst>
      <p:ext uri="{BB962C8B-B14F-4D97-AF65-F5344CB8AC3E}">
        <p14:creationId xmlns:p14="http://schemas.microsoft.com/office/powerpoint/2010/main" val="82798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0FA07-A57C-357E-E96E-06FE64C35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625C0-E98F-6886-4CC4-674176EE6538}"/>
              </a:ext>
            </a:extLst>
          </p:cNvPr>
          <p:cNvSpPr>
            <a:spLocks noGrp="1"/>
          </p:cNvSpPr>
          <p:nvPr>
            <p:ph type="title"/>
          </p:nvPr>
        </p:nvSpPr>
        <p:spPr>
          <a:xfrm>
            <a:off x="431438" y="941910"/>
            <a:ext cx="2834676" cy="961545"/>
          </a:xfrm>
        </p:spPr>
        <p:txBody>
          <a:bodyPr/>
          <a:lstStyle/>
          <a:p>
            <a:r>
              <a:rPr lang="en-US" dirty="0"/>
              <a:t>If we solved this problem…</a:t>
            </a:r>
          </a:p>
        </p:txBody>
      </p:sp>
      <p:sp>
        <p:nvSpPr>
          <p:cNvPr id="4" name="TextBox 3">
            <a:extLst>
              <a:ext uri="{FF2B5EF4-FFF2-40B4-BE49-F238E27FC236}">
                <a16:creationId xmlns:a16="http://schemas.microsoft.com/office/drawing/2014/main" id="{E90CCDE2-19F3-E0E1-9A71-D1E032B3F9A0}"/>
              </a:ext>
            </a:extLst>
          </p:cNvPr>
          <p:cNvSpPr txBox="1"/>
          <p:nvPr/>
        </p:nvSpPr>
        <p:spPr>
          <a:xfrm>
            <a:off x="431438" y="2267791"/>
            <a:ext cx="3842206" cy="543226"/>
          </a:xfrm>
          <a:prstGeom prst="rect">
            <a:avLst/>
          </a:prstGeom>
          <a:noFill/>
        </p:spPr>
        <p:txBody>
          <a:bodyPr wrap="square" lIns="0" tIns="0" rIns="0" bIns="0" rtlCol="0">
            <a:spAutoFit/>
          </a:bodyPr>
          <a:lstStyle/>
          <a:p>
            <a:pPr algn="l"/>
            <a:r>
              <a:rPr lang="en-US" sz="1765" dirty="0"/>
              <a:t>Optional: consider the value timelines for your sentence</a:t>
            </a:r>
          </a:p>
        </p:txBody>
      </p:sp>
      <p:sp>
        <p:nvSpPr>
          <p:cNvPr id="27" name="Rectangle: Rounded Corners 7">
            <a:extLst>
              <a:ext uri="{FF2B5EF4-FFF2-40B4-BE49-F238E27FC236}">
                <a16:creationId xmlns:a16="http://schemas.microsoft.com/office/drawing/2014/main" id="{9E1FED68-449B-2403-3DBF-12D87ED621CC}"/>
              </a:ext>
              <a:ext uri="{C183D7F6-B498-43B3-948B-1728B52AA6E4}">
                <adec:decorative xmlns:adec="http://schemas.microsoft.com/office/drawing/2017/decorative" val="1"/>
              </a:ext>
            </a:extLst>
          </p:cNvPr>
          <p:cNvSpPr/>
          <p:nvPr/>
        </p:nvSpPr>
        <p:spPr bwMode="auto">
          <a:xfrm>
            <a:off x="431438" y="3090233"/>
            <a:ext cx="5938221" cy="3156025"/>
          </a:xfrm>
          <a:prstGeom prst="roundRect">
            <a:avLst>
              <a:gd name="adj" fmla="val 2018"/>
            </a:avLst>
          </a:prstGeom>
          <a:solidFill>
            <a:schemeClr val="bg1">
              <a:lumMod val="85000"/>
              <a:alpha val="20000"/>
            </a:scheme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28" name="TextBox 27">
            <a:extLst>
              <a:ext uri="{FF2B5EF4-FFF2-40B4-BE49-F238E27FC236}">
                <a16:creationId xmlns:a16="http://schemas.microsoft.com/office/drawing/2014/main" id="{49AD79EA-95EC-2D9D-96C2-73CDD502B62D}"/>
              </a:ext>
            </a:extLst>
          </p:cNvPr>
          <p:cNvSpPr txBox="1"/>
          <p:nvPr/>
        </p:nvSpPr>
        <p:spPr>
          <a:xfrm>
            <a:off x="727274" y="3305835"/>
            <a:ext cx="2760638" cy="271613"/>
          </a:xfrm>
          <a:prstGeom prst="rect">
            <a:avLst/>
          </a:prstGeom>
          <a:noFill/>
        </p:spPr>
        <p:txBody>
          <a:bodyPr wrap="square" lIns="0" tIns="0" rIns="0" bIns="0" rtlCol="0">
            <a:spAutoFit/>
          </a:bodyPr>
          <a:lstStyle/>
          <a:p>
            <a:pPr algn="l"/>
            <a:r>
              <a:rPr lang="en-US" sz="1765" b="1" dirty="0">
                <a:latin typeface="Segoe UI Semibold" panose="020B0502040204020203" pitchFamily="34" charset="0"/>
                <a:cs typeface="Segoe UI Semibold" panose="020B0502040204020203" pitchFamily="34" charset="0"/>
              </a:rPr>
              <a:t>Value timelines</a:t>
            </a:r>
          </a:p>
        </p:txBody>
      </p:sp>
      <p:cxnSp>
        <p:nvCxnSpPr>
          <p:cNvPr id="29" name="Straight Connector 28">
            <a:extLst>
              <a:ext uri="{FF2B5EF4-FFF2-40B4-BE49-F238E27FC236}">
                <a16:creationId xmlns:a16="http://schemas.microsoft.com/office/drawing/2014/main" id="{21B7FFD4-711C-DCDD-32E3-EAED8CC369F3}"/>
              </a:ext>
            </a:extLst>
          </p:cNvPr>
          <p:cNvCxnSpPr/>
          <p:nvPr/>
        </p:nvCxnSpPr>
        <p:spPr>
          <a:xfrm>
            <a:off x="727273" y="3821638"/>
            <a:ext cx="0" cy="2215743"/>
          </a:xfrm>
          <a:prstGeom prst="lin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58F320C-9A4E-EAFC-3C66-B229A0F1A54F}"/>
              </a:ext>
            </a:extLst>
          </p:cNvPr>
          <p:cNvCxnSpPr/>
          <p:nvPr/>
        </p:nvCxnSpPr>
        <p:spPr>
          <a:xfrm>
            <a:off x="727273" y="6037380"/>
            <a:ext cx="5362687" cy="0"/>
          </a:xfrm>
          <a:prstGeom prst="lin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D35219F-AFD4-A16A-5130-218DA774711F}"/>
              </a:ext>
            </a:extLst>
          </p:cNvPr>
          <p:cNvCxnSpPr/>
          <p:nvPr/>
        </p:nvCxnSpPr>
        <p:spPr>
          <a:xfrm>
            <a:off x="1680669" y="4925943"/>
            <a:ext cx="4140799" cy="0"/>
          </a:xfrm>
          <a:prstGeom prst="line">
            <a:avLst/>
          </a:prstGeom>
          <a:ln w="19050">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F48E3C6D-CFF4-B183-F2E6-9E6C92488976}"/>
              </a:ext>
            </a:extLst>
          </p:cNvPr>
          <p:cNvSpPr txBox="1"/>
          <p:nvPr/>
        </p:nvSpPr>
        <p:spPr>
          <a:xfrm>
            <a:off x="776174" y="3821637"/>
            <a:ext cx="919778" cy="190052"/>
          </a:xfrm>
          <a:prstGeom prst="rect">
            <a:avLst/>
          </a:prstGeom>
          <a:noFill/>
        </p:spPr>
        <p:txBody>
          <a:bodyPr wrap="square" lIns="0" tIns="0" rIns="0" bIns="0" rtlCol="0">
            <a:spAutoFit/>
          </a:bodyPr>
          <a:lstStyle/>
          <a:p>
            <a:pPr algn="l"/>
            <a:r>
              <a:rPr lang="en-US" sz="1235"/>
              <a:t>Value</a:t>
            </a:r>
          </a:p>
        </p:txBody>
      </p:sp>
      <p:sp>
        <p:nvSpPr>
          <p:cNvPr id="33" name="TextBox 32">
            <a:extLst>
              <a:ext uri="{FF2B5EF4-FFF2-40B4-BE49-F238E27FC236}">
                <a16:creationId xmlns:a16="http://schemas.microsoft.com/office/drawing/2014/main" id="{BDAF052C-13E6-2A62-5EDE-305EDD4B35EE}"/>
              </a:ext>
            </a:extLst>
          </p:cNvPr>
          <p:cNvSpPr txBox="1"/>
          <p:nvPr/>
        </p:nvSpPr>
        <p:spPr>
          <a:xfrm>
            <a:off x="5148916" y="5747062"/>
            <a:ext cx="919778" cy="190052"/>
          </a:xfrm>
          <a:prstGeom prst="rect">
            <a:avLst/>
          </a:prstGeom>
          <a:noFill/>
        </p:spPr>
        <p:txBody>
          <a:bodyPr wrap="square" lIns="0" tIns="0" rIns="0" bIns="0" rtlCol="0">
            <a:spAutoFit/>
          </a:bodyPr>
          <a:lstStyle/>
          <a:p>
            <a:pPr algn="r"/>
            <a:r>
              <a:rPr lang="en-US" sz="1235"/>
              <a:t>Time</a:t>
            </a:r>
          </a:p>
        </p:txBody>
      </p:sp>
      <p:sp>
        <p:nvSpPr>
          <p:cNvPr id="34" name="Freeform 33">
            <a:extLst>
              <a:ext uri="{FF2B5EF4-FFF2-40B4-BE49-F238E27FC236}">
                <a16:creationId xmlns:a16="http://schemas.microsoft.com/office/drawing/2014/main" id="{8DFF4416-31E9-6C2F-F391-8C398AD2F760}"/>
              </a:ext>
            </a:extLst>
          </p:cNvPr>
          <p:cNvSpPr/>
          <p:nvPr/>
        </p:nvSpPr>
        <p:spPr bwMode="auto">
          <a:xfrm>
            <a:off x="739599" y="4631042"/>
            <a:ext cx="5081867" cy="1400735"/>
          </a:xfrm>
          <a:custGeom>
            <a:avLst/>
            <a:gdLst>
              <a:gd name="connsiteX0" fmla="*/ 0 w 4470400"/>
              <a:gd name="connsiteY0" fmla="*/ 1587500 h 1587500"/>
              <a:gd name="connsiteX1" fmla="*/ 514350 w 4470400"/>
              <a:gd name="connsiteY1" fmla="*/ 1530350 h 1587500"/>
              <a:gd name="connsiteX2" fmla="*/ 742950 w 4470400"/>
              <a:gd name="connsiteY2" fmla="*/ 1492250 h 1587500"/>
              <a:gd name="connsiteX3" fmla="*/ 1003300 w 4470400"/>
              <a:gd name="connsiteY3" fmla="*/ 1403350 h 1587500"/>
              <a:gd name="connsiteX4" fmla="*/ 1181100 w 4470400"/>
              <a:gd name="connsiteY4" fmla="*/ 1320800 h 1587500"/>
              <a:gd name="connsiteX5" fmla="*/ 1403350 w 4470400"/>
              <a:gd name="connsiteY5" fmla="*/ 1162050 h 1587500"/>
              <a:gd name="connsiteX6" fmla="*/ 1581150 w 4470400"/>
              <a:gd name="connsiteY6" fmla="*/ 1016000 h 1587500"/>
              <a:gd name="connsiteX7" fmla="*/ 1758950 w 4470400"/>
              <a:gd name="connsiteY7" fmla="*/ 838200 h 1587500"/>
              <a:gd name="connsiteX8" fmla="*/ 2000250 w 4470400"/>
              <a:gd name="connsiteY8" fmla="*/ 609600 h 1587500"/>
              <a:gd name="connsiteX9" fmla="*/ 2190750 w 4470400"/>
              <a:gd name="connsiteY9" fmla="*/ 406400 h 1587500"/>
              <a:gd name="connsiteX10" fmla="*/ 2330450 w 4470400"/>
              <a:gd name="connsiteY10" fmla="*/ 266700 h 1587500"/>
              <a:gd name="connsiteX11" fmla="*/ 2501900 w 4470400"/>
              <a:gd name="connsiteY11" fmla="*/ 133350 h 1587500"/>
              <a:gd name="connsiteX12" fmla="*/ 2692400 w 4470400"/>
              <a:gd name="connsiteY12" fmla="*/ 38100 h 1587500"/>
              <a:gd name="connsiteX13" fmla="*/ 2876550 w 4470400"/>
              <a:gd name="connsiteY13" fmla="*/ 12700 h 1587500"/>
              <a:gd name="connsiteX14" fmla="*/ 3346450 w 4470400"/>
              <a:gd name="connsiteY14" fmla="*/ 0 h 1587500"/>
              <a:gd name="connsiteX15" fmla="*/ 3727450 w 4470400"/>
              <a:gd name="connsiteY15" fmla="*/ 6350 h 1587500"/>
              <a:gd name="connsiteX16" fmla="*/ 4146550 w 4470400"/>
              <a:gd name="connsiteY16" fmla="*/ 12700 h 1587500"/>
              <a:gd name="connsiteX17" fmla="*/ 4470400 w 4470400"/>
              <a:gd name="connsiteY17" fmla="*/ 12700 h 158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470400" h="1587500">
                <a:moveTo>
                  <a:pt x="0" y="1587500"/>
                </a:moveTo>
                <a:lnTo>
                  <a:pt x="514350" y="1530350"/>
                </a:lnTo>
                <a:cubicBezTo>
                  <a:pt x="638175" y="1514475"/>
                  <a:pt x="661458" y="1513417"/>
                  <a:pt x="742950" y="1492250"/>
                </a:cubicBezTo>
                <a:cubicBezTo>
                  <a:pt x="824442" y="1471083"/>
                  <a:pt x="930275" y="1431925"/>
                  <a:pt x="1003300" y="1403350"/>
                </a:cubicBezTo>
                <a:cubicBezTo>
                  <a:pt x="1076325" y="1374775"/>
                  <a:pt x="1114425" y="1361017"/>
                  <a:pt x="1181100" y="1320800"/>
                </a:cubicBezTo>
                <a:cubicBezTo>
                  <a:pt x="1247775" y="1280583"/>
                  <a:pt x="1336675" y="1212850"/>
                  <a:pt x="1403350" y="1162050"/>
                </a:cubicBezTo>
                <a:cubicBezTo>
                  <a:pt x="1470025" y="1111250"/>
                  <a:pt x="1521883" y="1069975"/>
                  <a:pt x="1581150" y="1016000"/>
                </a:cubicBezTo>
                <a:cubicBezTo>
                  <a:pt x="1640417" y="962025"/>
                  <a:pt x="1689100" y="905933"/>
                  <a:pt x="1758950" y="838200"/>
                </a:cubicBezTo>
                <a:cubicBezTo>
                  <a:pt x="1828800" y="770467"/>
                  <a:pt x="1928283" y="681567"/>
                  <a:pt x="2000250" y="609600"/>
                </a:cubicBezTo>
                <a:cubicBezTo>
                  <a:pt x="2072217" y="537633"/>
                  <a:pt x="2135717" y="463550"/>
                  <a:pt x="2190750" y="406400"/>
                </a:cubicBezTo>
                <a:cubicBezTo>
                  <a:pt x="2245783" y="349250"/>
                  <a:pt x="2278592" y="312208"/>
                  <a:pt x="2330450" y="266700"/>
                </a:cubicBezTo>
                <a:cubicBezTo>
                  <a:pt x="2382308" y="221192"/>
                  <a:pt x="2441575" y="171450"/>
                  <a:pt x="2501900" y="133350"/>
                </a:cubicBezTo>
                <a:cubicBezTo>
                  <a:pt x="2562225" y="95250"/>
                  <a:pt x="2629958" y="58208"/>
                  <a:pt x="2692400" y="38100"/>
                </a:cubicBezTo>
                <a:cubicBezTo>
                  <a:pt x="2754842" y="17992"/>
                  <a:pt x="2767542" y="19050"/>
                  <a:pt x="2876550" y="12700"/>
                </a:cubicBezTo>
                <a:cubicBezTo>
                  <a:pt x="2985558" y="6350"/>
                  <a:pt x="3346450" y="0"/>
                  <a:pt x="3346450" y="0"/>
                </a:cubicBezTo>
                <a:lnTo>
                  <a:pt x="3727450" y="6350"/>
                </a:lnTo>
                <a:lnTo>
                  <a:pt x="4146550" y="12700"/>
                </a:lnTo>
                <a:lnTo>
                  <a:pt x="4470400" y="12700"/>
                </a:lnTo>
              </a:path>
            </a:pathLst>
          </a:custGeom>
          <a:ln w="19050">
            <a:solidFill>
              <a:schemeClr val="bg1">
                <a:lumMod val="50000"/>
              </a:schemeClr>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sz="1493"/>
          </a:p>
        </p:txBody>
      </p:sp>
      <p:cxnSp>
        <p:nvCxnSpPr>
          <p:cNvPr id="35" name="Elbow Connector 34">
            <a:extLst>
              <a:ext uri="{FF2B5EF4-FFF2-40B4-BE49-F238E27FC236}">
                <a16:creationId xmlns:a16="http://schemas.microsoft.com/office/drawing/2014/main" id="{DBF46C19-5025-7F28-BF33-D8113FB35869}"/>
              </a:ext>
            </a:extLst>
          </p:cNvPr>
          <p:cNvCxnSpPr>
            <a:cxnSpLocks/>
          </p:cNvCxnSpPr>
          <p:nvPr/>
        </p:nvCxnSpPr>
        <p:spPr>
          <a:xfrm flipV="1">
            <a:off x="3400548" y="5352764"/>
            <a:ext cx="2433242" cy="617052"/>
          </a:xfrm>
          <a:prstGeom prst="bentConnector3">
            <a:avLst/>
          </a:prstGeom>
          <a:ln w="38100">
            <a:solidFill>
              <a:srgbClr val="C00000"/>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02F936D-1F9A-35FA-1935-FF73043219B8}"/>
              </a:ext>
            </a:extLst>
          </p:cNvPr>
          <p:cNvCxnSpPr/>
          <p:nvPr/>
        </p:nvCxnSpPr>
        <p:spPr>
          <a:xfrm flipH="1">
            <a:off x="739599" y="5969816"/>
            <a:ext cx="2669018" cy="0"/>
          </a:xfrm>
          <a:prstGeom prst="line">
            <a:avLst/>
          </a:prstGeom>
          <a:ln w="38100">
            <a:solidFill>
              <a:srgbClr val="C00000"/>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BB82484-7DC8-4BAD-921F-00F38F6CC8AE}"/>
              </a:ext>
            </a:extLst>
          </p:cNvPr>
          <p:cNvSpPr txBox="1"/>
          <p:nvPr/>
        </p:nvSpPr>
        <p:spPr>
          <a:xfrm>
            <a:off x="4289203" y="5083946"/>
            <a:ext cx="1657918" cy="190052"/>
          </a:xfrm>
          <a:prstGeom prst="rect">
            <a:avLst/>
          </a:prstGeom>
          <a:noFill/>
        </p:spPr>
        <p:txBody>
          <a:bodyPr wrap="square" lIns="0" tIns="0" rIns="0" bIns="0" rtlCol="0">
            <a:spAutoFit/>
          </a:bodyPr>
          <a:lstStyle/>
          <a:p>
            <a:pPr algn="l"/>
            <a:r>
              <a:rPr lang="en-US" sz="1235"/>
              <a:t>Transformational value</a:t>
            </a:r>
          </a:p>
        </p:txBody>
      </p:sp>
      <p:sp>
        <p:nvSpPr>
          <p:cNvPr id="38" name="Arc 37">
            <a:extLst>
              <a:ext uri="{FF2B5EF4-FFF2-40B4-BE49-F238E27FC236}">
                <a16:creationId xmlns:a16="http://schemas.microsoft.com/office/drawing/2014/main" id="{EEA96EA4-8FAF-08E3-A234-AB5C31DF6CF4}"/>
              </a:ext>
            </a:extLst>
          </p:cNvPr>
          <p:cNvSpPr/>
          <p:nvPr/>
        </p:nvSpPr>
        <p:spPr>
          <a:xfrm rot="16354786">
            <a:off x="493298" y="5172488"/>
            <a:ext cx="2307509" cy="1815349"/>
          </a:xfrm>
          <a:prstGeom prst="arc">
            <a:avLst/>
          </a:prstGeom>
          <a:ln w="19050">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93"/>
          </a:p>
        </p:txBody>
      </p:sp>
      <p:sp>
        <p:nvSpPr>
          <p:cNvPr id="39" name="TextBox 38">
            <a:extLst>
              <a:ext uri="{FF2B5EF4-FFF2-40B4-BE49-F238E27FC236}">
                <a16:creationId xmlns:a16="http://schemas.microsoft.com/office/drawing/2014/main" id="{99C868B3-EF1C-9415-DC67-39F9A3F8A286}"/>
              </a:ext>
            </a:extLst>
          </p:cNvPr>
          <p:cNvSpPr txBox="1"/>
          <p:nvPr/>
        </p:nvSpPr>
        <p:spPr>
          <a:xfrm>
            <a:off x="4579284" y="4357876"/>
            <a:ext cx="1254507" cy="190052"/>
          </a:xfrm>
          <a:prstGeom prst="rect">
            <a:avLst/>
          </a:prstGeom>
          <a:noFill/>
        </p:spPr>
        <p:txBody>
          <a:bodyPr wrap="square" lIns="0" tIns="0" rIns="0" bIns="0" rtlCol="0">
            <a:spAutoFit/>
          </a:bodyPr>
          <a:lstStyle/>
          <a:p>
            <a:pPr algn="r"/>
            <a:r>
              <a:rPr lang="en-US" sz="1235" dirty="0"/>
              <a:t>Strategic value</a:t>
            </a:r>
          </a:p>
        </p:txBody>
      </p:sp>
      <p:sp>
        <p:nvSpPr>
          <p:cNvPr id="40" name="TextBox 39">
            <a:extLst>
              <a:ext uri="{FF2B5EF4-FFF2-40B4-BE49-F238E27FC236}">
                <a16:creationId xmlns:a16="http://schemas.microsoft.com/office/drawing/2014/main" id="{2473D724-85C5-DE01-2D2D-65E4201C058A}"/>
              </a:ext>
            </a:extLst>
          </p:cNvPr>
          <p:cNvSpPr txBox="1"/>
          <p:nvPr/>
        </p:nvSpPr>
        <p:spPr>
          <a:xfrm>
            <a:off x="1695952" y="4660497"/>
            <a:ext cx="1254507" cy="190052"/>
          </a:xfrm>
          <a:prstGeom prst="rect">
            <a:avLst/>
          </a:prstGeom>
          <a:noFill/>
        </p:spPr>
        <p:txBody>
          <a:bodyPr wrap="square" lIns="0" tIns="0" rIns="0" bIns="0" rtlCol="0">
            <a:spAutoFit/>
          </a:bodyPr>
          <a:lstStyle/>
          <a:p>
            <a:pPr algn="l"/>
            <a:r>
              <a:rPr lang="en-US" sz="1235" dirty="0"/>
              <a:t>Operational value</a:t>
            </a:r>
          </a:p>
        </p:txBody>
      </p:sp>
      <p:sp>
        <p:nvSpPr>
          <p:cNvPr id="41" name="TextBox 40">
            <a:extLst>
              <a:ext uri="{FF2B5EF4-FFF2-40B4-BE49-F238E27FC236}">
                <a16:creationId xmlns:a16="http://schemas.microsoft.com/office/drawing/2014/main" id="{ACB59D63-BC3B-D4D6-6969-C8E33A8E6B73}"/>
              </a:ext>
            </a:extLst>
          </p:cNvPr>
          <p:cNvSpPr txBox="1"/>
          <p:nvPr/>
        </p:nvSpPr>
        <p:spPr>
          <a:xfrm>
            <a:off x="431438" y="6586947"/>
            <a:ext cx="5938221" cy="731098"/>
          </a:xfrm>
          <a:prstGeom prst="rect">
            <a:avLst/>
          </a:prstGeom>
          <a:noFill/>
        </p:spPr>
        <p:txBody>
          <a:bodyPr wrap="square" lIns="0" tIns="0" rIns="0" bIns="0" rtlCol="0">
            <a:spAutoFit/>
          </a:bodyPr>
          <a:lstStyle/>
          <a:p>
            <a:pPr algn="ctr"/>
            <a:r>
              <a:rPr lang="en-US" sz="1493" i="1" dirty="0"/>
              <a:t>If we solved this problem, the value would show up first as ___________, and over time as _______________”</a:t>
            </a:r>
            <a:endParaRPr lang="en-US" sz="1493" dirty="0"/>
          </a:p>
          <a:p>
            <a:pPr algn="ctr"/>
            <a:endParaRPr lang="en-US" sz="1765" dirty="0" err="1"/>
          </a:p>
        </p:txBody>
      </p:sp>
    </p:spTree>
    <p:extLst>
      <p:ext uri="{BB962C8B-B14F-4D97-AF65-F5344CB8AC3E}">
        <p14:creationId xmlns:p14="http://schemas.microsoft.com/office/powerpoint/2010/main" val="484640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64" presetClass="path" presetSubtype="0" accel="50000" decel="50000" fill="hold" grpId="1" nodeType="withEffect">
                                  <p:stCondLst>
                                    <p:cond delay="0"/>
                                  </p:stCondLst>
                                  <p:childTnLst>
                                    <p:animMotion origin="layout" path="M 0 0.01528 L 0 1.11111E-6 " pathEditMode="relative" rAng="0" ptsTypes="AA">
                                      <p:cBhvr>
                                        <p:cTn id="9" dur="500" fill="hold"/>
                                        <p:tgtEl>
                                          <p:spTgt spid="27"/>
                                        </p:tgtEl>
                                        <p:attrNameLst>
                                          <p:attrName>ppt_x</p:attrName>
                                          <p:attrName>ppt_y</p:attrName>
                                        </p:attrNameLst>
                                      </p:cBhvr>
                                      <p:rCtr x="0" y="-76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D40B-7347-BEB1-94A9-AB53BD285CE7}"/>
            </a:ext>
          </a:extLst>
        </p:cNvPr>
        <p:cNvGrpSpPr/>
        <p:nvPr/>
      </p:nvGrpSpPr>
      <p:grpSpPr>
        <a:xfrm>
          <a:off x="0" y="0"/>
          <a:ext cx="0" cy="0"/>
          <a:chOff x="0" y="0"/>
          <a:chExt cx="0" cy="0"/>
        </a:xfrm>
      </p:grpSpPr>
      <p:sp>
        <p:nvSpPr>
          <p:cNvPr id="60" name="Oval 59">
            <a:extLst>
              <a:ext uri="{FF2B5EF4-FFF2-40B4-BE49-F238E27FC236}">
                <a16:creationId xmlns:a16="http://schemas.microsoft.com/office/drawing/2014/main" id="{31C176C6-7D7B-9500-EBF2-A1C492D867A2}"/>
              </a:ext>
            </a:extLst>
          </p:cNvPr>
          <p:cNvSpPr/>
          <p:nvPr/>
        </p:nvSpPr>
        <p:spPr bwMode="auto">
          <a:xfrm>
            <a:off x="681845" y="3271103"/>
            <a:ext cx="5494311" cy="5494311"/>
          </a:xfrm>
          <a:prstGeom prst="ellips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54" name="Oval 53">
            <a:extLst>
              <a:ext uri="{FF2B5EF4-FFF2-40B4-BE49-F238E27FC236}">
                <a16:creationId xmlns:a16="http://schemas.microsoft.com/office/drawing/2014/main" id="{11D44337-219E-7ECF-EB26-03CDC1B4295B}"/>
              </a:ext>
            </a:extLst>
          </p:cNvPr>
          <p:cNvSpPr/>
          <p:nvPr/>
        </p:nvSpPr>
        <p:spPr bwMode="auto">
          <a:xfrm>
            <a:off x="1811533" y="4394009"/>
            <a:ext cx="3167337" cy="3167337"/>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7D310402-6FF5-C74A-385D-2D327ABA9E2C}"/>
              </a:ext>
            </a:extLst>
          </p:cNvPr>
          <p:cNvSpPr>
            <a:spLocks noGrp="1"/>
          </p:cNvSpPr>
          <p:nvPr>
            <p:ph type="title"/>
          </p:nvPr>
        </p:nvSpPr>
        <p:spPr>
          <a:xfrm>
            <a:off x="431438" y="941910"/>
            <a:ext cx="2834676" cy="961545"/>
          </a:xfrm>
        </p:spPr>
        <p:txBody>
          <a:bodyPr/>
          <a:lstStyle/>
          <a:p>
            <a:r>
              <a:rPr lang="en-US" dirty="0"/>
              <a:t>Deepening the view on value</a:t>
            </a:r>
          </a:p>
        </p:txBody>
      </p:sp>
      <p:sp>
        <p:nvSpPr>
          <p:cNvPr id="4" name="TextBox 3">
            <a:extLst>
              <a:ext uri="{FF2B5EF4-FFF2-40B4-BE49-F238E27FC236}">
                <a16:creationId xmlns:a16="http://schemas.microsoft.com/office/drawing/2014/main" id="{DDF24C45-3777-1B00-06D1-2ADBB731C5DA}"/>
              </a:ext>
            </a:extLst>
          </p:cNvPr>
          <p:cNvSpPr txBox="1"/>
          <p:nvPr/>
        </p:nvSpPr>
        <p:spPr>
          <a:xfrm>
            <a:off x="431438" y="2267791"/>
            <a:ext cx="3842206" cy="543226"/>
          </a:xfrm>
          <a:prstGeom prst="rect">
            <a:avLst/>
          </a:prstGeom>
          <a:noFill/>
        </p:spPr>
        <p:txBody>
          <a:bodyPr wrap="square" lIns="0" tIns="0" rIns="0" bIns="0" rtlCol="0">
            <a:spAutoFit/>
          </a:bodyPr>
          <a:lstStyle/>
          <a:p>
            <a:pPr algn="l"/>
            <a:r>
              <a:rPr lang="en-US" sz="1765" dirty="0"/>
              <a:t>Optional: map the beneficiaries of the solution</a:t>
            </a:r>
          </a:p>
        </p:txBody>
      </p:sp>
      <p:sp>
        <p:nvSpPr>
          <p:cNvPr id="3" name="Oval 2">
            <a:extLst>
              <a:ext uri="{FF2B5EF4-FFF2-40B4-BE49-F238E27FC236}">
                <a16:creationId xmlns:a16="http://schemas.microsoft.com/office/drawing/2014/main" id="{F00BDD85-9040-D2B9-C95E-3988B32BD03C}"/>
              </a:ext>
            </a:extLst>
          </p:cNvPr>
          <p:cNvSpPr/>
          <p:nvPr/>
        </p:nvSpPr>
        <p:spPr bwMode="auto">
          <a:xfrm>
            <a:off x="2993986" y="5583331"/>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pic>
        <p:nvPicPr>
          <p:cNvPr id="6" name="Picture 5" descr="A round blue and white logo&#10;&#10;AI-generated content may be incorrect.">
            <a:extLst>
              <a:ext uri="{FF2B5EF4-FFF2-40B4-BE49-F238E27FC236}">
                <a16:creationId xmlns:a16="http://schemas.microsoft.com/office/drawing/2014/main" id="{B744C837-C3AD-AE03-B899-135D78A18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795" y="5782935"/>
            <a:ext cx="448235" cy="470647"/>
          </a:xfrm>
          <a:prstGeom prst="rect">
            <a:avLst/>
          </a:prstGeom>
        </p:spPr>
      </p:pic>
      <p:sp>
        <p:nvSpPr>
          <p:cNvPr id="7" name="Oval 6">
            <a:extLst>
              <a:ext uri="{FF2B5EF4-FFF2-40B4-BE49-F238E27FC236}">
                <a16:creationId xmlns:a16="http://schemas.microsoft.com/office/drawing/2014/main" id="{7040408F-03B0-8C07-C8D7-4903B2E935FF}"/>
              </a:ext>
            </a:extLst>
          </p:cNvPr>
          <p:cNvSpPr/>
          <p:nvPr/>
        </p:nvSpPr>
        <p:spPr bwMode="auto">
          <a:xfrm>
            <a:off x="4200017" y="4693416"/>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8" name="Oval 7">
            <a:extLst>
              <a:ext uri="{FF2B5EF4-FFF2-40B4-BE49-F238E27FC236}">
                <a16:creationId xmlns:a16="http://schemas.microsoft.com/office/drawing/2014/main" id="{D0AB6E4C-6AD9-BA0D-F278-34515E991E22}"/>
              </a:ext>
            </a:extLst>
          </p:cNvPr>
          <p:cNvSpPr/>
          <p:nvPr/>
        </p:nvSpPr>
        <p:spPr bwMode="auto">
          <a:xfrm>
            <a:off x="4416555" y="6111314"/>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9" name="Oval 8">
            <a:extLst>
              <a:ext uri="{FF2B5EF4-FFF2-40B4-BE49-F238E27FC236}">
                <a16:creationId xmlns:a16="http://schemas.microsoft.com/office/drawing/2014/main" id="{CE99FE06-DA31-F3F2-F49C-82FA7014BDD3}"/>
              </a:ext>
            </a:extLst>
          </p:cNvPr>
          <p:cNvSpPr/>
          <p:nvPr/>
        </p:nvSpPr>
        <p:spPr bwMode="auto">
          <a:xfrm>
            <a:off x="3330161" y="7069452"/>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0" name="Oval 9">
            <a:extLst>
              <a:ext uri="{FF2B5EF4-FFF2-40B4-BE49-F238E27FC236}">
                <a16:creationId xmlns:a16="http://schemas.microsoft.com/office/drawing/2014/main" id="{31239428-1925-EC5E-7D71-E00A7D838FB0}"/>
              </a:ext>
            </a:extLst>
          </p:cNvPr>
          <p:cNvSpPr/>
          <p:nvPr/>
        </p:nvSpPr>
        <p:spPr bwMode="auto">
          <a:xfrm>
            <a:off x="1287023" y="6968677"/>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1" name="Oval 10">
            <a:extLst>
              <a:ext uri="{FF2B5EF4-FFF2-40B4-BE49-F238E27FC236}">
                <a16:creationId xmlns:a16="http://schemas.microsoft.com/office/drawing/2014/main" id="{67D98261-9B95-C16E-D651-36FC3D3EE3C0}"/>
              </a:ext>
            </a:extLst>
          </p:cNvPr>
          <p:cNvSpPr/>
          <p:nvPr/>
        </p:nvSpPr>
        <p:spPr bwMode="auto">
          <a:xfrm>
            <a:off x="3892476" y="3586788"/>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2" name="Oval 11">
            <a:extLst>
              <a:ext uri="{FF2B5EF4-FFF2-40B4-BE49-F238E27FC236}">
                <a16:creationId xmlns:a16="http://schemas.microsoft.com/office/drawing/2014/main" id="{FACC2D3F-1917-37EC-A2D9-9A3B0C009285}"/>
              </a:ext>
            </a:extLst>
          </p:cNvPr>
          <p:cNvSpPr/>
          <p:nvPr/>
        </p:nvSpPr>
        <p:spPr bwMode="auto">
          <a:xfrm>
            <a:off x="2185295" y="3563207"/>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3" name="Oval 12">
            <a:extLst>
              <a:ext uri="{FF2B5EF4-FFF2-40B4-BE49-F238E27FC236}">
                <a16:creationId xmlns:a16="http://schemas.microsoft.com/office/drawing/2014/main" id="{E380C5B9-11E1-C2C0-B21E-A042E47BC643}"/>
              </a:ext>
            </a:extLst>
          </p:cNvPr>
          <p:cNvSpPr/>
          <p:nvPr/>
        </p:nvSpPr>
        <p:spPr bwMode="auto">
          <a:xfrm>
            <a:off x="1123786" y="4502213"/>
            <a:ext cx="869856" cy="869856"/>
          </a:xfrm>
          <a:prstGeom prst="ellipse">
            <a:avLst/>
          </a:prstGeom>
          <a:solidFill>
            <a:schemeClr val="bg1"/>
          </a:solidFill>
          <a:ln w="285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cxnSp>
        <p:nvCxnSpPr>
          <p:cNvPr id="15" name="Curved Connector 14">
            <a:extLst>
              <a:ext uri="{FF2B5EF4-FFF2-40B4-BE49-F238E27FC236}">
                <a16:creationId xmlns:a16="http://schemas.microsoft.com/office/drawing/2014/main" id="{A9466301-6C83-8F79-134A-71E73375A155}"/>
              </a:ext>
            </a:extLst>
          </p:cNvPr>
          <p:cNvCxnSpPr>
            <a:cxnSpLocks/>
            <a:stCxn id="3" idx="7"/>
            <a:endCxn id="7" idx="3"/>
          </p:cNvCxnSpPr>
          <p:nvPr/>
        </p:nvCxnSpPr>
        <p:spPr>
          <a:xfrm rot="5400000" flipH="1" flipV="1">
            <a:off x="3894512" y="5277827"/>
            <a:ext cx="274834" cy="590950"/>
          </a:xfrm>
          <a:prstGeom prst="curvedConnector3">
            <a:avLst>
              <a:gd name="adj1" fmla="val 50000"/>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Curved Connector 20">
            <a:extLst>
              <a:ext uri="{FF2B5EF4-FFF2-40B4-BE49-F238E27FC236}">
                <a16:creationId xmlns:a16="http://schemas.microsoft.com/office/drawing/2014/main" id="{57B90926-4555-3B02-FFF2-DC5EDA5CEA6A}"/>
              </a:ext>
            </a:extLst>
          </p:cNvPr>
          <p:cNvCxnSpPr>
            <a:stCxn id="3" idx="0"/>
            <a:endCxn id="12" idx="4"/>
          </p:cNvCxnSpPr>
          <p:nvPr/>
        </p:nvCxnSpPr>
        <p:spPr>
          <a:xfrm rot="16200000" flipV="1">
            <a:off x="2449435" y="4603852"/>
            <a:ext cx="1150268" cy="808691"/>
          </a:xfrm>
          <a:prstGeom prst="curvedConnector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570C721F-C6B7-ECB9-618B-7C19ECC11646}"/>
              </a:ext>
            </a:extLst>
          </p:cNvPr>
          <p:cNvCxnSpPr>
            <a:stCxn id="3" idx="1"/>
            <a:endCxn id="13" idx="5"/>
          </p:cNvCxnSpPr>
          <p:nvPr/>
        </p:nvCxnSpPr>
        <p:spPr>
          <a:xfrm rot="16200000" flipV="1">
            <a:off x="2260796" y="4850141"/>
            <a:ext cx="466037" cy="1255118"/>
          </a:xfrm>
          <a:prstGeom prst="curvedConnector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Curved Connector 43">
            <a:extLst>
              <a:ext uri="{FF2B5EF4-FFF2-40B4-BE49-F238E27FC236}">
                <a16:creationId xmlns:a16="http://schemas.microsoft.com/office/drawing/2014/main" id="{C16F5D93-1D8F-8A56-ECC9-FB00BEC19F43}"/>
              </a:ext>
            </a:extLst>
          </p:cNvPr>
          <p:cNvCxnSpPr>
            <a:stCxn id="7" idx="7"/>
            <a:endCxn id="11" idx="4"/>
          </p:cNvCxnSpPr>
          <p:nvPr/>
        </p:nvCxnSpPr>
        <p:spPr>
          <a:xfrm rot="16200000" flipV="1">
            <a:off x="4452867" y="4331183"/>
            <a:ext cx="364159" cy="615082"/>
          </a:xfrm>
          <a:prstGeom prst="curvedConnector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Curved Connector 45">
            <a:extLst>
              <a:ext uri="{FF2B5EF4-FFF2-40B4-BE49-F238E27FC236}">
                <a16:creationId xmlns:a16="http://schemas.microsoft.com/office/drawing/2014/main" id="{4A9EB036-C73B-4A0C-9CEE-47AA5B3B3FE5}"/>
              </a:ext>
            </a:extLst>
          </p:cNvPr>
          <p:cNvCxnSpPr>
            <a:stCxn id="3" idx="3"/>
            <a:endCxn id="10" idx="7"/>
          </p:cNvCxnSpPr>
          <p:nvPr/>
        </p:nvCxnSpPr>
        <p:spPr>
          <a:xfrm rot="5400000">
            <a:off x="2190301" y="6164992"/>
            <a:ext cx="770263" cy="1091881"/>
          </a:xfrm>
          <a:prstGeom prst="curvedConnector3">
            <a:avLst>
              <a:gd name="adj1" fmla="val 50000"/>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CA7EA20E-B03A-CD29-E665-4F53C800154D}"/>
              </a:ext>
            </a:extLst>
          </p:cNvPr>
          <p:cNvCxnSpPr>
            <a:stCxn id="3" idx="4"/>
            <a:endCxn id="9" idx="0"/>
          </p:cNvCxnSpPr>
          <p:nvPr/>
        </p:nvCxnSpPr>
        <p:spPr>
          <a:xfrm rot="16200000" flipH="1">
            <a:off x="3288870" y="6593231"/>
            <a:ext cx="616264" cy="336176"/>
          </a:xfrm>
          <a:prstGeom prst="curvedConnector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2" name="Curved Connector 51">
            <a:extLst>
              <a:ext uri="{FF2B5EF4-FFF2-40B4-BE49-F238E27FC236}">
                <a16:creationId xmlns:a16="http://schemas.microsoft.com/office/drawing/2014/main" id="{D0E44DCB-B8DF-4B71-403A-176AF01FC7EB}"/>
              </a:ext>
            </a:extLst>
          </p:cNvPr>
          <p:cNvCxnSpPr>
            <a:stCxn id="3" idx="6"/>
            <a:endCxn id="8" idx="2"/>
          </p:cNvCxnSpPr>
          <p:nvPr/>
        </p:nvCxnSpPr>
        <p:spPr>
          <a:xfrm>
            <a:off x="3863841" y="6018260"/>
            <a:ext cx="552713" cy="527982"/>
          </a:xfrm>
          <a:prstGeom prst="curvedConnector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0DEE1859-EFB4-BDD4-E057-EF69602C6DB0}"/>
              </a:ext>
            </a:extLst>
          </p:cNvPr>
          <p:cNvSpPr txBox="1"/>
          <p:nvPr/>
        </p:nvSpPr>
        <p:spPr>
          <a:xfrm>
            <a:off x="1958066" y="5900327"/>
            <a:ext cx="753967" cy="325987"/>
          </a:xfrm>
          <a:prstGeom prst="rect">
            <a:avLst/>
          </a:prstGeom>
          <a:noFill/>
        </p:spPr>
        <p:txBody>
          <a:bodyPr wrap="square" lIns="0" tIns="0" rIns="0" bIns="0" rtlCol="0">
            <a:spAutoFit/>
          </a:bodyPr>
          <a:lstStyle/>
          <a:p>
            <a:pPr algn="ctr"/>
            <a:r>
              <a:rPr lang="en-US" sz="1059" dirty="0"/>
              <a:t>Direct users/ beneficiaries</a:t>
            </a:r>
          </a:p>
        </p:txBody>
      </p:sp>
      <p:sp>
        <p:nvSpPr>
          <p:cNvPr id="72" name="TextBox 71">
            <a:extLst>
              <a:ext uri="{FF2B5EF4-FFF2-40B4-BE49-F238E27FC236}">
                <a16:creationId xmlns:a16="http://schemas.microsoft.com/office/drawing/2014/main" id="{25BF562F-D004-AED2-498A-0175F144B8BE}"/>
              </a:ext>
            </a:extLst>
          </p:cNvPr>
          <p:cNvSpPr txBox="1"/>
          <p:nvPr/>
        </p:nvSpPr>
        <p:spPr>
          <a:xfrm>
            <a:off x="696505" y="5896162"/>
            <a:ext cx="1115028" cy="325987"/>
          </a:xfrm>
          <a:prstGeom prst="rect">
            <a:avLst/>
          </a:prstGeom>
          <a:noFill/>
        </p:spPr>
        <p:txBody>
          <a:bodyPr wrap="square" lIns="0" tIns="0" rIns="0" bIns="0" rtlCol="0">
            <a:spAutoFit/>
          </a:bodyPr>
          <a:lstStyle/>
          <a:p>
            <a:pPr algn="ctr"/>
            <a:r>
              <a:rPr lang="en-US" sz="1059" dirty="0"/>
              <a:t>Indirect users/ beneficiaries</a:t>
            </a:r>
          </a:p>
        </p:txBody>
      </p:sp>
    </p:spTree>
    <p:extLst>
      <p:ext uri="{BB962C8B-B14F-4D97-AF65-F5344CB8AC3E}">
        <p14:creationId xmlns:p14="http://schemas.microsoft.com/office/powerpoint/2010/main" val="3929996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0ACF5-DBD7-292A-0DCE-26D5648FA63E}"/>
              </a:ext>
            </a:extLst>
          </p:cNvPr>
          <p:cNvSpPr>
            <a:spLocks noGrp="1"/>
          </p:cNvSpPr>
          <p:nvPr>
            <p:ph type="title"/>
          </p:nvPr>
        </p:nvSpPr>
        <p:spPr>
          <a:xfrm>
            <a:off x="515470" y="2247036"/>
            <a:ext cx="3263861" cy="526939"/>
          </a:xfrm>
        </p:spPr>
        <p:txBody>
          <a:bodyPr/>
          <a:lstStyle/>
          <a:p>
            <a:r>
              <a:rPr lang="en-US" dirty="0"/>
              <a:t>Agent design</a:t>
            </a:r>
          </a:p>
        </p:txBody>
      </p:sp>
      <p:sp>
        <p:nvSpPr>
          <p:cNvPr id="3" name="Text Placeholder 2">
            <a:extLst>
              <a:ext uri="{FF2B5EF4-FFF2-40B4-BE49-F238E27FC236}">
                <a16:creationId xmlns:a16="http://schemas.microsoft.com/office/drawing/2014/main" id="{5AF67272-05BF-573E-5A17-6D63F7100CC7}"/>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333614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4EFB-01E9-BA98-FBC4-8BEBE585BDE6}"/>
              </a:ext>
            </a:extLst>
          </p:cNvPr>
          <p:cNvSpPr>
            <a:spLocks noGrp="1"/>
          </p:cNvSpPr>
          <p:nvPr>
            <p:ph type="title"/>
          </p:nvPr>
        </p:nvSpPr>
        <p:spPr>
          <a:xfrm>
            <a:off x="431438" y="1376516"/>
            <a:ext cx="2834676" cy="526939"/>
          </a:xfrm>
        </p:spPr>
        <p:txBody>
          <a:bodyPr/>
          <a:lstStyle/>
          <a:p>
            <a:r>
              <a:rPr lang="en-US" dirty="0"/>
              <a:t>Agent types</a:t>
            </a:r>
          </a:p>
        </p:txBody>
      </p:sp>
      <p:grpSp>
        <p:nvGrpSpPr>
          <p:cNvPr id="29" name="Group 28">
            <a:extLst>
              <a:ext uri="{FF2B5EF4-FFF2-40B4-BE49-F238E27FC236}">
                <a16:creationId xmlns:a16="http://schemas.microsoft.com/office/drawing/2014/main" id="{5ADE0FA6-4B0B-8250-E736-A180A8C932A2}"/>
              </a:ext>
            </a:extLst>
          </p:cNvPr>
          <p:cNvGrpSpPr/>
          <p:nvPr/>
        </p:nvGrpSpPr>
        <p:grpSpPr>
          <a:xfrm>
            <a:off x="396406" y="2629921"/>
            <a:ext cx="2354197" cy="2065220"/>
            <a:chOff x="-461918" y="3217237"/>
            <a:chExt cx="2668090" cy="2340583"/>
          </a:xfrm>
        </p:grpSpPr>
        <p:sp>
          <p:nvSpPr>
            <p:cNvPr id="8" name="Rectangle: Rounded Corners 5">
              <a:extLst>
                <a:ext uri="{FF2B5EF4-FFF2-40B4-BE49-F238E27FC236}">
                  <a16:creationId xmlns:a16="http://schemas.microsoft.com/office/drawing/2014/main" id="{6703E937-C93C-2C16-19B2-9EB3707DF8E7}"/>
                </a:ext>
                <a:ext uri="{C183D7F6-B498-43B3-948B-1728B52AA6E4}">
                  <adec:decorative xmlns:adec="http://schemas.microsoft.com/office/drawing/2017/decorative" val="1"/>
                </a:ext>
              </a:extLst>
            </p:cNvPr>
            <p:cNvSpPr/>
            <p:nvPr/>
          </p:nvSpPr>
          <p:spPr bwMode="auto">
            <a:xfrm>
              <a:off x="-461918" y="3217237"/>
              <a:ext cx="2668090" cy="2340583"/>
            </a:xfrm>
            <a:prstGeom prst="roundRect">
              <a:avLst>
                <a:gd name="adj" fmla="val 8183"/>
              </a:avLst>
            </a:prstGeom>
            <a:solidFill>
              <a:srgbClr val="0078D4">
                <a:alpha val="93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13" name="TextBox 12">
              <a:extLst>
                <a:ext uri="{FF2B5EF4-FFF2-40B4-BE49-F238E27FC236}">
                  <a16:creationId xmlns:a16="http://schemas.microsoft.com/office/drawing/2014/main" id="{7EEBBB43-26C6-E1D6-FE26-BD82C6316D3F}"/>
                </a:ext>
              </a:extLst>
            </p:cNvPr>
            <p:cNvSpPr txBox="1"/>
            <p:nvPr/>
          </p:nvSpPr>
          <p:spPr>
            <a:xfrm>
              <a:off x="-216354" y="3365434"/>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solidFill>
                    <a:schemeClr val="bg1"/>
                  </a:solidFill>
                  <a:latin typeface="Segoe UI Semibold" panose="020B0702040204020203" pitchFamily="34" charset="0"/>
                  <a:cs typeface="Segoe UI Semibold" panose="020B0702040204020203" pitchFamily="34" charset="0"/>
                </a:rPr>
                <a:t>Retriever</a:t>
              </a:r>
            </a:p>
          </p:txBody>
        </p:sp>
        <p:sp>
          <p:nvSpPr>
            <p:cNvPr id="17" name="TextBox 16">
              <a:extLst>
                <a:ext uri="{FF2B5EF4-FFF2-40B4-BE49-F238E27FC236}">
                  <a16:creationId xmlns:a16="http://schemas.microsoft.com/office/drawing/2014/main" id="{4A357296-0471-92B0-5E24-1734ED6893AD}"/>
                </a:ext>
              </a:extLst>
            </p:cNvPr>
            <p:cNvSpPr txBox="1"/>
            <p:nvPr/>
          </p:nvSpPr>
          <p:spPr>
            <a:xfrm>
              <a:off x="-355551" y="3984087"/>
              <a:ext cx="2452921" cy="646177"/>
            </a:xfrm>
            <a:prstGeom prst="rect">
              <a:avLst/>
            </a:prstGeom>
            <a:noFill/>
          </p:spPr>
          <p:txBody>
            <a:bodyPr wrap="square" lIns="0" tIns="0" rIns="0" bIns="0" rtlCol="0">
              <a:spAutoFit/>
            </a:bodyPr>
            <a:lstStyle/>
            <a:p>
              <a:pPr algn="ctr"/>
              <a:r>
                <a:rPr lang="en-US" sz="1235" dirty="0">
                  <a:solidFill>
                    <a:schemeClr val="bg1"/>
                  </a:solidFill>
                </a:rPr>
                <a:t>“Finds and delivers relevant information to support a person’s task or decision.”</a:t>
              </a:r>
            </a:p>
          </p:txBody>
        </p:sp>
        <p:sp>
          <p:nvSpPr>
            <p:cNvPr id="18" name="TextBox 17">
              <a:extLst>
                <a:ext uri="{FF2B5EF4-FFF2-40B4-BE49-F238E27FC236}">
                  <a16:creationId xmlns:a16="http://schemas.microsoft.com/office/drawing/2014/main" id="{00BEC999-33AB-C99E-71A7-6AE7F8FF85F4}"/>
                </a:ext>
              </a:extLst>
            </p:cNvPr>
            <p:cNvSpPr txBox="1"/>
            <p:nvPr/>
          </p:nvSpPr>
          <p:spPr>
            <a:xfrm>
              <a:off x="-230700" y="4733071"/>
              <a:ext cx="2178051" cy="646177"/>
            </a:xfrm>
            <a:prstGeom prst="rect">
              <a:avLst/>
            </a:prstGeom>
            <a:noFill/>
          </p:spPr>
          <p:txBody>
            <a:bodyPr wrap="square" lIns="0" tIns="0" rIns="0" bIns="0" rtlCol="0">
              <a:spAutoFit/>
            </a:bodyPr>
            <a:lstStyle/>
            <a:p>
              <a:pPr algn="ctr"/>
              <a:r>
                <a:rPr lang="en-US" sz="1235">
                  <a:solidFill>
                    <a:schemeClr val="bg1"/>
                  </a:solidFill>
                  <a:latin typeface="+mj-lt"/>
                </a:rPr>
                <a:t>Example: an agent that retrieves HR policies or benefits information.</a:t>
              </a:r>
            </a:p>
          </p:txBody>
        </p:sp>
      </p:grpSp>
      <p:grpSp>
        <p:nvGrpSpPr>
          <p:cNvPr id="30" name="Group 29">
            <a:extLst>
              <a:ext uri="{FF2B5EF4-FFF2-40B4-BE49-F238E27FC236}">
                <a16:creationId xmlns:a16="http://schemas.microsoft.com/office/drawing/2014/main" id="{9A3D206A-EC3D-48D0-CB87-C44690C09C35}"/>
              </a:ext>
            </a:extLst>
          </p:cNvPr>
          <p:cNvGrpSpPr/>
          <p:nvPr/>
        </p:nvGrpSpPr>
        <p:grpSpPr>
          <a:xfrm>
            <a:off x="397214" y="4797724"/>
            <a:ext cx="2354197" cy="2065221"/>
            <a:chOff x="2367552" y="3217236"/>
            <a:chExt cx="2668090" cy="2340584"/>
          </a:xfrm>
        </p:grpSpPr>
        <p:sp>
          <p:nvSpPr>
            <p:cNvPr id="10" name="Rectangle: Rounded Corners 7">
              <a:extLst>
                <a:ext uri="{FF2B5EF4-FFF2-40B4-BE49-F238E27FC236}">
                  <a16:creationId xmlns:a16="http://schemas.microsoft.com/office/drawing/2014/main" id="{7F1E01CA-F83A-3D83-581C-21EEDBFAE938}"/>
                </a:ext>
                <a:ext uri="{C183D7F6-B498-43B3-948B-1728B52AA6E4}">
                  <adec:decorative xmlns:adec="http://schemas.microsoft.com/office/drawing/2017/decorative" val="1"/>
                </a:ext>
              </a:extLst>
            </p:cNvPr>
            <p:cNvSpPr/>
            <p:nvPr/>
          </p:nvSpPr>
          <p:spPr bwMode="auto">
            <a:xfrm>
              <a:off x="2367552" y="3217236"/>
              <a:ext cx="2668090" cy="2340584"/>
            </a:xfrm>
            <a:prstGeom prst="roundRect">
              <a:avLst>
                <a:gd name="adj" fmla="val 8183"/>
              </a:avLst>
            </a:prstGeom>
            <a:solidFill>
              <a:srgbClr val="A249CE">
                <a:alpha val="7146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11" name="TextBox 10">
              <a:extLst>
                <a:ext uri="{FF2B5EF4-FFF2-40B4-BE49-F238E27FC236}">
                  <a16:creationId xmlns:a16="http://schemas.microsoft.com/office/drawing/2014/main" id="{B9B00CC4-46BA-DD9D-D9AC-A2E09F2DB2B2}"/>
                </a:ext>
              </a:extLst>
            </p:cNvPr>
            <p:cNvSpPr txBox="1"/>
            <p:nvPr/>
          </p:nvSpPr>
          <p:spPr>
            <a:xfrm>
              <a:off x="2612571" y="3378134"/>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Collaborator</a:t>
              </a:r>
            </a:p>
          </p:txBody>
        </p:sp>
        <p:sp>
          <p:nvSpPr>
            <p:cNvPr id="19" name="TextBox 18">
              <a:extLst>
                <a:ext uri="{FF2B5EF4-FFF2-40B4-BE49-F238E27FC236}">
                  <a16:creationId xmlns:a16="http://schemas.microsoft.com/office/drawing/2014/main" id="{49F612F5-6574-53FC-0C3B-F91E7CD9243D}"/>
                </a:ext>
              </a:extLst>
            </p:cNvPr>
            <p:cNvSpPr txBox="1"/>
            <p:nvPr/>
          </p:nvSpPr>
          <p:spPr>
            <a:xfrm>
              <a:off x="2489755" y="3982439"/>
              <a:ext cx="2423682" cy="430785"/>
            </a:xfrm>
            <a:prstGeom prst="rect">
              <a:avLst/>
            </a:prstGeom>
            <a:noFill/>
          </p:spPr>
          <p:txBody>
            <a:bodyPr wrap="square" lIns="0" tIns="0" rIns="0" bIns="0" rtlCol="0">
              <a:spAutoFit/>
            </a:bodyPr>
            <a:lstStyle/>
            <a:p>
              <a:pPr algn="ctr"/>
              <a:r>
                <a:rPr lang="en-US" sz="1235">
                  <a:solidFill>
                    <a:schemeClr val="bg1"/>
                  </a:solidFill>
                </a:rPr>
                <a:t>“Works with people or systems to get things done.”</a:t>
              </a:r>
            </a:p>
          </p:txBody>
        </p:sp>
        <p:sp>
          <p:nvSpPr>
            <p:cNvPr id="20" name="TextBox 19">
              <a:extLst>
                <a:ext uri="{FF2B5EF4-FFF2-40B4-BE49-F238E27FC236}">
                  <a16:creationId xmlns:a16="http://schemas.microsoft.com/office/drawing/2014/main" id="{9DF82BB6-6922-5AB0-AFFB-D53B13B54935}"/>
                </a:ext>
              </a:extLst>
            </p:cNvPr>
            <p:cNvSpPr txBox="1"/>
            <p:nvPr/>
          </p:nvSpPr>
          <p:spPr>
            <a:xfrm>
              <a:off x="2528318" y="4738961"/>
              <a:ext cx="2385120" cy="646177"/>
            </a:xfrm>
            <a:prstGeom prst="rect">
              <a:avLst/>
            </a:prstGeom>
            <a:noFill/>
          </p:spPr>
          <p:txBody>
            <a:bodyPr wrap="square" lIns="0" tIns="0" rIns="0" bIns="0" rtlCol="0">
              <a:spAutoFit/>
            </a:bodyPr>
            <a:lstStyle/>
            <a:p>
              <a:pPr algn="ctr"/>
              <a:r>
                <a:rPr lang="en-US" sz="1235">
                  <a:solidFill>
                    <a:schemeClr val="bg1"/>
                  </a:solidFill>
                  <a:latin typeface="+mj-lt"/>
                </a:rPr>
                <a:t>Example: an agent that collects info from a user, then escalates to a manager.</a:t>
              </a:r>
            </a:p>
          </p:txBody>
        </p:sp>
      </p:grpSp>
      <p:grpSp>
        <p:nvGrpSpPr>
          <p:cNvPr id="31" name="Group 30">
            <a:extLst>
              <a:ext uri="{FF2B5EF4-FFF2-40B4-BE49-F238E27FC236}">
                <a16:creationId xmlns:a16="http://schemas.microsoft.com/office/drawing/2014/main" id="{720D9953-B1BF-7186-9CD7-3C7BE112FDA0}"/>
              </a:ext>
            </a:extLst>
          </p:cNvPr>
          <p:cNvGrpSpPr/>
          <p:nvPr/>
        </p:nvGrpSpPr>
        <p:grpSpPr>
          <a:xfrm>
            <a:off x="428734" y="6965527"/>
            <a:ext cx="2352757" cy="2065221"/>
            <a:chOff x="5196409" y="3217236"/>
            <a:chExt cx="2666458" cy="2340584"/>
          </a:xfrm>
        </p:grpSpPr>
        <p:sp>
          <p:nvSpPr>
            <p:cNvPr id="9" name="Rectangle: Rounded Corners 6">
              <a:extLst>
                <a:ext uri="{FF2B5EF4-FFF2-40B4-BE49-F238E27FC236}">
                  <a16:creationId xmlns:a16="http://schemas.microsoft.com/office/drawing/2014/main" id="{71C95908-3D1D-0192-6D47-51F00555F38A}"/>
                </a:ext>
                <a:ext uri="{C183D7F6-B498-43B3-948B-1728B52AA6E4}">
                  <adec:decorative xmlns:adec="http://schemas.microsoft.com/office/drawing/2017/decorative" val="1"/>
                </a:ext>
              </a:extLst>
            </p:cNvPr>
            <p:cNvSpPr/>
            <p:nvPr/>
          </p:nvSpPr>
          <p:spPr bwMode="auto">
            <a:xfrm>
              <a:off x="5196409" y="3217236"/>
              <a:ext cx="2666458" cy="2340584"/>
            </a:xfrm>
            <a:prstGeom prst="roundRect">
              <a:avLst>
                <a:gd name="adj" fmla="val 7700"/>
              </a:avLst>
            </a:prstGeom>
            <a:solidFill>
              <a:srgbClr val="D73BB9">
                <a:alpha val="88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15" name="TextBox 14">
              <a:extLst>
                <a:ext uri="{FF2B5EF4-FFF2-40B4-BE49-F238E27FC236}">
                  <a16:creationId xmlns:a16="http://schemas.microsoft.com/office/drawing/2014/main" id="{C3903152-78B1-B9E2-856C-86DE80301A49}"/>
                </a:ext>
              </a:extLst>
            </p:cNvPr>
            <p:cNvSpPr txBox="1"/>
            <p:nvPr/>
          </p:nvSpPr>
          <p:spPr>
            <a:xfrm>
              <a:off x="5425997" y="3365434"/>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Orchestrator</a:t>
              </a:r>
            </a:p>
          </p:txBody>
        </p:sp>
        <p:sp>
          <p:nvSpPr>
            <p:cNvPr id="21" name="TextBox 20">
              <a:extLst>
                <a:ext uri="{FF2B5EF4-FFF2-40B4-BE49-F238E27FC236}">
                  <a16:creationId xmlns:a16="http://schemas.microsoft.com/office/drawing/2014/main" id="{CBCFBA66-DA6E-F93A-5565-04B0D6A52D0A}"/>
                </a:ext>
              </a:extLst>
            </p:cNvPr>
            <p:cNvSpPr txBox="1"/>
            <p:nvPr/>
          </p:nvSpPr>
          <p:spPr>
            <a:xfrm>
              <a:off x="5317698" y="3988794"/>
              <a:ext cx="2441045" cy="430785"/>
            </a:xfrm>
            <a:prstGeom prst="rect">
              <a:avLst/>
            </a:prstGeom>
            <a:noFill/>
          </p:spPr>
          <p:txBody>
            <a:bodyPr wrap="square" lIns="0" tIns="0" rIns="0" bIns="0" rtlCol="0">
              <a:spAutoFit/>
            </a:bodyPr>
            <a:lstStyle/>
            <a:p>
              <a:pPr algn="ctr"/>
              <a:r>
                <a:rPr lang="en-US" sz="1235">
                  <a:solidFill>
                    <a:schemeClr val="bg1"/>
                  </a:solidFill>
                </a:rPr>
                <a:t>“Coordinates a series of steps across systems or teams.”</a:t>
              </a:r>
            </a:p>
          </p:txBody>
        </p:sp>
        <p:sp>
          <p:nvSpPr>
            <p:cNvPr id="22" name="TextBox 21">
              <a:extLst>
                <a:ext uri="{FF2B5EF4-FFF2-40B4-BE49-F238E27FC236}">
                  <a16:creationId xmlns:a16="http://schemas.microsoft.com/office/drawing/2014/main" id="{11697ED3-A735-FD44-A660-6AC590482444}"/>
                </a:ext>
              </a:extLst>
            </p:cNvPr>
            <p:cNvSpPr txBox="1"/>
            <p:nvPr/>
          </p:nvSpPr>
          <p:spPr>
            <a:xfrm>
              <a:off x="5325334" y="4733069"/>
              <a:ext cx="2379376" cy="646177"/>
            </a:xfrm>
            <a:prstGeom prst="rect">
              <a:avLst/>
            </a:prstGeom>
            <a:noFill/>
          </p:spPr>
          <p:txBody>
            <a:bodyPr wrap="square" lIns="0" tIns="0" rIns="0" bIns="0" rtlCol="0">
              <a:spAutoFit/>
            </a:bodyPr>
            <a:lstStyle/>
            <a:p>
              <a:pPr algn="ctr"/>
              <a:r>
                <a:rPr lang="en-US" sz="1235">
                  <a:solidFill>
                    <a:schemeClr val="bg1"/>
                  </a:solidFill>
                  <a:latin typeface="+mj-lt"/>
                </a:rPr>
                <a:t>Example: an agent that manages onboarding across departments.</a:t>
              </a:r>
            </a:p>
          </p:txBody>
        </p:sp>
      </p:grpSp>
      <p:grpSp>
        <p:nvGrpSpPr>
          <p:cNvPr id="32" name="Group 31">
            <a:extLst>
              <a:ext uri="{FF2B5EF4-FFF2-40B4-BE49-F238E27FC236}">
                <a16:creationId xmlns:a16="http://schemas.microsoft.com/office/drawing/2014/main" id="{C071C075-017B-EB34-0F21-E98F1B7A6D01}"/>
              </a:ext>
            </a:extLst>
          </p:cNvPr>
          <p:cNvGrpSpPr/>
          <p:nvPr/>
        </p:nvGrpSpPr>
        <p:grpSpPr>
          <a:xfrm>
            <a:off x="2888510" y="2629921"/>
            <a:ext cx="2354197" cy="2065220"/>
            <a:chOff x="-461918" y="5826877"/>
            <a:chExt cx="2668090" cy="2340583"/>
          </a:xfrm>
        </p:grpSpPr>
        <p:sp>
          <p:nvSpPr>
            <p:cNvPr id="6" name="Rectangle: Rounded Corners 5">
              <a:extLst>
                <a:ext uri="{FF2B5EF4-FFF2-40B4-BE49-F238E27FC236}">
                  <a16:creationId xmlns:a16="http://schemas.microsoft.com/office/drawing/2014/main" id="{D45404C7-5422-1E95-0DF1-67F22719C5F9}"/>
                </a:ext>
                <a:ext uri="{C183D7F6-B498-43B3-948B-1728B52AA6E4}">
                  <adec:decorative xmlns:adec="http://schemas.microsoft.com/office/drawing/2017/decorative" val="1"/>
                </a:ext>
              </a:extLst>
            </p:cNvPr>
            <p:cNvSpPr/>
            <p:nvPr/>
          </p:nvSpPr>
          <p:spPr bwMode="auto">
            <a:xfrm>
              <a:off x="-461918" y="5826877"/>
              <a:ext cx="2668090" cy="2340583"/>
            </a:xfrm>
            <a:prstGeom prst="roundRect">
              <a:avLst>
                <a:gd name="adj" fmla="val 8183"/>
              </a:avLst>
            </a:prstGeom>
            <a:solidFill>
              <a:srgbClr val="0078D4">
                <a:alpha val="93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14" name="TextBox 13">
              <a:extLst>
                <a:ext uri="{FF2B5EF4-FFF2-40B4-BE49-F238E27FC236}">
                  <a16:creationId xmlns:a16="http://schemas.microsoft.com/office/drawing/2014/main" id="{6CC91139-0518-B41B-F247-6C5068571781}"/>
                </a:ext>
              </a:extLst>
            </p:cNvPr>
            <p:cNvSpPr txBox="1"/>
            <p:nvPr/>
          </p:nvSpPr>
          <p:spPr>
            <a:xfrm>
              <a:off x="-216354" y="6095932"/>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Advisor</a:t>
              </a:r>
            </a:p>
          </p:txBody>
        </p:sp>
        <p:sp>
          <p:nvSpPr>
            <p:cNvPr id="23" name="TextBox 22">
              <a:extLst>
                <a:ext uri="{FF2B5EF4-FFF2-40B4-BE49-F238E27FC236}">
                  <a16:creationId xmlns:a16="http://schemas.microsoft.com/office/drawing/2014/main" id="{0B0035EB-51AA-33FC-3C19-24D8F6D68A25}"/>
                </a:ext>
              </a:extLst>
            </p:cNvPr>
            <p:cNvSpPr txBox="1"/>
            <p:nvPr/>
          </p:nvSpPr>
          <p:spPr>
            <a:xfrm>
              <a:off x="-355551" y="6645301"/>
              <a:ext cx="2452921" cy="430785"/>
            </a:xfrm>
            <a:prstGeom prst="rect">
              <a:avLst/>
            </a:prstGeom>
            <a:noFill/>
          </p:spPr>
          <p:txBody>
            <a:bodyPr wrap="square" lIns="0" tIns="0" rIns="0" bIns="0" rtlCol="0">
              <a:spAutoFit/>
            </a:bodyPr>
            <a:lstStyle/>
            <a:p>
              <a:pPr algn="ctr"/>
              <a:r>
                <a:rPr lang="en-US" sz="1235" dirty="0">
                  <a:solidFill>
                    <a:schemeClr val="bg1"/>
                  </a:solidFill>
                </a:rPr>
                <a:t>“Gives insights, guidance, or recommendations.”</a:t>
              </a:r>
            </a:p>
          </p:txBody>
        </p:sp>
        <p:sp>
          <p:nvSpPr>
            <p:cNvPr id="24" name="TextBox 23">
              <a:extLst>
                <a:ext uri="{FF2B5EF4-FFF2-40B4-BE49-F238E27FC236}">
                  <a16:creationId xmlns:a16="http://schemas.microsoft.com/office/drawing/2014/main" id="{41FF911B-0A51-56E4-C787-A318E3CD3084}"/>
                </a:ext>
              </a:extLst>
            </p:cNvPr>
            <p:cNvSpPr txBox="1"/>
            <p:nvPr/>
          </p:nvSpPr>
          <p:spPr>
            <a:xfrm>
              <a:off x="-293126" y="7379970"/>
              <a:ext cx="2328070" cy="646177"/>
            </a:xfrm>
            <a:prstGeom prst="rect">
              <a:avLst/>
            </a:prstGeom>
            <a:noFill/>
          </p:spPr>
          <p:txBody>
            <a:bodyPr wrap="square" lIns="0" tIns="0" rIns="0" bIns="0" rtlCol="0">
              <a:spAutoFit/>
            </a:bodyPr>
            <a:lstStyle/>
            <a:p>
              <a:pPr algn="ctr"/>
              <a:r>
                <a:rPr lang="en-US" sz="1235">
                  <a:solidFill>
                    <a:schemeClr val="bg1"/>
                  </a:solidFill>
                  <a:latin typeface="+mj-lt"/>
                </a:rPr>
                <a:t>Example: an agent suggests next-best actions based on data</a:t>
              </a:r>
            </a:p>
          </p:txBody>
        </p:sp>
      </p:grpSp>
      <p:grpSp>
        <p:nvGrpSpPr>
          <p:cNvPr id="33" name="Group 32">
            <a:extLst>
              <a:ext uri="{FF2B5EF4-FFF2-40B4-BE49-F238E27FC236}">
                <a16:creationId xmlns:a16="http://schemas.microsoft.com/office/drawing/2014/main" id="{2DD10D0F-AAC9-D072-2DF1-8AD91A851F71}"/>
              </a:ext>
            </a:extLst>
          </p:cNvPr>
          <p:cNvGrpSpPr/>
          <p:nvPr/>
        </p:nvGrpSpPr>
        <p:grpSpPr>
          <a:xfrm>
            <a:off x="2888512" y="4796556"/>
            <a:ext cx="2354197" cy="2065221"/>
            <a:chOff x="2367552" y="5826876"/>
            <a:chExt cx="2668090" cy="2340584"/>
          </a:xfrm>
        </p:grpSpPr>
        <p:sp>
          <p:nvSpPr>
            <p:cNvPr id="5" name="Rectangle: Rounded Corners 7">
              <a:extLst>
                <a:ext uri="{FF2B5EF4-FFF2-40B4-BE49-F238E27FC236}">
                  <a16:creationId xmlns:a16="http://schemas.microsoft.com/office/drawing/2014/main" id="{B5E91AB7-3FED-31E2-C10F-A9AFB5904506}"/>
                </a:ext>
                <a:ext uri="{C183D7F6-B498-43B3-948B-1728B52AA6E4}">
                  <adec:decorative xmlns:adec="http://schemas.microsoft.com/office/drawing/2017/decorative" val="1"/>
                </a:ext>
              </a:extLst>
            </p:cNvPr>
            <p:cNvSpPr/>
            <p:nvPr/>
          </p:nvSpPr>
          <p:spPr bwMode="auto">
            <a:xfrm>
              <a:off x="2367552" y="5826876"/>
              <a:ext cx="2668090" cy="2340584"/>
            </a:xfrm>
            <a:prstGeom prst="roundRect">
              <a:avLst>
                <a:gd name="adj" fmla="val 8183"/>
              </a:avLst>
            </a:prstGeom>
            <a:solidFill>
              <a:srgbClr val="A249CE">
                <a:alpha val="7146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12" name="TextBox 11">
              <a:extLst>
                <a:ext uri="{FF2B5EF4-FFF2-40B4-BE49-F238E27FC236}">
                  <a16:creationId xmlns:a16="http://schemas.microsoft.com/office/drawing/2014/main" id="{D713C990-748C-62E9-D488-C6D5980D8E9C}"/>
                </a:ext>
              </a:extLst>
            </p:cNvPr>
            <p:cNvSpPr txBox="1"/>
            <p:nvPr/>
          </p:nvSpPr>
          <p:spPr>
            <a:xfrm>
              <a:off x="2612571" y="6095932"/>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Assistant</a:t>
              </a:r>
            </a:p>
          </p:txBody>
        </p:sp>
        <p:sp>
          <p:nvSpPr>
            <p:cNvPr id="25" name="TextBox 24">
              <a:extLst>
                <a:ext uri="{FF2B5EF4-FFF2-40B4-BE49-F238E27FC236}">
                  <a16:creationId xmlns:a16="http://schemas.microsoft.com/office/drawing/2014/main" id="{E86CA24A-596C-4D2C-43B3-92C14844B8C8}"/>
                </a:ext>
              </a:extLst>
            </p:cNvPr>
            <p:cNvSpPr txBox="1"/>
            <p:nvPr/>
          </p:nvSpPr>
          <p:spPr>
            <a:xfrm>
              <a:off x="2489754" y="6672765"/>
              <a:ext cx="2423683" cy="430785"/>
            </a:xfrm>
            <a:prstGeom prst="rect">
              <a:avLst/>
            </a:prstGeom>
            <a:noFill/>
          </p:spPr>
          <p:txBody>
            <a:bodyPr wrap="square" lIns="0" tIns="0" rIns="0" bIns="0" rtlCol="0">
              <a:spAutoFit/>
            </a:bodyPr>
            <a:lstStyle/>
            <a:p>
              <a:pPr algn="ctr"/>
              <a:r>
                <a:rPr lang="en-US" sz="1235">
                  <a:solidFill>
                    <a:schemeClr val="bg1"/>
                  </a:solidFill>
                </a:rPr>
                <a:t>“Helps a person complete a task or make a decision.”</a:t>
              </a:r>
            </a:p>
          </p:txBody>
        </p:sp>
        <p:sp>
          <p:nvSpPr>
            <p:cNvPr id="26" name="TextBox 25">
              <a:extLst>
                <a:ext uri="{FF2B5EF4-FFF2-40B4-BE49-F238E27FC236}">
                  <a16:creationId xmlns:a16="http://schemas.microsoft.com/office/drawing/2014/main" id="{9CE4389D-9418-6573-EA29-9EDFA5368866}"/>
                </a:ext>
              </a:extLst>
            </p:cNvPr>
            <p:cNvSpPr txBox="1"/>
            <p:nvPr/>
          </p:nvSpPr>
          <p:spPr>
            <a:xfrm>
              <a:off x="2489754" y="7420112"/>
              <a:ext cx="2423683" cy="430785"/>
            </a:xfrm>
            <a:prstGeom prst="rect">
              <a:avLst/>
            </a:prstGeom>
            <a:noFill/>
          </p:spPr>
          <p:txBody>
            <a:bodyPr wrap="square" lIns="0" tIns="0" rIns="0" bIns="0" rtlCol="0">
              <a:spAutoFit/>
            </a:bodyPr>
            <a:lstStyle/>
            <a:p>
              <a:pPr algn="ctr"/>
              <a:r>
                <a:rPr lang="en-US" sz="1235">
                  <a:solidFill>
                    <a:schemeClr val="bg1"/>
                  </a:solidFill>
                  <a:latin typeface="+mj-lt"/>
                </a:rPr>
                <a:t>Example: an agent helps submit a helpdesk ticket.</a:t>
              </a:r>
            </a:p>
          </p:txBody>
        </p:sp>
      </p:grpSp>
      <p:grpSp>
        <p:nvGrpSpPr>
          <p:cNvPr id="34" name="Group 33">
            <a:extLst>
              <a:ext uri="{FF2B5EF4-FFF2-40B4-BE49-F238E27FC236}">
                <a16:creationId xmlns:a16="http://schemas.microsoft.com/office/drawing/2014/main" id="{014B9B79-A9D6-8CFB-97D8-F45D60A0917C}"/>
              </a:ext>
            </a:extLst>
          </p:cNvPr>
          <p:cNvGrpSpPr/>
          <p:nvPr/>
        </p:nvGrpSpPr>
        <p:grpSpPr>
          <a:xfrm>
            <a:off x="2902129" y="6963192"/>
            <a:ext cx="2352757" cy="2065221"/>
            <a:chOff x="5196409" y="5826876"/>
            <a:chExt cx="2666458" cy="2340584"/>
          </a:xfrm>
        </p:grpSpPr>
        <p:sp>
          <p:nvSpPr>
            <p:cNvPr id="7" name="Rectangle: Rounded Corners 6">
              <a:extLst>
                <a:ext uri="{FF2B5EF4-FFF2-40B4-BE49-F238E27FC236}">
                  <a16:creationId xmlns:a16="http://schemas.microsoft.com/office/drawing/2014/main" id="{095CD00F-A271-EE8F-00B3-931E0175391A}"/>
                </a:ext>
                <a:ext uri="{C183D7F6-B498-43B3-948B-1728B52AA6E4}">
                  <adec:decorative xmlns:adec="http://schemas.microsoft.com/office/drawing/2017/decorative" val="1"/>
                </a:ext>
              </a:extLst>
            </p:cNvPr>
            <p:cNvSpPr/>
            <p:nvPr/>
          </p:nvSpPr>
          <p:spPr bwMode="auto">
            <a:xfrm>
              <a:off x="5196409" y="5826876"/>
              <a:ext cx="2666458" cy="2340584"/>
            </a:xfrm>
            <a:prstGeom prst="roundRect">
              <a:avLst>
                <a:gd name="adj" fmla="val 7700"/>
              </a:avLst>
            </a:prstGeom>
            <a:solidFill>
              <a:srgbClr val="D73BB9">
                <a:alpha val="88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16" name="TextBox 15">
              <a:extLst>
                <a:ext uri="{FF2B5EF4-FFF2-40B4-BE49-F238E27FC236}">
                  <a16:creationId xmlns:a16="http://schemas.microsoft.com/office/drawing/2014/main" id="{F9EBB73E-85FE-BD1D-5BB1-A35750E03251}"/>
                </a:ext>
              </a:extLst>
            </p:cNvPr>
            <p:cNvSpPr txBox="1"/>
            <p:nvPr/>
          </p:nvSpPr>
          <p:spPr>
            <a:xfrm>
              <a:off x="5425997" y="6095932"/>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Performer</a:t>
              </a:r>
            </a:p>
          </p:txBody>
        </p:sp>
        <p:sp>
          <p:nvSpPr>
            <p:cNvPr id="27" name="TextBox 26">
              <a:extLst>
                <a:ext uri="{FF2B5EF4-FFF2-40B4-BE49-F238E27FC236}">
                  <a16:creationId xmlns:a16="http://schemas.microsoft.com/office/drawing/2014/main" id="{2ABC517C-388E-057E-A3E1-BF96D22B1CAF}"/>
                </a:ext>
              </a:extLst>
            </p:cNvPr>
            <p:cNvSpPr txBox="1"/>
            <p:nvPr/>
          </p:nvSpPr>
          <p:spPr>
            <a:xfrm>
              <a:off x="5325334" y="6672764"/>
              <a:ext cx="2379374" cy="646177"/>
            </a:xfrm>
            <a:prstGeom prst="rect">
              <a:avLst/>
            </a:prstGeom>
            <a:noFill/>
          </p:spPr>
          <p:txBody>
            <a:bodyPr wrap="square" lIns="0" tIns="0" rIns="0" bIns="0" rtlCol="0">
              <a:spAutoFit/>
            </a:bodyPr>
            <a:lstStyle/>
            <a:p>
              <a:pPr algn="ctr"/>
              <a:r>
                <a:rPr lang="en-US" sz="1235" dirty="0">
                  <a:solidFill>
                    <a:schemeClr val="bg1"/>
                  </a:solidFill>
                </a:rPr>
                <a:t>“Takes direct action and completes tasks automatically.”</a:t>
              </a:r>
            </a:p>
          </p:txBody>
        </p:sp>
        <p:sp>
          <p:nvSpPr>
            <p:cNvPr id="28" name="TextBox 27">
              <a:extLst>
                <a:ext uri="{FF2B5EF4-FFF2-40B4-BE49-F238E27FC236}">
                  <a16:creationId xmlns:a16="http://schemas.microsoft.com/office/drawing/2014/main" id="{3CD1B9E7-7939-3D47-E7AA-0A9F38AFD1D3}"/>
                </a:ext>
              </a:extLst>
            </p:cNvPr>
            <p:cNvSpPr txBox="1"/>
            <p:nvPr/>
          </p:nvSpPr>
          <p:spPr>
            <a:xfrm>
              <a:off x="5325334" y="7412391"/>
              <a:ext cx="2379374" cy="646177"/>
            </a:xfrm>
            <a:prstGeom prst="rect">
              <a:avLst/>
            </a:prstGeom>
            <a:noFill/>
          </p:spPr>
          <p:txBody>
            <a:bodyPr wrap="square" lIns="0" tIns="0" rIns="0" bIns="0" rtlCol="0">
              <a:spAutoFit/>
            </a:bodyPr>
            <a:lstStyle/>
            <a:p>
              <a:pPr algn="ctr"/>
              <a:r>
                <a:rPr lang="en-US" sz="1235">
                  <a:solidFill>
                    <a:schemeClr val="bg1"/>
                  </a:solidFill>
                  <a:latin typeface="+mj-lt"/>
                </a:rPr>
                <a:t>Example: an agent that updates a record when conditions are met.</a:t>
              </a:r>
            </a:p>
          </p:txBody>
        </p:sp>
      </p:grpSp>
    </p:spTree>
    <p:extLst>
      <p:ext uri="{BB962C8B-B14F-4D97-AF65-F5344CB8AC3E}">
        <p14:creationId xmlns:p14="http://schemas.microsoft.com/office/powerpoint/2010/main" val="113237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27848-B9B6-A967-35C6-70D5A3502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D8A3C-A8AE-1D0F-28FE-DE23D08A485E}"/>
              </a:ext>
            </a:extLst>
          </p:cNvPr>
          <p:cNvSpPr>
            <a:spLocks noGrp="1"/>
          </p:cNvSpPr>
          <p:nvPr>
            <p:ph type="title"/>
          </p:nvPr>
        </p:nvSpPr>
        <p:spPr>
          <a:xfrm>
            <a:off x="431438" y="1022276"/>
            <a:ext cx="2834676" cy="526939"/>
          </a:xfrm>
          <a:prstGeom prst="rect">
            <a:avLst/>
          </a:prstGeom>
        </p:spPr>
        <p:txBody>
          <a:bodyPr/>
          <a:lstStyle/>
          <a:p>
            <a:r>
              <a:rPr lang="en-US" dirty="0"/>
              <a:t>Agent types</a:t>
            </a:r>
          </a:p>
        </p:txBody>
      </p:sp>
      <p:grpSp>
        <p:nvGrpSpPr>
          <p:cNvPr id="44" name="Group 43">
            <a:extLst>
              <a:ext uri="{FF2B5EF4-FFF2-40B4-BE49-F238E27FC236}">
                <a16:creationId xmlns:a16="http://schemas.microsoft.com/office/drawing/2014/main" id="{6EFC44A1-182A-8770-ED9F-4985E6FD1851}"/>
              </a:ext>
            </a:extLst>
          </p:cNvPr>
          <p:cNvGrpSpPr/>
          <p:nvPr/>
        </p:nvGrpSpPr>
        <p:grpSpPr>
          <a:xfrm>
            <a:off x="4181507" y="870845"/>
            <a:ext cx="2354197" cy="2065220"/>
            <a:chOff x="-461918" y="3217237"/>
            <a:chExt cx="2668090" cy="2340583"/>
          </a:xfrm>
        </p:grpSpPr>
        <p:sp>
          <p:nvSpPr>
            <p:cNvPr id="45" name="Rectangle: Rounded Corners 5">
              <a:extLst>
                <a:ext uri="{FF2B5EF4-FFF2-40B4-BE49-F238E27FC236}">
                  <a16:creationId xmlns:a16="http://schemas.microsoft.com/office/drawing/2014/main" id="{2E12A0A0-EEA7-C960-024B-E987D9AF0B83}"/>
                </a:ext>
                <a:ext uri="{C183D7F6-B498-43B3-948B-1728B52AA6E4}">
                  <adec:decorative xmlns:adec="http://schemas.microsoft.com/office/drawing/2017/decorative" val="1"/>
                </a:ext>
              </a:extLst>
            </p:cNvPr>
            <p:cNvSpPr/>
            <p:nvPr/>
          </p:nvSpPr>
          <p:spPr bwMode="auto">
            <a:xfrm>
              <a:off x="-461918" y="3217237"/>
              <a:ext cx="2668090" cy="2340583"/>
            </a:xfrm>
            <a:prstGeom prst="roundRect">
              <a:avLst>
                <a:gd name="adj" fmla="val 8183"/>
              </a:avLst>
            </a:prstGeom>
            <a:solidFill>
              <a:srgbClr val="0078D4">
                <a:alpha val="93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46" name="TextBox 45">
              <a:extLst>
                <a:ext uri="{FF2B5EF4-FFF2-40B4-BE49-F238E27FC236}">
                  <a16:creationId xmlns:a16="http://schemas.microsoft.com/office/drawing/2014/main" id="{BA19FE50-8829-B38F-621B-FB8C0F3E6652}"/>
                </a:ext>
              </a:extLst>
            </p:cNvPr>
            <p:cNvSpPr txBox="1"/>
            <p:nvPr/>
          </p:nvSpPr>
          <p:spPr>
            <a:xfrm>
              <a:off x="-216354" y="3365434"/>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solidFill>
                    <a:schemeClr val="bg1"/>
                  </a:solidFill>
                  <a:latin typeface="Segoe UI Semibold" panose="020B0702040204020203" pitchFamily="34" charset="0"/>
                  <a:cs typeface="Segoe UI Semibold" panose="020B0702040204020203" pitchFamily="34" charset="0"/>
                </a:rPr>
                <a:t>Retriever</a:t>
              </a:r>
            </a:p>
          </p:txBody>
        </p:sp>
        <p:sp>
          <p:nvSpPr>
            <p:cNvPr id="47" name="TextBox 46">
              <a:extLst>
                <a:ext uri="{FF2B5EF4-FFF2-40B4-BE49-F238E27FC236}">
                  <a16:creationId xmlns:a16="http://schemas.microsoft.com/office/drawing/2014/main" id="{4E25DBCE-DAEA-BA25-AF6F-D94AE74A8C16}"/>
                </a:ext>
              </a:extLst>
            </p:cNvPr>
            <p:cNvSpPr txBox="1"/>
            <p:nvPr/>
          </p:nvSpPr>
          <p:spPr>
            <a:xfrm>
              <a:off x="-355551" y="3984087"/>
              <a:ext cx="2452921" cy="646177"/>
            </a:xfrm>
            <a:prstGeom prst="rect">
              <a:avLst/>
            </a:prstGeom>
            <a:noFill/>
          </p:spPr>
          <p:txBody>
            <a:bodyPr wrap="square" lIns="0" tIns="0" rIns="0" bIns="0" rtlCol="0">
              <a:spAutoFit/>
            </a:bodyPr>
            <a:lstStyle/>
            <a:p>
              <a:pPr algn="ctr"/>
              <a:r>
                <a:rPr lang="en-US" sz="1235" dirty="0">
                  <a:solidFill>
                    <a:schemeClr val="bg1"/>
                  </a:solidFill>
                </a:rPr>
                <a:t>“Finds and delivers relevant information to support a person’s task or decision.”</a:t>
              </a:r>
            </a:p>
          </p:txBody>
        </p:sp>
        <p:sp>
          <p:nvSpPr>
            <p:cNvPr id="48" name="TextBox 47">
              <a:extLst>
                <a:ext uri="{FF2B5EF4-FFF2-40B4-BE49-F238E27FC236}">
                  <a16:creationId xmlns:a16="http://schemas.microsoft.com/office/drawing/2014/main" id="{387AED69-D589-B52B-A089-EB563A4EAAAD}"/>
                </a:ext>
              </a:extLst>
            </p:cNvPr>
            <p:cNvSpPr txBox="1"/>
            <p:nvPr/>
          </p:nvSpPr>
          <p:spPr>
            <a:xfrm>
              <a:off x="-230700" y="4733071"/>
              <a:ext cx="2178051" cy="646177"/>
            </a:xfrm>
            <a:prstGeom prst="rect">
              <a:avLst/>
            </a:prstGeom>
            <a:noFill/>
          </p:spPr>
          <p:txBody>
            <a:bodyPr wrap="square" lIns="0" tIns="0" rIns="0" bIns="0" rtlCol="0">
              <a:spAutoFit/>
            </a:bodyPr>
            <a:lstStyle/>
            <a:p>
              <a:pPr algn="ctr"/>
              <a:r>
                <a:rPr lang="en-US" sz="1235">
                  <a:solidFill>
                    <a:schemeClr val="bg1"/>
                  </a:solidFill>
                  <a:latin typeface="+mj-lt"/>
                </a:rPr>
                <a:t>Example: an agent that retrieves HR policies or benefits information.</a:t>
              </a:r>
            </a:p>
          </p:txBody>
        </p:sp>
      </p:grpSp>
      <p:sp>
        <p:nvSpPr>
          <p:cNvPr id="49" name="TextBox 48">
            <a:extLst>
              <a:ext uri="{FF2B5EF4-FFF2-40B4-BE49-F238E27FC236}">
                <a16:creationId xmlns:a16="http://schemas.microsoft.com/office/drawing/2014/main" id="{32FAF855-B4E4-424B-0FBA-F17A9DF2522C}"/>
              </a:ext>
            </a:extLst>
          </p:cNvPr>
          <p:cNvSpPr txBox="1"/>
          <p:nvPr/>
        </p:nvSpPr>
        <p:spPr>
          <a:xfrm>
            <a:off x="417462" y="2208344"/>
            <a:ext cx="3011538" cy="1738425"/>
          </a:xfrm>
          <a:prstGeom prst="rect">
            <a:avLst/>
          </a:prstGeom>
          <a:noFill/>
        </p:spPr>
        <p:txBody>
          <a:bodyPr wrap="square" lIns="0" tIns="0" rIns="0" bIns="0" rtlCol="0">
            <a:spAutoFit/>
          </a:bodyPr>
          <a:lstStyle/>
          <a:p>
            <a:pPr algn="l"/>
            <a:r>
              <a:rPr lang="en-US" sz="1412" dirty="0"/>
              <a:t>Agent types describe the role an agent plays, not the technology behind it.</a:t>
            </a:r>
          </a:p>
          <a:p>
            <a:pPr algn="l"/>
            <a:endParaRPr lang="en-US" sz="1412" dirty="0"/>
          </a:p>
          <a:p>
            <a:pPr algn="l"/>
            <a:r>
              <a:rPr lang="en-US" sz="1412" dirty="0"/>
              <a:t>Use them to clarify what the agent is responsible for, how much autonomy it has, and what design, risk and governance considerations apply</a:t>
            </a:r>
          </a:p>
        </p:txBody>
      </p:sp>
      <p:sp>
        <p:nvSpPr>
          <p:cNvPr id="51" name="TextBox 50">
            <a:extLst>
              <a:ext uri="{FF2B5EF4-FFF2-40B4-BE49-F238E27FC236}">
                <a16:creationId xmlns:a16="http://schemas.microsoft.com/office/drawing/2014/main" id="{F39CE9AF-16AA-7CB6-DA5A-36A055F2EA7A}"/>
              </a:ext>
            </a:extLst>
          </p:cNvPr>
          <p:cNvSpPr txBox="1"/>
          <p:nvPr/>
        </p:nvSpPr>
        <p:spPr>
          <a:xfrm>
            <a:off x="417463" y="4251266"/>
            <a:ext cx="3212786" cy="3692742"/>
          </a:xfrm>
          <a:prstGeom prst="rect">
            <a:avLst/>
          </a:prstGeom>
          <a:noFill/>
        </p:spPr>
        <p:txBody>
          <a:bodyPr wrap="square" lIns="0" tIns="0" rIns="0" bIns="0" rtlCol="0">
            <a:spAutoFit/>
          </a:bodyPr>
          <a:lstStyle/>
          <a:p>
            <a:pPr algn="l"/>
            <a:r>
              <a:rPr lang="en-US" sz="1235" dirty="0"/>
              <a:t>A retriever agent finds and delivers the right information at the. Right time, grounded in approved sources, to support a person’s task or decision.</a:t>
            </a:r>
          </a:p>
          <a:p>
            <a:pPr algn="l"/>
            <a:endParaRPr lang="en-US" sz="1412" dirty="0"/>
          </a:p>
          <a:p>
            <a:pPr algn="l"/>
            <a:r>
              <a:rPr lang="en-US" sz="1412" dirty="0">
                <a:solidFill>
                  <a:srgbClr val="0070C0"/>
                </a:solidFill>
                <a:latin typeface="+mj-lt"/>
              </a:rPr>
              <a:t>Common use cases</a:t>
            </a:r>
          </a:p>
          <a:p>
            <a:pPr algn="l"/>
            <a:endParaRPr lang="en-US" sz="1412" dirty="0"/>
          </a:p>
          <a:p>
            <a:pPr marL="252146" indent="-252146">
              <a:buFont typeface="Arial" panose="020B0604020202020204" pitchFamily="34" charset="0"/>
              <a:buChar char="•"/>
            </a:pPr>
            <a:r>
              <a:rPr lang="en-US" sz="1235" dirty="0"/>
              <a:t>Employee self-service</a:t>
            </a:r>
          </a:p>
          <a:p>
            <a:pPr marL="655579" lvl="1" indent="-252146">
              <a:buFont typeface="Arial" panose="020B0604020202020204" pitchFamily="34" charset="0"/>
              <a:buChar char="•"/>
            </a:pPr>
            <a:r>
              <a:rPr lang="en-US" sz="1235" dirty="0"/>
              <a:t>Retrieve HR policies, benefits details</a:t>
            </a:r>
          </a:p>
          <a:p>
            <a:pPr marL="252146" indent="-252146">
              <a:buFont typeface="Arial" panose="020B0604020202020204" pitchFamily="34" charset="0"/>
              <a:buChar char="•"/>
            </a:pPr>
            <a:r>
              <a:rPr lang="en-US" sz="1235" dirty="0"/>
              <a:t>IT &amp; operations support</a:t>
            </a:r>
          </a:p>
          <a:p>
            <a:pPr marL="655579" lvl="1" indent="-252146">
              <a:buFont typeface="Arial" panose="020B0604020202020204" pitchFamily="34" charset="0"/>
              <a:buChar char="•"/>
            </a:pPr>
            <a:r>
              <a:rPr lang="en-US" sz="1235" dirty="0"/>
              <a:t>Surface runbooks, troubleshooting steps</a:t>
            </a:r>
          </a:p>
          <a:p>
            <a:pPr marL="252146" indent="-252146">
              <a:buFont typeface="Arial" panose="020B0604020202020204" pitchFamily="34" charset="0"/>
              <a:buChar char="•"/>
            </a:pPr>
            <a:r>
              <a:rPr lang="en-US" sz="1235" dirty="0"/>
              <a:t>Finance &amp; procurement</a:t>
            </a:r>
          </a:p>
          <a:p>
            <a:pPr marL="655579" lvl="1" indent="-252146">
              <a:buFont typeface="Arial" panose="020B0604020202020204" pitchFamily="34" charset="0"/>
              <a:buChar char="•"/>
            </a:pPr>
            <a:r>
              <a:rPr lang="en-US" sz="1235" dirty="0"/>
              <a:t>Retrieve approval rules, spending thresholds</a:t>
            </a:r>
          </a:p>
          <a:p>
            <a:pPr marL="252146" indent="-252146">
              <a:buFont typeface="Arial" panose="020B0604020202020204" pitchFamily="34" charset="0"/>
              <a:buChar char="•"/>
            </a:pPr>
            <a:r>
              <a:rPr lang="en-US" sz="1235" dirty="0"/>
              <a:t>Legal &amp; compliance</a:t>
            </a:r>
          </a:p>
          <a:p>
            <a:pPr marL="655579" lvl="1" indent="-252146">
              <a:buFont typeface="Arial" panose="020B0604020202020204" pitchFamily="34" charset="0"/>
              <a:buChar char="•"/>
            </a:pPr>
            <a:r>
              <a:rPr lang="en-US" sz="1235" dirty="0"/>
              <a:t>Provide access to standard clauses, regulatory guidance</a:t>
            </a:r>
          </a:p>
          <a:p>
            <a:pPr marL="252146" indent="-252146">
              <a:buFont typeface="Arial" panose="020B0604020202020204" pitchFamily="34" charset="0"/>
              <a:buChar char="•"/>
            </a:pPr>
            <a:r>
              <a:rPr lang="en-US" sz="1235" dirty="0"/>
              <a:t>Sales &amp; account teams</a:t>
            </a:r>
          </a:p>
        </p:txBody>
      </p:sp>
      <p:sp>
        <p:nvSpPr>
          <p:cNvPr id="54" name="TextBox 53">
            <a:extLst>
              <a:ext uri="{FF2B5EF4-FFF2-40B4-BE49-F238E27FC236}">
                <a16:creationId xmlns:a16="http://schemas.microsoft.com/office/drawing/2014/main" id="{FECAC597-1E58-695B-C21A-6B940C4A854B}"/>
              </a:ext>
            </a:extLst>
          </p:cNvPr>
          <p:cNvSpPr txBox="1"/>
          <p:nvPr/>
        </p:nvSpPr>
        <p:spPr>
          <a:xfrm>
            <a:off x="4181507" y="3210368"/>
            <a:ext cx="2354198" cy="5891613"/>
          </a:xfrm>
          <a:prstGeom prst="rect">
            <a:avLst/>
          </a:prstGeom>
          <a:noFill/>
        </p:spPr>
        <p:txBody>
          <a:bodyPr wrap="square" lIns="0" tIns="0" rIns="0" bIns="0" rtlCol="0">
            <a:spAutoFit/>
          </a:bodyPr>
          <a:lstStyle/>
          <a:p>
            <a:pPr algn="l"/>
            <a:r>
              <a:rPr lang="en-US" sz="1235" dirty="0">
                <a:solidFill>
                  <a:schemeClr val="bg1"/>
                </a:solidFill>
                <a:latin typeface="+mj-lt"/>
              </a:rPr>
              <a:t>Why teams start here</a:t>
            </a:r>
          </a:p>
          <a:p>
            <a:pPr algn="l"/>
            <a:endParaRPr lang="en-US" sz="1235" dirty="0">
              <a:solidFill>
                <a:schemeClr val="bg1"/>
              </a:solidFill>
            </a:endParaRPr>
          </a:p>
          <a:p>
            <a:pPr marL="302575" indent="-302575">
              <a:buFont typeface="Arial" panose="020B0604020202020204" pitchFamily="34" charset="0"/>
              <a:buChar char="•"/>
            </a:pPr>
            <a:r>
              <a:rPr lang="en-US" sz="1235" dirty="0">
                <a:solidFill>
                  <a:schemeClr val="bg1"/>
                </a:solidFill>
              </a:rPr>
              <a:t>Low complexity – typically read-only access to curated sources</a:t>
            </a:r>
          </a:p>
          <a:p>
            <a:pPr marL="302575" indent="-302575">
              <a:buFont typeface="Arial" panose="020B0604020202020204" pitchFamily="34" charset="0"/>
              <a:buChar char="•"/>
            </a:pPr>
            <a:r>
              <a:rPr lang="en-US" sz="1235" dirty="0">
                <a:solidFill>
                  <a:schemeClr val="bg1"/>
                </a:solidFill>
              </a:rPr>
              <a:t>Low risk – no autonomous action or system changes</a:t>
            </a:r>
          </a:p>
          <a:p>
            <a:pPr marL="302575" indent="-302575">
              <a:buFont typeface="Arial" panose="020B0604020202020204" pitchFamily="34" charset="0"/>
              <a:buChar char="•"/>
            </a:pPr>
            <a:r>
              <a:rPr lang="en-US" sz="1235" dirty="0">
                <a:solidFill>
                  <a:schemeClr val="bg1"/>
                </a:solidFill>
              </a:rPr>
              <a:t>Fast time to value – often evolves into more advanced agent types later</a:t>
            </a:r>
          </a:p>
          <a:p>
            <a:pPr marL="302575" indent="-302575">
              <a:buFont typeface="Arial" panose="020B0604020202020204" pitchFamily="34" charset="0"/>
              <a:buChar char="•"/>
            </a:pPr>
            <a:endParaRPr lang="en-US" sz="1235" dirty="0">
              <a:solidFill>
                <a:schemeClr val="bg1"/>
              </a:solidFill>
            </a:endParaRPr>
          </a:p>
          <a:p>
            <a:pPr marL="302575" indent="-302575">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Design considerations (at a glance)</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Restrict access to authorized, role-appropriate sources</a:t>
            </a:r>
          </a:p>
          <a:p>
            <a:pPr marL="252146" indent="-252146">
              <a:buFont typeface="Arial" panose="020B0604020202020204" pitchFamily="34" charset="0"/>
              <a:buChar char="•"/>
            </a:pPr>
            <a:r>
              <a:rPr lang="en-US" sz="1235" dirty="0">
                <a:solidFill>
                  <a:schemeClr val="bg1"/>
                </a:solidFill>
              </a:rPr>
              <a:t>Focus on grounding quality and relevance</a:t>
            </a:r>
          </a:p>
          <a:p>
            <a:pPr marL="252146" indent="-252146">
              <a:buFont typeface="Arial" panose="020B0604020202020204" pitchFamily="34" charset="0"/>
              <a:buChar char="•"/>
            </a:pPr>
            <a:r>
              <a:rPr lang="en-US" sz="1235" dirty="0">
                <a:solidFill>
                  <a:schemeClr val="bg1"/>
                </a:solidFill>
              </a:rPr>
              <a:t>Track retrieval accuracy, unanswered questions, and user feedback</a:t>
            </a:r>
          </a:p>
          <a:p>
            <a:pPr marL="252146" indent="-252146">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Typical value benefits</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Reduced time spent searching for information</a:t>
            </a:r>
          </a:p>
          <a:p>
            <a:pPr marL="252146" indent="-252146">
              <a:buFont typeface="Arial" panose="020B0604020202020204" pitchFamily="34" charset="0"/>
              <a:buChar char="•"/>
            </a:pPr>
            <a:r>
              <a:rPr lang="en-US" sz="1235" dirty="0">
                <a:solidFill>
                  <a:schemeClr val="bg1"/>
                </a:solidFill>
              </a:rPr>
              <a:t>Most consistent answers across teams</a:t>
            </a:r>
          </a:p>
          <a:p>
            <a:pPr marL="252146" indent="-252146">
              <a:buFont typeface="Arial" panose="020B0604020202020204" pitchFamily="34" charset="0"/>
              <a:buChar char="•"/>
            </a:pPr>
            <a:r>
              <a:rPr lang="en-US" sz="1235" dirty="0">
                <a:solidFill>
                  <a:schemeClr val="bg1"/>
                </a:solidFill>
              </a:rPr>
              <a:t>Improved confidence in decisions</a:t>
            </a:r>
          </a:p>
        </p:txBody>
      </p:sp>
    </p:spTree>
    <p:extLst>
      <p:ext uri="{BB962C8B-B14F-4D97-AF65-F5344CB8AC3E}">
        <p14:creationId xmlns:p14="http://schemas.microsoft.com/office/powerpoint/2010/main" val="2146584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F4F02-CA68-4CAA-A3D5-6304DB42D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20A77-DD89-347F-6C74-AD5A47D0E371}"/>
              </a:ext>
            </a:extLst>
          </p:cNvPr>
          <p:cNvSpPr>
            <a:spLocks noGrp="1"/>
          </p:cNvSpPr>
          <p:nvPr>
            <p:ph type="title"/>
          </p:nvPr>
        </p:nvSpPr>
        <p:spPr>
          <a:xfrm>
            <a:off x="431438" y="1022276"/>
            <a:ext cx="2834676" cy="526939"/>
          </a:xfrm>
          <a:prstGeom prst="rect">
            <a:avLst/>
          </a:prstGeom>
        </p:spPr>
        <p:txBody>
          <a:bodyPr/>
          <a:lstStyle/>
          <a:p>
            <a:r>
              <a:rPr lang="en-US" dirty="0"/>
              <a:t>Agent types</a:t>
            </a:r>
          </a:p>
        </p:txBody>
      </p:sp>
      <p:sp>
        <p:nvSpPr>
          <p:cNvPr id="49" name="TextBox 48">
            <a:extLst>
              <a:ext uri="{FF2B5EF4-FFF2-40B4-BE49-F238E27FC236}">
                <a16:creationId xmlns:a16="http://schemas.microsoft.com/office/drawing/2014/main" id="{B96A7591-31F9-7747-A718-99A6101FA847}"/>
              </a:ext>
            </a:extLst>
          </p:cNvPr>
          <p:cNvSpPr txBox="1"/>
          <p:nvPr/>
        </p:nvSpPr>
        <p:spPr>
          <a:xfrm>
            <a:off x="417462" y="2208344"/>
            <a:ext cx="3011538" cy="1738425"/>
          </a:xfrm>
          <a:prstGeom prst="rect">
            <a:avLst/>
          </a:prstGeom>
          <a:noFill/>
        </p:spPr>
        <p:txBody>
          <a:bodyPr wrap="square" lIns="0" tIns="0" rIns="0" bIns="0" rtlCol="0">
            <a:spAutoFit/>
          </a:bodyPr>
          <a:lstStyle/>
          <a:p>
            <a:pPr algn="l"/>
            <a:r>
              <a:rPr lang="en-US" sz="1412" dirty="0"/>
              <a:t>Agent types describe the role an agent plays, not the technology behind it.</a:t>
            </a:r>
          </a:p>
          <a:p>
            <a:pPr algn="l"/>
            <a:endParaRPr lang="en-US" sz="1412" dirty="0"/>
          </a:p>
          <a:p>
            <a:pPr algn="l"/>
            <a:r>
              <a:rPr lang="en-US" sz="1412" dirty="0"/>
              <a:t>Use them to clarify what the agent is responsible for, how much autonomy it has, and what design, risk and governance considerations apply</a:t>
            </a:r>
          </a:p>
        </p:txBody>
      </p:sp>
      <p:sp>
        <p:nvSpPr>
          <p:cNvPr id="51" name="TextBox 50">
            <a:extLst>
              <a:ext uri="{FF2B5EF4-FFF2-40B4-BE49-F238E27FC236}">
                <a16:creationId xmlns:a16="http://schemas.microsoft.com/office/drawing/2014/main" id="{2CFE5E17-EEAA-D468-0E3B-DA954BEEB7FE}"/>
              </a:ext>
            </a:extLst>
          </p:cNvPr>
          <p:cNvSpPr txBox="1"/>
          <p:nvPr/>
        </p:nvSpPr>
        <p:spPr>
          <a:xfrm>
            <a:off x="417463" y="4251265"/>
            <a:ext cx="3212786" cy="4262898"/>
          </a:xfrm>
          <a:prstGeom prst="rect">
            <a:avLst/>
          </a:prstGeom>
          <a:noFill/>
        </p:spPr>
        <p:txBody>
          <a:bodyPr wrap="square" lIns="0" tIns="0" rIns="0" bIns="0" rtlCol="0">
            <a:spAutoFit/>
          </a:bodyPr>
          <a:lstStyle/>
          <a:p>
            <a:pPr algn="l"/>
            <a:r>
              <a:rPr lang="en-US" sz="1235" dirty="0"/>
              <a:t>An advisor agent provides insights, guidance, or recommendations to support human decision-making, without taking action on behalf of the user.</a:t>
            </a:r>
          </a:p>
          <a:p>
            <a:pPr algn="l"/>
            <a:endParaRPr lang="en-US" sz="1412" dirty="0"/>
          </a:p>
          <a:p>
            <a:pPr algn="l"/>
            <a:r>
              <a:rPr lang="en-US" sz="1412" dirty="0">
                <a:solidFill>
                  <a:srgbClr val="0070C0"/>
                </a:solidFill>
                <a:latin typeface="+mj-lt"/>
              </a:rPr>
              <a:t>Common use cases</a:t>
            </a:r>
          </a:p>
          <a:p>
            <a:pPr algn="l"/>
            <a:endParaRPr lang="en-US" sz="1412" dirty="0"/>
          </a:p>
          <a:p>
            <a:pPr marL="252146" indent="-252146">
              <a:buFont typeface="Arial" panose="020B0604020202020204" pitchFamily="34" charset="0"/>
              <a:buChar char="•"/>
            </a:pPr>
            <a:r>
              <a:rPr lang="en-US" sz="1235" dirty="0"/>
              <a:t>Risk and compliance support</a:t>
            </a:r>
          </a:p>
          <a:p>
            <a:pPr marL="655579" lvl="1" indent="-252146">
              <a:buFont typeface="Arial" panose="020B0604020202020204" pitchFamily="34" charset="0"/>
              <a:buChar char="•"/>
            </a:pPr>
            <a:r>
              <a:rPr lang="en-US" sz="1235" dirty="0"/>
              <a:t>Flag potential issues, policy deviations, or risk indicators</a:t>
            </a:r>
          </a:p>
          <a:p>
            <a:pPr marL="252146" indent="-252146">
              <a:buFont typeface="Arial" panose="020B0604020202020204" pitchFamily="34" charset="0"/>
              <a:buChar char="•"/>
            </a:pPr>
            <a:r>
              <a:rPr lang="en-US" sz="1235" dirty="0"/>
              <a:t>Operational decision support</a:t>
            </a:r>
          </a:p>
          <a:p>
            <a:pPr marL="655579" lvl="1" indent="-252146">
              <a:buFont typeface="Arial" panose="020B0604020202020204" pitchFamily="34" charset="0"/>
              <a:buChar char="•"/>
            </a:pPr>
            <a:r>
              <a:rPr lang="en-US" sz="1235" dirty="0"/>
              <a:t>Recommend next-best actions based on current context</a:t>
            </a:r>
          </a:p>
          <a:p>
            <a:pPr marL="252146" indent="-252146">
              <a:buFont typeface="Arial" panose="020B0604020202020204" pitchFamily="34" charset="0"/>
              <a:buChar char="•"/>
            </a:pPr>
            <a:r>
              <a:rPr lang="en-US" sz="1235" dirty="0"/>
              <a:t>Planning and forecasting</a:t>
            </a:r>
          </a:p>
          <a:p>
            <a:pPr marL="655579" lvl="1" indent="-252146">
              <a:buFont typeface="Arial" panose="020B0604020202020204" pitchFamily="34" charset="0"/>
              <a:buChar char="•"/>
            </a:pPr>
            <a:r>
              <a:rPr lang="en-US" sz="1235" dirty="0"/>
              <a:t>Provide scenario comparisons and impact analysis</a:t>
            </a:r>
          </a:p>
          <a:p>
            <a:pPr marL="252146" indent="-252146">
              <a:buFont typeface="Arial" panose="020B0604020202020204" pitchFamily="34" charset="0"/>
              <a:buChar char="•"/>
            </a:pPr>
            <a:r>
              <a:rPr lang="en-US" sz="1235" dirty="0"/>
              <a:t>Performance insights </a:t>
            </a:r>
          </a:p>
          <a:p>
            <a:pPr marL="655579" lvl="1" indent="-252146">
              <a:buFont typeface="Arial" panose="020B0604020202020204" pitchFamily="34" charset="0"/>
              <a:buChar char="•"/>
            </a:pPr>
            <a:r>
              <a:rPr lang="en-US" sz="1235" dirty="0"/>
              <a:t>Surface trends, anomalies or optimization opportunities</a:t>
            </a:r>
          </a:p>
          <a:p>
            <a:pPr marL="252146" indent="-252146">
              <a:buFont typeface="Arial" panose="020B0604020202020204" pitchFamily="34" charset="0"/>
              <a:buChar char="•"/>
            </a:pPr>
            <a:r>
              <a:rPr lang="en-US" sz="1235" dirty="0"/>
              <a:t>Customer or employee guidance</a:t>
            </a:r>
          </a:p>
          <a:p>
            <a:pPr marL="655579" lvl="1" indent="-252146">
              <a:buFont typeface="Arial" panose="020B0604020202020204" pitchFamily="34" charset="0"/>
              <a:buChar char="•"/>
            </a:pPr>
            <a:r>
              <a:rPr lang="en-US" sz="1235" dirty="0"/>
              <a:t>Suggest responses, resolutions, or prioritization options</a:t>
            </a:r>
          </a:p>
        </p:txBody>
      </p:sp>
      <p:sp>
        <p:nvSpPr>
          <p:cNvPr id="54" name="TextBox 53">
            <a:extLst>
              <a:ext uri="{FF2B5EF4-FFF2-40B4-BE49-F238E27FC236}">
                <a16:creationId xmlns:a16="http://schemas.microsoft.com/office/drawing/2014/main" id="{52245703-5DD3-3F17-21AB-4446DEC2D1E0}"/>
              </a:ext>
            </a:extLst>
          </p:cNvPr>
          <p:cNvSpPr txBox="1"/>
          <p:nvPr/>
        </p:nvSpPr>
        <p:spPr>
          <a:xfrm>
            <a:off x="4181507" y="3210368"/>
            <a:ext cx="2354198" cy="5891613"/>
          </a:xfrm>
          <a:prstGeom prst="rect">
            <a:avLst/>
          </a:prstGeom>
          <a:noFill/>
        </p:spPr>
        <p:txBody>
          <a:bodyPr wrap="square" lIns="0" tIns="0" rIns="0" bIns="0" rtlCol="0">
            <a:spAutoFit/>
          </a:bodyPr>
          <a:lstStyle/>
          <a:p>
            <a:pPr algn="l"/>
            <a:r>
              <a:rPr lang="en-US" sz="1235" dirty="0">
                <a:solidFill>
                  <a:schemeClr val="bg1"/>
                </a:solidFill>
                <a:latin typeface="+mj-lt"/>
              </a:rPr>
              <a:t>Why teams start here</a:t>
            </a:r>
          </a:p>
          <a:p>
            <a:pPr algn="l"/>
            <a:endParaRPr lang="en-US" sz="1235" dirty="0">
              <a:solidFill>
                <a:schemeClr val="bg1"/>
              </a:solidFill>
            </a:endParaRPr>
          </a:p>
          <a:p>
            <a:pPr marL="302575" indent="-302575">
              <a:buFont typeface="Arial" panose="020B0604020202020204" pitchFamily="34" charset="0"/>
              <a:buChar char="•"/>
            </a:pPr>
            <a:r>
              <a:rPr lang="en-US" sz="1235" dirty="0">
                <a:solidFill>
                  <a:schemeClr val="bg1"/>
                </a:solidFill>
              </a:rPr>
              <a:t>Improve decision quality without removing human judgement</a:t>
            </a:r>
          </a:p>
          <a:p>
            <a:pPr marL="302575" indent="-302575">
              <a:buFont typeface="Arial" panose="020B0604020202020204" pitchFamily="34" charset="0"/>
              <a:buChar char="•"/>
            </a:pPr>
            <a:r>
              <a:rPr lang="en-US" sz="1235" dirty="0">
                <a:solidFill>
                  <a:schemeClr val="bg1"/>
                </a:solidFill>
              </a:rPr>
              <a:t>Makes complex information usable at the moment it’s needed</a:t>
            </a:r>
          </a:p>
          <a:p>
            <a:pPr marL="302575" indent="-302575">
              <a:buFont typeface="Arial" panose="020B0604020202020204" pitchFamily="34" charset="0"/>
              <a:buChar char="•"/>
            </a:pPr>
            <a:r>
              <a:rPr lang="en-US" sz="1235" dirty="0">
                <a:solidFill>
                  <a:schemeClr val="bg1"/>
                </a:solidFill>
              </a:rPr>
              <a:t>Increases consistency in how decisions are informed</a:t>
            </a:r>
          </a:p>
          <a:p>
            <a:pPr marL="302575" indent="-302575">
              <a:buFont typeface="Arial" panose="020B0604020202020204" pitchFamily="34" charset="0"/>
              <a:buChar char="•"/>
            </a:pPr>
            <a:r>
              <a:rPr lang="en-US" sz="1235" dirty="0">
                <a:solidFill>
                  <a:schemeClr val="bg1"/>
                </a:solidFill>
              </a:rPr>
              <a:t>Reduces cognitive load for knowledge-intensive roles</a:t>
            </a:r>
          </a:p>
          <a:p>
            <a:pPr marL="302575" indent="-302575">
              <a:buFont typeface="Arial" panose="020B0604020202020204" pitchFamily="34" charset="0"/>
              <a:buChar char="•"/>
            </a:pPr>
            <a:endParaRPr lang="en-US" sz="1235" dirty="0">
              <a:solidFill>
                <a:schemeClr val="bg1"/>
              </a:solidFill>
            </a:endParaRPr>
          </a:p>
          <a:p>
            <a:pPr marL="302575" indent="-302575">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Design considerations (at a glance)</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Ensure explainability; show rationale</a:t>
            </a:r>
          </a:p>
          <a:p>
            <a:pPr marL="252146" indent="-252146">
              <a:buFont typeface="Arial" panose="020B0604020202020204" pitchFamily="34" charset="0"/>
              <a:buChar char="•"/>
            </a:pPr>
            <a:r>
              <a:rPr lang="en-US" sz="1235" dirty="0">
                <a:solidFill>
                  <a:schemeClr val="bg1"/>
                </a:solidFill>
              </a:rPr>
              <a:t>Address fairness, bias and privacy</a:t>
            </a:r>
          </a:p>
          <a:p>
            <a:pPr marL="252146" indent="-252146">
              <a:buFont typeface="Arial" panose="020B0604020202020204" pitchFamily="34" charset="0"/>
              <a:buChar char="•"/>
            </a:pPr>
            <a:r>
              <a:rPr lang="en-US" sz="1235" dirty="0">
                <a:solidFill>
                  <a:schemeClr val="bg1"/>
                </a:solidFill>
              </a:rPr>
              <a:t>Evaluate based on outcomes</a:t>
            </a:r>
          </a:p>
          <a:p>
            <a:pPr marL="252146" indent="-252146">
              <a:buFont typeface="Arial" panose="020B0604020202020204" pitchFamily="34" charset="0"/>
              <a:buChar char="•"/>
            </a:pPr>
            <a:r>
              <a:rPr lang="en-US" sz="1235" dirty="0">
                <a:solidFill>
                  <a:schemeClr val="bg1"/>
                </a:solidFill>
              </a:rPr>
              <a:t>Capture user feedback</a:t>
            </a:r>
          </a:p>
          <a:p>
            <a:pPr marL="252146" indent="-252146">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Typical value benefits</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Faster, more confident decisions</a:t>
            </a:r>
          </a:p>
          <a:p>
            <a:pPr marL="252146" indent="-252146">
              <a:buFont typeface="Arial" panose="020B0604020202020204" pitchFamily="34" charset="0"/>
              <a:buChar char="•"/>
            </a:pPr>
            <a:r>
              <a:rPr lang="en-US" sz="1235" dirty="0">
                <a:solidFill>
                  <a:schemeClr val="bg1"/>
                </a:solidFill>
              </a:rPr>
              <a:t>Reduced risk and fewer errors</a:t>
            </a:r>
          </a:p>
          <a:p>
            <a:pPr marL="252146" indent="-252146">
              <a:buFont typeface="Arial" panose="020B0604020202020204" pitchFamily="34" charset="0"/>
              <a:buChar char="•"/>
            </a:pPr>
            <a:r>
              <a:rPr lang="en-US" sz="1235" dirty="0">
                <a:solidFill>
                  <a:schemeClr val="bg1"/>
                </a:solidFill>
              </a:rPr>
              <a:t>More consistent outcomes</a:t>
            </a:r>
          </a:p>
          <a:p>
            <a:pPr marL="252146" indent="-252146">
              <a:buFont typeface="Arial" panose="020B0604020202020204" pitchFamily="34" charset="0"/>
              <a:buChar char="•"/>
            </a:pPr>
            <a:r>
              <a:rPr lang="en-US" sz="1235" dirty="0">
                <a:solidFill>
                  <a:schemeClr val="bg1"/>
                </a:solidFill>
              </a:rPr>
              <a:t>Better use of available data </a:t>
            </a:r>
          </a:p>
        </p:txBody>
      </p:sp>
      <p:grpSp>
        <p:nvGrpSpPr>
          <p:cNvPr id="3" name="Group 2">
            <a:extLst>
              <a:ext uri="{FF2B5EF4-FFF2-40B4-BE49-F238E27FC236}">
                <a16:creationId xmlns:a16="http://schemas.microsoft.com/office/drawing/2014/main" id="{819CA405-1C14-930E-0BCE-54402EB254AF}"/>
              </a:ext>
            </a:extLst>
          </p:cNvPr>
          <p:cNvGrpSpPr/>
          <p:nvPr/>
        </p:nvGrpSpPr>
        <p:grpSpPr>
          <a:xfrm>
            <a:off x="4157293" y="802618"/>
            <a:ext cx="2354197" cy="2065220"/>
            <a:chOff x="-461918" y="5826877"/>
            <a:chExt cx="2668090" cy="2340583"/>
          </a:xfrm>
        </p:grpSpPr>
        <p:sp>
          <p:nvSpPr>
            <p:cNvPr id="4" name="Rectangle: Rounded Corners 5">
              <a:extLst>
                <a:ext uri="{FF2B5EF4-FFF2-40B4-BE49-F238E27FC236}">
                  <a16:creationId xmlns:a16="http://schemas.microsoft.com/office/drawing/2014/main" id="{4B1EF782-DFAA-2C0C-E5D7-143122FB81A9}"/>
                </a:ext>
                <a:ext uri="{C183D7F6-B498-43B3-948B-1728B52AA6E4}">
                  <adec:decorative xmlns:adec="http://schemas.microsoft.com/office/drawing/2017/decorative" val="1"/>
                </a:ext>
              </a:extLst>
            </p:cNvPr>
            <p:cNvSpPr/>
            <p:nvPr/>
          </p:nvSpPr>
          <p:spPr bwMode="auto">
            <a:xfrm>
              <a:off x="-461918" y="5826877"/>
              <a:ext cx="2668090" cy="2340583"/>
            </a:xfrm>
            <a:prstGeom prst="roundRect">
              <a:avLst>
                <a:gd name="adj" fmla="val 8183"/>
              </a:avLst>
            </a:prstGeom>
            <a:solidFill>
              <a:srgbClr val="0078D4">
                <a:alpha val="93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5" name="TextBox 4">
              <a:extLst>
                <a:ext uri="{FF2B5EF4-FFF2-40B4-BE49-F238E27FC236}">
                  <a16:creationId xmlns:a16="http://schemas.microsoft.com/office/drawing/2014/main" id="{85BFB868-B135-3E77-0C5B-D6C756EA33B2}"/>
                </a:ext>
              </a:extLst>
            </p:cNvPr>
            <p:cNvSpPr txBox="1"/>
            <p:nvPr/>
          </p:nvSpPr>
          <p:spPr>
            <a:xfrm>
              <a:off x="-216354" y="6095932"/>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Advisor</a:t>
              </a:r>
            </a:p>
          </p:txBody>
        </p:sp>
        <p:sp>
          <p:nvSpPr>
            <p:cNvPr id="6" name="TextBox 5">
              <a:extLst>
                <a:ext uri="{FF2B5EF4-FFF2-40B4-BE49-F238E27FC236}">
                  <a16:creationId xmlns:a16="http://schemas.microsoft.com/office/drawing/2014/main" id="{D72EA5B0-25B6-C130-7F5B-2F557F66FA86}"/>
                </a:ext>
              </a:extLst>
            </p:cNvPr>
            <p:cNvSpPr txBox="1"/>
            <p:nvPr/>
          </p:nvSpPr>
          <p:spPr>
            <a:xfrm>
              <a:off x="-355551" y="6645301"/>
              <a:ext cx="2452921" cy="430785"/>
            </a:xfrm>
            <a:prstGeom prst="rect">
              <a:avLst/>
            </a:prstGeom>
            <a:noFill/>
          </p:spPr>
          <p:txBody>
            <a:bodyPr wrap="square" lIns="0" tIns="0" rIns="0" bIns="0" rtlCol="0">
              <a:spAutoFit/>
            </a:bodyPr>
            <a:lstStyle/>
            <a:p>
              <a:pPr algn="ctr"/>
              <a:r>
                <a:rPr lang="en-US" sz="1235" dirty="0">
                  <a:solidFill>
                    <a:schemeClr val="bg1"/>
                  </a:solidFill>
                </a:rPr>
                <a:t>“Gives insights, guidance, or recommendations.”</a:t>
              </a:r>
            </a:p>
          </p:txBody>
        </p:sp>
        <p:sp>
          <p:nvSpPr>
            <p:cNvPr id="7" name="TextBox 6">
              <a:extLst>
                <a:ext uri="{FF2B5EF4-FFF2-40B4-BE49-F238E27FC236}">
                  <a16:creationId xmlns:a16="http://schemas.microsoft.com/office/drawing/2014/main" id="{EB49157A-1BD9-13C1-ED5C-0ACBA7743390}"/>
                </a:ext>
              </a:extLst>
            </p:cNvPr>
            <p:cNvSpPr txBox="1"/>
            <p:nvPr/>
          </p:nvSpPr>
          <p:spPr>
            <a:xfrm>
              <a:off x="-293126" y="7379970"/>
              <a:ext cx="2328070" cy="646177"/>
            </a:xfrm>
            <a:prstGeom prst="rect">
              <a:avLst/>
            </a:prstGeom>
            <a:noFill/>
          </p:spPr>
          <p:txBody>
            <a:bodyPr wrap="square" lIns="0" tIns="0" rIns="0" bIns="0" rtlCol="0">
              <a:spAutoFit/>
            </a:bodyPr>
            <a:lstStyle/>
            <a:p>
              <a:pPr algn="ctr"/>
              <a:r>
                <a:rPr lang="en-US" sz="1235">
                  <a:solidFill>
                    <a:schemeClr val="bg1"/>
                  </a:solidFill>
                  <a:latin typeface="+mj-lt"/>
                </a:rPr>
                <a:t>Example: an agent suggests next-best actions based on data</a:t>
              </a:r>
            </a:p>
          </p:txBody>
        </p:sp>
      </p:grpSp>
    </p:spTree>
    <p:extLst>
      <p:ext uri="{BB962C8B-B14F-4D97-AF65-F5344CB8AC3E}">
        <p14:creationId xmlns:p14="http://schemas.microsoft.com/office/powerpoint/2010/main" val="180262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442EB-4145-666D-5273-BC56E2974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CC6AE-5A30-C4AB-BD7F-C4D965BE073B}"/>
              </a:ext>
            </a:extLst>
          </p:cNvPr>
          <p:cNvSpPr>
            <a:spLocks noGrp="1"/>
          </p:cNvSpPr>
          <p:nvPr>
            <p:ph type="title"/>
          </p:nvPr>
        </p:nvSpPr>
        <p:spPr>
          <a:xfrm>
            <a:off x="431438" y="1022276"/>
            <a:ext cx="2834676" cy="526939"/>
          </a:xfrm>
          <a:prstGeom prst="rect">
            <a:avLst/>
          </a:prstGeom>
        </p:spPr>
        <p:txBody>
          <a:bodyPr/>
          <a:lstStyle/>
          <a:p>
            <a:r>
              <a:rPr lang="en-US" dirty="0"/>
              <a:t>Agent types</a:t>
            </a:r>
          </a:p>
        </p:txBody>
      </p:sp>
      <p:sp>
        <p:nvSpPr>
          <p:cNvPr id="49" name="TextBox 48">
            <a:extLst>
              <a:ext uri="{FF2B5EF4-FFF2-40B4-BE49-F238E27FC236}">
                <a16:creationId xmlns:a16="http://schemas.microsoft.com/office/drawing/2014/main" id="{65338410-C936-6336-F670-406EEFDA0758}"/>
              </a:ext>
            </a:extLst>
          </p:cNvPr>
          <p:cNvSpPr txBox="1"/>
          <p:nvPr/>
        </p:nvSpPr>
        <p:spPr>
          <a:xfrm>
            <a:off x="417462" y="2208344"/>
            <a:ext cx="3011538" cy="1738425"/>
          </a:xfrm>
          <a:prstGeom prst="rect">
            <a:avLst/>
          </a:prstGeom>
          <a:noFill/>
        </p:spPr>
        <p:txBody>
          <a:bodyPr wrap="square" lIns="0" tIns="0" rIns="0" bIns="0" rtlCol="0">
            <a:spAutoFit/>
          </a:bodyPr>
          <a:lstStyle/>
          <a:p>
            <a:pPr algn="l"/>
            <a:r>
              <a:rPr lang="en-US" sz="1412" dirty="0"/>
              <a:t>Agent types describe the role an agent plays, not the technology behind it.</a:t>
            </a:r>
          </a:p>
          <a:p>
            <a:pPr algn="l"/>
            <a:endParaRPr lang="en-US" sz="1412" dirty="0"/>
          </a:p>
          <a:p>
            <a:pPr algn="l"/>
            <a:r>
              <a:rPr lang="en-US" sz="1412" dirty="0"/>
              <a:t>Use them to clarify what the agent is responsible for, how much autonomy it has, and what design, risk and governance considerations apply</a:t>
            </a:r>
          </a:p>
        </p:txBody>
      </p:sp>
      <p:sp>
        <p:nvSpPr>
          <p:cNvPr id="51" name="TextBox 50">
            <a:extLst>
              <a:ext uri="{FF2B5EF4-FFF2-40B4-BE49-F238E27FC236}">
                <a16:creationId xmlns:a16="http://schemas.microsoft.com/office/drawing/2014/main" id="{D004E670-2E2F-93A4-9ED6-5C157D4B4B50}"/>
              </a:ext>
            </a:extLst>
          </p:cNvPr>
          <p:cNvSpPr txBox="1"/>
          <p:nvPr/>
        </p:nvSpPr>
        <p:spPr>
          <a:xfrm>
            <a:off x="417463" y="4251265"/>
            <a:ext cx="3212786" cy="4643002"/>
          </a:xfrm>
          <a:prstGeom prst="rect">
            <a:avLst/>
          </a:prstGeom>
          <a:noFill/>
        </p:spPr>
        <p:txBody>
          <a:bodyPr wrap="square" lIns="0" tIns="0" rIns="0" bIns="0" rtlCol="0">
            <a:spAutoFit/>
          </a:bodyPr>
          <a:lstStyle/>
          <a:p>
            <a:pPr algn="l"/>
            <a:r>
              <a:rPr lang="en-US" sz="1235" dirty="0"/>
              <a:t>A collaborator agent works with people and systems to move work forward, gathering information, coordinating steps, and escalating when human input or approval is required.</a:t>
            </a:r>
          </a:p>
          <a:p>
            <a:pPr algn="l"/>
            <a:endParaRPr lang="en-US" sz="1412" dirty="0"/>
          </a:p>
          <a:p>
            <a:pPr algn="l"/>
            <a:r>
              <a:rPr lang="en-US" sz="1412" dirty="0">
                <a:solidFill>
                  <a:srgbClr val="0070C0"/>
                </a:solidFill>
                <a:latin typeface="+mj-lt"/>
              </a:rPr>
              <a:t>Common use cases</a:t>
            </a:r>
          </a:p>
          <a:p>
            <a:pPr algn="l"/>
            <a:endParaRPr lang="en-US" sz="1412" dirty="0"/>
          </a:p>
          <a:p>
            <a:pPr marL="252146" indent="-252146">
              <a:buFont typeface="Arial" panose="020B0604020202020204" pitchFamily="34" charset="0"/>
              <a:buChar char="•"/>
            </a:pPr>
            <a:r>
              <a:rPr lang="en-US" sz="1235" dirty="0"/>
              <a:t>Approval workflows</a:t>
            </a:r>
          </a:p>
          <a:p>
            <a:pPr marL="655579" lvl="1" indent="-252146">
              <a:buFont typeface="Arial" panose="020B0604020202020204" pitchFamily="34" charset="0"/>
              <a:buChar char="•"/>
            </a:pPr>
            <a:r>
              <a:rPr lang="en-US" sz="1235" dirty="0"/>
              <a:t>Collecting required information, validate completeness, routing requests</a:t>
            </a:r>
          </a:p>
          <a:p>
            <a:pPr marL="252146" indent="-252146">
              <a:buFont typeface="Arial" panose="020B0604020202020204" pitchFamily="34" charset="0"/>
              <a:buChar char="•"/>
            </a:pPr>
            <a:r>
              <a:rPr lang="en-US" sz="1235" dirty="0"/>
              <a:t>Case or ticket management</a:t>
            </a:r>
          </a:p>
          <a:p>
            <a:pPr marL="655579" lvl="1" indent="-252146">
              <a:buFont typeface="Arial" panose="020B0604020202020204" pitchFamily="34" charset="0"/>
              <a:buChar char="•"/>
            </a:pPr>
            <a:r>
              <a:rPr lang="en-US" sz="1235" dirty="0"/>
              <a:t>Gather context from users, enrich requests and escalate to correct team</a:t>
            </a:r>
          </a:p>
          <a:p>
            <a:pPr marL="252146" indent="-252146">
              <a:buFont typeface="Arial" panose="020B0604020202020204" pitchFamily="34" charset="0"/>
              <a:buChar char="•"/>
            </a:pPr>
            <a:r>
              <a:rPr lang="en-US" sz="1235" dirty="0"/>
              <a:t>Onboarding coordination</a:t>
            </a:r>
          </a:p>
          <a:p>
            <a:pPr marL="655579" lvl="1" indent="-252146">
              <a:buFont typeface="Arial" panose="020B0604020202020204" pitchFamily="34" charset="0"/>
              <a:buChar char="•"/>
            </a:pPr>
            <a:r>
              <a:rPr lang="en-US" sz="1235" dirty="0"/>
              <a:t>Working across departments and managers to ensure required steps are completed</a:t>
            </a:r>
          </a:p>
          <a:p>
            <a:pPr marL="252146" indent="-252146">
              <a:buFont typeface="Arial" panose="020B0604020202020204" pitchFamily="34" charset="0"/>
              <a:buChar char="•"/>
            </a:pPr>
            <a:r>
              <a:rPr lang="en-US" sz="1235" dirty="0"/>
              <a:t>Cross team requests</a:t>
            </a:r>
          </a:p>
          <a:p>
            <a:pPr marL="655579" lvl="1" indent="-252146">
              <a:buFont typeface="Arial" panose="020B0604020202020204" pitchFamily="34" charset="0"/>
              <a:buChar char="•"/>
            </a:pPr>
            <a:r>
              <a:rPr lang="en-US" sz="1235" dirty="0"/>
              <a:t>Acting as a coordination layer between teams and departments with different tools and processes</a:t>
            </a:r>
          </a:p>
        </p:txBody>
      </p:sp>
      <p:sp>
        <p:nvSpPr>
          <p:cNvPr id="54" name="TextBox 53">
            <a:extLst>
              <a:ext uri="{FF2B5EF4-FFF2-40B4-BE49-F238E27FC236}">
                <a16:creationId xmlns:a16="http://schemas.microsoft.com/office/drawing/2014/main" id="{4601B375-3521-7506-0581-ED03A50FEF97}"/>
              </a:ext>
            </a:extLst>
          </p:cNvPr>
          <p:cNvSpPr txBox="1"/>
          <p:nvPr/>
        </p:nvSpPr>
        <p:spPr>
          <a:xfrm>
            <a:off x="4181507" y="3210368"/>
            <a:ext cx="2354198" cy="5891613"/>
          </a:xfrm>
          <a:prstGeom prst="rect">
            <a:avLst/>
          </a:prstGeom>
          <a:noFill/>
        </p:spPr>
        <p:txBody>
          <a:bodyPr wrap="square" lIns="0" tIns="0" rIns="0" bIns="0" rtlCol="0">
            <a:spAutoFit/>
          </a:bodyPr>
          <a:lstStyle/>
          <a:p>
            <a:pPr algn="l"/>
            <a:r>
              <a:rPr lang="en-US" sz="1235" dirty="0">
                <a:solidFill>
                  <a:schemeClr val="bg1"/>
                </a:solidFill>
                <a:latin typeface="+mj-lt"/>
              </a:rPr>
              <a:t>Why teams start here</a:t>
            </a:r>
          </a:p>
          <a:p>
            <a:pPr algn="l"/>
            <a:endParaRPr lang="en-US" sz="1235" dirty="0">
              <a:solidFill>
                <a:schemeClr val="bg1"/>
              </a:solidFill>
            </a:endParaRPr>
          </a:p>
          <a:p>
            <a:pPr marL="302575" indent="-302575">
              <a:buFont typeface="Arial" panose="020B0604020202020204" pitchFamily="34" charset="0"/>
              <a:buChar char="•"/>
            </a:pPr>
            <a:r>
              <a:rPr lang="en-US" sz="1235" dirty="0">
                <a:solidFill>
                  <a:schemeClr val="bg1"/>
                </a:solidFill>
              </a:rPr>
              <a:t>Balances automation and control – progress without losing oversight</a:t>
            </a:r>
          </a:p>
          <a:p>
            <a:pPr marL="302575" indent="-302575">
              <a:buFont typeface="Arial" panose="020B0604020202020204" pitchFamily="34" charset="0"/>
              <a:buChar char="•"/>
            </a:pPr>
            <a:r>
              <a:rPr lang="en-US" sz="1235" dirty="0">
                <a:solidFill>
                  <a:schemeClr val="bg1"/>
                </a:solidFill>
              </a:rPr>
              <a:t>Reduces coordination overhead across teams</a:t>
            </a:r>
          </a:p>
          <a:p>
            <a:pPr marL="302575" indent="-302575">
              <a:buFont typeface="Arial" panose="020B0604020202020204" pitchFamily="34" charset="0"/>
              <a:buChar char="•"/>
            </a:pPr>
            <a:r>
              <a:rPr lang="en-US" sz="1235" dirty="0">
                <a:solidFill>
                  <a:schemeClr val="bg1"/>
                </a:solidFill>
              </a:rPr>
              <a:t>Improves throughput by handling preparation and routing work</a:t>
            </a:r>
          </a:p>
          <a:p>
            <a:pPr marL="302575" indent="-302575">
              <a:buFont typeface="Arial" panose="020B0604020202020204" pitchFamily="34" charset="0"/>
              <a:buChar char="•"/>
            </a:pPr>
            <a:r>
              <a:rPr lang="en-US" sz="1235" dirty="0">
                <a:solidFill>
                  <a:schemeClr val="bg1"/>
                </a:solidFill>
              </a:rPr>
              <a:t>Fits well with human-in-the-loop models</a:t>
            </a:r>
          </a:p>
          <a:p>
            <a:pPr marL="302575" indent="-302575">
              <a:buFont typeface="Arial" panose="020B0604020202020204" pitchFamily="34" charset="0"/>
              <a:buChar char="•"/>
            </a:pPr>
            <a:endParaRPr lang="en-US" sz="1235" dirty="0">
              <a:solidFill>
                <a:schemeClr val="bg1"/>
              </a:solidFill>
            </a:endParaRPr>
          </a:p>
          <a:p>
            <a:pPr marL="302575" indent="-302575">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Design considerations (at a glance)</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Maintain conversation or flow context across interaction</a:t>
            </a:r>
          </a:p>
          <a:p>
            <a:pPr marL="252146" indent="-252146">
              <a:buFont typeface="Arial" panose="020B0604020202020204" pitchFamily="34" charset="0"/>
              <a:buChar char="•"/>
            </a:pPr>
            <a:r>
              <a:rPr lang="en-US" sz="1235" dirty="0">
                <a:solidFill>
                  <a:schemeClr val="bg1"/>
                </a:solidFill>
              </a:rPr>
              <a:t>Provide clear handoff and escalation paths</a:t>
            </a:r>
          </a:p>
          <a:p>
            <a:pPr marL="252146" indent="-252146">
              <a:buFont typeface="Arial" panose="020B0604020202020204" pitchFamily="34" charset="0"/>
              <a:buChar char="•"/>
            </a:pPr>
            <a:r>
              <a:rPr lang="en-US" sz="1235" dirty="0">
                <a:solidFill>
                  <a:schemeClr val="bg1"/>
                </a:solidFill>
              </a:rPr>
              <a:t>Design responses to be clear, professional and inclusive</a:t>
            </a:r>
          </a:p>
          <a:p>
            <a:pPr marL="252146" indent="-252146">
              <a:buFont typeface="Arial" panose="020B0604020202020204" pitchFamily="34" charset="0"/>
              <a:buChar char="•"/>
            </a:pPr>
            <a:r>
              <a:rPr lang="en-US" sz="1235" dirty="0">
                <a:solidFill>
                  <a:schemeClr val="bg1"/>
                </a:solidFill>
              </a:rPr>
              <a:t>Respect role-based access and org boundaries</a:t>
            </a:r>
          </a:p>
          <a:p>
            <a:pPr marL="252146" indent="-252146">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Typical value benefits</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Faster request handling, fewer errors, less manual coordination</a:t>
            </a:r>
          </a:p>
        </p:txBody>
      </p:sp>
      <p:grpSp>
        <p:nvGrpSpPr>
          <p:cNvPr id="3" name="Group 2">
            <a:extLst>
              <a:ext uri="{FF2B5EF4-FFF2-40B4-BE49-F238E27FC236}">
                <a16:creationId xmlns:a16="http://schemas.microsoft.com/office/drawing/2014/main" id="{79085661-B456-CBD3-8DB8-2CA9A67C839D}"/>
              </a:ext>
            </a:extLst>
          </p:cNvPr>
          <p:cNvGrpSpPr/>
          <p:nvPr/>
        </p:nvGrpSpPr>
        <p:grpSpPr>
          <a:xfrm>
            <a:off x="4181508" y="870845"/>
            <a:ext cx="2354197" cy="2065221"/>
            <a:chOff x="2367552" y="3217236"/>
            <a:chExt cx="2668090" cy="2340584"/>
          </a:xfrm>
        </p:grpSpPr>
        <p:sp>
          <p:nvSpPr>
            <p:cNvPr id="4" name="Rectangle: Rounded Corners 7">
              <a:extLst>
                <a:ext uri="{FF2B5EF4-FFF2-40B4-BE49-F238E27FC236}">
                  <a16:creationId xmlns:a16="http://schemas.microsoft.com/office/drawing/2014/main" id="{F863C9DC-C31B-DF8E-8FF4-5227367333A4}"/>
                </a:ext>
                <a:ext uri="{C183D7F6-B498-43B3-948B-1728B52AA6E4}">
                  <adec:decorative xmlns:adec="http://schemas.microsoft.com/office/drawing/2017/decorative" val="1"/>
                </a:ext>
              </a:extLst>
            </p:cNvPr>
            <p:cNvSpPr/>
            <p:nvPr/>
          </p:nvSpPr>
          <p:spPr bwMode="auto">
            <a:xfrm>
              <a:off x="2367552" y="3217236"/>
              <a:ext cx="2668090" cy="2340584"/>
            </a:xfrm>
            <a:prstGeom prst="roundRect">
              <a:avLst>
                <a:gd name="adj" fmla="val 8183"/>
              </a:avLst>
            </a:prstGeom>
            <a:solidFill>
              <a:srgbClr val="A249CE">
                <a:alpha val="7146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5" name="TextBox 4">
              <a:extLst>
                <a:ext uri="{FF2B5EF4-FFF2-40B4-BE49-F238E27FC236}">
                  <a16:creationId xmlns:a16="http://schemas.microsoft.com/office/drawing/2014/main" id="{046E016A-DEC5-C068-C929-00260DC01899}"/>
                </a:ext>
              </a:extLst>
            </p:cNvPr>
            <p:cNvSpPr txBox="1"/>
            <p:nvPr/>
          </p:nvSpPr>
          <p:spPr>
            <a:xfrm>
              <a:off x="2612571" y="3378134"/>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Collaborator</a:t>
              </a:r>
            </a:p>
          </p:txBody>
        </p:sp>
        <p:sp>
          <p:nvSpPr>
            <p:cNvPr id="6" name="TextBox 5">
              <a:extLst>
                <a:ext uri="{FF2B5EF4-FFF2-40B4-BE49-F238E27FC236}">
                  <a16:creationId xmlns:a16="http://schemas.microsoft.com/office/drawing/2014/main" id="{E7208A71-2212-A2DA-D0F8-F153C43BE47B}"/>
                </a:ext>
              </a:extLst>
            </p:cNvPr>
            <p:cNvSpPr txBox="1"/>
            <p:nvPr/>
          </p:nvSpPr>
          <p:spPr>
            <a:xfrm>
              <a:off x="2489755" y="3982439"/>
              <a:ext cx="2423682" cy="430785"/>
            </a:xfrm>
            <a:prstGeom prst="rect">
              <a:avLst/>
            </a:prstGeom>
            <a:noFill/>
          </p:spPr>
          <p:txBody>
            <a:bodyPr wrap="square" lIns="0" tIns="0" rIns="0" bIns="0" rtlCol="0">
              <a:spAutoFit/>
            </a:bodyPr>
            <a:lstStyle/>
            <a:p>
              <a:pPr algn="ctr"/>
              <a:r>
                <a:rPr lang="en-US" sz="1235">
                  <a:solidFill>
                    <a:schemeClr val="bg1"/>
                  </a:solidFill>
                </a:rPr>
                <a:t>“Works with people or systems to get things done.”</a:t>
              </a:r>
            </a:p>
          </p:txBody>
        </p:sp>
        <p:sp>
          <p:nvSpPr>
            <p:cNvPr id="7" name="TextBox 6">
              <a:extLst>
                <a:ext uri="{FF2B5EF4-FFF2-40B4-BE49-F238E27FC236}">
                  <a16:creationId xmlns:a16="http://schemas.microsoft.com/office/drawing/2014/main" id="{ED7FBC13-35EE-9C7C-ECD0-80DE7F72F4E5}"/>
                </a:ext>
              </a:extLst>
            </p:cNvPr>
            <p:cNvSpPr txBox="1"/>
            <p:nvPr/>
          </p:nvSpPr>
          <p:spPr>
            <a:xfrm>
              <a:off x="2528318" y="4738961"/>
              <a:ext cx="2385120" cy="646177"/>
            </a:xfrm>
            <a:prstGeom prst="rect">
              <a:avLst/>
            </a:prstGeom>
            <a:noFill/>
          </p:spPr>
          <p:txBody>
            <a:bodyPr wrap="square" lIns="0" tIns="0" rIns="0" bIns="0" rtlCol="0">
              <a:spAutoFit/>
            </a:bodyPr>
            <a:lstStyle/>
            <a:p>
              <a:pPr algn="ctr"/>
              <a:r>
                <a:rPr lang="en-US" sz="1235" dirty="0">
                  <a:solidFill>
                    <a:schemeClr val="bg1"/>
                  </a:solidFill>
                  <a:latin typeface="+mj-lt"/>
                </a:rPr>
                <a:t>Example: an agent that collects info from a user, then escalates to a manager.</a:t>
              </a:r>
            </a:p>
          </p:txBody>
        </p:sp>
      </p:grpSp>
    </p:spTree>
    <p:extLst>
      <p:ext uri="{BB962C8B-B14F-4D97-AF65-F5344CB8AC3E}">
        <p14:creationId xmlns:p14="http://schemas.microsoft.com/office/powerpoint/2010/main" val="3368464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1772C-B805-119F-44F3-832888EDC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8AEBF-A574-D010-FDDF-9116A892138F}"/>
              </a:ext>
            </a:extLst>
          </p:cNvPr>
          <p:cNvSpPr>
            <a:spLocks noGrp="1"/>
          </p:cNvSpPr>
          <p:nvPr>
            <p:ph type="title"/>
          </p:nvPr>
        </p:nvSpPr>
        <p:spPr>
          <a:xfrm>
            <a:off x="431438" y="1022276"/>
            <a:ext cx="2834676" cy="526939"/>
          </a:xfrm>
          <a:prstGeom prst="rect">
            <a:avLst/>
          </a:prstGeom>
        </p:spPr>
        <p:txBody>
          <a:bodyPr/>
          <a:lstStyle/>
          <a:p>
            <a:r>
              <a:rPr lang="en-US" dirty="0"/>
              <a:t>Agent types</a:t>
            </a:r>
          </a:p>
        </p:txBody>
      </p:sp>
      <p:sp>
        <p:nvSpPr>
          <p:cNvPr id="49" name="TextBox 48">
            <a:extLst>
              <a:ext uri="{FF2B5EF4-FFF2-40B4-BE49-F238E27FC236}">
                <a16:creationId xmlns:a16="http://schemas.microsoft.com/office/drawing/2014/main" id="{B0D26CC4-4543-296F-B1A7-96FE008C8B62}"/>
              </a:ext>
            </a:extLst>
          </p:cNvPr>
          <p:cNvSpPr txBox="1"/>
          <p:nvPr/>
        </p:nvSpPr>
        <p:spPr>
          <a:xfrm>
            <a:off x="417462" y="2208344"/>
            <a:ext cx="3011538" cy="1738425"/>
          </a:xfrm>
          <a:prstGeom prst="rect">
            <a:avLst/>
          </a:prstGeom>
          <a:noFill/>
        </p:spPr>
        <p:txBody>
          <a:bodyPr wrap="square" lIns="0" tIns="0" rIns="0" bIns="0" rtlCol="0">
            <a:spAutoFit/>
          </a:bodyPr>
          <a:lstStyle/>
          <a:p>
            <a:pPr algn="l"/>
            <a:r>
              <a:rPr lang="en-US" sz="1412" dirty="0"/>
              <a:t>Agent types describe the role an agent plays, not the technology behind it.</a:t>
            </a:r>
          </a:p>
          <a:p>
            <a:pPr algn="l"/>
            <a:endParaRPr lang="en-US" sz="1412" dirty="0"/>
          </a:p>
          <a:p>
            <a:pPr algn="l"/>
            <a:r>
              <a:rPr lang="en-US" sz="1412" dirty="0"/>
              <a:t>Use them to clarify what the agent is responsible for, how much autonomy it has, and what design, risk and governance considerations apply</a:t>
            </a:r>
          </a:p>
        </p:txBody>
      </p:sp>
      <p:sp>
        <p:nvSpPr>
          <p:cNvPr id="51" name="TextBox 50">
            <a:extLst>
              <a:ext uri="{FF2B5EF4-FFF2-40B4-BE49-F238E27FC236}">
                <a16:creationId xmlns:a16="http://schemas.microsoft.com/office/drawing/2014/main" id="{0EF7E4A0-92BE-122B-9C20-870B6CE02D12}"/>
              </a:ext>
            </a:extLst>
          </p:cNvPr>
          <p:cNvSpPr txBox="1"/>
          <p:nvPr/>
        </p:nvSpPr>
        <p:spPr>
          <a:xfrm>
            <a:off x="417463" y="4251265"/>
            <a:ext cx="3212786" cy="4452950"/>
          </a:xfrm>
          <a:prstGeom prst="rect">
            <a:avLst/>
          </a:prstGeom>
          <a:noFill/>
        </p:spPr>
        <p:txBody>
          <a:bodyPr wrap="square" lIns="0" tIns="0" rIns="0" bIns="0" rtlCol="0">
            <a:spAutoFit/>
          </a:bodyPr>
          <a:lstStyle/>
          <a:p>
            <a:pPr algn="l"/>
            <a:r>
              <a:rPr lang="en-US" sz="1235" dirty="0"/>
              <a:t>An assistant agent helps a person complete a task or make a decision, providing guidance, suggestions, and support directly in the flow of work.</a:t>
            </a:r>
          </a:p>
          <a:p>
            <a:pPr algn="l"/>
            <a:endParaRPr lang="en-US" sz="1412" dirty="0"/>
          </a:p>
          <a:p>
            <a:pPr algn="l"/>
            <a:r>
              <a:rPr lang="en-US" sz="1412" dirty="0">
                <a:solidFill>
                  <a:srgbClr val="0070C0"/>
                </a:solidFill>
                <a:latin typeface="+mj-lt"/>
              </a:rPr>
              <a:t>Common use cases</a:t>
            </a:r>
          </a:p>
          <a:p>
            <a:pPr algn="l"/>
            <a:endParaRPr lang="en-US" sz="1412" dirty="0"/>
          </a:p>
          <a:p>
            <a:pPr marL="252146" indent="-252146">
              <a:buFont typeface="Arial" panose="020B0604020202020204" pitchFamily="34" charset="0"/>
              <a:buChar char="•"/>
            </a:pPr>
            <a:r>
              <a:rPr lang="en-US" sz="1235" dirty="0"/>
              <a:t>Task completion</a:t>
            </a:r>
          </a:p>
          <a:p>
            <a:pPr marL="655579" lvl="1" indent="-252146">
              <a:buFont typeface="Arial" panose="020B0604020202020204" pitchFamily="34" charset="0"/>
              <a:buChar char="•"/>
            </a:pPr>
            <a:r>
              <a:rPr lang="en-US" sz="1235" dirty="0"/>
              <a:t>Helps users submit requests, fill out forms, or complete standard workflows</a:t>
            </a:r>
          </a:p>
          <a:p>
            <a:pPr marL="252146" indent="-252146">
              <a:buFont typeface="Arial" panose="020B0604020202020204" pitchFamily="34" charset="0"/>
              <a:buChar char="•"/>
            </a:pPr>
            <a:r>
              <a:rPr lang="en-US" sz="1235" dirty="0"/>
              <a:t>Decision support</a:t>
            </a:r>
          </a:p>
          <a:p>
            <a:pPr marL="655579" lvl="1" indent="-252146">
              <a:buFont typeface="Arial" panose="020B0604020202020204" pitchFamily="34" charset="0"/>
              <a:buChar char="•"/>
            </a:pPr>
            <a:r>
              <a:rPr lang="en-US" sz="1235" dirty="0"/>
              <a:t>Provide context, options, and recommendations to help users decide what to do next</a:t>
            </a:r>
          </a:p>
          <a:p>
            <a:pPr marL="252146" indent="-252146">
              <a:buFont typeface="Arial" panose="020B0604020202020204" pitchFamily="34" charset="0"/>
              <a:buChar char="•"/>
            </a:pPr>
            <a:r>
              <a:rPr lang="en-US" sz="1235" dirty="0"/>
              <a:t>Employee support</a:t>
            </a:r>
          </a:p>
          <a:p>
            <a:pPr marL="655579" lvl="1" indent="-252146">
              <a:buFont typeface="Arial" panose="020B0604020202020204" pitchFamily="34" charset="0"/>
              <a:buChar char="•"/>
            </a:pPr>
            <a:r>
              <a:rPr lang="en-US" sz="1235" dirty="0"/>
              <a:t>Assist with onboarding tasks, benefits selection or policy-drive processes</a:t>
            </a:r>
          </a:p>
          <a:p>
            <a:pPr marL="252146" indent="-252146">
              <a:buFont typeface="Arial" panose="020B0604020202020204" pitchFamily="34" charset="0"/>
              <a:buChar char="•"/>
            </a:pPr>
            <a:r>
              <a:rPr lang="en-US" sz="1235" dirty="0"/>
              <a:t>IT or service desk support</a:t>
            </a:r>
          </a:p>
          <a:p>
            <a:pPr marL="655579" lvl="1" indent="-252146">
              <a:buFont typeface="Arial" panose="020B0604020202020204" pitchFamily="34" charset="0"/>
              <a:buChar char="•"/>
            </a:pPr>
            <a:r>
              <a:rPr lang="en-US" sz="1235" dirty="0"/>
              <a:t>Guide users through troubleshooting steps or ticket submission</a:t>
            </a:r>
          </a:p>
        </p:txBody>
      </p:sp>
      <p:sp>
        <p:nvSpPr>
          <p:cNvPr id="54" name="TextBox 53">
            <a:extLst>
              <a:ext uri="{FF2B5EF4-FFF2-40B4-BE49-F238E27FC236}">
                <a16:creationId xmlns:a16="http://schemas.microsoft.com/office/drawing/2014/main" id="{5DE3CB15-E31F-AFEA-00F4-C7114CA77FCE}"/>
              </a:ext>
            </a:extLst>
          </p:cNvPr>
          <p:cNvSpPr txBox="1"/>
          <p:nvPr/>
        </p:nvSpPr>
        <p:spPr>
          <a:xfrm>
            <a:off x="4181507" y="3210368"/>
            <a:ext cx="2354198" cy="5701561"/>
          </a:xfrm>
          <a:prstGeom prst="rect">
            <a:avLst/>
          </a:prstGeom>
          <a:noFill/>
        </p:spPr>
        <p:txBody>
          <a:bodyPr wrap="square" lIns="0" tIns="0" rIns="0" bIns="0" rtlCol="0">
            <a:spAutoFit/>
          </a:bodyPr>
          <a:lstStyle/>
          <a:p>
            <a:pPr algn="l"/>
            <a:r>
              <a:rPr lang="en-US" sz="1235" dirty="0">
                <a:solidFill>
                  <a:schemeClr val="bg1"/>
                </a:solidFill>
                <a:latin typeface="+mj-lt"/>
              </a:rPr>
              <a:t>Why teams start here</a:t>
            </a:r>
          </a:p>
          <a:p>
            <a:pPr algn="l"/>
            <a:endParaRPr lang="en-US" sz="1235" dirty="0">
              <a:solidFill>
                <a:schemeClr val="bg1"/>
              </a:solidFill>
            </a:endParaRPr>
          </a:p>
          <a:p>
            <a:pPr marL="302575" indent="-302575">
              <a:buFont typeface="Arial" panose="020B0604020202020204" pitchFamily="34" charset="0"/>
              <a:buChar char="•"/>
            </a:pPr>
            <a:r>
              <a:rPr lang="en-US" sz="1235" dirty="0">
                <a:solidFill>
                  <a:schemeClr val="bg1"/>
                </a:solidFill>
              </a:rPr>
              <a:t>Improves productivity without removing human control</a:t>
            </a:r>
          </a:p>
          <a:p>
            <a:pPr marL="302575" indent="-302575">
              <a:buFont typeface="Arial" panose="020B0604020202020204" pitchFamily="34" charset="0"/>
              <a:buChar char="•"/>
            </a:pPr>
            <a:r>
              <a:rPr lang="en-US" sz="1235" dirty="0">
                <a:solidFill>
                  <a:schemeClr val="bg1"/>
                </a:solidFill>
              </a:rPr>
              <a:t>Reduces errors and rework through guided execution</a:t>
            </a:r>
          </a:p>
          <a:p>
            <a:pPr marL="302575" indent="-302575">
              <a:buFont typeface="Arial" panose="020B0604020202020204" pitchFamily="34" charset="0"/>
              <a:buChar char="•"/>
            </a:pPr>
            <a:r>
              <a:rPr lang="en-US" sz="1235" dirty="0">
                <a:solidFill>
                  <a:schemeClr val="bg1"/>
                </a:solidFill>
              </a:rPr>
              <a:t>Lowers the learning curve for complex or infrequent tasks</a:t>
            </a:r>
          </a:p>
          <a:p>
            <a:pPr marL="302575" indent="-302575">
              <a:buFont typeface="Arial" panose="020B0604020202020204" pitchFamily="34" charset="0"/>
              <a:buChar char="•"/>
            </a:pPr>
            <a:r>
              <a:rPr lang="en-US" sz="1235" dirty="0">
                <a:solidFill>
                  <a:schemeClr val="bg1"/>
                </a:solidFill>
              </a:rPr>
              <a:t>Fits naturally into existing workflows</a:t>
            </a:r>
          </a:p>
          <a:p>
            <a:pPr marL="302575" indent="-302575">
              <a:buFont typeface="Arial" panose="020B0604020202020204" pitchFamily="34" charset="0"/>
              <a:buChar char="•"/>
            </a:pPr>
            <a:endParaRPr lang="en-US" sz="1235" dirty="0">
              <a:solidFill>
                <a:schemeClr val="bg1"/>
              </a:solidFill>
            </a:endParaRPr>
          </a:p>
          <a:p>
            <a:pPr marL="302575" indent="-302575">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Design considerations (at a glance)</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Keep the human clearly in control of decisions and actions</a:t>
            </a:r>
          </a:p>
          <a:p>
            <a:pPr marL="252146" indent="-252146">
              <a:buFont typeface="Arial" panose="020B0604020202020204" pitchFamily="34" charset="0"/>
              <a:buChar char="•"/>
            </a:pPr>
            <a:r>
              <a:rPr lang="en-US" sz="1235" dirty="0">
                <a:solidFill>
                  <a:schemeClr val="bg1"/>
                </a:solidFill>
              </a:rPr>
              <a:t>Make guidance context-aware and step-based</a:t>
            </a:r>
          </a:p>
          <a:p>
            <a:pPr marL="252146" indent="-252146">
              <a:buFont typeface="Arial" panose="020B0604020202020204" pitchFamily="34" charset="0"/>
              <a:buChar char="•"/>
            </a:pPr>
            <a:r>
              <a:rPr lang="en-US" sz="1235" dirty="0">
                <a:solidFill>
                  <a:schemeClr val="bg1"/>
                </a:solidFill>
              </a:rPr>
              <a:t>Be explicit about what the agent can and cannot do</a:t>
            </a:r>
          </a:p>
          <a:p>
            <a:pPr marL="252146" indent="-252146">
              <a:buFont typeface="Arial" panose="020B0604020202020204" pitchFamily="34" charset="0"/>
              <a:buChar char="•"/>
            </a:pPr>
            <a:r>
              <a:rPr lang="en-US" sz="1235" dirty="0">
                <a:solidFill>
                  <a:schemeClr val="bg1"/>
                </a:solidFill>
              </a:rPr>
              <a:t>Design interactions to be clear</a:t>
            </a:r>
          </a:p>
          <a:p>
            <a:pPr marL="252146" indent="-252146">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Typical value benefits</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Faster task completion, more consistent outcomes, improved satisfaction</a:t>
            </a:r>
          </a:p>
        </p:txBody>
      </p:sp>
      <p:grpSp>
        <p:nvGrpSpPr>
          <p:cNvPr id="8" name="Group 7">
            <a:extLst>
              <a:ext uri="{FF2B5EF4-FFF2-40B4-BE49-F238E27FC236}">
                <a16:creationId xmlns:a16="http://schemas.microsoft.com/office/drawing/2014/main" id="{814A7AF4-4E67-5019-1DB9-06E3A47535A8}"/>
              </a:ext>
            </a:extLst>
          </p:cNvPr>
          <p:cNvGrpSpPr/>
          <p:nvPr/>
        </p:nvGrpSpPr>
        <p:grpSpPr>
          <a:xfrm>
            <a:off x="4181508" y="870845"/>
            <a:ext cx="2354197" cy="2065221"/>
            <a:chOff x="2367552" y="5826876"/>
            <a:chExt cx="2668090" cy="2340584"/>
          </a:xfrm>
        </p:grpSpPr>
        <p:sp>
          <p:nvSpPr>
            <p:cNvPr id="9" name="Rectangle: Rounded Corners 7">
              <a:extLst>
                <a:ext uri="{FF2B5EF4-FFF2-40B4-BE49-F238E27FC236}">
                  <a16:creationId xmlns:a16="http://schemas.microsoft.com/office/drawing/2014/main" id="{FF4D57F6-3294-767E-88D3-2CDC6CD2804F}"/>
                </a:ext>
                <a:ext uri="{C183D7F6-B498-43B3-948B-1728B52AA6E4}">
                  <adec:decorative xmlns:adec="http://schemas.microsoft.com/office/drawing/2017/decorative" val="1"/>
                </a:ext>
              </a:extLst>
            </p:cNvPr>
            <p:cNvSpPr/>
            <p:nvPr/>
          </p:nvSpPr>
          <p:spPr bwMode="auto">
            <a:xfrm>
              <a:off x="2367552" y="5826876"/>
              <a:ext cx="2668090" cy="2340584"/>
            </a:xfrm>
            <a:prstGeom prst="roundRect">
              <a:avLst>
                <a:gd name="adj" fmla="val 8183"/>
              </a:avLst>
            </a:prstGeom>
            <a:solidFill>
              <a:srgbClr val="A249CE">
                <a:alpha val="7146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10" name="TextBox 9">
              <a:extLst>
                <a:ext uri="{FF2B5EF4-FFF2-40B4-BE49-F238E27FC236}">
                  <a16:creationId xmlns:a16="http://schemas.microsoft.com/office/drawing/2014/main" id="{9A363CE1-3AB7-6F24-6B62-D50D28A3523D}"/>
                </a:ext>
              </a:extLst>
            </p:cNvPr>
            <p:cNvSpPr txBox="1"/>
            <p:nvPr/>
          </p:nvSpPr>
          <p:spPr>
            <a:xfrm>
              <a:off x="2612571" y="6095932"/>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Assistant</a:t>
              </a:r>
            </a:p>
          </p:txBody>
        </p:sp>
        <p:sp>
          <p:nvSpPr>
            <p:cNvPr id="11" name="TextBox 10">
              <a:extLst>
                <a:ext uri="{FF2B5EF4-FFF2-40B4-BE49-F238E27FC236}">
                  <a16:creationId xmlns:a16="http://schemas.microsoft.com/office/drawing/2014/main" id="{19EA2CEF-B964-3945-8C5F-8732EA5370A1}"/>
                </a:ext>
              </a:extLst>
            </p:cNvPr>
            <p:cNvSpPr txBox="1"/>
            <p:nvPr/>
          </p:nvSpPr>
          <p:spPr>
            <a:xfrm>
              <a:off x="2489754" y="6672765"/>
              <a:ext cx="2423683" cy="430785"/>
            </a:xfrm>
            <a:prstGeom prst="rect">
              <a:avLst/>
            </a:prstGeom>
            <a:noFill/>
          </p:spPr>
          <p:txBody>
            <a:bodyPr wrap="square" lIns="0" tIns="0" rIns="0" bIns="0" rtlCol="0">
              <a:spAutoFit/>
            </a:bodyPr>
            <a:lstStyle/>
            <a:p>
              <a:pPr algn="ctr"/>
              <a:r>
                <a:rPr lang="en-US" sz="1235">
                  <a:solidFill>
                    <a:schemeClr val="bg1"/>
                  </a:solidFill>
                </a:rPr>
                <a:t>“Helps a person complete a task or make a decision.”</a:t>
              </a:r>
            </a:p>
          </p:txBody>
        </p:sp>
        <p:sp>
          <p:nvSpPr>
            <p:cNvPr id="12" name="TextBox 11">
              <a:extLst>
                <a:ext uri="{FF2B5EF4-FFF2-40B4-BE49-F238E27FC236}">
                  <a16:creationId xmlns:a16="http://schemas.microsoft.com/office/drawing/2014/main" id="{1B2A8C90-C212-5F7B-AEE2-15CA00E979C7}"/>
                </a:ext>
              </a:extLst>
            </p:cNvPr>
            <p:cNvSpPr txBox="1"/>
            <p:nvPr/>
          </p:nvSpPr>
          <p:spPr>
            <a:xfrm>
              <a:off x="2489754" y="7420112"/>
              <a:ext cx="2423683" cy="430785"/>
            </a:xfrm>
            <a:prstGeom prst="rect">
              <a:avLst/>
            </a:prstGeom>
            <a:noFill/>
          </p:spPr>
          <p:txBody>
            <a:bodyPr wrap="square" lIns="0" tIns="0" rIns="0" bIns="0" rtlCol="0">
              <a:spAutoFit/>
            </a:bodyPr>
            <a:lstStyle/>
            <a:p>
              <a:pPr algn="ctr"/>
              <a:r>
                <a:rPr lang="en-US" sz="1235">
                  <a:solidFill>
                    <a:schemeClr val="bg1"/>
                  </a:solidFill>
                  <a:latin typeface="+mj-lt"/>
                </a:rPr>
                <a:t>Example: an agent helps submit a helpdesk ticket.</a:t>
              </a:r>
            </a:p>
          </p:txBody>
        </p:sp>
      </p:grpSp>
    </p:spTree>
    <p:extLst>
      <p:ext uri="{BB962C8B-B14F-4D97-AF65-F5344CB8AC3E}">
        <p14:creationId xmlns:p14="http://schemas.microsoft.com/office/powerpoint/2010/main" val="355269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3966-6764-3781-E0EF-7841250D6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E0629-1E41-0513-375F-AD58E34F0BAD}"/>
              </a:ext>
            </a:extLst>
          </p:cNvPr>
          <p:cNvSpPr>
            <a:spLocks noGrp="1"/>
          </p:cNvSpPr>
          <p:nvPr>
            <p:ph type="title"/>
          </p:nvPr>
        </p:nvSpPr>
        <p:spPr>
          <a:xfrm>
            <a:off x="431438" y="1022276"/>
            <a:ext cx="2834676" cy="526939"/>
          </a:xfrm>
          <a:prstGeom prst="rect">
            <a:avLst/>
          </a:prstGeom>
        </p:spPr>
        <p:txBody>
          <a:bodyPr/>
          <a:lstStyle/>
          <a:p>
            <a:r>
              <a:rPr lang="en-US" dirty="0"/>
              <a:t>Agent types</a:t>
            </a:r>
          </a:p>
        </p:txBody>
      </p:sp>
      <p:sp>
        <p:nvSpPr>
          <p:cNvPr id="49" name="TextBox 48">
            <a:extLst>
              <a:ext uri="{FF2B5EF4-FFF2-40B4-BE49-F238E27FC236}">
                <a16:creationId xmlns:a16="http://schemas.microsoft.com/office/drawing/2014/main" id="{3D9E6C3B-7649-7B9D-1D85-42310E5A6D5B}"/>
              </a:ext>
            </a:extLst>
          </p:cNvPr>
          <p:cNvSpPr txBox="1"/>
          <p:nvPr/>
        </p:nvSpPr>
        <p:spPr>
          <a:xfrm>
            <a:off x="417462" y="2208344"/>
            <a:ext cx="3011538" cy="1738425"/>
          </a:xfrm>
          <a:prstGeom prst="rect">
            <a:avLst/>
          </a:prstGeom>
          <a:noFill/>
        </p:spPr>
        <p:txBody>
          <a:bodyPr wrap="square" lIns="0" tIns="0" rIns="0" bIns="0" rtlCol="0">
            <a:spAutoFit/>
          </a:bodyPr>
          <a:lstStyle/>
          <a:p>
            <a:pPr algn="l"/>
            <a:r>
              <a:rPr lang="en-US" sz="1412" dirty="0"/>
              <a:t>Agent types describe the role an agent plays, not the technology behind it.</a:t>
            </a:r>
          </a:p>
          <a:p>
            <a:pPr algn="l"/>
            <a:endParaRPr lang="en-US" sz="1412" dirty="0"/>
          </a:p>
          <a:p>
            <a:pPr algn="l"/>
            <a:r>
              <a:rPr lang="en-US" sz="1412" dirty="0"/>
              <a:t>Use them to clarify what the agent is responsible for, how much autonomy it has, and what design, risk and governance considerations apply</a:t>
            </a:r>
          </a:p>
        </p:txBody>
      </p:sp>
      <p:sp>
        <p:nvSpPr>
          <p:cNvPr id="51" name="TextBox 50">
            <a:extLst>
              <a:ext uri="{FF2B5EF4-FFF2-40B4-BE49-F238E27FC236}">
                <a16:creationId xmlns:a16="http://schemas.microsoft.com/office/drawing/2014/main" id="{0981E825-4EEA-7806-E05E-9F9FB313EA4F}"/>
              </a:ext>
            </a:extLst>
          </p:cNvPr>
          <p:cNvSpPr txBox="1"/>
          <p:nvPr/>
        </p:nvSpPr>
        <p:spPr>
          <a:xfrm>
            <a:off x="417463" y="4251265"/>
            <a:ext cx="3212786" cy="4262898"/>
          </a:xfrm>
          <a:prstGeom prst="rect">
            <a:avLst/>
          </a:prstGeom>
          <a:noFill/>
        </p:spPr>
        <p:txBody>
          <a:bodyPr wrap="square" lIns="0" tIns="0" rIns="0" bIns="0" rtlCol="0">
            <a:spAutoFit/>
          </a:bodyPr>
          <a:lstStyle/>
          <a:p>
            <a:pPr algn="l"/>
            <a:r>
              <a:rPr lang="en-US" sz="1235" dirty="0"/>
              <a:t>An orchestrator agent coordinates a sequence of steps across systems or teams, ensuring work progresses in the right order, with the right checks and handoffs.</a:t>
            </a:r>
          </a:p>
          <a:p>
            <a:pPr algn="l"/>
            <a:endParaRPr lang="en-US" sz="1412" dirty="0"/>
          </a:p>
          <a:p>
            <a:pPr algn="l"/>
            <a:r>
              <a:rPr lang="en-US" sz="1412" dirty="0">
                <a:solidFill>
                  <a:srgbClr val="0070C0"/>
                </a:solidFill>
                <a:latin typeface="+mj-lt"/>
              </a:rPr>
              <a:t>Common use cases</a:t>
            </a:r>
          </a:p>
          <a:p>
            <a:pPr algn="l"/>
            <a:endParaRPr lang="en-US" sz="1412" dirty="0"/>
          </a:p>
          <a:p>
            <a:pPr marL="252146" indent="-252146">
              <a:buFont typeface="Arial" panose="020B0604020202020204" pitchFamily="34" charset="0"/>
              <a:buChar char="•"/>
            </a:pPr>
            <a:r>
              <a:rPr lang="en-US" sz="1235" dirty="0"/>
              <a:t>Employee onboarding</a:t>
            </a:r>
          </a:p>
          <a:p>
            <a:pPr marL="655579" lvl="1" indent="-252146">
              <a:buFont typeface="Arial" panose="020B0604020202020204" pitchFamily="34" charset="0"/>
              <a:buChar char="•"/>
            </a:pPr>
            <a:r>
              <a:rPr lang="en-US" sz="1235" dirty="0"/>
              <a:t>Coordinates HR, IT, facilities, and manager tasks across systems</a:t>
            </a:r>
          </a:p>
          <a:p>
            <a:pPr marL="252146" indent="-252146">
              <a:buFont typeface="Arial" panose="020B0604020202020204" pitchFamily="34" charset="0"/>
              <a:buChar char="•"/>
            </a:pPr>
            <a:r>
              <a:rPr lang="en-US" sz="1235" dirty="0"/>
              <a:t>Provisioning and access management</a:t>
            </a:r>
          </a:p>
          <a:p>
            <a:pPr marL="655579" lvl="1" indent="-252146">
              <a:buFont typeface="Arial" panose="020B0604020202020204" pitchFamily="34" charset="0"/>
              <a:buChar char="•"/>
            </a:pPr>
            <a:r>
              <a:rPr lang="en-US" sz="1235" dirty="0"/>
              <a:t>Sequence to identity, device and application access steps</a:t>
            </a:r>
          </a:p>
          <a:p>
            <a:pPr marL="252146" indent="-252146">
              <a:buFont typeface="Arial" panose="020B0604020202020204" pitchFamily="34" charset="0"/>
              <a:buChar char="•"/>
            </a:pPr>
            <a:r>
              <a:rPr lang="en-US" sz="1235" dirty="0"/>
              <a:t>Procure-to-pay or quote-to-cash</a:t>
            </a:r>
          </a:p>
          <a:p>
            <a:pPr marL="655579" lvl="1" indent="-252146">
              <a:buFont typeface="Arial" panose="020B0604020202020204" pitchFamily="34" charset="0"/>
              <a:buChar char="•"/>
            </a:pPr>
            <a:r>
              <a:rPr lang="en-US" sz="1235" dirty="0"/>
              <a:t>Orchestrate approvals, validations, and system updates.</a:t>
            </a:r>
          </a:p>
          <a:p>
            <a:pPr marL="252146" indent="-252146">
              <a:buFont typeface="Arial" panose="020B0604020202020204" pitchFamily="34" charset="0"/>
              <a:buChar char="•"/>
            </a:pPr>
            <a:r>
              <a:rPr lang="en-US" sz="1235" dirty="0"/>
              <a:t>Incident or change management</a:t>
            </a:r>
          </a:p>
          <a:p>
            <a:pPr marL="655579" lvl="1" indent="-252146">
              <a:buFont typeface="Arial" panose="020B0604020202020204" pitchFamily="34" charset="0"/>
              <a:buChar char="•"/>
            </a:pPr>
            <a:r>
              <a:rPr lang="en-US" sz="1235" dirty="0"/>
              <a:t>Manage structured response steps across teams and tools</a:t>
            </a:r>
          </a:p>
          <a:p>
            <a:pPr marL="252146" indent="-252146">
              <a:buFont typeface="Arial" panose="020B0604020202020204" pitchFamily="34" charset="0"/>
              <a:buChar char="•"/>
            </a:pPr>
            <a:r>
              <a:rPr lang="en-US" sz="1235" dirty="0"/>
              <a:t>Customer lifecycle workflows</a:t>
            </a:r>
          </a:p>
          <a:p>
            <a:pPr marL="655579" lvl="1" indent="-252146">
              <a:buFont typeface="Arial" panose="020B0604020202020204" pitchFamily="34" charset="0"/>
              <a:buChar char="•"/>
            </a:pPr>
            <a:r>
              <a:rPr lang="en-US" sz="1235" dirty="0"/>
              <a:t>Coordinate onboarding, service activation, or offboarding.</a:t>
            </a:r>
          </a:p>
        </p:txBody>
      </p:sp>
      <p:sp>
        <p:nvSpPr>
          <p:cNvPr id="54" name="TextBox 53">
            <a:extLst>
              <a:ext uri="{FF2B5EF4-FFF2-40B4-BE49-F238E27FC236}">
                <a16:creationId xmlns:a16="http://schemas.microsoft.com/office/drawing/2014/main" id="{6F524F77-FF99-F86D-C1A0-07810C28DB57}"/>
              </a:ext>
            </a:extLst>
          </p:cNvPr>
          <p:cNvSpPr txBox="1"/>
          <p:nvPr/>
        </p:nvSpPr>
        <p:spPr>
          <a:xfrm>
            <a:off x="4181507" y="3210368"/>
            <a:ext cx="2354198" cy="5701561"/>
          </a:xfrm>
          <a:prstGeom prst="rect">
            <a:avLst/>
          </a:prstGeom>
          <a:noFill/>
        </p:spPr>
        <p:txBody>
          <a:bodyPr wrap="square" lIns="0" tIns="0" rIns="0" bIns="0" rtlCol="0">
            <a:spAutoFit/>
          </a:bodyPr>
          <a:lstStyle/>
          <a:p>
            <a:pPr algn="l"/>
            <a:r>
              <a:rPr lang="en-US" sz="1235" dirty="0">
                <a:solidFill>
                  <a:schemeClr val="bg1"/>
                </a:solidFill>
                <a:latin typeface="+mj-lt"/>
              </a:rPr>
              <a:t>Why teams start here</a:t>
            </a:r>
          </a:p>
          <a:p>
            <a:pPr algn="l"/>
            <a:endParaRPr lang="en-US" sz="1235" dirty="0">
              <a:solidFill>
                <a:schemeClr val="bg1"/>
              </a:solidFill>
            </a:endParaRPr>
          </a:p>
          <a:p>
            <a:pPr marL="302575" indent="-302575">
              <a:buFont typeface="Arial" panose="020B0604020202020204" pitchFamily="34" charset="0"/>
              <a:buChar char="•"/>
            </a:pPr>
            <a:r>
              <a:rPr lang="en-US" sz="1235" dirty="0">
                <a:solidFill>
                  <a:schemeClr val="bg1"/>
                </a:solidFill>
              </a:rPr>
              <a:t>Reduces manual coordination across teams and systems</a:t>
            </a:r>
          </a:p>
          <a:p>
            <a:pPr marL="302575" indent="-302575">
              <a:buFont typeface="Arial" panose="020B0604020202020204" pitchFamily="34" charset="0"/>
              <a:buChar char="•"/>
            </a:pPr>
            <a:r>
              <a:rPr lang="en-US" sz="1235" dirty="0">
                <a:solidFill>
                  <a:schemeClr val="bg1"/>
                </a:solidFill>
              </a:rPr>
              <a:t>Improves reliability of complex, multi-step processes</a:t>
            </a:r>
          </a:p>
          <a:p>
            <a:pPr marL="302575" indent="-302575">
              <a:buFont typeface="Arial" panose="020B0604020202020204" pitchFamily="34" charset="0"/>
              <a:buChar char="•"/>
            </a:pPr>
            <a:r>
              <a:rPr lang="en-US" sz="1235" dirty="0">
                <a:solidFill>
                  <a:schemeClr val="bg1"/>
                </a:solidFill>
              </a:rPr>
              <a:t>Makes dependencies explicit and repeatable</a:t>
            </a:r>
          </a:p>
          <a:p>
            <a:pPr marL="302575" indent="-302575">
              <a:buFont typeface="Arial" panose="020B0604020202020204" pitchFamily="34" charset="0"/>
              <a:buChar char="•"/>
            </a:pPr>
            <a:r>
              <a:rPr lang="en-US" sz="1235" dirty="0">
                <a:solidFill>
                  <a:schemeClr val="bg1"/>
                </a:solidFill>
              </a:rPr>
              <a:t>Scales execution without scaling management overhead</a:t>
            </a:r>
          </a:p>
          <a:p>
            <a:pPr marL="302575" indent="-302575">
              <a:buFont typeface="Arial" panose="020B0604020202020204" pitchFamily="34" charset="0"/>
              <a:buChar char="•"/>
            </a:pPr>
            <a:endParaRPr lang="en-US" sz="1235" dirty="0">
              <a:solidFill>
                <a:schemeClr val="bg1"/>
              </a:solidFill>
            </a:endParaRPr>
          </a:p>
          <a:p>
            <a:pPr marL="302575" indent="-302575">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Design considerations (at a glance)</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Use deterministic workflows to constrain behavior</a:t>
            </a:r>
          </a:p>
          <a:p>
            <a:pPr marL="252146" indent="-252146">
              <a:buFont typeface="Arial" panose="020B0604020202020204" pitchFamily="34" charset="0"/>
              <a:buChar char="•"/>
            </a:pPr>
            <a:r>
              <a:rPr lang="en-US" sz="1235" dirty="0">
                <a:solidFill>
                  <a:schemeClr val="bg1"/>
                </a:solidFill>
              </a:rPr>
              <a:t>Embed approval checkpoints for high-risk steps</a:t>
            </a:r>
          </a:p>
          <a:p>
            <a:pPr marL="252146" indent="-252146">
              <a:buFont typeface="Arial" panose="020B0604020202020204" pitchFamily="34" charset="0"/>
              <a:buChar char="•"/>
            </a:pPr>
            <a:r>
              <a:rPr lang="en-US" sz="1235" dirty="0">
                <a:solidFill>
                  <a:schemeClr val="bg1"/>
                </a:solidFill>
              </a:rPr>
              <a:t>Design for robust error-handling and retries</a:t>
            </a:r>
          </a:p>
          <a:p>
            <a:pPr marL="252146" indent="-252146">
              <a:buFont typeface="Arial" panose="020B0604020202020204" pitchFamily="34" charset="0"/>
              <a:buChar char="•"/>
            </a:pPr>
            <a:r>
              <a:rPr lang="en-US" sz="1235" dirty="0">
                <a:solidFill>
                  <a:schemeClr val="bg1"/>
                </a:solidFill>
              </a:rPr>
              <a:t>Ensure end-to-end observability</a:t>
            </a:r>
          </a:p>
          <a:p>
            <a:pPr marL="252146" indent="-252146">
              <a:buFont typeface="Arial" panose="020B0604020202020204" pitchFamily="34" charset="0"/>
              <a:buChar char="•"/>
            </a:pPr>
            <a:endParaRPr lang="en-US" sz="1235" dirty="0">
              <a:solidFill>
                <a:schemeClr val="bg1"/>
              </a:solidFill>
            </a:endParaRPr>
          </a:p>
          <a:p>
            <a:pPr algn="l"/>
            <a:r>
              <a:rPr lang="en-US" sz="1235" dirty="0">
                <a:solidFill>
                  <a:schemeClr val="bg1"/>
                </a:solidFill>
                <a:latin typeface="+mj-lt"/>
              </a:rPr>
              <a:t>Typical value benefits</a:t>
            </a:r>
          </a:p>
          <a:p>
            <a:pPr algn="l"/>
            <a:endParaRPr lang="en-US" sz="1235" dirty="0">
              <a:solidFill>
                <a:schemeClr val="bg1"/>
              </a:solidFill>
            </a:endParaRPr>
          </a:p>
          <a:p>
            <a:pPr marL="252146" indent="-252146">
              <a:buFont typeface="Arial" panose="020B0604020202020204" pitchFamily="34" charset="0"/>
              <a:buChar char="•"/>
            </a:pPr>
            <a:r>
              <a:rPr lang="en-US" sz="1235" dirty="0">
                <a:solidFill>
                  <a:schemeClr val="bg1"/>
                </a:solidFill>
              </a:rPr>
              <a:t>Shorter cycle times, fewer errors and missed steps</a:t>
            </a:r>
          </a:p>
        </p:txBody>
      </p:sp>
      <p:grpSp>
        <p:nvGrpSpPr>
          <p:cNvPr id="3" name="Group 2">
            <a:extLst>
              <a:ext uri="{FF2B5EF4-FFF2-40B4-BE49-F238E27FC236}">
                <a16:creationId xmlns:a16="http://schemas.microsoft.com/office/drawing/2014/main" id="{50C2BF32-79FF-BE5D-C133-0FAF0708A04B}"/>
              </a:ext>
            </a:extLst>
          </p:cNvPr>
          <p:cNvGrpSpPr/>
          <p:nvPr/>
        </p:nvGrpSpPr>
        <p:grpSpPr>
          <a:xfrm>
            <a:off x="4181507" y="802617"/>
            <a:ext cx="2352757" cy="2065221"/>
            <a:chOff x="5196409" y="3217236"/>
            <a:chExt cx="2666458" cy="2340584"/>
          </a:xfrm>
        </p:grpSpPr>
        <p:sp>
          <p:nvSpPr>
            <p:cNvPr id="4" name="Rectangle: Rounded Corners 6">
              <a:extLst>
                <a:ext uri="{FF2B5EF4-FFF2-40B4-BE49-F238E27FC236}">
                  <a16:creationId xmlns:a16="http://schemas.microsoft.com/office/drawing/2014/main" id="{E7DDC058-54AE-3E2B-59C2-C091818BDE3A}"/>
                </a:ext>
                <a:ext uri="{C183D7F6-B498-43B3-948B-1728B52AA6E4}">
                  <adec:decorative xmlns:adec="http://schemas.microsoft.com/office/drawing/2017/decorative" val="1"/>
                </a:ext>
              </a:extLst>
            </p:cNvPr>
            <p:cNvSpPr/>
            <p:nvPr/>
          </p:nvSpPr>
          <p:spPr bwMode="auto">
            <a:xfrm>
              <a:off x="5196409" y="3217236"/>
              <a:ext cx="2666458" cy="2340584"/>
            </a:xfrm>
            <a:prstGeom prst="roundRect">
              <a:avLst>
                <a:gd name="adj" fmla="val 7700"/>
              </a:avLst>
            </a:prstGeom>
            <a:solidFill>
              <a:srgbClr val="D73BB9">
                <a:alpha val="88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7618" rIns="0" bIns="0" numCol="1" spcCol="0" rtlCol="0" fromWordArt="0" anchor="ctr" anchorCtr="0" forceAA="0" compatLnSpc="1">
              <a:prstTxWarp prst="textNoShape">
                <a:avLst/>
              </a:prstTxWarp>
              <a:noAutofit/>
            </a:bodyPr>
            <a:lstStyle/>
            <a:p>
              <a:pPr algn="ctr" defTabSz="716068">
                <a:spcBef>
                  <a:spcPts val="154"/>
                </a:spcBef>
                <a:defRPr/>
              </a:pPr>
              <a:endParaRPr lang="en-US" sz="1914" b="1" err="1">
                <a:gradFill>
                  <a:gsLst>
                    <a:gs pos="41958">
                      <a:srgbClr val="FFFFFF"/>
                    </a:gs>
                    <a:gs pos="63000">
                      <a:srgbClr val="FFFFFF"/>
                    </a:gs>
                  </a:gsLst>
                  <a:lin ang="0" scaled="0"/>
                </a:gradFill>
                <a:latin typeface="Segoe UI Variable Display Semib" pitchFamily="2" charset="0"/>
                <a:cs typeface="Segoe Sans Display Semibold" pitchFamily="2" charset="0"/>
              </a:endParaRPr>
            </a:p>
          </p:txBody>
        </p:sp>
        <p:sp>
          <p:nvSpPr>
            <p:cNvPr id="5" name="TextBox 4">
              <a:extLst>
                <a:ext uri="{FF2B5EF4-FFF2-40B4-BE49-F238E27FC236}">
                  <a16:creationId xmlns:a16="http://schemas.microsoft.com/office/drawing/2014/main" id="{116D98DF-518F-777B-7AE0-E86845871AB0}"/>
                </a:ext>
              </a:extLst>
            </p:cNvPr>
            <p:cNvSpPr txBox="1"/>
            <p:nvPr/>
          </p:nvSpPr>
          <p:spPr>
            <a:xfrm>
              <a:off x="5425997" y="3365434"/>
              <a:ext cx="2178050" cy="307828"/>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a:ln w="3175">
                    <a:noFill/>
                  </a:ln>
                  <a:solidFill>
                    <a:schemeClr val="bg1"/>
                  </a:solidFill>
                  <a:latin typeface="Segoe UI Semibold" panose="020B0702040204020203" pitchFamily="34" charset="0"/>
                  <a:cs typeface="Segoe UI Semibold" panose="020B0702040204020203" pitchFamily="34" charset="0"/>
                </a:rPr>
                <a:t>Orchestrator</a:t>
              </a:r>
            </a:p>
          </p:txBody>
        </p:sp>
        <p:sp>
          <p:nvSpPr>
            <p:cNvPr id="6" name="TextBox 5">
              <a:extLst>
                <a:ext uri="{FF2B5EF4-FFF2-40B4-BE49-F238E27FC236}">
                  <a16:creationId xmlns:a16="http://schemas.microsoft.com/office/drawing/2014/main" id="{768F49FE-356B-A165-CD54-53A5B9BB291C}"/>
                </a:ext>
              </a:extLst>
            </p:cNvPr>
            <p:cNvSpPr txBox="1"/>
            <p:nvPr/>
          </p:nvSpPr>
          <p:spPr>
            <a:xfrm>
              <a:off x="5317698" y="3988794"/>
              <a:ext cx="2441045" cy="430785"/>
            </a:xfrm>
            <a:prstGeom prst="rect">
              <a:avLst/>
            </a:prstGeom>
            <a:noFill/>
          </p:spPr>
          <p:txBody>
            <a:bodyPr wrap="square" lIns="0" tIns="0" rIns="0" bIns="0" rtlCol="0">
              <a:spAutoFit/>
            </a:bodyPr>
            <a:lstStyle/>
            <a:p>
              <a:pPr algn="ctr"/>
              <a:r>
                <a:rPr lang="en-US" sz="1235">
                  <a:solidFill>
                    <a:schemeClr val="bg1"/>
                  </a:solidFill>
                </a:rPr>
                <a:t>“Coordinates a series of steps across systems or teams.”</a:t>
              </a:r>
            </a:p>
          </p:txBody>
        </p:sp>
        <p:sp>
          <p:nvSpPr>
            <p:cNvPr id="7" name="TextBox 6">
              <a:extLst>
                <a:ext uri="{FF2B5EF4-FFF2-40B4-BE49-F238E27FC236}">
                  <a16:creationId xmlns:a16="http://schemas.microsoft.com/office/drawing/2014/main" id="{37310B69-8679-9717-9788-328044AD75B2}"/>
                </a:ext>
              </a:extLst>
            </p:cNvPr>
            <p:cNvSpPr txBox="1"/>
            <p:nvPr/>
          </p:nvSpPr>
          <p:spPr>
            <a:xfrm>
              <a:off x="5325334" y="4733069"/>
              <a:ext cx="2379376" cy="646177"/>
            </a:xfrm>
            <a:prstGeom prst="rect">
              <a:avLst/>
            </a:prstGeom>
            <a:noFill/>
          </p:spPr>
          <p:txBody>
            <a:bodyPr wrap="square" lIns="0" tIns="0" rIns="0" bIns="0" rtlCol="0">
              <a:spAutoFit/>
            </a:bodyPr>
            <a:lstStyle/>
            <a:p>
              <a:pPr algn="ctr"/>
              <a:r>
                <a:rPr lang="en-US" sz="1235">
                  <a:solidFill>
                    <a:schemeClr val="bg1"/>
                  </a:solidFill>
                  <a:latin typeface="+mj-lt"/>
                </a:rPr>
                <a:t>Example: an agent that manages onboarding across departments.</a:t>
              </a:r>
            </a:p>
          </p:txBody>
        </p:sp>
      </p:grpSp>
    </p:spTree>
    <p:extLst>
      <p:ext uri="{BB962C8B-B14F-4D97-AF65-F5344CB8AC3E}">
        <p14:creationId xmlns:p14="http://schemas.microsoft.com/office/powerpoint/2010/main" val="365748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3C51-D075-A005-66F6-D6386612D788}"/>
              </a:ext>
            </a:extLst>
          </p:cNvPr>
          <p:cNvSpPr>
            <a:spLocks noGrp="1"/>
          </p:cNvSpPr>
          <p:nvPr>
            <p:ph type="title"/>
          </p:nvPr>
        </p:nvSpPr>
        <p:spPr>
          <a:xfrm>
            <a:off x="431438" y="1047945"/>
            <a:ext cx="2834676" cy="1384994"/>
          </a:xfrm>
        </p:spPr>
        <p:txBody>
          <a:bodyPr/>
          <a:lstStyle/>
          <a:p>
            <a:r>
              <a:rPr lang="en-US" dirty="0"/>
              <a:t>Agent type – human/ agent split</a:t>
            </a:r>
          </a:p>
        </p:txBody>
      </p:sp>
      <p:sp>
        <p:nvSpPr>
          <p:cNvPr id="11" name="TextBox 10">
            <a:extLst>
              <a:ext uri="{FF2B5EF4-FFF2-40B4-BE49-F238E27FC236}">
                <a16:creationId xmlns:a16="http://schemas.microsoft.com/office/drawing/2014/main" id="{2334B7F3-A3F5-D1B6-3B9C-C88C53FD7DED}"/>
              </a:ext>
            </a:extLst>
          </p:cNvPr>
          <p:cNvSpPr txBox="1"/>
          <p:nvPr/>
        </p:nvSpPr>
        <p:spPr>
          <a:xfrm>
            <a:off x="2411562" y="4641551"/>
            <a:ext cx="1921809" cy="271613"/>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latin typeface="Segoe UI Semibold" panose="020B0702040204020203" pitchFamily="34" charset="0"/>
                <a:cs typeface="Segoe UI Semibold" panose="020B0702040204020203" pitchFamily="34" charset="0"/>
              </a:rPr>
              <a:t>Collaborator</a:t>
            </a:r>
          </a:p>
        </p:txBody>
      </p:sp>
      <p:sp>
        <p:nvSpPr>
          <p:cNvPr id="12" name="TextBox 11">
            <a:extLst>
              <a:ext uri="{FF2B5EF4-FFF2-40B4-BE49-F238E27FC236}">
                <a16:creationId xmlns:a16="http://schemas.microsoft.com/office/drawing/2014/main" id="{D7D15DFD-B9F4-FCF6-D9FD-47BDDA56F71D}"/>
              </a:ext>
            </a:extLst>
          </p:cNvPr>
          <p:cNvSpPr txBox="1"/>
          <p:nvPr/>
        </p:nvSpPr>
        <p:spPr>
          <a:xfrm>
            <a:off x="2411562" y="7040093"/>
            <a:ext cx="1921809" cy="271613"/>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latin typeface="Segoe UI Semibold" panose="020B0702040204020203" pitchFamily="34" charset="0"/>
                <a:cs typeface="Segoe UI Semibold" panose="020B0702040204020203" pitchFamily="34" charset="0"/>
              </a:rPr>
              <a:t>Assistant</a:t>
            </a:r>
          </a:p>
        </p:txBody>
      </p:sp>
      <p:sp>
        <p:nvSpPr>
          <p:cNvPr id="13" name="TextBox 12">
            <a:extLst>
              <a:ext uri="{FF2B5EF4-FFF2-40B4-BE49-F238E27FC236}">
                <a16:creationId xmlns:a16="http://schemas.microsoft.com/office/drawing/2014/main" id="{FD2ED3E9-1A3D-B657-F4C6-9BB50B17944A}"/>
              </a:ext>
            </a:extLst>
          </p:cNvPr>
          <p:cNvSpPr txBox="1"/>
          <p:nvPr/>
        </p:nvSpPr>
        <p:spPr>
          <a:xfrm>
            <a:off x="167681" y="4636683"/>
            <a:ext cx="1921809" cy="271613"/>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latin typeface="Segoe UI Semibold" panose="020B0702040204020203" pitchFamily="34" charset="0"/>
                <a:cs typeface="Segoe UI Semibold" panose="020B0702040204020203" pitchFamily="34" charset="0"/>
              </a:rPr>
              <a:t>Retriever</a:t>
            </a:r>
          </a:p>
        </p:txBody>
      </p:sp>
      <p:sp>
        <p:nvSpPr>
          <p:cNvPr id="14" name="TextBox 13">
            <a:extLst>
              <a:ext uri="{FF2B5EF4-FFF2-40B4-BE49-F238E27FC236}">
                <a16:creationId xmlns:a16="http://schemas.microsoft.com/office/drawing/2014/main" id="{9CB6A23E-C103-AFEC-DFD1-6C482889EE14}"/>
              </a:ext>
            </a:extLst>
          </p:cNvPr>
          <p:cNvSpPr txBox="1"/>
          <p:nvPr/>
        </p:nvSpPr>
        <p:spPr>
          <a:xfrm>
            <a:off x="167681" y="7040094"/>
            <a:ext cx="1921809" cy="271613"/>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latin typeface="Segoe UI Semibold" panose="020B0702040204020203" pitchFamily="34" charset="0"/>
                <a:cs typeface="Segoe UI Semibold" panose="020B0702040204020203" pitchFamily="34" charset="0"/>
              </a:rPr>
              <a:t>Advisor</a:t>
            </a:r>
          </a:p>
        </p:txBody>
      </p:sp>
      <p:sp>
        <p:nvSpPr>
          <p:cNvPr id="15" name="TextBox 14">
            <a:extLst>
              <a:ext uri="{FF2B5EF4-FFF2-40B4-BE49-F238E27FC236}">
                <a16:creationId xmlns:a16="http://schemas.microsoft.com/office/drawing/2014/main" id="{9E1B3512-4506-33AD-F0FA-9EBA1D731A28}"/>
              </a:ext>
            </a:extLst>
          </p:cNvPr>
          <p:cNvSpPr txBox="1"/>
          <p:nvPr/>
        </p:nvSpPr>
        <p:spPr>
          <a:xfrm>
            <a:off x="4816768" y="4636683"/>
            <a:ext cx="1921809" cy="271613"/>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latin typeface="Segoe UI Semibold" panose="020B0702040204020203" pitchFamily="34" charset="0"/>
                <a:cs typeface="Segoe UI Semibold" panose="020B0702040204020203" pitchFamily="34" charset="0"/>
              </a:rPr>
              <a:t>Orchestrator</a:t>
            </a:r>
          </a:p>
        </p:txBody>
      </p:sp>
      <p:sp>
        <p:nvSpPr>
          <p:cNvPr id="16" name="TextBox 15">
            <a:extLst>
              <a:ext uri="{FF2B5EF4-FFF2-40B4-BE49-F238E27FC236}">
                <a16:creationId xmlns:a16="http://schemas.microsoft.com/office/drawing/2014/main" id="{11F9E4F9-DD21-2A90-96FF-9888073D476A}"/>
              </a:ext>
            </a:extLst>
          </p:cNvPr>
          <p:cNvSpPr txBox="1"/>
          <p:nvPr/>
        </p:nvSpPr>
        <p:spPr>
          <a:xfrm>
            <a:off x="4816768" y="7040093"/>
            <a:ext cx="1921809" cy="271613"/>
          </a:xfrm>
          <a:prstGeom prst="rect">
            <a:avLst/>
          </a:prstGeom>
        </p:spPr>
        <p:txBody>
          <a:bodyPr wrap="square" lIns="0" tIns="0" rIns="0" bIns="0">
            <a:spAutoFit/>
          </a:bodyPr>
          <a:lstStyle/>
          <a:p>
            <a:pPr algn="ctr" defTabSz="823052" fontAlgn="base">
              <a:spcBef>
                <a:spcPct val="0"/>
              </a:spcBef>
              <a:spcAft>
                <a:spcPts val="1059"/>
              </a:spcAft>
              <a:defRPr/>
            </a:pPr>
            <a:r>
              <a:rPr lang="en-US" sz="1765" b="1" spc="-44" dirty="0">
                <a:ln w="3175">
                  <a:noFill/>
                </a:ln>
                <a:latin typeface="Segoe UI Semibold" panose="020B0702040204020203" pitchFamily="34" charset="0"/>
                <a:cs typeface="Segoe UI Semibold" panose="020B0702040204020203" pitchFamily="34" charset="0"/>
              </a:rPr>
              <a:t>Performer</a:t>
            </a:r>
          </a:p>
        </p:txBody>
      </p:sp>
      <p:graphicFrame>
        <p:nvGraphicFramePr>
          <p:cNvPr id="18" name="Chart 17">
            <a:extLst>
              <a:ext uri="{FF2B5EF4-FFF2-40B4-BE49-F238E27FC236}">
                <a16:creationId xmlns:a16="http://schemas.microsoft.com/office/drawing/2014/main" id="{E32E90E8-FB6C-19BB-955B-28FB96EFF324}"/>
              </a:ext>
            </a:extLst>
          </p:cNvPr>
          <p:cNvGraphicFramePr/>
          <p:nvPr/>
        </p:nvGraphicFramePr>
        <p:xfrm>
          <a:off x="328045" y="5027566"/>
          <a:ext cx="1600121" cy="15435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Chart 18">
            <a:extLst>
              <a:ext uri="{FF2B5EF4-FFF2-40B4-BE49-F238E27FC236}">
                <a16:creationId xmlns:a16="http://schemas.microsoft.com/office/drawing/2014/main" id="{85D2EF6C-B2E9-5E9E-6590-731560763B32}"/>
              </a:ext>
            </a:extLst>
          </p:cNvPr>
          <p:cNvGraphicFramePr/>
          <p:nvPr/>
        </p:nvGraphicFramePr>
        <p:xfrm>
          <a:off x="2572406" y="5027566"/>
          <a:ext cx="1600121" cy="15435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a:extLst>
              <a:ext uri="{FF2B5EF4-FFF2-40B4-BE49-F238E27FC236}">
                <a16:creationId xmlns:a16="http://schemas.microsoft.com/office/drawing/2014/main" id="{25B4954B-40B8-CF7A-9A56-9EE837CB02E3}"/>
              </a:ext>
            </a:extLst>
          </p:cNvPr>
          <p:cNvGraphicFramePr/>
          <p:nvPr/>
        </p:nvGraphicFramePr>
        <p:xfrm>
          <a:off x="4977612" y="5027565"/>
          <a:ext cx="1600121" cy="15435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20">
            <a:extLst>
              <a:ext uri="{FF2B5EF4-FFF2-40B4-BE49-F238E27FC236}">
                <a16:creationId xmlns:a16="http://schemas.microsoft.com/office/drawing/2014/main" id="{C5094F38-508C-0A8A-9839-B9280B5F1493}"/>
              </a:ext>
            </a:extLst>
          </p:cNvPr>
          <p:cNvGraphicFramePr/>
          <p:nvPr/>
        </p:nvGraphicFramePr>
        <p:xfrm>
          <a:off x="328045" y="7324338"/>
          <a:ext cx="1600121" cy="15435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2" name="Chart 21">
            <a:extLst>
              <a:ext uri="{FF2B5EF4-FFF2-40B4-BE49-F238E27FC236}">
                <a16:creationId xmlns:a16="http://schemas.microsoft.com/office/drawing/2014/main" id="{74398721-CE23-71D1-8488-788E662B7A9D}"/>
              </a:ext>
            </a:extLst>
          </p:cNvPr>
          <p:cNvGraphicFramePr/>
          <p:nvPr/>
        </p:nvGraphicFramePr>
        <p:xfrm>
          <a:off x="2572406" y="7330675"/>
          <a:ext cx="1600121" cy="154357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3" name="Chart 22">
            <a:extLst>
              <a:ext uri="{FF2B5EF4-FFF2-40B4-BE49-F238E27FC236}">
                <a16:creationId xmlns:a16="http://schemas.microsoft.com/office/drawing/2014/main" id="{FB4051F7-2AE4-690B-2520-003AAF45005E}"/>
              </a:ext>
            </a:extLst>
          </p:cNvPr>
          <p:cNvGraphicFramePr/>
          <p:nvPr/>
        </p:nvGraphicFramePr>
        <p:xfrm>
          <a:off x="4977612" y="7330675"/>
          <a:ext cx="1600121" cy="1543575"/>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3">
            <a:extLst>
              <a:ext uri="{FF2B5EF4-FFF2-40B4-BE49-F238E27FC236}">
                <a16:creationId xmlns:a16="http://schemas.microsoft.com/office/drawing/2014/main" id="{0115FBFB-BEFA-AAED-ADF6-9E7E20CE77B9}"/>
              </a:ext>
            </a:extLst>
          </p:cNvPr>
          <p:cNvSpPr txBox="1"/>
          <p:nvPr/>
        </p:nvSpPr>
        <p:spPr>
          <a:xfrm>
            <a:off x="431439" y="2763194"/>
            <a:ext cx="5824257" cy="1148712"/>
          </a:xfrm>
          <a:prstGeom prst="rect">
            <a:avLst/>
          </a:prstGeom>
          <a:noFill/>
        </p:spPr>
        <p:txBody>
          <a:bodyPr wrap="square" lIns="0" tIns="0" rIns="0" bIns="0" rtlCol="0">
            <a:spAutoFit/>
          </a:bodyPr>
          <a:lstStyle/>
          <a:p>
            <a:pPr algn="l"/>
            <a:r>
              <a:rPr lang="en-US" sz="1493" dirty="0">
                <a:latin typeface="+mj-lt"/>
              </a:rPr>
              <a:t>Agent types differ in how work is shared between people and AI</a:t>
            </a:r>
            <a:r>
              <a:rPr lang="en-US" sz="1493" dirty="0"/>
              <a:t>. </a:t>
            </a:r>
          </a:p>
          <a:p>
            <a:pPr algn="l"/>
            <a:endParaRPr lang="en-US" sz="1493" dirty="0"/>
          </a:p>
          <a:p>
            <a:pPr algn="l"/>
            <a:r>
              <a:rPr lang="en-US" sz="1493" dirty="0"/>
              <a:t>These examples show that agents are designed to </a:t>
            </a:r>
            <a:r>
              <a:rPr lang="en-US" sz="1493" i="1" dirty="0"/>
              <a:t>support, coordinate, and assist</a:t>
            </a:r>
            <a:r>
              <a:rPr lang="en-US" sz="1493" dirty="0"/>
              <a:t> – not replace human judgement or accountability</a:t>
            </a:r>
          </a:p>
        </p:txBody>
      </p:sp>
    </p:spTree>
    <p:extLst>
      <p:ext uri="{BB962C8B-B14F-4D97-AF65-F5344CB8AC3E}">
        <p14:creationId xmlns:p14="http://schemas.microsoft.com/office/powerpoint/2010/main" val="1743412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64" presetClass="path" presetSubtype="0" accel="50000" decel="50000" fill="hold" grpId="1" nodeType="withEffect">
                                  <p:stCondLst>
                                    <p:cond delay="0"/>
                                  </p:stCondLst>
                                  <p:childTnLst>
                                    <p:animMotion origin="layout" path="M 0 0.01528 L 0 3.7037E-7 " pathEditMode="relative" rAng="0" ptsTypes="AA">
                                      <p:cBhvr>
                                        <p:cTn id="9" dur="500" fill="hold"/>
                                        <p:tgtEl>
                                          <p:spTgt spid="11"/>
                                        </p:tgtEl>
                                        <p:attrNameLst>
                                          <p:attrName>ppt_x</p:attrName>
                                          <p:attrName>ppt_y</p:attrName>
                                        </p:attrNameLst>
                                      </p:cBhvr>
                                      <p:rCtr x="0" y="-764"/>
                                    </p:animMotion>
                                  </p:childTnLst>
                                </p:cTn>
                              </p:par>
                              <p:par>
                                <p:cTn id="10"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64" presetClass="path" presetSubtype="0" accel="50000" decel="50000" fill="hold" grpId="1" nodeType="withEffect">
                                  <p:stCondLst>
                                    <p:cond delay="0"/>
                                  </p:stCondLst>
                                  <p:childTnLst>
                                    <p:animMotion origin="layout" path="M 0 0.01528 L 0 3.7037E-7 " pathEditMode="relative" rAng="0" ptsTypes="AA">
                                      <p:cBhvr>
                                        <p:cTn id="14" dur="500" fill="hold"/>
                                        <p:tgtEl>
                                          <p:spTgt spid="12"/>
                                        </p:tgtEl>
                                        <p:attrNameLst>
                                          <p:attrName>ppt_x</p:attrName>
                                          <p:attrName>ppt_y</p:attrName>
                                        </p:attrNameLst>
                                      </p:cBhvr>
                                      <p:rCtr x="0" y="-764"/>
                                    </p:animMotion>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64" presetClass="path" presetSubtype="0" accel="50000" decel="50000" fill="hold" grpId="1" nodeType="withEffect">
                                  <p:stCondLst>
                                    <p:cond delay="0"/>
                                  </p:stCondLst>
                                  <p:childTnLst>
                                    <p:animMotion origin="layout" path="M 0 0.01528 L 0 3.7037E-7 " pathEditMode="relative" rAng="0" ptsTypes="AA">
                                      <p:cBhvr>
                                        <p:cTn id="19" dur="500" fill="hold"/>
                                        <p:tgtEl>
                                          <p:spTgt spid="13"/>
                                        </p:tgtEl>
                                        <p:attrNameLst>
                                          <p:attrName>ppt_x</p:attrName>
                                          <p:attrName>ppt_y</p:attrName>
                                        </p:attrNameLst>
                                      </p:cBhvr>
                                      <p:rCtr x="0" y="-764"/>
                                    </p:animMotion>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64" presetClass="path" presetSubtype="0" accel="50000" decel="50000" fill="hold" grpId="1" nodeType="withEffect">
                                  <p:stCondLst>
                                    <p:cond delay="0"/>
                                  </p:stCondLst>
                                  <p:childTnLst>
                                    <p:animMotion origin="layout" path="M 0 0.01528 L 0 3.7037E-7 " pathEditMode="relative" rAng="0" ptsTypes="AA">
                                      <p:cBhvr>
                                        <p:cTn id="24" dur="500" fill="hold"/>
                                        <p:tgtEl>
                                          <p:spTgt spid="14"/>
                                        </p:tgtEl>
                                        <p:attrNameLst>
                                          <p:attrName>ppt_x</p:attrName>
                                          <p:attrName>ppt_y</p:attrName>
                                        </p:attrNameLst>
                                      </p:cBhvr>
                                      <p:rCtr x="0" y="-764"/>
                                    </p:animMotion>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64" presetClass="path" presetSubtype="0" accel="50000" decel="50000" fill="hold" grpId="1" nodeType="withEffect">
                                  <p:stCondLst>
                                    <p:cond delay="0"/>
                                  </p:stCondLst>
                                  <p:childTnLst>
                                    <p:animMotion origin="layout" path="M 0 0.01528 L 0 3.7037E-7 " pathEditMode="relative" rAng="0" ptsTypes="AA">
                                      <p:cBhvr>
                                        <p:cTn id="29" dur="500" fill="hold"/>
                                        <p:tgtEl>
                                          <p:spTgt spid="15"/>
                                        </p:tgtEl>
                                        <p:attrNameLst>
                                          <p:attrName>ppt_x</p:attrName>
                                          <p:attrName>ppt_y</p:attrName>
                                        </p:attrNameLst>
                                      </p:cBhvr>
                                      <p:rCtr x="0" y="-764"/>
                                    </p:animMotion>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64" presetClass="path" presetSubtype="0" accel="50000" decel="50000" fill="hold" grpId="1" nodeType="withEffect">
                                  <p:stCondLst>
                                    <p:cond delay="0"/>
                                  </p:stCondLst>
                                  <p:childTnLst>
                                    <p:animMotion origin="layout" path="M 0 0.01528 L 0 3.7037E-7 " pathEditMode="relative" rAng="0" ptsTypes="AA">
                                      <p:cBhvr>
                                        <p:cTn id="34" dur="500" fill="hold"/>
                                        <p:tgtEl>
                                          <p:spTgt spid="16"/>
                                        </p:tgtEl>
                                        <p:attrNameLst>
                                          <p:attrName>ppt_x</p:attrName>
                                          <p:attrName>ppt_y</p:attrName>
                                        </p:attrNameLst>
                                      </p:cBhvr>
                                      <p:rCtr x="0" y="-76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2" grpId="1"/>
      <p:bldP spid="13" grpId="0"/>
      <p:bldP spid="13" grpId="1"/>
      <p:bldP spid="14" grpId="0"/>
      <p:bldP spid="14" grpId="1"/>
      <p:bldP spid="15" grpId="0"/>
      <p:bldP spid="15" grpId="1"/>
      <p:bldP spid="16" grpId="0"/>
      <p:bldP spid="16"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2A93D-6F63-8AE5-C696-ED7920133F63}"/>
              </a:ext>
            </a:extLst>
          </p:cNvPr>
          <p:cNvSpPr>
            <a:spLocks noGrp="1"/>
          </p:cNvSpPr>
          <p:nvPr>
            <p:ph type="title"/>
          </p:nvPr>
        </p:nvSpPr>
        <p:spPr>
          <a:xfrm>
            <a:off x="338575" y="1103674"/>
            <a:ext cx="4119125" cy="1466677"/>
          </a:xfrm>
        </p:spPr>
        <p:txBody>
          <a:bodyPr/>
          <a:lstStyle/>
          <a:p>
            <a:r>
              <a:rPr lang="en-US" sz="2824" dirty="0">
                <a:solidFill>
                  <a:srgbClr val="FF9349"/>
                </a:solidFill>
              </a:rPr>
              <a:t>General foundations for all agent types</a:t>
            </a:r>
          </a:p>
        </p:txBody>
      </p:sp>
      <p:sp>
        <p:nvSpPr>
          <p:cNvPr id="3" name="TextBox 2">
            <a:extLst>
              <a:ext uri="{FF2B5EF4-FFF2-40B4-BE49-F238E27FC236}">
                <a16:creationId xmlns:a16="http://schemas.microsoft.com/office/drawing/2014/main" id="{AB43952F-E6E5-258D-8B90-617B6C18A00D}"/>
              </a:ext>
            </a:extLst>
          </p:cNvPr>
          <p:cNvSpPr txBox="1"/>
          <p:nvPr/>
        </p:nvSpPr>
        <p:spPr>
          <a:xfrm>
            <a:off x="338575" y="2482104"/>
            <a:ext cx="6180851" cy="918970"/>
          </a:xfrm>
          <a:prstGeom prst="rect">
            <a:avLst/>
          </a:prstGeom>
          <a:noFill/>
        </p:spPr>
        <p:txBody>
          <a:bodyPr wrap="square" lIns="0" tIns="0" rIns="0" bIns="0" rtlCol="0">
            <a:spAutoFit/>
          </a:bodyPr>
          <a:lstStyle/>
          <a:p>
            <a:pPr algn="l"/>
            <a:r>
              <a:rPr lang="en-US" sz="1493" dirty="0">
                <a:solidFill>
                  <a:schemeClr val="bg1"/>
                </a:solidFill>
              </a:rPr>
              <a:t>Regardless of agent type, certain foundations apply to every AI agent. </a:t>
            </a:r>
          </a:p>
          <a:p>
            <a:pPr algn="l"/>
            <a:endParaRPr lang="en-US" sz="1493" dirty="0">
              <a:solidFill>
                <a:schemeClr val="bg1"/>
              </a:solidFill>
            </a:endParaRPr>
          </a:p>
          <a:p>
            <a:pPr algn="l"/>
            <a:r>
              <a:rPr lang="en-US" sz="1493" dirty="0">
                <a:solidFill>
                  <a:schemeClr val="bg1"/>
                </a:solidFill>
              </a:rPr>
              <a:t>These principles ensure agents are intentional, governable, and safe to operate at scale. </a:t>
            </a:r>
          </a:p>
        </p:txBody>
      </p:sp>
      <p:sp>
        <p:nvSpPr>
          <p:cNvPr id="4" name="Text Placeholder 2">
            <a:extLst>
              <a:ext uri="{FF2B5EF4-FFF2-40B4-BE49-F238E27FC236}">
                <a16:creationId xmlns:a16="http://schemas.microsoft.com/office/drawing/2014/main" id="{4C984103-8514-617D-3B29-467A8487B7FB}"/>
              </a:ext>
            </a:extLst>
          </p:cNvPr>
          <p:cNvSpPr txBox="1">
            <a:spLocks/>
          </p:cNvSpPr>
          <p:nvPr/>
        </p:nvSpPr>
        <p:spPr>
          <a:xfrm>
            <a:off x="4796284" y="6236833"/>
            <a:ext cx="1773573" cy="27156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12" dirty="0">
                <a:solidFill>
                  <a:srgbClr val="FF9349"/>
                </a:solidFill>
                <a:latin typeface="+mj-lt"/>
              </a:rPr>
              <a:t>Define a charter</a:t>
            </a:r>
          </a:p>
        </p:txBody>
      </p:sp>
      <p:sp>
        <p:nvSpPr>
          <p:cNvPr id="5" name="Text Placeholder 3">
            <a:extLst>
              <a:ext uri="{FF2B5EF4-FFF2-40B4-BE49-F238E27FC236}">
                <a16:creationId xmlns:a16="http://schemas.microsoft.com/office/drawing/2014/main" id="{D087DDAE-0AE5-1C2A-4263-73087FDF956C}"/>
              </a:ext>
            </a:extLst>
          </p:cNvPr>
          <p:cNvSpPr txBox="1">
            <a:spLocks/>
          </p:cNvSpPr>
          <p:nvPr/>
        </p:nvSpPr>
        <p:spPr>
          <a:xfrm>
            <a:off x="288146" y="6236832"/>
            <a:ext cx="1773573" cy="81470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12" dirty="0">
                <a:solidFill>
                  <a:srgbClr val="FF9349"/>
                </a:solidFill>
                <a:latin typeface="+mj-lt"/>
              </a:rPr>
              <a:t>Choose orchestration pattern</a:t>
            </a:r>
          </a:p>
        </p:txBody>
      </p:sp>
      <p:sp>
        <p:nvSpPr>
          <p:cNvPr id="6" name="Text Placeholder 4">
            <a:extLst>
              <a:ext uri="{FF2B5EF4-FFF2-40B4-BE49-F238E27FC236}">
                <a16:creationId xmlns:a16="http://schemas.microsoft.com/office/drawing/2014/main" id="{5486A426-3DD7-7AD3-319D-8AE9FF88968D}"/>
              </a:ext>
            </a:extLst>
          </p:cNvPr>
          <p:cNvSpPr txBox="1">
            <a:spLocks/>
          </p:cNvSpPr>
          <p:nvPr/>
        </p:nvSpPr>
        <p:spPr>
          <a:xfrm>
            <a:off x="288145" y="3714253"/>
            <a:ext cx="1773573" cy="81470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12" dirty="0">
                <a:solidFill>
                  <a:srgbClr val="FF9349"/>
                </a:solidFill>
                <a:latin typeface="+mj-lt"/>
              </a:rPr>
              <a:t>Standardize instructions and outputs</a:t>
            </a:r>
          </a:p>
        </p:txBody>
      </p:sp>
      <p:sp>
        <p:nvSpPr>
          <p:cNvPr id="7" name="Text Placeholder 5">
            <a:extLst>
              <a:ext uri="{FF2B5EF4-FFF2-40B4-BE49-F238E27FC236}">
                <a16:creationId xmlns:a16="http://schemas.microsoft.com/office/drawing/2014/main" id="{364013EC-56B6-093D-8EBA-A45CD010BA09}"/>
              </a:ext>
            </a:extLst>
          </p:cNvPr>
          <p:cNvSpPr txBox="1">
            <a:spLocks/>
          </p:cNvSpPr>
          <p:nvPr/>
        </p:nvSpPr>
        <p:spPr>
          <a:xfrm>
            <a:off x="2684128" y="3714253"/>
            <a:ext cx="1773573" cy="81470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12" dirty="0">
                <a:solidFill>
                  <a:srgbClr val="FF9349"/>
                </a:solidFill>
                <a:latin typeface="+mj-lt"/>
              </a:rPr>
              <a:t>Segment knowledge and tools</a:t>
            </a:r>
          </a:p>
        </p:txBody>
      </p:sp>
      <p:sp>
        <p:nvSpPr>
          <p:cNvPr id="8" name="Text Placeholder 6">
            <a:extLst>
              <a:ext uri="{FF2B5EF4-FFF2-40B4-BE49-F238E27FC236}">
                <a16:creationId xmlns:a16="http://schemas.microsoft.com/office/drawing/2014/main" id="{69016771-6B03-A806-FE64-3598552AFB49}"/>
              </a:ext>
            </a:extLst>
          </p:cNvPr>
          <p:cNvSpPr txBox="1">
            <a:spLocks/>
          </p:cNvSpPr>
          <p:nvPr/>
        </p:nvSpPr>
        <p:spPr>
          <a:xfrm>
            <a:off x="4796283" y="3714253"/>
            <a:ext cx="1773573" cy="81470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12" dirty="0">
                <a:solidFill>
                  <a:srgbClr val="FF9349"/>
                </a:solidFill>
                <a:latin typeface="+mj-lt"/>
              </a:rPr>
              <a:t>Instrument and evaluate continuously</a:t>
            </a:r>
          </a:p>
        </p:txBody>
      </p:sp>
      <p:sp>
        <p:nvSpPr>
          <p:cNvPr id="9" name="Text Placeholder 7">
            <a:extLst>
              <a:ext uri="{FF2B5EF4-FFF2-40B4-BE49-F238E27FC236}">
                <a16:creationId xmlns:a16="http://schemas.microsoft.com/office/drawing/2014/main" id="{27A2FCE3-35F3-512B-60F8-23DA314E415F}"/>
              </a:ext>
            </a:extLst>
          </p:cNvPr>
          <p:cNvSpPr txBox="1">
            <a:spLocks/>
          </p:cNvSpPr>
          <p:nvPr/>
        </p:nvSpPr>
        <p:spPr>
          <a:xfrm>
            <a:off x="4796283" y="6644184"/>
            <a:ext cx="1773573" cy="150443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35" dirty="0">
                <a:solidFill>
                  <a:schemeClr val="bg1"/>
                </a:solidFill>
              </a:rPr>
              <a:t>Create a governance artefact that spells out what the agent will, and won’t do, how it maps to business objectives and which actions are prohibited</a:t>
            </a:r>
          </a:p>
        </p:txBody>
      </p:sp>
      <p:sp>
        <p:nvSpPr>
          <p:cNvPr id="10" name="Text Placeholder 8">
            <a:extLst>
              <a:ext uri="{FF2B5EF4-FFF2-40B4-BE49-F238E27FC236}">
                <a16:creationId xmlns:a16="http://schemas.microsoft.com/office/drawing/2014/main" id="{FE73E774-7103-E4D7-490A-C78D7A785EEB}"/>
              </a:ext>
            </a:extLst>
          </p:cNvPr>
          <p:cNvSpPr txBox="1">
            <a:spLocks/>
          </p:cNvSpPr>
          <p:nvPr/>
        </p:nvSpPr>
        <p:spPr>
          <a:xfrm>
            <a:off x="288146" y="7276412"/>
            <a:ext cx="1773573" cy="179906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35" dirty="0">
                <a:solidFill>
                  <a:schemeClr val="bg1"/>
                </a:solidFill>
              </a:rPr>
              <a:t>Decide if the agent will run as a deterministic chain (fixed sequence of events), a single agent with dynamic tool-calling or a multi-agent system.</a:t>
            </a:r>
          </a:p>
        </p:txBody>
      </p:sp>
      <p:sp>
        <p:nvSpPr>
          <p:cNvPr id="11" name="Text Placeholder 9">
            <a:extLst>
              <a:ext uri="{FF2B5EF4-FFF2-40B4-BE49-F238E27FC236}">
                <a16:creationId xmlns:a16="http://schemas.microsoft.com/office/drawing/2014/main" id="{4A207FC7-57E9-1793-4E44-7C6F08387F28}"/>
              </a:ext>
            </a:extLst>
          </p:cNvPr>
          <p:cNvSpPr txBox="1">
            <a:spLocks/>
          </p:cNvSpPr>
          <p:nvPr/>
        </p:nvSpPr>
        <p:spPr>
          <a:xfrm>
            <a:off x="288145" y="4605219"/>
            <a:ext cx="1589716" cy="140673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35" dirty="0">
                <a:solidFill>
                  <a:schemeClr val="bg1"/>
                </a:solidFill>
              </a:rPr>
              <a:t>Treat prompts and instructions as version-controlled configuration; define identity, tone, scope, mandates and citation rules.</a:t>
            </a:r>
          </a:p>
        </p:txBody>
      </p:sp>
      <p:sp>
        <p:nvSpPr>
          <p:cNvPr id="12" name="Text Placeholder 10">
            <a:extLst>
              <a:ext uri="{FF2B5EF4-FFF2-40B4-BE49-F238E27FC236}">
                <a16:creationId xmlns:a16="http://schemas.microsoft.com/office/drawing/2014/main" id="{7554B5D8-73B4-1C89-3B24-449EA68C4049}"/>
              </a:ext>
            </a:extLst>
          </p:cNvPr>
          <p:cNvSpPr txBox="1">
            <a:spLocks/>
          </p:cNvSpPr>
          <p:nvPr/>
        </p:nvSpPr>
        <p:spPr>
          <a:xfrm>
            <a:off x="2684127" y="4600940"/>
            <a:ext cx="1589716" cy="153427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35" dirty="0">
                <a:solidFill>
                  <a:schemeClr val="bg1"/>
                </a:solidFill>
              </a:rPr>
              <a:t>Give each agent access only to the data it needs; restrict retrieval to governed sources and enforce proper filtering.</a:t>
            </a:r>
          </a:p>
        </p:txBody>
      </p:sp>
      <p:sp>
        <p:nvSpPr>
          <p:cNvPr id="13" name="Text Placeholder 11">
            <a:extLst>
              <a:ext uri="{FF2B5EF4-FFF2-40B4-BE49-F238E27FC236}">
                <a16:creationId xmlns:a16="http://schemas.microsoft.com/office/drawing/2014/main" id="{CE174AA3-CF67-BA78-5303-4A8E393B4D83}"/>
              </a:ext>
            </a:extLst>
          </p:cNvPr>
          <p:cNvSpPr txBox="1">
            <a:spLocks/>
          </p:cNvSpPr>
          <p:nvPr/>
        </p:nvSpPr>
        <p:spPr>
          <a:xfrm>
            <a:off x="4796283" y="4600940"/>
            <a:ext cx="1589716" cy="1222054"/>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35" dirty="0">
                <a:solidFill>
                  <a:schemeClr val="bg1"/>
                </a:solidFill>
              </a:rPr>
              <a:t>Collect metrics like latency, cost, error rates, user feedback and accuracy</a:t>
            </a:r>
          </a:p>
        </p:txBody>
      </p:sp>
      <p:sp>
        <p:nvSpPr>
          <p:cNvPr id="14" name="Text Placeholder 2">
            <a:extLst>
              <a:ext uri="{FF2B5EF4-FFF2-40B4-BE49-F238E27FC236}">
                <a16:creationId xmlns:a16="http://schemas.microsoft.com/office/drawing/2014/main" id="{AB7B997E-C68E-70F4-231D-B036EB6BDC19}"/>
              </a:ext>
            </a:extLst>
          </p:cNvPr>
          <p:cNvSpPr txBox="1">
            <a:spLocks/>
          </p:cNvSpPr>
          <p:nvPr/>
        </p:nvSpPr>
        <p:spPr>
          <a:xfrm>
            <a:off x="2684128" y="6236833"/>
            <a:ext cx="1773573" cy="27156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12" dirty="0">
                <a:solidFill>
                  <a:srgbClr val="FF9349"/>
                </a:solidFill>
                <a:latin typeface="+mj-lt"/>
              </a:rPr>
              <a:t>Plan for adoption and change</a:t>
            </a:r>
          </a:p>
        </p:txBody>
      </p:sp>
      <p:sp>
        <p:nvSpPr>
          <p:cNvPr id="15" name="Text Placeholder 7">
            <a:extLst>
              <a:ext uri="{FF2B5EF4-FFF2-40B4-BE49-F238E27FC236}">
                <a16:creationId xmlns:a16="http://schemas.microsoft.com/office/drawing/2014/main" id="{FBB61BF1-7BFC-E10C-E487-A94664146191}"/>
              </a:ext>
            </a:extLst>
          </p:cNvPr>
          <p:cNvSpPr txBox="1">
            <a:spLocks/>
          </p:cNvSpPr>
          <p:nvPr/>
        </p:nvSpPr>
        <p:spPr>
          <a:xfrm>
            <a:off x="2684128" y="6922238"/>
            <a:ext cx="1773573" cy="150443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35" dirty="0">
                <a:solidFill>
                  <a:schemeClr val="bg1"/>
                </a:solidFill>
              </a:rPr>
              <a:t>Design how people will discover, learn, trust, and work alongside the agent; clarify ownership, escalation paths, and how behavior changes over time</a:t>
            </a:r>
          </a:p>
        </p:txBody>
      </p:sp>
    </p:spTree>
    <p:extLst>
      <p:ext uri="{BB962C8B-B14F-4D97-AF65-F5344CB8AC3E}">
        <p14:creationId xmlns:p14="http://schemas.microsoft.com/office/powerpoint/2010/main" val="323126788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CD4B-98A3-0441-F7B7-BAE4EB8272A2}"/>
              </a:ext>
            </a:extLst>
          </p:cNvPr>
          <p:cNvSpPr>
            <a:spLocks noGrp="1"/>
          </p:cNvSpPr>
          <p:nvPr>
            <p:ph type="title"/>
          </p:nvPr>
        </p:nvSpPr>
        <p:spPr>
          <a:xfrm>
            <a:off x="338575" y="1077558"/>
            <a:ext cx="4119125" cy="484263"/>
          </a:xfrm>
        </p:spPr>
        <p:txBody>
          <a:bodyPr/>
          <a:lstStyle/>
          <a:p>
            <a:r>
              <a:rPr lang="en-US" dirty="0"/>
              <a:t>Agent design canvas</a:t>
            </a:r>
          </a:p>
        </p:txBody>
      </p:sp>
      <p:graphicFrame>
        <p:nvGraphicFramePr>
          <p:cNvPr id="3" name="Table 2">
            <a:extLst>
              <a:ext uri="{FF2B5EF4-FFF2-40B4-BE49-F238E27FC236}">
                <a16:creationId xmlns:a16="http://schemas.microsoft.com/office/drawing/2014/main" id="{EE2B1B6F-1A04-561B-CDD2-738C41FAD76B}"/>
              </a:ext>
            </a:extLst>
          </p:cNvPr>
          <p:cNvGraphicFramePr>
            <a:graphicFrameLocks noGrp="1"/>
          </p:cNvGraphicFramePr>
          <p:nvPr>
            <p:extLst>
              <p:ext uri="{D42A27DB-BD31-4B8C-83A1-F6EECF244321}">
                <p14:modId xmlns:p14="http://schemas.microsoft.com/office/powerpoint/2010/main" val="2125708716"/>
              </p:ext>
            </p:extLst>
          </p:nvPr>
        </p:nvGraphicFramePr>
        <p:xfrm>
          <a:off x="338575" y="1696290"/>
          <a:ext cx="6166440" cy="7422776"/>
        </p:xfrm>
        <a:graphic>
          <a:graphicData uri="http://schemas.openxmlformats.org/drawingml/2006/table">
            <a:tbl>
              <a:tblPr firstRow="1" bandRow="1">
                <a:tableStyleId>{5C22544A-7EE6-4342-B048-85BDC9FD1C3A}</a:tableStyleId>
              </a:tblPr>
              <a:tblGrid>
                <a:gridCol w="1854977">
                  <a:extLst>
                    <a:ext uri="{9D8B030D-6E8A-4147-A177-3AD203B41FA5}">
                      <a16:colId xmlns:a16="http://schemas.microsoft.com/office/drawing/2014/main" val="110777501"/>
                    </a:ext>
                  </a:extLst>
                </a:gridCol>
                <a:gridCol w="4311463">
                  <a:extLst>
                    <a:ext uri="{9D8B030D-6E8A-4147-A177-3AD203B41FA5}">
                      <a16:colId xmlns:a16="http://schemas.microsoft.com/office/drawing/2014/main" val="3274380237"/>
                    </a:ext>
                  </a:extLst>
                </a:gridCol>
              </a:tblGrid>
              <a:tr h="887506">
                <a:tc>
                  <a:txBody>
                    <a:bodyPr/>
                    <a:lstStyle/>
                    <a:p>
                      <a:r>
                        <a:rPr lang="en-US" sz="900" b="0" dirty="0">
                          <a:solidFill>
                            <a:schemeClr val="tx1"/>
                          </a:solidFill>
                        </a:rPr>
                        <a:t>Purpose &amp; role</a:t>
                      </a:r>
                    </a:p>
                  </a:txBody>
                  <a:tcPr marL="80682" marR="80682" marT="40341" marB="40341">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900" b="0" dirty="0">
                          <a:solidFill>
                            <a:schemeClr val="tx1"/>
                          </a:solidFill>
                        </a:rPr>
                        <a:t>Why does this agent exist? What problem is it solving?</a:t>
                      </a: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txBody>
                  <a:tcPr marL="80682" marR="80682" marT="40341" marB="40341">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66864358"/>
                  </a:ext>
                </a:extLst>
              </a:tr>
              <a:tr h="1021976">
                <a:tc>
                  <a:txBody>
                    <a:bodyPr/>
                    <a:lstStyle/>
                    <a:p>
                      <a:r>
                        <a:rPr lang="en-US" sz="900" b="0" dirty="0">
                          <a:solidFill>
                            <a:schemeClr val="tx1"/>
                          </a:solidFill>
                        </a:rPr>
                        <a:t>Inputs &amp; data</a:t>
                      </a:r>
                    </a:p>
                  </a:txBody>
                  <a:tcPr marL="80682" marR="80682" marT="40341" marB="40341">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900" b="0" dirty="0">
                          <a:solidFill>
                            <a:schemeClr val="tx1"/>
                          </a:solidFill>
                        </a:rPr>
                        <a:t>What triggers it? What data sources and systems does it need to access?</a:t>
                      </a: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txBody>
                  <a:tcPr marL="80682" marR="80682" marT="40341" marB="40341">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97290528"/>
                  </a:ext>
                </a:extLst>
              </a:tr>
              <a:tr h="1021976">
                <a:tc>
                  <a:txBody>
                    <a:bodyPr/>
                    <a:lstStyle/>
                    <a:p>
                      <a:r>
                        <a:rPr lang="en-US" sz="900" b="0" dirty="0">
                          <a:solidFill>
                            <a:schemeClr val="tx1"/>
                          </a:solidFill>
                        </a:rPr>
                        <a:t>Actions &amp; outputs</a:t>
                      </a:r>
                    </a:p>
                  </a:txBody>
                  <a:tcPr marL="80682" marR="80682" marT="40341" marB="40341">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900" b="0" dirty="0">
                          <a:solidFill>
                            <a:schemeClr val="tx1"/>
                          </a:solidFill>
                        </a:rPr>
                        <a:t>What does it actually do? What does success look like?</a:t>
                      </a: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txBody>
                  <a:tcPr marL="80682" marR="80682" marT="40341" marB="40341">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62196640"/>
                  </a:ext>
                </a:extLst>
              </a:tr>
              <a:tr h="1156447">
                <a:tc>
                  <a:txBody>
                    <a:bodyPr/>
                    <a:lstStyle/>
                    <a:p>
                      <a:r>
                        <a:rPr lang="en-US" sz="900" b="0" dirty="0">
                          <a:solidFill>
                            <a:schemeClr val="tx1"/>
                          </a:solidFill>
                        </a:rPr>
                        <a:t>Human / agent division of labor</a:t>
                      </a:r>
                    </a:p>
                  </a:txBody>
                  <a:tcPr marL="80682" marR="80682" marT="40341" marB="40341">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900" b="0" dirty="0">
                          <a:solidFill>
                            <a:schemeClr val="tx1"/>
                          </a:solidFill>
                        </a:rPr>
                        <a:t>What remains the human’s responsibility? How does the human override or approve the agent?</a:t>
                      </a: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txBody>
                  <a:tcPr marL="80682" marR="80682" marT="40341" marB="40341">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26392450"/>
                  </a:ext>
                </a:extLst>
              </a:tr>
              <a:tr h="1021976">
                <a:tc>
                  <a:txBody>
                    <a:bodyPr/>
                    <a:lstStyle/>
                    <a:p>
                      <a:r>
                        <a:rPr lang="en-US" sz="900" b="0" dirty="0">
                          <a:solidFill>
                            <a:schemeClr val="tx1"/>
                          </a:solidFill>
                        </a:rPr>
                        <a:t>Responsible AI &amp; safety</a:t>
                      </a:r>
                    </a:p>
                  </a:txBody>
                  <a:tcPr marL="80682" marR="80682" marT="40341" marB="40341">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900" b="0" dirty="0">
                          <a:solidFill>
                            <a:schemeClr val="tx1"/>
                          </a:solidFill>
                        </a:rPr>
                        <a:t>Any biases to watch for? Sensitive data? Transparency requirements? Approval points?</a:t>
                      </a: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txBody>
                  <a:tcPr marL="80682" marR="80682" marT="40341" marB="40341">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97731741"/>
                  </a:ext>
                </a:extLst>
              </a:tr>
              <a:tr h="1290918">
                <a:tc>
                  <a:txBody>
                    <a:bodyPr/>
                    <a:lstStyle/>
                    <a:p>
                      <a:r>
                        <a:rPr lang="en-US" sz="900" b="0" dirty="0">
                          <a:solidFill>
                            <a:schemeClr val="tx1"/>
                          </a:solidFill>
                        </a:rPr>
                        <a:t>Evaluation &amp; telemetry</a:t>
                      </a:r>
                    </a:p>
                  </a:txBody>
                  <a:tcPr marL="80682" marR="80682" marT="40341" marB="40341">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900" b="0" dirty="0">
                          <a:solidFill>
                            <a:schemeClr val="tx1"/>
                          </a:solidFill>
                        </a:rPr>
                        <a:t>How will you measure performance (accuracy, time, adoption)? What telemetry will you collect to improve it?</a:t>
                      </a: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txBody>
                  <a:tcPr marL="80682" marR="80682" marT="40341" marB="40341">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50353234"/>
                  </a:ext>
                </a:extLst>
              </a:tr>
              <a:tr h="1021976">
                <a:tc>
                  <a:txBody>
                    <a:bodyPr/>
                    <a:lstStyle/>
                    <a:p>
                      <a:r>
                        <a:rPr lang="en-US" sz="900" b="0" dirty="0">
                          <a:solidFill>
                            <a:schemeClr val="tx1"/>
                          </a:solidFill>
                        </a:rPr>
                        <a:t>Integration &amp; dependencies</a:t>
                      </a:r>
                    </a:p>
                  </a:txBody>
                  <a:tcPr marL="80682" marR="80682" marT="40341" marB="40341">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r>
                        <a:rPr lang="en-US" sz="900" b="0" dirty="0">
                          <a:solidFill>
                            <a:schemeClr val="tx1"/>
                          </a:solidFill>
                        </a:rPr>
                        <a:t>Which systems must it connect to? Are there API or authentication considerations?</a:t>
                      </a: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p>
                      <a:endParaRPr lang="en-US" sz="900" b="0" dirty="0">
                        <a:solidFill>
                          <a:schemeClr val="tx1"/>
                        </a:solidFill>
                      </a:endParaRPr>
                    </a:p>
                  </a:txBody>
                  <a:tcPr marL="80682" marR="80682" marT="40341" marB="40341">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53227077"/>
                  </a:ext>
                </a:extLst>
              </a:tr>
            </a:tbl>
          </a:graphicData>
        </a:graphic>
      </p:graphicFrame>
      <p:pic>
        <p:nvPicPr>
          <p:cNvPr id="5" name="Graphic 4" descr="Warning with solid fill">
            <a:extLst>
              <a:ext uri="{FF2B5EF4-FFF2-40B4-BE49-F238E27FC236}">
                <a16:creationId xmlns:a16="http://schemas.microsoft.com/office/drawing/2014/main" id="{99AB50C4-E634-4459-B6E9-EA145D0EF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8628" y="8778688"/>
            <a:ext cx="252132" cy="252132"/>
          </a:xfrm>
          <a:prstGeom prst="rect">
            <a:avLst/>
          </a:prstGeom>
        </p:spPr>
      </p:pic>
      <p:pic>
        <p:nvPicPr>
          <p:cNvPr id="6" name="Graphic 5" descr="Warning with solid fill">
            <a:extLst>
              <a:ext uri="{FF2B5EF4-FFF2-40B4-BE49-F238E27FC236}">
                <a16:creationId xmlns:a16="http://schemas.microsoft.com/office/drawing/2014/main" id="{1F1E4A7E-E4E5-C206-12B1-A54DE51A691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4217" y="5470712"/>
            <a:ext cx="252132" cy="252132"/>
          </a:xfrm>
          <a:prstGeom prst="rect">
            <a:avLst/>
          </a:prstGeom>
        </p:spPr>
      </p:pic>
      <p:pic>
        <p:nvPicPr>
          <p:cNvPr id="7" name="Graphic 6" descr="Warning with solid fill">
            <a:extLst>
              <a:ext uri="{FF2B5EF4-FFF2-40B4-BE49-F238E27FC236}">
                <a16:creationId xmlns:a16="http://schemas.microsoft.com/office/drawing/2014/main" id="{F7DC2F48-B693-C077-C5AF-34243BFDC3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4217" y="3278842"/>
            <a:ext cx="252132" cy="252132"/>
          </a:xfrm>
          <a:prstGeom prst="rect">
            <a:avLst/>
          </a:prstGeom>
        </p:spPr>
      </p:pic>
      <p:pic>
        <p:nvPicPr>
          <p:cNvPr id="8" name="Graphic 7" descr="Warning with solid fill">
            <a:extLst>
              <a:ext uri="{FF2B5EF4-FFF2-40B4-BE49-F238E27FC236}">
                <a16:creationId xmlns:a16="http://schemas.microsoft.com/office/drawing/2014/main" id="{2762C477-9BD2-5BD2-1DAF-88D7582B70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4217" y="4260477"/>
            <a:ext cx="252132" cy="252132"/>
          </a:xfrm>
          <a:prstGeom prst="rect">
            <a:avLst/>
          </a:prstGeom>
        </p:spPr>
      </p:pic>
      <p:pic>
        <p:nvPicPr>
          <p:cNvPr id="9" name="Graphic 8" descr="Warning with solid fill">
            <a:extLst>
              <a:ext uri="{FF2B5EF4-FFF2-40B4-BE49-F238E27FC236}">
                <a16:creationId xmlns:a16="http://schemas.microsoft.com/office/drawing/2014/main" id="{0727677E-1579-02BD-136C-5C239839EE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8628" y="2268631"/>
            <a:ext cx="252132" cy="252132"/>
          </a:xfrm>
          <a:prstGeom prst="rect">
            <a:avLst/>
          </a:prstGeom>
        </p:spPr>
      </p:pic>
      <p:pic>
        <p:nvPicPr>
          <p:cNvPr id="10" name="Graphic 9" descr="Warning with solid fill">
            <a:extLst>
              <a:ext uri="{FF2B5EF4-FFF2-40B4-BE49-F238E27FC236}">
                <a16:creationId xmlns:a16="http://schemas.microsoft.com/office/drawing/2014/main" id="{D905F7EB-357D-A7C6-5C1E-C454FDFCE0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4217" y="6495209"/>
            <a:ext cx="252132" cy="252132"/>
          </a:xfrm>
          <a:prstGeom prst="rect">
            <a:avLst/>
          </a:prstGeom>
        </p:spPr>
      </p:pic>
    </p:spTree>
    <p:extLst>
      <p:ext uri="{BB962C8B-B14F-4D97-AF65-F5344CB8AC3E}">
        <p14:creationId xmlns:p14="http://schemas.microsoft.com/office/powerpoint/2010/main" val="120084663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0810-2EA4-3C6B-A02D-6D17BF843D1D}"/>
              </a:ext>
            </a:extLst>
          </p:cNvPr>
          <p:cNvSpPr>
            <a:spLocks noGrp="1"/>
          </p:cNvSpPr>
          <p:nvPr>
            <p:ph type="title"/>
          </p:nvPr>
        </p:nvSpPr>
        <p:spPr>
          <a:xfrm>
            <a:off x="431438" y="1047943"/>
            <a:ext cx="2834676" cy="1384994"/>
          </a:xfrm>
        </p:spPr>
        <p:txBody>
          <a:bodyPr/>
          <a:lstStyle/>
          <a:p>
            <a:r>
              <a:rPr lang="en-US" dirty="0"/>
              <a:t>Agent complexity scoring matrix</a:t>
            </a:r>
          </a:p>
        </p:txBody>
      </p:sp>
      <p:sp>
        <p:nvSpPr>
          <p:cNvPr id="4" name="TextBox 3">
            <a:extLst>
              <a:ext uri="{FF2B5EF4-FFF2-40B4-BE49-F238E27FC236}">
                <a16:creationId xmlns:a16="http://schemas.microsoft.com/office/drawing/2014/main" id="{8EFF45B5-2E52-DBE5-255E-0B4A3C74E31F}"/>
              </a:ext>
            </a:extLst>
          </p:cNvPr>
          <p:cNvSpPr txBox="1"/>
          <p:nvPr/>
        </p:nvSpPr>
        <p:spPr>
          <a:xfrm>
            <a:off x="431437" y="2720081"/>
            <a:ext cx="3829600" cy="217304"/>
          </a:xfrm>
          <a:prstGeom prst="rect">
            <a:avLst/>
          </a:prstGeom>
          <a:noFill/>
        </p:spPr>
        <p:txBody>
          <a:bodyPr wrap="square" lIns="0" tIns="0" rIns="0" bIns="0" rtlCol="0">
            <a:spAutoFit/>
          </a:bodyPr>
          <a:lstStyle/>
          <a:p>
            <a:pPr algn="l"/>
            <a:r>
              <a:rPr lang="en-US" sz="1412" dirty="0"/>
              <a:t>Scoring guidance – complexity of solution:</a:t>
            </a:r>
          </a:p>
        </p:txBody>
      </p:sp>
      <p:graphicFrame>
        <p:nvGraphicFramePr>
          <p:cNvPr id="5" name="Table 4">
            <a:extLst>
              <a:ext uri="{FF2B5EF4-FFF2-40B4-BE49-F238E27FC236}">
                <a16:creationId xmlns:a16="http://schemas.microsoft.com/office/drawing/2014/main" id="{0A986F58-8E75-8DFA-AB16-029C6292F734}"/>
              </a:ext>
            </a:extLst>
          </p:cNvPr>
          <p:cNvGraphicFramePr>
            <a:graphicFrameLocks noGrp="1"/>
          </p:cNvGraphicFramePr>
          <p:nvPr>
            <p:extLst>
              <p:ext uri="{D42A27DB-BD31-4B8C-83A1-F6EECF244321}">
                <p14:modId xmlns:p14="http://schemas.microsoft.com/office/powerpoint/2010/main" val="218774972"/>
              </p:ext>
            </p:extLst>
          </p:nvPr>
        </p:nvGraphicFramePr>
        <p:xfrm>
          <a:off x="431437" y="3076286"/>
          <a:ext cx="6166436" cy="3200402"/>
        </p:xfrm>
        <a:graphic>
          <a:graphicData uri="http://schemas.openxmlformats.org/drawingml/2006/table">
            <a:tbl>
              <a:tblPr firstRow="1" bandRow="1">
                <a:tableStyleId>{FABFCF23-3B69-468F-B69F-88F6DE6A72F2}</a:tableStyleId>
              </a:tblPr>
              <a:tblGrid>
                <a:gridCol w="1541609">
                  <a:extLst>
                    <a:ext uri="{9D8B030D-6E8A-4147-A177-3AD203B41FA5}">
                      <a16:colId xmlns:a16="http://schemas.microsoft.com/office/drawing/2014/main" val="1203468602"/>
                    </a:ext>
                  </a:extLst>
                </a:gridCol>
                <a:gridCol w="1541609">
                  <a:extLst>
                    <a:ext uri="{9D8B030D-6E8A-4147-A177-3AD203B41FA5}">
                      <a16:colId xmlns:a16="http://schemas.microsoft.com/office/drawing/2014/main" val="3097511068"/>
                    </a:ext>
                  </a:extLst>
                </a:gridCol>
                <a:gridCol w="1541609">
                  <a:extLst>
                    <a:ext uri="{9D8B030D-6E8A-4147-A177-3AD203B41FA5}">
                      <a16:colId xmlns:a16="http://schemas.microsoft.com/office/drawing/2014/main" val="3262268634"/>
                    </a:ext>
                  </a:extLst>
                </a:gridCol>
                <a:gridCol w="1541609">
                  <a:extLst>
                    <a:ext uri="{9D8B030D-6E8A-4147-A177-3AD203B41FA5}">
                      <a16:colId xmlns:a16="http://schemas.microsoft.com/office/drawing/2014/main" val="4173954260"/>
                    </a:ext>
                  </a:extLst>
                </a:gridCol>
              </a:tblGrid>
              <a:tr h="327212">
                <a:tc>
                  <a:txBody>
                    <a:bodyPr/>
                    <a:lstStyle/>
                    <a:p>
                      <a:r>
                        <a:rPr lang="en-US" sz="900" b="0" dirty="0"/>
                        <a:t>Criterion</a:t>
                      </a:r>
                    </a:p>
                  </a:txBody>
                  <a:tcPr marL="80682" marR="80682" marT="40341" marB="40341"/>
                </a:tc>
                <a:tc>
                  <a:txBody>
                    <a:bodyPr/>
                    <a:lstStyle/>
                    <a:p>
                      <a:r>
                        <a:rPr lang="en-US" sz="900" b="0" dirty="0"/>
                        <a:t>1 (low)</a:t>
                      </a:r>
                    </a:p>
                  </a:txBody>
                  <a:tcPr marL="80682" marR="80682" marT="40341" marB="40341"/>
                </a:tc>
                <a:tc>
                  <a:txBody>
                    <a:bodyPr/>
                    <a:lstStyle/>
                    <a:p>
                      <a:r>
                        <a:rPr lang="en-US" sz="900" b="0" dirty="0"/>
                        <a:t>2 (medium)</a:t>
                      </a:r>
                    </a:p>
                  </a:txBody>
                  <a:tcPr marL="80682" marR="80682" marT="40341" marB="40341"/>
                </a:tc>
                <a:tc>
                  <a:txBody>
                    <a:bodyPr/>
                    <a:lstStyle/>
                    <a:p>
                      <a:r>
                        <a:rPr lang="en-US" sz="900" b="0" dirty="0"/>
                        <a:t>3 (high)</a:t>
                      </a:r>
                    </a:p>
                  </a:txBody>
                  <a:tcPr marL="80682" marR="80682" marT="40341" marB="40341"/>
                </a:tc>
                <a:extLst>
                  <a:ext uri="{0D108BD9-81ED-4DB2-BD59-A6C34878D82A}">
                    <a16:rowId xmlns:a16="http://schemas.microsoft.com/office/drawing/2014/main" val="1506653454"/>
                  </a:ext>
                </a:extLst>
              </a:tr>
              <a:tr h="489305">
                <a:tc>
                  <a:txBody>
                    <a:bodyPr/>
                    <a:lstStyle/>
                    <a:p>
                      <a:r>
                        <a:rPr lang="en-US" sz="900" b="0" dirty="0"/>
                        <a:t>Systems &amp; integration footprint</a:t>
                      </a:r>
                    </a:p>
                  </a:txBody>
                  <a:tcPr marL="80682" marR="80682" marT="40341" marB="40341"/>
                </a:tc>
                <a:tc>
                  <a:txBody>
                    <a:bodyPr/>
                    <a:lstStyle/>
                    <a:p>
                      <a:r>
                        <a:rPr lang="en-US" sz="900" b="0" dirty="0"/>
                        <a:t>Read-only data, limited systems, simple APIs</a:t>
                      </a:r>
                    </a:p>
                  </a:txBody>
                  <a:tcPr marL="80682" marR="80682" marT="40341" marB="40341"/>
                </a:tc>
                <a:tc>
                  <a:txBody>
                    <a:bodyPr/>
                    <a:lstStyle/>
                    <a:p>
                      <a:r>
                        <a:rPr lang="en-US" sz="900" b="0" dirty="0"/>
                        <a:t>Multiple systems, internal APIs, some orchestration</a:t>
                      </a:r>
                    </a:p>
                  </a:txBody>
                  <a:tcPr marL="80682" marR="80682" marT="40341" marB="40341"/>
                </a:tc>
                <a:tc>
                  <a:txBody>
                    <a:bodyPr/>
                    <a:lstStyle/>
                    <a:p>
                      <a:r>
                        <a:rPr lang="en-US" sz="900" b="0" dirty="0"/>
                        <a:t>Core systems (e.g. SAP), legacy platforms, complex auth, transactions</a:t>
                      </a:r>
                    </a:p>
                  </a:txBody>
                  <a:tcPr marL="80682" marR="80682" marT="40341" marB="40341"/>
                </a:tc>
                <a:extLst>
                  <a:ext uri="{0D108BD9-81ED-4DB2-BD59-A6C34878D82A}">
                    <a16:rowId xmlns:a16="http://schemas.microsoft.com/office/drawing/2014/main" val="2678963180"/>
                  </a:ext>
                </a:extLst>
              </a:tr>
              <a:tr h="489305">
                <a:tc>
                  <a:txBody>
                    <a:bodyPr/>
                    <a:lstStyle/>
                    <a:p>
                      <a:r>
                        <a:rPr lang="en-US" sz="900" b="0" dirty="0"/>
                        <a:t>Human-agent autonomy &amp; oversight</a:t>
                      </a:r>
                    </a:p>
                  </a:txBody>
                  <a:tcPr marL="80682" marR="80682" marT="40341" marB="40341"/>
                </a:tc>
                <a:tc>
                  <a:txBody>
                    <a:bodyPr/>
                    <a:lstStyle/>
                    <a:p>
                      <a:r>
                        <a:rPr lang="en-US" sz="900" b="0" dirty="0"/>
                        <a:t>Advisory, assistive, human makes final decision</a:t>
                      </a:r>
                    </a:p>
                  </a:txBody>
                  <a:tcPr marL="80682" marR="80682" marT="40341" marB="40341"/>
                </a:tc>
                <a:tc>
                  <a:txBody>
                    <a:bodyPr/>
                    <a:lstStyle/>
                    <a:p>
                      <a:r>
                        <a:rPr lang="en-US" sz="900" b="0" dirty="0"/>
                        <a:t>Recommendations with approval gates</a:t>
                      </a:r>
                    </a:p>
                  </a:txBody>
                  <a:tcPr marL="80682" marR="80682" marT="40341" marB="40341"/>
                </a:tc>
                <a:tc>
                  <a:txBody>
                    <a:bodyPr/>
                    <a:lstStyle/>
                    <a:p>
                      <a:r>
                        <a:rPr lang="en-US" sz="900" b="0" dirty="0"/>
                        <a:t>Agent acts on behalf of people or makes binding decisions</a:t>
                      </a:r>
                    </a:p>
                  </a:txBody>
                  <a:tcPr marL="80682" marR="80682" marT="40341" marB="40341"/>
                </a:tc>
                <a:extLst>
                  <a:ext uri="{0D108BD9-81ED-4DB2-BD59-A6C34878D82A}">
                    <a16:rowId xmlns:a16="http://schemas.microsoft.com/office/drawing/2014/main" val="269138843"/>
                  </a:ext>
                </a:extLst>
              </a:tr>
              <a:tr h="489305">
                <a:tc>
                  <a:txBody>
                    <a:bodyPr/>
                    <a:lstStyle/>
                    <a:p>
                      <a:r>
                        <a:rPr lang="en-US" sz="900" b="0" dirty="0"/>
                        <a:t>Data access &amp; sensitivity</a:t>
                      </a:r>
                    </a:p>
                  </a:txBody>
                  <a:tcPr marL="80682" marR="80682" marT="40341" marB="40341"/>
                </a:tc>
                <a:tc>
                  <a:txBody>
                    <a:bodyPr/>
                    <a:lstStyle/>
                    <a:p>
                      <a:r>
                        <a:rPr lang="en-US" sz="900" b="0" dirty="0"/>
                        <a:t>Public or non-sensitive internal data</a:t>
                      </a:r>
                    </a:p>
                  </a:txBody>
                  <a:tcPr marL="80682" marR="80682" marT="40341" marB="40341"/>
                </a:tc>
                <a:tc>
                  <a:txBody>
                    <a:bodyPr/>
                    <a:lstStyle/>
                    <a:p>
                      <a:r>
                        <a:rPr lang="en-US" sz="900" b="0" dirty="0"/>
                        <a:t>Business-confidential or role-restricted data</a:t>
                      </a:r>
                    </a:p>
                  </a:txBody>
                  <a:tcPr marL="80682" marR="80682" marT="40341" marB="40341"/>
                </a:tc>
                <a:tc>
                  <a:txBody>
                    <a:bodyPr/>
                    <a:lstStyle/>
                    <a:p>
                      <a:r>
                        <a:rPr lang="en-US" sz="900" b="0" dirty="0"/>
                        <a:t>Personal, financial, regulated or security sensitive data</a:t>
                      </a:r>
                    </a:p>
                  </a:txBody>
                  <a:tcPr marL="80682" marR="80682" marT="40341" marB="40341"/>
                </a:tc>
                <a:extLst>
                  <a:ext uri="{0D108BD9-81ED-4DB2-BD59-A6C34878D82A}">
                    <a16:rowId xmlns:a16="http://schemas.microsoft.com/office/drawing/2014/main" val="3051784941"/>
                  </a:ext>
                </a:extLst>
              </a:tr>
              <a:tr h="353097">
                <a:tc>
                  <a:txBody>
                    <a:bodyPr/>
                    <a:lstStyle/>
                    <a:p>
                      <a:r>
                        <a:rPr lang="en-US" sz="900" b="0" dirty="0"/>
                        <a:t>Criticality of actions &amp; outputs</a:t>
                      </a:r>
                    </a:p>
                  </a:txBody>
                  <a:tcPr marL="80682" marR="80682" marT="40341" marB="40341"/>
                </a:tc>
                <a:tc>
                  <a:txBody>
                    <a:bodyPr/>
                    <a:lstStyle/>
                    <a:p>
                      <a:r>
                        <a:rPr lang="en-US" sz="900" b="0" dirty="0"/>
                        <a:t>Convenience, productivity, minor efficiency gains</a:t>
                      </a:r>
                    </a:p>
                  </a:txBody>
                  <a:tcPr marL="80682" marR="80682" marT="40341" marB="40341"/>
                </a:tc>
                <a:tc>
                  <a:txBody>
                    <a:bodyPr/>
                    <a:lstStyle/>
                    <a:p>
                      <a:r>
                        <a:rPr lang="en-US" sz="900" b="0" dirty="0"/>
                        <a:t>Noticeable time savings or quality improvement</a:t>
                      </a:r>
                    </a:p>
                  </a:txBody>
                  <a:tcPr marL="80682" marR="80682" marT="40341" marB="40341"/>
                </a:tc>
                <a:tc>
                  <a:txBody>
                    <a:bodyPr/>
                    <a:lstStyle/>
                    <a:p>
                      <a:r>
                        <a:rPr lang="en-US" sz="900" b="0" dirty="0"/>
                        <a:t>Mission-critical process or high-volume operation</a:t>
                      </a:r>
                    </a:p>
                  </a:txBody>
                  <a:tcPr marL="80682" marR="80682" marT="40341" marB="40341"/>
                </a:tc>
                <a:extLst>
                  <a:ext uri="{0D108BD9-81ED-4DB2-BD59-A6C34878D82A}">
                    <a16:rowId xmlns:a16="http://schemas.microsoft.com/office/drawing/2014/main" val="3615385108"/>
                  </a:ext>
                </a:extLst>
              </a:tr>
              <a:tr h="489305">
                <a:tc>
                  <a:txBody>
                    <a:bodyPr/>
                    <a:lstStyle/>
                    <a:p>
                      <a:r>
                        <a:rPr lang="en-US" sz="900" b="0" dirty="0"/>
                        <a:t>Change required to ways of working</a:t>
                      </a:r>
                    </a:p>
                  </a:txBody>
                  <a:tcPr marL="80682" marR="80682" marT="40341" marB="40341"/>
                </a:tc>
                <a:tc>
                  <a:txBody>
                    <a:bodyPr/>
                    <a:lstStyle/>
                    <a:p>
                      <a:r>
                        <a:rPr lang="en-US" sz="900" b="0" dirty="0"/>
                        <a:t>Fits naturally into existing workflows</a:t>
                      </a:r>
                    </a:p>
                  </a:txBody>
                  <a:tcPr marL="80682" marR="80682" marT="40341" marB="40341"/>
                </a:tc>
                <a:tc>
                  <a:txBody>
                    <a:bodyPr/>
                    <a:lstStyle/>
                    <a:p>
                      <a:r>
                        <a:rPr lang="en-US" sz="900" b="0" dirty="0"/>
                        <a:t>Requires some behavior or process change</a:t>
                      </a:r>
                    </a:p>
                  </a:txBody>
                  <a:tcPr marL="80682" marR="80682" marT="40341" marB="40341"/>
                </a:tc>
                <a:tc>
                  <a:txBody>
                    <a:bodyPr/>
                    <a:lstStyle/>
                    <a:p>
                      <a:r>
                        <a:rPr lang="en-US" sz="900" b="0" dirty="0"/>
                        <a:t>Changes roles, responsibilities or trust models</a:t>
                      </a:r>
                    </a:p>
                  </a:txBody>
                  <a:tcPr marL="80682" marR="80682" marT="40341" marB="40341"/>
                </a:tc>
                <a:extLst>
                  <a:ext uri="{0D108BD9-81ED-4DB2-BD59-A6C34878D82A}">
                    <a16:rowId xmlns:a16="http://schemas.microsoft.com/office/drawing/2014/main" val="2248745917"/>
                  </a:ext>
                </a:extLst>
              </a:tr>
            </a:tbl>
          </a:graphicData>
        </a:graphic>
      </p:graphicFrame>
      <p:sp>
        <p:nvSpPr>
          <p:cNvPr id="6" name="TextBox 5">
            <a:extLst>
              <a:ext uri="{FF2B5EF4-FFF2-40B4-BE49-F238E27FC236}">
                <a16:creationId xmlns:a16="http://schemas.microsoft.com/office/drawing/2014/main" id="{B94B5978-98E9-2AFB-F406-4C99BE39BE86}"/>
              </a:ext>
            </a:extLst>
          </p:cNvPr>
          <p:cNvSpPr txBox="1"/>
          <p:nvPr/>
        </p:nvSpPr>
        <p:spPr>
          <a:xfrm>
            <a:off x="431438" y="6415639"/>
            <a:ext cx="3098415" cy="217304"/>
          </a:xfrm>
          <a:prstGeom prst="rect">
            <a:avLst/>
          </a:prstGeom>
          <a:noFill/>
        </p:spPr>
        <p:txBody>
          <a:bodyPr wrap="square" lIns="0" tIns="0" rIns="0" bIns="0" rtlCol="0">
            <a:spAutoFit/>
          </a:bodyPr>
          <a:lstStyle/>
          <a:p>
            <a:pPr algn="l"/>
            <a:r>
              <a:rPr lang="en-US" sz="1412" dirty="0"/>
              <a:t>Scoring guidance – value of solution:</a:t>
            </a:r>
          </a:p>
        </p:txBody>
      </p:sp>
      <p:graphicFrame>
        <p:nvGraphicFramePr>
          <p:cNvPr id="7" name="Table 6">
            <a:extLst>
              <a:ext uri="{FF2B5EF4-FFF2-40B4-BE49-F238E27FC236}">
                <a16:creationId xmlns:a16="http://schemas.microsoft.com/office/drawing/2014/main" id="{B7353489-E1EA-1F43-8503-E03A61C06F76}"/>
              </a:ext>
            </a:extLst>
          </p:cNvPr>
          <p:cNvGraphicFramePr>
            <a:graphicFrameLocks noGrp="1"/>
          </p:cNvGraphicFramePr>
          <p:nvPr>
            <p:extLst>
              <p:ext uri="{D42A27DB-BD31-4B8C-83A1-F6EECF244321}">
                <p14:modId xmlns:p14="http://schemas.microsoft.com/office/powerpoint/2010/main" val="729511861"/>
              </p:ext>
            </p:extLst>
          </p:nvPr>
        </p:nvGraphicFramePr>
        <p:xfrm>
          <a:off x="431437" y="6771845"/>
          <a:ext cx="6166436" cy="2131360"/>
        </p:xfrm>
        <a:graphic>
          <a:graphicData uri="http://schemas.openxmlformats.org/drawingml/2006/table">
            <a:tbl>
              <a:tblPr firstRow="1" bandRow="1">
                <a:tableStyleId>{FABFCF23-3B69-468F-B69F-88F6DE6A72F2}</a:tableStyleId>
              </a:tblPr>
              <a:tblGrid>
                <a:gridCol w="1541609">
                  <a:extLst>
                    <a:ext uri="{9D8B030D-6E8A-4147-A177-3AD203B41FA5}">
                      <a16:colId xmlns:a16="http://schemas.microsoft.com/office/drawing/2014/main" val="1203468602"/>
                    </a:ext>
                  </a:extLst>
                </a:gridCol>
                <a:gridCol w="1541609">
                  <a:extLst>
                    <a:ext uri="{9D8B030D-6E8A-4147-A177-3AD203B41FA5}">
                      <a16:colId xmlns:a16="http://schemas.microsoft.com/office/drawing/2014/main" val="3097511068"/>
                    </a:ext>
                  </a:extLst>
                </a:gridCol>
                <a:gridCol w="1541609">
                  <a:extLst>
                    <a:ext uri="{9D8B030D-6E8A-4147-A177-3AD203B41FA5}">
                      <a16:colId xmlns:a16="http://schemas.microsoft.com/office/drawing/2014/main" val="3262268634"/>
                    </a:ext>
                  </a:extLst>
                </a:gridCol>
                <a:gridCol w="1541609">
                  <a:extLst>
                    <a:ext uri="{9D8B030D-6E8A-4147-A177-3AD203B41FA5}">
                      <a16:colId xmlns:a16="http://schemas.microsoft.com/office/drawing/2014/main" val="4173954260"/>
                    </a:ext>
                  </a:extLst>
                </a:gridCol>
              </a:tblGrid>
              <a:tr h="327212">
                <a:tc>
                  <a:txBody>
                    <a:bodyPr/>
                    <a:lstStyle/>
                    <a:p>
                      <a:r>
                        <a:rPr lang="en-US" sz="900" b="0" dirty="0"/>
                        <a:t>Criterion</a:t>
                      </a:r>
                    </a:p>
                  </a:txBody>
                  <a:tcPr marL="80682" marR="80682" marT="40341" marB="40341"/>
                </a:tc>
                <a:tc>
                  <a:txBody>
                    <a:bodyPr/>
                    <a:lstStyle/>
                    <a:p>
                      <a:r>
                        <a:rPr lang="en-US" sz="900" b="0" dirty="0"/>
                        <a:t>1 (low)</a:t>
                      </a:r>
                    </a:p>
                  </a:txBody>
                  <a:tcPr marL="80682" marR="80682" marT="40341" marB="40341"/>
                </a:tc>
                <a:tc>
                  <a:txBody>
                    <a:bodyPr/>
                    <a:lstStyle/>
                    <a:p>
                      <a:r>
                        <a:rPr lang="en-US" sz="900" b="0" dirty="0"/>
                        <a:t>2 (medium)</a:t>
                      </a:r>
                    </a:p>
                  </a:txBody>
                  <a:tcPr marL="80682" marR="80682" marT="40341" marB="40341"/>
                </a:tc>
                <a:tc>
                  <a:txBody>
                    <a:bodyPr/>
                    <a:lstStyle/>
                    <a:p>
                      <a:r>
                        <a:rPr lang="en-US" sz="900" b="0" dirty="0"/>
                        <a:t>3 (high)</a:t>
                      </a:r>
                    </a:p>
                  </a:txBody>
                  <a:tcPr marL="80682" marR="80682" marT="40341" marB="40341"/>
                </a:tc>
                <a:extLst>
                  <a:ext uri="{0D108BD9-81ED-4DB2-BD59-A6C34878D82A}">
                    <a16:rowId xmlns:a16="http://schemas.microsoft.com/office/drawing/2014/main" val="1506653454"/>
                  </a:ext>
                </a:extLst>
              </a:tr>
              <a:tr h="353097">
                <a:tc>
                  <a:txBody>
                    <a:bodyPr/>
                    <a:lstStyle/>
                    <a:p>
                      <a:r>
                        <a:rPr lang="en-US" sz="900" b="0" dirty="0"/>
                        <a:t>Certainty of value</a:t>
                      </a:r>
                    </a:p>
                  </a:txBody>
                  <a:tcPr marL="80682" marR="80682" marT="40341" marB="40341"/>
                </a:tc>
                <a:tc>
                  <a:txBody>
                    <a:bodyPr/>
                    <a:lstStyle/>
                    <a:p>
                      <a:r>
                        <a:rPr lang="en-US" sz="900" b="0" dirty="0"/>
                        <a:t>Hypothetical, assumption-heavy, or indirect</a:t>
                      </a:r>
                    </a:p>
                  </a:txBody>
                  <a:tcPr marL="80682" marR="80682" marT="40341" marB="40341"/>
                </a:tc>
                <a:tc>
                  <a:txBody>
                    <a:bodyPr/>
                    <a:lstStyle/>
                    <a:p>
                      <a:r>
                        <a:rPr lang="en-US" sz="900" b="0" dirty="0"/>
                        <a:t>Reasonable but dependent on adoption or change </a:t>
                      </a:r>
                    </a:p>
                  </a:txBody>
                  <a:tcPr marL="80682" marR="80682" marT="40341" marB="40341"/>
                </a:tc>
                <a:tc>
                  <a:txBody>
                    <a:bodyPr/>
                    <a:lstStyle/>
                    <a:p>
                      <a:r>
                        <a:rPr lang="en-US" sz="900" b="0" dirty="0"/>
                        <a:t>Direct, measurable, and well understood</a:t>
                      </a:r>
                    </a:p>
                  </a:txBody>
                  <a:tcPr marL="80682" marR="80682" marT="40341" marB="40341"/>
                </a:tc>
                <a:extLst>
                  <a:ext uri="{0D108BD9-81ED-4DB2-BD59-A6C34878D82A}">
                    <a16:rowId xmlns:a16="http://schemas.microsoft.com/office/drawing/2014/main" val="2678963180"/>
                  </a:ext>
                </a:extLst>
              </a:tr>
              <a:tr h="353097">
                <a:tc>
                  <a:txBody>
                    <a:bodyPr/>
                    <a:lstStyle/>
                    <a:p>
                      <a:r>
                        <a:rPr lang="en-US" sz="900" b="0" dirty="0"/>
                        <a:t>Magnitude of impact</a:t>
                      </a:r>
                    </a:p>
                  </a:txBody>
                  <a:tcPr marL="80682" marR="80682" marT="40341" marB="40341"/>
                </a:tc>
                <a:tc>
                  <a:txBody>
                    <a:bodyPr/>
                    <a:lstStyle/>
                    <a:p>
                      <a:r>
                        <a:rPr lang="en-US" sz="900" b="0" dirty="0"/>
                        <a:t>Marginal improvement</a:t>
                      </a:r>
                    </a:p>
                  </a:txBody>
                  <a:tcPr marL="80682" marR="80682" marT="40341" marB="40341"/>
                </a:tc>
                <a:tc>
                  <a:txBody>
                    <a:bodyPr/>
                    <a:lstStyle/>
                    <a:p>
                      <a:r>
                        <a:rPr lang="en-US" sz="900" b="0" dirty="0"/>
                        <a:t>Noticeable improvement across a role or process</a:t>
                      </a:r>
                    </a:p>
                  </a:txBody>
                  <a:tcPr marL="80682" marR="80682" marT="40341" marB="40341"/>
                </a:tc>
                <a:tc>
                  <a:txBody>
                    <a:bodyPr/>
                    <a:lstStyle/>
                    <a:p>
                      <a:r>
                        <a:rPr lang="en-US" sz="900" b="0" dirty="0"/>
                        <a:t>Material impact across teams, customers or costs</a:t>
                      </a:r>
                    </a:p>
                  </a:txBody>
                  <a:tcPr marL="80682" marR="80682" marT="40341" marB="40341"/>
                </a:tc>
                <a:extLst>
                  <a:ext uri="{0D108BD9-81ED-4DB2-BD59-A6C34878D82A}">
                    <a16:rowId xmlns:a16="http://schemas.microsoft.com/office/drawing/2014/main" val="269138843"/>
                  </a:ext>
                </a:extLst>
              </a:tr>
              <a:tr h="353097">
                <a:tc>
                  <a:txBody>
                    <a:bodyPr/>
                    <a:lstStyle/>
                    <a:p>
                      <a:r>
                        <a:rPr lang="en-US" sz="900" b="0" dirty="0"/>
                        <a:t>Breadth of value</a:t>
                      </a:r>
                    </a:p>
                  </a:txBody>
                  <a:tcPr marL="80682" marR="80682" marT="40341" marB="40341"/>
                </a:tc>
                <a:tc>
                  <a:txBody>
                    <a:bodyPr/>
                    <a:lstStyle/>
                    <a:p>
                      <a:r>
                        <a:rPr lang="en-US" sz="900" b="0" dirty="0"/>
                        <a:t>Single task or role</a:t>
                      </a:r>
                    </a:p>
                  </a:txBody>
                  <a:tcPr marL="80682" marR="80682" marT="40341" marB="40341"/>
                </a:tc>
                <a:tc>
                  <a:txBody>
                    <a:bodyPr/>
                    <a:lstStyle/>
                    <a:p>
                      <a:r>
                        <a:rPr lang="en-US" sz="900" b="0" dirty="0"/>
                        <a:t>Multiple roles or a full process</a:t>
                      </a:r>
                    </a:p>
                  </a:txBody>
                  <a:tcPr marL="80682" marR="80682" marT="40341" marB="40341"/>
                </a:tc>
                <a:tc>
                  <a:txBody>
                    <a:bodyPr/>
                    <a:lstStyle/>
                    <a:p>
                      <a:r>
                        <a:rPr lang="en-US" sz="900" b="0" dirty="0"/>
                        <a:t>Enterprise-wide or customer-facing</a:t>
                      </a:r>
                    </a:p>
                  </a:txBody>
                  <a:tcPr marL="80682" marR="80682" marT="40341" marB="40341"/>
                </a:tc>
                <a:extLst>
                  <a:ext uri="{0D108BD9-81ED-4DB2-BD59-A6C34878D82A}">
                    <a16:rowId xmlns:a16="http://schemas.microsoft.com/office/drawing/2014/main" val="3051784941"/>
                  </a:ext>
                </a:extLst>
              </a:tr>
              <a:tr h="327212">
                <a:tc>
                  <a:txBody>
                    <a:bodyPr/>
                    <a:lstStyle/>
                    <a:p>
                      <a:r>
                        <a:rPr lang="en-US" sz="900" b="0" dirty="0"/>
                        <a:t>Time to first value</a:t>
                      </a:r>
                    </a:p>
                  </a:txBody>
                  <a:tcPr marL="80682" marR="80682" marT="40341" marB="40341"/>
                </a:tc>
                <a:tc>
                  <a:txBody>
                    <a:bodyPr/>
                    <a:lstStyle/>
                    <a:p>
                      <a:r>
                        <a:rPr lang="en-US" sz="900" b="0" dirty="0"/>
                        <a:t>Months or longer</a:t>
                      </a:r>
                    </a:p>
                  </a:txBody>
                  <a:tcPr marL="80682" marR="80682" marT="40341" marB="40341"/>
                </a:tc>
                <a:tc>
                  <a:txBody>
                    <a:bodyPr/>
                    <a:lstStyle/>
                    <a:p>
                      <a:r>
                        <a:rPr lang="en-US" sz="900" b="0" dirty="0"/>
                        <a:t>Several weeks</a:t>
                      </a:r>
                    </a:p>
                  </a:txBody>
                  <a:tcPr marL="80682" marR="80682" marT="40341" marB="40341"/>
                </a:tc>
                <a:tc>
                  <a:txBody>
                    <a:bodyPr/>
                    <a:lstStyle/>
                    <a:p>
                      <a:r>
                        <a:rPr lang="en-US" sz="900" b="0" dirty="0"/>
                        <a:t>Immediate or fast</a:t>
                      </a:r>
                    </a:p>
                  </a:txBody>
                  <a:tcPr marL="80682" marR="80682" marT="40341" marB="40341"/>
                </a:tc>
                <a:extLst>
                  <a:ext uri="{0D108BD9-81ED-4DB2-BD59-A6C34878D82A}">
                    <a16:rowId xmlns:a16="http://schemas.microsoft.com/office/drawing/2014/main" val="3615385108"/>
                  </a:ext>
                </a:extLst>
              </a:tr>
            </a:tbl>
          </a:graphicData>
        </a:graphic>
      </p:graphicFrame>
    </p:spTree>
    <p:extLst>
      <p:ext uri="{BB962C8B-B14F-4D97-AF65-F5344CB8AC3E}">
        <p14:creationId xmlns:p14="http://schemas.microsoft.com/office/powerpoint/2010/main" val="2286005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B9F1-2F57-5939-4EA1-63180AF6C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AC7E6-4117-A841-B8C0-84A5489CC772}"/>
              </a:ext>
            </a:extLst>
          </p:cNvPr>
          <p:cNvSpPr>
            <a:spLocks noGrp="1"/>
          </p:cNvSpPr>
          <p:nvPr>
            <p:ph type="title"/>
          </p:nvPr>
        </p:nvSpPr>
        <p:spPr>
          <a:xfrm>
            <a:off x="431438" y="1047943"/>
            <a:ext cx="2834676" cy="1384994"/>
          </a:xfrm>
        </p:spPr>
        <p:txBody>
          <a:bodyPr/>
          <a:lstStyle/>
          <a:p>
            <a:r>
              <a:rPr lang="en-US" dirty="0"/>
              <a:t>Agent complexity scoring matrix</a:t>
            </a:r>
          </a:p>
        </p:txBody>
      </p:sp>
      <p:sp>
        <p:nvSpPr>
          <p:cNvPr id="3" name="Rounded Rectangle 2">
            <a:extLst>
              <a:ext uri="{FF2B5EF4-FFF2-40B4-BE49-F238E27FC236}">
                <a16:creationId xmlns:a16="http://schemas.microsoft.com/office/drawing/2014/main" id="{E0DA4947-1075-DAE0-2E96-D96C5F65DCB9}"/>
              </a:ext>
            </a:extLst>
          </p:cNvPr>
          <p:cNvSpPr/>
          <p:nvPr/>
        </p:nvSpPr>
        <p:spPr bwMode="auto">
          <a:xfrm>
            <a:off x="769004" y="3969684"/>
            <a:ext cx="2509717" cy="2117912"/>
          </a:xfrm>
          <a:prstGeom prst="roundRect">
            <a:avLst>
              <a:gd name="adj" fmla="val 5357"/>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9" name="Rounded Rectangle 8">
            <a:extLst>
              <a:ext uri="{FF2B5EF4-FFF2-40B4-BE49-F238E27FC236}">
                <a16:creationId xmlns:a16="http://schemas.microsoft.com/office/drawing/2014/main" id="{1366930A-664A-D51F-2402-B7B157CE7C89}"/>
              </a:ext>
            </a:extLst>
          </p:cNvPr>
          <p:cNvSpPr/>
          <p:nvPr/>
        </p:nvSpPr>
        <p:spPr bwMode="auto">
          <a:xfrm>
            <a:off x="3604493" y="3969684"/>
            <a:ext cx="2509717" cy="2117912"/>
          </a:xfrm>
          <a:prstGeom prst="roundRect">
            <a:avLst>
              <a:gd name="adj" fmla="val 5357"/>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0" name="Rounded Rectangle 9">
            <a:extLst>
              <a:ext uri="{FF2B5EF4-FFF2-40B4-BE49-F238E27FC236}">
                <a16:creationId xmlns:a16="http://schemas.microsoft.com/office/drawing/2014/main" id="{D4D1263B-049A-CBED-A320-054CCD577B0E}"/>
              </a:ext>
            </a:extLst>
          </p:cNvPr>
          <p:cNvSpPr/>
          <p:nvPr/>
        </p:nvSpPr>
        <p:spPr bwMode="auto">
          <a:xfrm>
            <a:off x="769004" y="6423772"/>
            <a:ext cx="2509717" cy="2117912"/>
          </a:xfrm>
          <a:prstGeom prst="roundRect">
            <a:avLst>
              <a:gd name="adj" fmla="val 5357"/>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1" name="Rounded Rectangle 10">
            <a:extLst>
              <a:ext uri="{FF2B5EF4-FFF2-40B4-BE49-F238E27FC236}">
                <a16:creationId xmlns:a16="http://schemas.microsoft.com/office/drawing/2014/main" id="{CDDD23CD-82B3-F7B8-5A6D-285E95F5BE5B}"/>
              </a:ext>
            </a:extLst>
          </p:cNvPr>
          <p:cNvSpPr/>
          <p:nvPr/>
        </p:nvSpPr>
        <p:spPr bwMode="auto">
          <a:xfrm>
            <a:off x="3604493" y="6423772"/>
            <a:ext cx="2509717" cy="2117912"/>
          </a:xfrm>
          <a:prstGeom prst="roundRect">
            <a:avLst>
              <a:gd name="adj" fmla="val 5357"/>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1365" tIns="129092" rIns="161365" bIns="129092" numCol="1" spcCol="0" rtlCol="0" fromWordArt="0" anchor="t" anchorCtr="0" forceAA="0" compatLnSpc="1">
            <a:prstTxWarp prst="textNoShape">
              <a:avLst/>
            </a:prstTxWarp>
            <a:noAutofit/>
          </a:bodyPr>
          <a:lstStyle/>
          <a:p>
            <a:pPr defTabSz="822813" fontAlgn="base">
              <a:spcBef>
                <a:spcPct val="0"/>
              </a:spcBef>
              <a:spcAft>
                <a:spcPct val="0"/>
              </a:spcAft>
            </a:pPr>
            <a:endParaRPr lang="en-US" sz="1765"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23473712-BD25-3AA1-F46E-D850B92AE43D}"/>
              </a:ext>
            </a:extLst>
          </p:cNvPr>
          <p:cNvSpPr txBox="1"/>
          <p:nvPr/>
        </p:nvSpPr>
        <p:spPr>
          <a:xfrm>
            <a:off x="431437" y="2720081"/>
            <a:ext cx="3829600" cy="651910"/>
          </a:xfrm>
          <a:prstGeom prst="rect">
            <a:avLst/>
          </a:prstGeom>
          <a:noFill/>
        </p:spPr>
        <p:txBody>
          <a:bodyPr wrap="square" lIns="0" tIns="0" rIns="0" bIns="0" rtlCol="0">
            <a:spAutoFit/>
          </a:bodyPr>
          <a:lstStyle/>
          <a:p>
            <a:pPr algn="l"/>
            <a:r>
              <a:rPr lang="en-US" sz="1412" dirty="0"/>
              <a:t>Complexity score:_____</a:t>
            </a:r>
          </a:p>
          <a:p>
            <a:pPr algn="l"/>
            <a:endParaRPr lang="en-US" sz="1412" dirty="0"/>
          </a:p>
          <a:p>
            <a:pPr algn="l"/>
            <a:r>
              <a:rPr lang="en-US" sz="1412" dirty="0"/>
              <a:t>Value score:_____</a:t>
            </a:r>
          </a:p>
        </p:txBody>
      </p:sp>
      <p:sp>
        <p:nvSpPr>
          <p:cNvPr id="13" name="TextBox 12">
            <a:extLst>
              <a:ext uri="{FF2B5EF4-FFF2-40B4-BE49-F238E27FC236}">
                <a16:creationId xmlns:a16="http://schemas.microsoft.com/office/drawing/2014/main" id="{C00C54B8-2A9C-B2E4-763F-A7982DF1F6A3}"/>
              </a:ext>
            </a:extLst>
          </p:cNvPr>
          <p:cNvSpPr txBox="1"/>
          <p:nvPr/>
        </p:nvSpPr>
        <p:spPr>
          <a:xfrm rot="16200000">
            <a:off x="-1840866" y="6160658"/>
            <a:ext cx="4572002" cy="190052"/>
          </a:xfrm>
          <a:prstGeom prst="rect">
            <a:avLst/>
          </a:prstGeom>
          <a:noFill/>
        </p:spPr>
        <p:txBody>
          <a:bodyPr wrap="square" lIns="0" tIns="0" rIns="0" bIns="0" rtlCol="0">
            <a:spAutoFit/>
          </a:bodyPr>
          <a:lstStyle/>
          <a:p>
            <a:pPr algn="ctr"/>
            <a:r>
              <a:rPr lang="en-US" sz="1235" dirty="0">
                <a:solidFill>
                  <a:srgbClr val="0070C0"/>
                </a:solidFill>
                <a:latin typeface="+mj-lt"/>
              </a:rPr>
              <a:t>Complexity</a:t>
            </a:r>
          </a:p>
        </p:txBody>
      </p:sp>
      <p:sp>
        <p:nvSpPr>
          <p:cNvPr id="14" name="TextBox 13">
            <a:extLst>
              <a:ext uri="{FF2B5EF4-FFF2-40B4-BE49-F238E27FC236}">
                <a16:creationId xmlns:a16="http://schemas.microsoft.com/office/drawing/2014/main" id="{81C65CD2-7052-A4C5-18B9-955B9573813A}"/>
              </a:ext>
            </a:extLst>
          </p:cNvPr>
          <p:cNvSpPr txBox="1"/>
          <p:nvPr/>
        </p:nvSpPr>
        <p:spPr>
          <a:xfrm>
            <a:off x="1142999" y="8761106"/>
            <a:ext cx="4572002" cy="190052"/>
          </a:xfrm>
          <a:prstGeom prst="rect">
            <a:avLst/>
          </a:prstGeom>
          <a:noFill/>
        </p:spPr>
        <p:txBody>
          <a:bodyPr wrap="square" lIns="0" tIns="0" rIns="0" bIns="0" rtlCol="0">
            <a:spAutoFit/>
          </a:bodyPr>
          <a:lstStyle/>
          <a:p>
            <a:pPr algn="ctr"/>
            <a:r>
              <a:rPr lang="en-US" sz="1235" dirty="0">
                <a:solidFill>
                  <a:srgbClr val="0070C0"/>
                </a:solidFill>
                <a:latin typeface="+mj-lt"/>
              </a:rPr>
              <a:t>Value</a:t>
            </a:r>
          </a:p>
        </p:txBody>
      </p:sp>
      <p:sp>
        <p:nvSpPr>
          <p:cNvPr id="15" name="TextBox 14">
            <a:extLst>
              <a:ext uri="{FF2B5EF4-FFF2-40B4-BE49-F238E27FC236}">
                <a16:creationId xmlns:a16="http://schemas.microsoft.com/office/drawing/2014/main" id="{650D3A8E-1D74-FCF1-6942-C76A2D828B16}"/>
              </a:ext>
            </a:extLst>
          </p:cNvPr>
          <p:cNvSpPr txBox="1"/>
          <p:nvPr/>
        </p:nvSpPr>
        <p:spPr>
          <a:xfrm>
            <a:off x="769004" y="8293755"/>
            <a:ext cx="2497110" cy="162993"/>
          </a:xfrm>
          <a:prstGeom prst="rect">
            <a:avLst/>
          </a:prstGeom>
          <a:noFill/>
        </p:spPr>
        <p:txBody>
          <a:bodyPr wrap="square" lIns="0" tIns="0" rIns="0" bIns="0" rtlCol="0">
            <a:spAutoFit/>
          </a:bodyPr>
          <a:lstStyle/>
          <a:p>
            <a:pPr algn="ctr"/>
            <a:r>
              <a:rPr lang="en-US" sz="1059" dirty="0"/>
              <a:t>4 – 8  low value</a:t>
            </a:r>
          </a:p>
        </p:txBody>
      </p:sp>
      <p:sp>
        <p:nvSpPr>
          <p:cNvPr id="16" name="TextBox 15">
            <a:extLst>
              <a:ext uri="{FF2B5EF4-FFF2-40B4-BE49-F238E27FC236}">
                <a16:creationId xmlns:a16="http://schemas.microsoft.com/office/drawing/2014/main" id="{9483C940-CE70-B91A-DE83-492093FC0392}"/>
              </a:ext>
            </a:extLst>
          </p:cNvPr>
          <p:cNvSpPr txBox="1"/>
          <p:nvPr/>
        </p:nvSpPr>
        <p:spPr>
          <a:xfrm>
            <a:off x="3604493" y="8293755"/>
            <a:ext cx="2497110" cy="162993"/>
          </a:xfrm>
          <a:prstGeom prst="rect">
            <a:avLst/>
          </a:prstGeom>
          <a:noFill/>
        </p:spPr>
        <p:txBody>
          <a:bodyPr wrap="square" lIns="0" tIns="0" rIns="0" bIns="0" rtlCol="0">
            <a:spAutoFit/>
          </a:bodyPr>
          <a:lstStyle/>
          <a:p>
            <a:pPr algn="ctr"/>
            <a:r>
              <a:rPr lang="en-US" sz="1059" dirty="0"/>
              <a:t>8 – 12 high value</a:t>
            </a:r>
          </a:p>
        </p:txBody>
      </p:sp>
      <p:sp>
        <p:nvSpPr>
          <p:cNvPr id="17" name="TextBox 16">
            <a:extLst>
              <a:ext uri="{FF2B5EF4-FFF2-40B4-BE49-F238E27FC236}">
                <a16:creationId xmlns:a16="http://schemas.microsoft.com/office/drawing/2014/main" id="{27ED86EE-67FE-737F-5FC2-4B1BFC74F990}"/>
              </a:ext>
            </a:extLst>
          </p:cNvPr>
          <p:cNvSpPr txBox="1"/>
          <p:nvPr/>
        </p:nvSpPr>
        <p:spPr>
          <a:xfrm rot="16200000">
            <a:off x="-110917" y="7401231"/>
            <a:ext cx="2117913" cy="162993"/>
          </a:xfrm>
          <a:prstGeom prst="rect">
            <a:avLst/>
          </a:prstGeom>
          <a:noFill/>
        </p:spPr>
        <p:txBody>
          <a:bodyPr wrap="square" lIns="0" tIns="0" rIns="0" bIns="0" rtlCol="0">
            <a:spAutoFit/>
          </a:bodyPr>
          <a:lstStyle/>
          <a:p>
            <a:pPr algn="ctr"/>
            <a:r>
              <a:rPr lang="en-US" sz="1059" dirty="0"/>
              <a:t>5 – 9 low complexity</a:t>
            </a:r>
          </a:p>
        </p:txBody>
      </p:sp>
      <p:sp>
        <p:nvSpPr>
          <p:cNvPr id="18" name="TextBox 17">
            <a:extLst>
              <a:ext uri="{FF2B5EF4-FFF2-40B4-BE49-F238E27FC236}">
                <a16:creationId xmlns:a16="http://schemas.microsoft.com/office/drawing/2014/main" id="{0E471A83-E9E9-5669-392A-498FA9FF4DD2}"/>
              </a:ext>
            </a:extLst>
          </p:cNvPr>
          <p:cNvSpPr txBox="1"/>
          <p:nvPr/>
        </p:nvSpPr>
        <p:spPr>
          <a:xfrm rot="16200000">
            <a:off x="-101597" y="4947143"/>
            <a:ext cx="2117913" cy="162993"/>
          </a:xfrm>
          <a:prstGeom prst="rect">
            <a:avLst/>
          </a:prstGeom>
          <a:noFill/>
        </p:spPr>
        <p:txBody>
          <a:bodyPr wrap="square" lIns="0" tIns="0" rIns="0" bIns="0" rtlCol="0">
            <a:spAutoFit/>
          </a:bodyPr>
          <a:lstStyle/>
          <a:p>
            <a:pPr algn="ctr"/>
            <a:r>
              <a:rPr lang="en-US" sz="1059" dirty="0"/>
              <a:t>10 – 15 high complexity</a:t>
            </a:r>
          </a:p>
        </p:txBody>
      </p:sp>
      <p:cxnSp>
        <p:nvCxnSpPr>
          <p:cNvPr id="20" name="Straight Arrow Connector 19">
            <a:extLst>
              <a:ext uri="{FF2B5EF4-FFF2-40B4-BE49-F238E27FC236}">
                <a16:creationId xmlns:a16="http://schemas.microsoft.com/office/drawing/2014/main" id="{9B8C0D4C-3C64-3195-37FB-B0D904F5F2F3}"/>
              </a:ext>
            </a:extLst>
          </p:cNvPr>
          <p:cNvCxnSpPr>
            <a:endCxn id="13" idx="3"/>
          </p:cNvCxnSpPr>
          <p:nvPr/>
        </p:nvCxnSpPr>
        <p:spPr>
          <a:xfrm flipV="1">
            <a:off x="445135" y="3969683"/>
            <a:ext cx="0" cy="1727108"/>
          </a:xfrm>
          <a:prstGeom prst="straightConnector1">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01FF7B3-FF82-78C1-C559-E445D64D3C09}"/>
              </a:ext>
            </a:extLst>
          </p:cNvPr>
          <p:cNvCxnSpPr>
            <a:cxnSpLocks/>
            <a:endCxn id="13" idx="1"/>
          </p:cNvCxnSpPr>
          <p:nvPr/>
        </p:nvCxnSpPr>
        <p:spPr>
          <a:xfrm>
            <a:off x="445135" y="6768353"/>
            <a:ext cx="0" cy="1773332"/>
          </a:xfrm>
          <a:prstGeom prst="straightConnector1">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5B51206-9F8F-D7FF-3E42-094F0B50751F}"/>
              </a:ext>
            </a:extLst>
          </p:cNvPr>
          <p:cNvCxnSpPr>
            <a:cxnSpLocks/>
          </p:cNvCxnSpPr>
          <p:nvPr/>
        </p:nvCxnSpPr>
        <p:spPr>
          <a:xfrm flipV="1">
            <a:off x="3744166" y="8846095"/>
            <a:ext cx="2357437" cy="11961"/>
          </a:xfrm>
          <a:prstGeom prst="straightConnector1">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28D159F-F271-0513-F1AE-347478498FB1}"/>
              </a:ext>
            </a:extLst>
          </p:cNvPr>
          <p:cNvCxnSpPr>
            <a:cxnSpLocks/>
          </p:cNvCxnSpPr>
          <p:nvPr/>
        </p:nvCxnSpPr>
        <p:spPr>
          <a:xfrm flipH="1">
            <a:off x="756397" y="8877860"/>
            <a:ext cx="2344831" cy="0"/>
          </a:xfrm>
          <a:prstGeom prst="straightConnector1">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65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862B-39AA-FAC1-D372-B94471C4BE5A}"/>
              </a:ext>
            </a:extLst>
          </p:cNvPr>
          <p:cNvSpPr>
            <a:spLocks noGrp="1"/>
          </p:cNvSpPr>
          <p:nvPr>
            <p:ph type="title"/>
          </p:nvPr>
        </p:nvSpPr>
        <p:spPr>
          <a:xfrm>
            <a:off x="338575" y="1077558"/>
            <a:ext cx="4119125" cy="774214"/>
          </a:xfrm>
        </p:spPr>
        <p:txBody>
          <a:bodyPr/>
          <a:lstStyle/>
          <a:p>
            <a:r>
              <a:rPr lang="en-US" dirty="0"/>
              <a:t>What you leave with</a:t>
            </a:r>
          </a:p>
        </p:txBody>
      </p:sp>
      <p:sp>
        <p:nvSpPr>
          <p:cNvPr id="3" name="TextBox 2">
            <a:extLst>
              <a:ext uri="{FF2B5EF4-FFF2-40B4-BE49-F238E27FC236}">
                <a16:creationId xmlns:a16="http://schemas.microsoft.com/office/drawing/2014/main" id="{1C3B4008-5832-B02B-A0D9-D76FF3D9F4EA}"/>
              </a:ext>
            </a:extLst>
          </p:cNvPr>
          <p:cNvSpPr txBox="1"/>
          <p:nvPr/>
        </p:nvSpPr>
        <p:spPr>
          <a:xfrm>
            <a:off x="592511" y="2280398"/>
            <a:ext cx="5672978" cy="2341475"/>
          </a:xfrm>
          <a:prstGeom prst="rect">
            <a:avLst/>
          </a:prstGeom>
          <a:noFill/>
        </p:spPr>
        <p:txBody>
          <a:bodyPr wrap="square" lIns="0" tIns="0" rIns="0" bIns="0" rtlCol="0">
            <a:spAutoFit/>
          </a:bodyPr>
          <a:lstStyle/>
          <a:p>
            <a:pPr algn="l"/>
            <a:r>
              <a:rPr lang="en-US" sz="1765" dirty="0"/>
              <a:t>What you’ve created today</a:t>
            </a:r>
          </a:p>
          <a:p>
            <a:pPr algn="l"/>
            <a:endParaRPr lang="en-US" sz="1765" dirty="0"/>
          </a:p>
          <a:p>
            <a:pPr algn="l"/>
            <a:r>
              <a:rPr lang="en-US" sz="1493" dirty="0"/>
              <a:t>By the end of this workshop, you’ve done more than brainstorm ideas.</a:t>
            </a:r>
          </a:p>
          <a:p>
            <a:pPr algn="l"/>
            <a:endParaRPr lang="en-US" sz="1493" dirty="0"/>
          </a:p>
          <a:p>
            <a:pPr algn="l"/>
            <a:r>
              <a:rPr lang="en-US" sz="1493" dirty="0"/>
              <a:t>You’ve created a structured, defensible view of work, grounded in reality.</a:t>
            </a:r>
          </a:p>
          <a:p>
            <a:pPr algn="l"/>
            <a:endParaRPr lang="en-US" sz="1493" dirty="0"/>
          </a:p>
          <a:p>
            <a:pPr algn="l"/>
            <a:endParaRPr lang="en-US" sz="1493" dirty="0"/>
          </a:p>
          <a:p>
            <a:pPr algn="l"/>
            <a:r>
              <a:rPr lang="en-US" sz="1235" dirty="0"/>
              <a:t>Notes:</a:t>
            </a:r>
          </a:p>
        </p:txBody>
      </p:sp>
    </p:spTree>
    <p:extLst>
      <p:ext uri="{BB962C8B-B14F-4D97-AF65-F5344CB8AC3E}">
        <p14:creationId xmlns:p14="http://schemas.microsoft.com/office/powerpoint/2010/main" val="384140981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8ED1F-705F-7391-49EB-DB2F50C14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EB141-BE4A-5A9E-5C44-6D9FF5D4AFFB}"/>
              </a:ext>
            </a:extLst>
          </p:cNvPr>
          <p:cNvSpPr>
            <a:spLocks noGrp="1"/>
          </p:cNvSpPr>
          <p:nvPr>
            <p:ph type="title"/>
          </p:nvPr>
        </p:nvSpPr>
        <p:spPr>
          <a:xfrm>
            <a:off x="338575" y="1077558"/>
            <a:ext cx="4119125" cy="774214"/>
          </a:xfrm>
        </p:spPr>
        <p:txBody>
          <a:bodyPr/>
          <a:lstStyle/>
          <a:p>
            <a:r>
              <a:rPr lang="en-US" dirty="0"/>
              <a:t>Thoughts and ideas</a:t>
            </a:r>
          </a:p>
        </p:txBody>
      </p:sp>
      <p:sp>
        <p:nvSpPr>
          <p:cNvPr id="3" name="TextBox 2">
            <a:extLst>
              <a:ext uri="{FF2B5EF4-FFF2-40B4-BE49-F238E27FC236}">
                <a16:creationId xmlns:a16="http://schemas.microsoft.com/office/drawing/2014/main" id="{473958E8-6B6E-0177-7511-EDEBBD300432}"/>
              </a:ext>
            </a:extLst>
          </p:cNvPr>
          <p:cNvSpPr txBox="1"/>
          <p:nvPr/>
        </p:nvSpPr>
        <p:spPr>
          <a:xfrm>
            <a:off x="592511" y="2280398"/>
            <a:ext cx="5672978" cy="190052"/>
          </a:xfrm>
          <a:prstGeom prst="rect">
            <a:avLst/>
          </a:prstGeom>
          <a:noFill/>
        </p:spPr>
        <p:txBody>
          <a:bodyPr wrap="square" lIns="0" tIns="0" rIns="0" bIns="0" rtlCol="0">
            <a:spAutoFit/>
          </a:bodyPr>
          <a:lstStyle/>
          <a:p>
            <a:pPr algn="l"/>
            <a:r>
              <a:rPr lang="en-US" sz="1235" dirty="0"/>
              <a:t>Notes:</a:t>
            </a:r>
          </a:p>
        </p:txBody>
      </p:sp>
    </p:spTree>
    <p:extLst>
      <p:ext uri="{BB962C8B-B14F-4D97-AF65-F5344CB8AC3E}">
        <p14:creationId xmlns:p14="http://schemas.microsoft.com/office/powerpoint/2010/main" val="275651145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6B0CD0-735A-1C0F-147C-5838141A673D}"/>
              </a:ext>
            </a:extLst>
          </p:cNvPr>
          <p:cNvSpPr txBox="1"/>
          <p:nvPr/>
        </p:nvSpPr>
        <p:spPr>
          <a:xfrm>
            <a:off x="302560" y="1951575"/>
            <a:ext cx="4513169" cy="1148712"/>
          </a:xfrm>
          <a:prstGeom prst="rect">
            <a:avLst/>
          </a:prstGeom>
          <a:noFill/>
        </p:spPr>
        <p:txBody>
          <a:bodyPr wrap="square" lIns="0" tIns="0" rIns="0" bIns="0" rtlCol="0">
            <a:spAutoFit/>
          </a:bodyPr>
          <a:lstStyle/>
          <a:p>
            <a:r>
              <a:rPr lang="en-US" sz="1493" dirty="0"/>
              <a:t>Reimagining work isn’t about replacing people with AI.</a:t>
            </a:r>
          </a:p>
          <a:p>
            <a:endParaRPr lang="en-US" sz="1493" dirty="0"/>
          </a:p>
          <a:p>
            <a:r>
              <a:rPr lang="en-US" sz="1493" dirty="0"/>
              <a:t>It’s about </a:t>
            </a:r>
            <a:r>
              <a:rPr lang="en-US" sz="1493" dirty="0">
                <a:solidFill>
                  <a:srgbClr val="FF9349"/>
                </a:solidFill>
                <a:latin typeface="+mj-lt"/>
              </a:rPr>
              <a:t>removing friction </a:t>
            </a:r>
            <a:r>
              <a:rPr lang="en-US" sz="1493" dirty="0"/>
              <a:t>so people can focus on what matters most</a:t>
            </a:r>
          </a:p>
        </p:txBody>
      </p:sp>
      <p:sp>
        <p:nvSpPr>
          <p:cNvPr id="4" name="TextBox 3">
            <a:extLst>
              <a:ext uri="{FF2B5EF4-FFF2-40B4-BE49-F238E27FC236}">
                <a16:creationId xmlns:a16="http://schemas.microsoft.com/office/drawing/2014/main" id="{1335982C-8BC0-DC9B-7F4F-281319DBBB76}"/>
              </a:ext>
            </a:extLst>
          </p:cNvPr>
          <p:cNvSpPr txBox="1"/>
          <p:nvPr/>
        </p:nvSpPr>
        <p:spPr>
          <a:xfrm>
            <a:off x="3429000" y="5464095"/>
            <a:ext cx="3096801" cy="3137397"/>
          </a:xfrm>
          <a:prstGeom prst="rect">
            <a:avLst/>
          </a:prstGeom>
          <a:noFill/>
        </p:spPr>
        <p:txBody>
          <a:bodyPr wrap="square" lIns="0" tIns="0" rIns="0" bIns="0" rtlCol="0">
            <a:spAutoFit/>
          </a:bodyPr>
          <a:lstStyle/>
          <a:p>
            <a:pPr algn="r"/>
            <a:r>
              <a:rPr lang="en-US" sz="971" dirty="0"/>
              <a:t>This workshop introduced a simple but repeatable way to reimagine work.</a:t>
            </a:r>
          </a:p>
          <a:p>
            <a:pPr algn="r"/>
            <a:endParaRPr lang="en-US" sz="971" dirty="0"/>
          </a:p>
          <a:p>
            <a:pPr algn="r"/>
            <a:r>
              <a:rPr lang="en-US" sz="971" dirty="0"/>
              <a:t>You started by choosing a practical entry point – a role, a process, or an experience, and used it to uncover real friction in how work happens today. From there, you translated that insight into a clearly defined opportunity, grounded in people’s needs, business context, and measurable value.</a:t>
            </a:r>
          </a:p>
          <a:p>
            <a:pPr algn="r"/>
            <a:endParaRPr lang="en-US" sz="971" dirty="0"/>
          </a:p>
          <a:p>
            <a:pPr algn="r"/>
            <a:r>
              <a:rPr lang="en-US" sz="971" dirty="0"/>
              <a:t>Rather than jumping into technology, you focused first on clarity: what problem is being solved, who it affects, and what success looks like. Only then did you shape an agent concept – defining its roles, boundaries, level of autonomy, and how people remain in control.</a:t>
            </a:r>
          </a:p>
          <a:p>
            <a:pPr algn="r"/>
            <a:endParaRPr lang="en-US" sz="971" dirty="0"/>
          </a:p>
          <a:p>
            <a:pPr algn="r"/>
            <a:r>
              <a:rPr lang="en-US" sz="971" dirty="0"/>
              <a:t>This approach isn’t tied to a specific tool or solution. It’s a way of thinking that can be reused wherever work feels inefficient, unclear, or constrained.</a:t>
            </a:r>
          </a:p>
          <a:p>
            <a:pPr algn="r"/>
            <a:endParaRPr lang="en-US" sz="971" dirty="0"/>
          </a:p>
          <a:p>
            <a:pPr algn="r"/>
            <a:r>
              <a:rPr lang="en-US" sz="971" dirty="0">
                <a:solidFill>
                  <a:srgbClr val="FF9349"/>
                </a:solidFill>
              </a:rPr>
              <a:t>Start small. Apply it often. Adapt it to your context</a:t>
            </a:r>
            <a:r>
              <a:rPr lang="en-US" sz="971" dirty="0"/>
              <a:t>.</a:t>
            </a:r>
          </a:p>
        </p:txBody>
      </p:sp>
    </p:spTree>
    <p:extLst>
      <p:ext uri="{BB962C8B-B14F-4D97-AF65-F5344CB8AC3E}">
        <p14:creationId xmlns:p14="http://schemas.microsoft.com/office/powerpoint/2010/main" val="3695113447"/>
      </p:ext>
    </p:extLst>
  </p:cSld>
  <p:clrMapOvr>
    <a:masterClrMapping/>
  </p:clrMapOvr>
  <p:transition>
    <p:fade/>
  </p:transition>
</p:sld>
</file>

<file path=ppt/theme/theme1.xml><?xml version="1.0" encoding="utf-8"?>
<a:theme xmlns:a="http://schemas.openxmlformats.org/drawingml/2006/main" name="Cover_Pages">
  <a:themeElements>
    <a:clrScheme name="Custom 9">
      <a:dk1>
        <a:srgbClr val="000000"/>
      </a:dk1>
      <a:lt1>
        <a:srgbClr val="FFFFFF"/>
      </a:lt1>
      <a:dk2>
        <a:srgbClr val="3B2E58"/>
      </a:dk2>
      <a:lt2>
        <a:srgbClr val="E6E6E6"/>
      </a:lt2>
      <a:accent1>
        <a:srgbClr val="8661C5"/>
      </a:accent1>
      <a:accent2>
        <a:srgbClr val="243A5E"/>
      </a:accent2>
      <a:accent3>
        <a:srgbClr val="D59D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purple" id="{EADBB2B6-C988-4506-9E5D-864C40D2403A}" vid="{340D7B29-DF20-4590-8758-5488C1209B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3339230-ff7e-4f5e-b889-1ad9c94ff2ca">
      <Terms xmlns="http://schemas.microsoft.com/office/infopath/2007/PartnerControls"/>
    </lcf76f155ced4ddcb4097134ff3c332f>
    <TaxCatchAll xmlns="76a5c015-decb-4904-af33-2cdd0cb436d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965E8364B9DA43BCC8D9482B002D9C" ma:contentTypeVersion="14" ma:contentTypeDescription="Create a new document." ma:contentTypeScope="" ma:versionID="0ab9c20fc4eb8b399dafe4d4f5b3d0f1">
  <xsd:schema xmlns:xsd="http://www.w3.org/2001/XMLSchema" xmlns:xs="http://www.w3.org/2001/XMLSchema" xmlns:p="http://schemas.microsoft.com/office/2006/metadata/properties" xmlns:ns1="http://schemas.microsoft.com/sharepoint/v3" xmlns:ns2="a3339230-ff7e-4f5e-b889-1ad9c94ff2ca" xmlns:ns3="76a5c015-decb-4904-af33-2cdd0cb436d4" targetNamespace="http://schemas.microsoft.com/office/2006/metadata/properties" ma:root="true" ma:fieldsID="01747912c4d5a50fe2ca9a543c7d6fad" ns1:_="" ns2:_="" ns3:_="">
    <xsd:import namespace="http://schemas.microsoft.com/sharepoint/v3"/>
    <xsd:import namespace="a3339230-ff7e-4f5e-b889-1ad9c94ff2ca"/>
    <xsd:import namespace="76a5c015-decb-4904-af33-2cdd0cb436d4"/>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339230-ff7e-4f5e-b889-1ad9c94ff2ca"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6a5c015-decb-4904-af33-2cdd0cb436d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950218b-02cd-403d-9557-ae11a69d90b9}" ma:internalName="TaxCatchAll" ma:showField="CatchAllData" ma:web="76a5c015-decb-4904-af33-2cdd0cb436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02120B-CFBA-4559-B8EC-00C10EA3DDB9}">
  <ds:schemaRefs>
    <ds:schemaRef ds:uri="http://schemas.microsoft.com/sharepoint/v3"/>
    <ds:schemaRef ds:uri="http://purl.org/dc/dcmitype/"/>
    <ds:schemaRef ds:uri="http://purl.org/dc/elements/1.1/"/>
    <ds:schemaRef ds:uri="http://www.w3.org/XML/1998/namespace"/>
    <ds:schemaRef ds:uri="f5d7644a-4532-4813-a815-b54215be4a0c"/>
    <ds:schemaRef ds:uri="http://schemas.openxmlformats.org/package/2006/metadata/core-properties"/>
    <ds:schemaRef ds:uri="http://schemas.microsoft.com/office/2006/metadata/properties"/>
    <ds:schemaRef ds:uri="http://schemas.microsoft.com/office/infopath/2007/PartnerControls"/>
    <ds:schemaRef ds:uri="http://purl.org/dc/terms/"/>
    <ds:schemaRef ds:uri="http://schemas.microsoft.com/office/2006/documentManagement/types"/>
    <ds:schemaRef ds:uri="230e9df3-be65-4c73-a93b-d1236ebd677e"/>
    <ds:schemaRef ds:uri="5164c192-e522-4d89-a5bb-3cb209f039bd"/>
  </ds:schemaRefs>
</ds:datastoreItem>
</file>

<file path=customXml/itemProps2.xml><?xml version="1.0" encoding="utf-8"?>
<ds:datastoreItem xmlns:ds="http://schemas.openxmlformats.org/officeDocument/2006/customXml" ds:itemID="{9D2C3733-4B65-4C78-B1CE-6344A91331A9}">
  <ds:schemaRefs>
    <ds:schemaRef ds:uri="http://schemas.microsoft.com/sharepoint/v3/contenttype/forms"/>
  </ds:schemaRefs>
</ds:datastoreItem>
</file>

<file path=customXml/itemProps3.xml><?xml version="1.0" encoding="utf-8"?>
<ds:datastoreItem xmlns:ds="http://schemas.openxmlformats.org/officeDocument/2006/customXml" ds:itemID="{685757B2-B1BC-47B0-8384-0AAC04AFEF14}"/>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22372</TotalTime>
  <Words>3970</Words>
  <Application>Microsoft Office PowerPoint</Application>
  <PresentationFormat>A4 Paper (210x297 mm)</PresentationFormat>
  <Paragraphs>650</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Cover_Pages</vt:lpstr>
      <vt:lpstr>Envisioning the frontier of work</vt:lpstr>
      <vt:lpstr>Envisioning the frontier of work  Kickstarter workshop</vt:lpstr>
      <vt:lpstr>Kickstarter workshops</vt:lpstr>
      <vt:lpstr>Why we are here… </vt:lpstr>
      <vt:lpstr>Why we are here… </vt:lpstr>
      <vt:lpstr>PowerPoint Presentation</vt:lpstr>
      <vt:lpstr>Workshop flow</vt:lpstr>
      <vt:lpstr>Selecting your starting lens</vt:lpstr>
      <vt:lpstr>Work insight canvas</vt:lpstr>
      <vt:lpstr>Work insight canvas</vt:lpstr>
      <vt:lpstr>Work insight canvas</vt:lpstr>
      <vt:lpstr>Mapping</vt:lpstr>
      <vt:lpstr>Role mapping  cards</vt:lpstr>
      <vt:lpstr>Process mapping  cards</vt:lpstr>
      <vt:lpstr>Experience mapping  cards</vt:lpstr>
      <vt:lpstr>Pain point identification and prioritization</vt:lpstr>
      <vt:lpstr>Pain point identification and prioritization</vt:lpstr>
      <vt:lpstr>If we solved this problem…</vt:lpstr>
      <vt:lpstr>If we solved this problem…</vt:lpstr>
      <vt:lpstr>If we solved this problem…</vt:lpstr>
      <vt:lpstr>Deepening the view on value</vt:lpstr>
      <vt:lpstr>Agent design</vt:lpstr>
      <vt:lpstr>Agent types</vt:lpstr>
      <vt:lpstr>Agent types</vt:lpstr>
      <vt:lpstr>Agent types</vt:lpstr>
      <vt:lpstr>Agent types</vt:lpstr>
      <vt:lpstr>Agent types</vt:lpstr>
      <vt:lpstr>Agent types</vt:lpstr>
      <vt:lpstr>Agent type – human/ agent split</vt:lpstr>
      <vt:lpstr>General foundations for all agent types</vt:lpstr>
      <vt:lpstr>Agent design canvas</vt:lpstr>
      <vt:lpstr>Agent complexity scoring matrix</vt:lpstr>
      <vt:lpstr>Agent complexity scoring matrix</vt:lpstr>
      <vt:lpstr>What you leave with</vt:lpstr>
      <vt:lpstr>Thoughts and ideas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Mow</dc:creator>
  <cp:lastModifiedBy>Steve Jeffery</cp:lastModifiedBy>
  <cp:revision>45</cp:revision>
  <dcterms:created xsi:type="dcterms:W3CDTF">2024-09-18T21:22:31Z</dcterms:created>
  <dcterms:modified xsi:type="dcterms:W3CDTF">2026-02-26T16:36:57Z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0x01010079965E8364B9DA43BCC8D9482B002D9C</vt:lpwstr>
  </property>
  <property fmtid="{D5CDD505-2E9C-101B-9397-08002B2CF9AE}" pid="3" name="MediaServiceImageTags">
    <vt:lpwstr/>
  </property>
  <property fmtid="{D5CDD505-2E9C-101B-9397-08002B2CF9AE}" pid="4" name="Order">
    <vt:r8>12024600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_SharedFileIndex">
    <vt:lpwstr/>
  </property>
  <property fmtid="{D5CDD505-2E9C-101B-9397-08002B2CF9AE}" pid="12" name="_SourceUrl">
    <vt:lpwstr/>
  </property>
</Properties>
</file>