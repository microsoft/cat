
<file path=[Content_Types].xml><?xml version="1.0" encoding="utf-8"?>
<Types xmlns="http://schemas.openxmlformats.org/package/2006/content-types">
  <Default Extension="emf" ContentType="image/x-emf"/>
  <Default Extension="glb" ContentType="model/gltf.binary"/>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6162" r:id="rId4"/>
  </p:sldMasterIdLst>
  <p:sldIdLst>
    <p:sldId id="2147483644" r:id="rId5"/>
    <p:sldId id="2076138247" r:id="rId6"/>
    <p:sldId id="268" r:id="rId7"/>
    <p:sldId id="257" r:id="rId8"/>
    <p:sldId id="2147480035" r:id="rId9"/>
    <p:sldId id="2147480120" r:id="rId10"/>
    <p:sldId id="258" r:id="rId11"/>
    <p:sldId id="2147480042" r:id="rId12"/>
    <p:sldId id="2147480056" r:id="rId13"/>
    <p:sldId id="259" r:id="rId14"/>
    <p:sldId id="260" r:id="rId15"/>
    <p:sldId id="261" r:id="rId16"/>
    <p:sldId id="262" r:id="rId17"/>
    <p:sldId id="263" r:id="rId18"/>
    <p:sldId id="264" r:id="rId19"/>
    <p:sldId id="2147480091" r:id="rId20"/>
    <p:sldId id="2147480098" r:id="rId21"/>
    <p:sldId id="26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91014FC-36B9-4B0A-9FFD-CDF380B15FE0}">
          <p14:sldIdLst>
            <p14:sldId id="2147483644"/>
            <p14:sldId id="2076138247"/>
            <p14:sldId id="268"/>
          </p14:sldIdLst>
        </p14:section>
        <p14:section name="Session Content" id="{F64245C1-7874-4EA2-B72D-8431D2651320}">
          <p14:sldIdLst>
            <p14:sldId id="257"/>
            <p14:sldId id="2147480035"/>
            <p14:sldId id="2147480120"/>
            <p14:sldId id="258"/>
            <p14:sldId id="2147480042"/>
            <p14:sldId id="2147480056"/>
            <p14:sldId id="259"/>
            <p14:sldId id="260"/>
            <p14:sldId id="261"/>
            <p14:sldId id="262"/>
            <p14:sldId id="263"/>
            <p14:sldId id="264"/>
            <p14:sldId id="2147480091"/>
            <p14:sldId id="2147480098"/>
            <p14:sldId id="265"/>
          </p14:sldIdLst>
        </p14:section>
        <p14:section name="Wrapup" id="{471634B9-2FD4-418A-A706-479832398CA1}">
          <p14:sldIdLst/>
        </p14:section>
        <p14:section name="Speaker Tips" id="{44BDC230-6F4A-48E5-BF63-FD5274C657FB}">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2633"/>
    <a:srgbClr val="091F2C"/>
    <a:srgbClr val="71D1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ian Nastvogel" userId="S::dnastvogel@microsoft.com::01bf3104-fa72-409a-8070-dc95ad0ff07f" providerId="AD" clId="Web-{6B8DF318-C859-5197-5553-DFDA8942260B}"/>
    <pc:docChg chg="delSld modSection">
      <pc:chgData name="Darian Nastvogel" userId="S::dnastvogel@microsoft.com::01bf3104-fa72-409a-8070-dc95ad0ff07f" providerId="AD" clId="Web-{6B8DF318-C859-5197-5553-DFDA8942260B}" dt="2026-05-21T17:33:40.786" v="2"/>
      <pc:docMkLst>
        <pc:docMk/>
      </pc:docMkLst>
    </pc:docChg>
  </pc:docChgLst>
  <pc:docChgLst>
    <pc:chgData name="Julie Chudakova" userId="S::jchudakova@microsoft.com::45edf92f-9b59-4a87-bab6-8e6971e7b726" providerId="AD" clId="Web-{6D706CB9-D78E-D485-2FFC-4DF5F1FEAF1A}"/>
    <pc:docChg chg="modSld">
      <pc:chgData name="Julie Chudakova" userId="S::jchudakova@microsoft.com::45edf92f-9b59-4a87-bab6-8e6971e7b726" providerId="AD" clId="Web-{6D706CB9-D78E-D485-2FFC-4DF5F1FEAF1A}" dt="2026-05-27T15:04:09.835" v="5" actId="20577"/>
      <pc:docMkLst>
        <pc:docMk/>
      </pc:docMkLst>
      <pc:sldChg chg="modSp">
        <pc:chgData name="Julie Chudakova" userId="S::jchudakova@microsoft.com::45edf92f-9b59-4a87-bab6-8e6971e7b726" providerId="AD" clId="Web-{6D706CB9-D78E-D485-2FFC-4DF5F1FEAF1A}" dt="2026-05-27T15:04:09.835" v="5" actId="20577"/>
        <pc:sldMkLst>
          <pc:docMk/>
          <pc:sldMk cId="2111697456" sldId="2147483644"/>
        </pc:sldMkLst>
        <pc:spChg chg="mod">
          <ac:chgData name="Julie Chudakova" userId="S::jchudakova@microsoft.com::45edf92f-9b59-4a87-bab6-8e6971e7b726" providerId="AD" clId="Web-{6D706CB9-D78E-D485-2FFC-4DF5F1FEAF1A}" dt="2026-05-27T15:04:09.835" v="5" actId="20577"/>
          <ac:spMkLst>
            <pc:docMk/>
            <pc:sldMk cId="2111697456" sldId="2147483644"/>
            <ac:spMk id="5" creationId="{375CDA50-F677-9458-6FDB-E0D64CAB94EF}"/>
          </ac:spMkLst>
        </pc:spChg>
      </pc:sldChg>
    </pc:docChg>
  </pc:docChgLst>
  <pc:docChgLst>
    <pc:chgData name="Julie Chudakova" userId="45edf92f-9b59-4a87-bab6-8e6971e7b726" providerId="ADAL" clId="{C71F3681-71D7-4BA0-A14D-F05D0E899D1C}"/>
    <pc:docChg chg="addSld delSld modSld">
      <pc:chgData name="Julie Chudakova" userId="45edf92f-9b59-4a87-bab6-8e6971e7b726" providerId="ADAL" clId="{C71F3681-71D7-4BA0-A14D-F05D0E899D1C}" dt="2026-05-27T15:06:57.487" v="3" actId="729"/>
      <pc:docMkLst>
        <pc:docMk/>
      </pc:docMkLst>
      <pc:sldChg chg="add del">
        <pc:chgData name="Julie Chudakova" userId="45edf92f-9b59-4a87-bab6-8e6971e7b726" providerId="ADAL" clId="{C71F3681-71D7-4BA0-A14D-F05D0E899D1C}" dt="2026-05-27T15:05:51.952" v="2"/>
        <pc:sldMkLst>
          <pc:docMk/>
          <pc:sldMk cId="0" sldId="257"/>
        </pc:sldMkLst>
      </pc:sldChg>
      <pc:sldChg chg="add del">
        <pc:chgData name="Julie Chudakova" userId="45edf92f-9b59-4a87-bab6-8e6971e7b726" providerId="ADAL" clId="{C71F3681-71D7-4BA0-A14D-F05D0E899D1C}" dt="2026-05-27T15:05:51.952" v="2"/>
        <pc:sldMkLst>
          <pc:docMk/>
          <pc:sldMk cId="0" sldId="258"/>
        </pc:sldMkLst>
      </pc:sldChg>
      <pc:sldChg chg="add del">
        <pc:chgData name="Julie Chudakova" userId="45edf92f-9b59-4a87-bab6-8e6971e7b726" providerId="ADAL" clId="{C71F3681-71D7-4BA0-A14D-F05D0E899D1C}" dt="2026-05-27T15:05:51.952" v="2"/>
        <pc:sldMkLst>
          <pc:docMk/>
          <pc:sldMk cId="1750199497" sldId="259"/>
        </pc:sldMkLst>
      </pc:sldChg>
      <pc:sldChg chg="add del">
        <pc:chgData name="Julie Chudakova" userId="45edf92f-9b59-4a87-bab6-8e6971e7b726" providerId="ADAL" clId="{C71F3681-71D7-4BA0-A14D-F05D0E899D1C}" dt="2026-05-27T15:05:51.952" v="2"/>
        <pc:sldMkLst>
          <pc:docMk/>
          <pc:sldMk cId="3888815644" sldId="260"/>
        </pc:sldMkLst>
      </pc:sldChg>
      <pc:sldChg chg="add del">
        <pc:chgData name="Julie Chudakova" userId="45edf92f-9b59-4a87-bab6-8e6971e7b726" providerId="ADAL" clId="{C71F3681-71D7-4BA0-A14D-F05D0E899D1C}" dt="2026-05-27T15:05:51.952" v="2"/>
        <pc:sldMkLst>
          <pc:docMk/>
          <pc:sldMk cId="3606846995" sldId="261"/>
        </pc:sldMkLst>
      </pc:sldChg>
      <pc:sldChg chg="add del">
        <pc:chgData name="Julie Chudakova" userId="45edf92f-9b59-4a87-bab6-8e6971e7b726" providerId="ADAL" clId="{C71F3681-71D7-4BA0-A14D-F05D0E899D1C}" dt="2026-05-27T15:05:51.952" v="2"/>
        <pc:sldMkLst>
          <pc:docMk/>
          <pc:sldMk cId="3861227814" sldId="262"/>
        </pc:sldMkLst>
      </pc:sldChg>
      <pc:sldChg chg="add del">
        <pc:chgData name="Julie Chudakova" userId="45edf92f-9b59-4a87-bab6-8e6971e7b726" providerId="ADAL" clId="{C71F3681-71D7-4BA0-A14D-F05D0E899D1C}" dt="2026-05-27T15:05:51.952" v="2"/>
        <pc:sldMkLst>
          <pc:docMk/>
          <pc:sldMk cId="1149121155" sldId="263"/>
        </pc:sldMkLst>
      </pc:sldChg>
      <pc:sldChg chg="add del">
        <pc:chgData name="Julie Chudakova" userId="45edf92f-9b59-4a87-bab6-8e6971e7b726" providerId="ADAL" clId="{C71F3681-71D7-4BA0-A14D-F05D0E899D1C}" dt="2026-05-27T15:05:51.952" v="2"/>
        <pc:sldMkLst>
          <pc:docMk/>
          <pc:sldMk cId="510112191" sldId="264"/>
        </pc:sldMkLst>
      </pc:sldChg>
      <pc:sldChg chg="add">
        <pc:chgData name="Julie Chudakova" userId="45edf92f-9b59-4a87-bab6-8e6971e7b726" providerId="ADAL" clId="{C71F3681-71D7-4BA0-A14D-F05D0E899D1C}" dt="2026-05-27T15:05:51.952" v="2"/>
        <pc:sldMkLst>
          <pc:docMk/>
          <pc:sldMk cId="4257144833" sldId="265"/>
        </pc:sldMkLst>
      </pc:sldChg>
      <pc:sldChg chg="add del">
        <pc:chgData name="Julie Chudakova" userId="45edf92f-9b59-4a87-bab6-8e6971e7b726" providerId="ADAL" clId="{C71F3681-71D7-4BA0-A14D-F05D0E899D1C}" dt="2026-05-27T15:05:51.952" v="2"/>
        <pc:sldMkLst>
          <pc:docMk/>
          <pc:sldMk cId="0" sldId="2147480035"/>
        </pc:sldMkLst>
      </pc:sldChg>
      <pc:sldChg chg="add del">
        <pc:chgData name="Julie Chudakova" userId="45edf92f-9b59-4a87-bab6-8e6971e7b726" providerId="ADAL" clId="{C71F3681-71D7-4BA0-A14D-F05D0E899D1C}" dt="2026-05-27T15:05:51.952" v="2"/>
        <pc:sldMkLst>
          <pc:docMk/>
          <pc:sldMk cId="0" sldId="2147480042"/>
        </pc:sldMkLst>
      </pc:sldChg>
      <pc:sldChg chg="add del">
        <pc:chgData name="Julie Chudakova" userId="45edf92f-9b59-4a87-bab6-8e6971e7b726" providerId="ADAL" clId="{C71F3681-71D7-4BA0-A14D-F05D0E899D1C}" dt="2026-05-27T15:05:51.952" v="2"/>
        <pc:sldMkLst>
          <pc:docMk/>
          <pc:sldMk cId="0" sldId="2147480056"/>
        </pc:sldMkLst>
      </pc:sldChg>
      <pc:sldChg chg="add del">
        <pc:chgData name="Julie Chudakova" userId="45edf92f-9b59-4a87-bab6-8e6971e7b726" providerId="ADAL" clId="{C71F3681-71D7-4BA0-A14D-F05D0E899D1C}" dt="2026-05-27T15:05:51.952" v="2"/>
        <pc:sldMkLst>
          <pc:docMk/>
          <pc:sldMk cId="0" sldId="2147480091"/>
        </pc:sldMkLst>
      </pc:sldChg>
      <pc:sldChg chg="add del">
        <pc:chgData name="Julie Chudakova" userId="45edf92f-9b59-4a87-bab6-8e6971e7b726" providerId="ADAL" clId="{C71F3681-71D7-4BA0-A14D-F05D0E899D1C}" dt="2026-05-27T15:05:51.952" v="2"/>
        <pc:sldMkLst>
          <pc:docMk/>
          <pc:sldMk cId="0" sldId="2147480098"/>
        </pc:sldMkLst>
      </pc:sldChg>
      <pc:sldChg chg="add del">
        <pc:chgData name="Julie Chudakova" userId="45edf92f-9b59-4a87-bab6-8e6971e7b726" providerId="ADAL" clId="{C71F3681-71D7-4BA0-A14D-F05D0E899D1C}" dt="2026-05-27T15:05:51.952" v="2"/>
        <pc:sldMkLst>
          <pc:docMk/>
          <pc:sldMk cId="0" sldId="2147480120"/>
        </pc:sldMkLst>
      </pc:sldChg>
    </pc:docChg>
  </pc:docChgLst>
  <pc:docChgLst>
    <pc:chgData name="Darian Nastvogel" userId="S::dnastvogel@microsoft.com::01bf3104-fa72-409a-8070-dc95ad0ff07f" providerId="AD" clId="Web-{1708C11A-D2C4-D7FC-EE60-A42D5EDFBCC4}"/>
    <pc:docChg chg="modSld sldOrd">
      <pc:chgData name="Darian Nastvogel" userId="S::dnastvogel@microsoft.com::01bf3104-fa72-409a-8070-dc95ad0ff07f" providerId="AD" clId="Web-{1708C11A-D2C4-D7FC-EE60-A42D5EDFBCC4}" dt="2026-05-27T15:43:18.707" v="6"/>
      <pc:docMkLst>
        <pc:docMk/>
      </pc:docMkLst>
    </pc:docChg>
  </pc:docChgLst>
  <pc:docChgLst>
    <pc:chgData name="Eric Scherlinger" userId="f3492094-428d-4798-b0d8-18648b0c09a5" providerId="ADAL" clId="{50428414-E192-4588-B258-0D60A2DF1A8A}"/>
    <pc:docChg chg="modSld">
      <pc:chgData name="Eric Scherlinger" userId="f3492094-428d-4798-b0d8-18648b0c09a5" providerId="ADAL" clId="{50428414-E192-4588-B258-0D60A2DF1A8A}" dt="2026-05-27T16:56:44.430" v="0" actId="20577"/>
      <pc:docMkLst>
        <pc:docMk/>
      </pc:docMkLst>
      <pc:sldChg chg="modSp mod">
        <pc:chgData name="Eric Scherlinger" userId="f3492094-428d-4798-b0d8-18648b0c09a5" providerId="ADAL" clId="{50428414-E192-4588-B258-0D60A2DF1A8A}" dt="2026-05-27T16:56:44.430" v="0" actId="20577"/>
        <pc:sldMkLst>
          <pc:docMk/>
          <pc:sldMk cId="0" sldId="2147480091"/>
        </pc:sldMkLst>
        <pc:spChg chg="mod">
          <ac:chgData name="Eric Scherlinger" userId="f3492094-428d-4798-b0d8-18648b0c09a5" providerId="ADAL" clId="{50428414-E192-4588-B258-0D60A2DF1A8A}" dt="2026-05-27T16:56:44.430" v="0" actId="20577"/>
          <ac:spMkLst>
            <pc:docMk/>
            <pc:sldMk cId="0" sldId="2147480091"/>
            <ac:spMk id="918"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cxnSp>
        <p:nvCxnSpPr>
          <p:cNvPr id="7" name="Connecteur droit 21">
            <a:extLst>
              <a:ext uri="{FF2B5EF4-FFF2-40B4-BE49-F238E27FC236}">
                <a16:creationId xmlns:a16="http://schemas.microsoft.com/office/drawing/2014/main" id="{8F8B7ACC-CA50-BF7A-1DE2-BBA9A505FD5E}"/>
              </a:ext>
            </a:extLst>
          </p:cNvPr>
          <p:cNvCxnSpPr>
            <a:cxnSpLocks/>
          </p:cNvCxnSpPr>
          <p:nvPr userDrawn="1"/>
        </p:nvCxnSpPr>
        <p:spPr>
          <a:xfrm>
            <a:off x="11609388" y="6381328"/>
            <a:ext cx="0" cy="476672"/>
          </a:xfrm>
          <a:prstGeom prst="line">
            <a:avLst/>
          </a:prstGeom>
          <a:ln w="12700">
            <a:solidFill>
              <a:schemeClr val="tx1">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 name="Image 20">
            <a:extLst>
              <a:ext uri="{FF2B5EF4-FFF2-40B4-BE49-F238E27FC236}">
                <a16:creationId xmlns:a16="http://schemas.microsoft.com/office/drawing/2014/main" id="{DA30B6C4-9C39-0A86-3056-CE1B7099E2B1}"/>
              </a:ext>
            </a:extLst>
          </p:cNvPr>
          <p:cNvPicPr>
            <a:picLocks noChangeAspect="1"/>
          </p:cNvPicPr>
          <p:nvPr userDrawn="1"/>
        </p:nvPicPr>
        <p:blipFill rotWithShape="1">
          <a:blip r:embed="rId2"/>
          <a:srcRect l="-3741" t="-20759" r="52945" b="-5827"/>
          <a:stretch/>
        </p:blipFill>
        <p:spPr>
          <a:xfrm>
            <a:off x="11736000" y="6443999"/>
            <a:ext cx="360000" cy="288000"/>
          </a:xfrm>
          <a:prstGeom prst="rect">
            <a:avLst/>
          </a:prstGeom>
        </p:spPr>
      </p:pic>
      <p:pic>
        <p:nvPicPr>
          <p:cNvPr id="2" name="Picture 1">
            <a:extLst>
              <a:ext uri="{FF2B5EF4-FFF2-40B4-BE49-F238E27FC236}">
                <a16:creationId xmlns:a16="http://schemas.microsoft.com/office/drawing/2014/main" id="{67231DA7-D218-3D74-3EBC-2E6F1F67FD0C}"/>
              </a:ext>
            </a:extLst>
          </p:cNvPr>
          <p:cNvPicPr>
            <a:picLocks noChangeAspect="1"/>
          </p:cNvPicPr>
          <p:nvPr userDrawn="1"/>
        </p:nvPicPr>
        <p:blipFill>
          <a:blip r:embed="rId3">
            <a:alphaModFix amt="3000"/>
          </a:blip>
          <a:srcRect l="9069" t="23997" r="42229" b="40674"/>
          <a:stretch/>
        </p:blipFill>
        <p:spPr>
          <a:xfrm>
            <a:off x="0" y="0"/>
            <a:ext cx="12192002" cy="6858000"/>
          </a:xfrm>
          <a:prstGeom prst="rect">
            <a:avLst/>
          </a:prstGeom>
        </p:spPr>
      </p:pic>
    </p:spTree>
    <p:extLst>
      <p:ext uri="{BB962C8B-B14F-4D97-AF65-F5344CB8AC3E}">
        <p14:creationId xmlns:p14="http://schemas.microsoft.com/office/powerpoint/2010/main" val="36068328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9A933-FE52-FC27-DCF4-2DAD39956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8C4A36-59F6-94E6-9546-7477E5ED7F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91891E-B540-0830-3ACD-854437BD9A18}"/>
              </a:ext>
            </a:extLst>
          </p:cNvPr>
          <p:cNvSpPr>
            <a:spLocks noGrp="1"/>
          </p:cNvSpPr>
          <p:nvPr>
            <p:ph type="dt" sz="half" idx="10"/>
          </p:nvPr>
        </p:nvSpPr>
        <p:spPr/>
        <p:txBody>
          <a:bodyPr/>
          <a:lstStyle/>
          <a:p>
            <a:fld id="{67F1AAE4-6C6A-4337-9322-F43ACAC73CC7}" type="datetimeFigureOut">
              <a:rPr lang="en-US" smtClean="0"/>
              <a:t>6/1/2026</a:t>
            </a:fld>
            <a:endParaRPr lang="en-US"/>
          </a:p>
        </p:txBody>
      </p:sp>
      <p:sp>
        <p:nvSpPr>
          <p:cNvPr id="5" name="Footer Placeholder 4">
            <a:extLst>
              <a:ext uri="{FF2B5EF4-FFF2-40B4-BE49-F238E27FC236}">
                <a16:creationId xmlns:a16="http://schemas.microsoft.com/office/drawing/2014/main" id="{8691937F-9B8E-8125-912D-A10A344A92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A8A1A6-D5AC-607A-E5A8-244BFB0489FE}"/>
              </a:ext>
            </a:extLst>
          </p:cNvPr>
          <p:cNvSpPr>
            <a:spLocks noGrp="1"/>
          </p:cNvSpPr>
          <p:nvPr>
            <p:ph type="sldNum" sz="quarter" idx="12"/>
          </p:nvPr>
        </p:nvSpPr>
        <p:spPr/>
        <p:txBody>
          <a:bodyPr/>
          <a:lstStyle/>
          <a:p>
            <a:fld id="{33F74CFF-0500-4008-9756-F9312FF8F027}" type="slidenum">
              <a:rPr lang="en-US" smtClean="0"/>
              <a:t>‹#›</a:t>
            </a:fld>
            <a:endParaRPr lang="en-US"/>
          </a:p>
        </p:txBody>
      </p:sp>
    </p:spTree>
    <p:extLst>
      <p:ext uri="{BB962C8B-B14F-4D97-AF65-F5344CB8AC3E}">
        <p14:creationId xmlns:p14="http://schemas.microsoft.com/office/powerpoint/2010/main" val="3197807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ustom Layout">
    <p:bg>
      <p:bgPr>
        <a:solidFill>
          <a:srgbClr val="091F2C"/>
        </a:solidFill>
        <a:effectLst/>
      </p:bgPr>
    </p:bg>
    <p:spTree>
      <p:nvGrpSpPr>
        <p:cNvPr id="1" name=""/>
        <p:cNvGrpSpPr/>
        <p:nvPr/>
      </p:nvGrpSpPr>
      <p:grpSpPr>
        <a:xfrm>
          <a:off x="0" y="0"/>
          <a:ext cx="0" cy="0"/>
          <a:chOff x="0" y="0"/>
          <a:chExt cx="0" cy="0"/>
        </a:xfrm>
      </p:grpSpPr>
      <p:pic>
        <p:nvPicPr>
          <p:cNvPr id="9" name="Image 22" descr="Une image contenant capture d’écran, Graphique, noir, conception&#10;&#10;Description générée automatiquement">
            <a:extLst>
              <a:ext uri="{FF2B5EF4-FFF2-40B4-BE49-F238E27FC236}">
                <a16:creationId xmlns:a16="http://schemas.microsoft.com/office/drawing/2014/main" id="{99E7F4F9-EF38-9BF9-95D1-126195DC469C}"/>
              </a:ext>
            </a:extLst>
          </p:cNvPr>
          <p:cNvPicPr>
            <a:picLocks noChangeAspect="1"/>
          </p:cNvPicPr>
          <p:nvPr userDrawn="1"/>
        </p:nvPicPr>
        <p:blipFill>
          <a:blip r:embed="rId2">
            <a:alphaModFix amt="3000"/>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994400" y="0"/>
            <a:ext cx="6197600" cy="6858000"/>
          </a:xfrm>
          <a:prstGeom prst="rect">
            <a:avLst/>
          </a:prstGeom>
        </p:spPr>
      </p:pic>
      <p:sp>
        <p:nvSpPr>
          <p:cNvPr id="4" name="Espace réservé du texte 16">
            <a:extLst>
              <a:ext uri="{FF2B5EF4-FFF2-40B4-BE49-F238E27FC236}">
                <a16:creationId xmlns:a16="http://schemas.microsoft.com/office/drawing/2014/main" id="{8B9F4690-C01E-4903-3DFA-CA0113CB81F7}"/>
              </a:ext>
            </a:extLst>
          </p:cNvPr>
          <p:cNvSpPr>
            <a:spLocks noGrp="1"/>
          </p:cNvSpPr>
          <p:nvPr>
            <p:ph type="body" sz="quarter" idx="10" hasCustomPrompt="1"/>
          </p:nvPr>
        </p:nvSpPr>
        <p:spPr>
          <a:xfrm>
            <a:off x="3414117" y="2348850"/>
            <a:ext cx="7745698" cy="2160300"/>
          </a:xfrm>
          <a:prstGeom prst="rect">
            <a:avLst/>
          </a:prstGeom>
        </p:spPr>
        <p:txBody>
          <a:bodyPr anchor="ctr" anchorCtr="0">
            <a:noAutofit/>
          </a:bodyPr>
          <a:lstStyle>
            <a:lvl1pPr marL="0" marR="0" indent="0" algn="l" defTabSz="932742" rtl="0" eaLnBrk="1" fontAlgn="auto" latinLnBrk="0" hangingPunct="1">
              <a:lnSpc>
                <a:spcPct val="100000"/>
              </a:lnSpc>
              <a:spcBef>
                <a:spcPct val="20000"/>
              </a:spcBef>
              <a:spcAft>
                <a:spcPts val="0"/>
              </a:spcAft>
              <a:buClrTx/>
              <a:buSzPct val="90000"/>
              <a:buFontTx/>
              <a:buNone/>
              <a:tabLst/>
              <a:defRPr sz="4000" b="1">
                <a:solidFill>
                  <a:schemeClr val="bg1"/>
                </a:solidFill>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r>
              <a:rPr lang="fr-FR"/>
              <a:t>EVENT NAME OR PRESENTATION TITLE</a:t>
            </a:r>
          </a:p>
        </p:txBody>
      </p:sp>
      <p:sp>
        <p:nvSpPr>
          <p:cNvPr id="5" name="Espace réservé du texte 18">
            <a:extLst>
              <a:ext uri="{FF2B5EF4-FFF2-40B4-BE49-F238E27FC236}">
                <a16:creationId xmlns:a16="http://schemas.microsoft.com/office/drawing/2014/main" id="{4A9BAFB4-5F60-57BC-7E37-A0C980994AD0}"/>
              </a:ext>
            </a:extLst>
          </p:cNvPr>
          <p:cNvSpPr>
            <a:spLocks noGrp="1"/>
          </p:cNvSpPr>
          <p:nvPr>
            <p:ph type="body" sz="quarter" idx="11" hasCustomPrompt="1"/>
          </p:nvPr>
        </p:nvSpPr>
        <p:spPr>
          <a:xfrm>
            <a:off x="3414116" y="4509150"/>
            <a:ext cx="7745695" cy="265550"/>
          </a:xfrm>
          <a:prstGeom prst="rect">
            <a:avLst/>
          </a:prstGeom>
        </p:spPr>
        <p:txBody>
          <a:bodyPr>
            <a:noAutofit/>
          </a:bodyPr>
          <a:lstStyle>
            <a:lvl1pPr marL="0" indent="0">
              <a:buNone/>
              <a:defRPr sz="1800">
                <a:solidFill>
                  <a:schemeClr val="bg2">
                    <a:lumMod val="90000"/>
                  </a:schemeClr>
                </a:solidFill>
              </a:defRPr>
            </a:lvl1pPr>
            <a:lvl2pPr>
              <a:defRPr sz="1600">
                <a:solidFill>
                  <a:schemeClr val="bg2">
                    <a:lumMod val="90000"/>
                  </a:schemeClr>
                </a:solidFill>
              </a:defRPr>
            </a:lvl2pPr>
            <a:lvl3pPr>
              <a:defRPr sz="1600">
                <a:solidFill>
                  <a:schemeClr val="bg2">
                    <a:lumMod val="90000"/>
                  </a:schemeClr>
                </a:solidFill>
              </a:defRPr>
            </a:lvl3pPr>
            <a:lvl4pPr>
              <a:defRPr sz="1600">
                <a:solidFill>
                  <a:schemeClr val="bg2">
                    <a:lumMod val="90000"/>
                  </a:schemeClr>
                </a:solidFill>
              </a:defRPr>
            </a:lvl4pPr>
            <a:lvl5pPr>
              <a:defRPr sz="1600">
                <a:solidFill>
                  <a:schemeClr val="bg2">
                    <a:lumMod val="90000"/>
                  </a:schemeClr>
                </a:solidFill>
              </a:defRPr>
            </a:lvl5pPr>
          </a:lstStyle>
          <a:p>
            <a:pPr lvl="0"/>
            <a:r>
              <a:rPr lang="fr-FR"/>
              <a:t>Speaker </a:t>
            </a:r>
            <a:r>
              <a:rPr lang="fr-FR" err="1"/>
              <a:t>name</a:t>
            </a:r>
            <a:r>
              <a:rPr lang="fr-FR"/>
              <a:t> or </a:t>
            </a:r>
            <a:r>
              <a:rPr lang="fr-FR" err="1"/>
              <a:t>subtitle</a:t>
            </a:r>
            <a:endParaRPr lang="fr-FR"/>
          </a:p>
        </p:txBody>
      </p:sp>
      <p:cxnSp>
        <p:nvCxnSpPr>
          <p:cNvPr id="7" name="Connecteur droit 21">
            <a:extLst>
              <a:ext uri="{FF2B5EF4-FFF2-40B4-BE49-F238E27FC236}">
                <a16:creationId xmlns:a16="http://schemas.microsoft.com/office/drawing/2014/main" id="{09CCF768-F127-991A-0524-8D5B02DB48D8}"/>
              </a:ext>
            </a:extLst>
          </p:cNvPr>
          <p:cNvCxnSpPr>
            <a:cxnSpLocks/>
          </p:cNvCxnSpPr>
          <p:nvPr userDrawn="1"/>
        </p:nvCxnSpPr>
        <p:spPr>
          <a:xfrm>
            <a:off x="3101302" y="2112579"/>
            <a:ext cx="0" cy="2662121"/>
          </a:xfrm>
          <a:prstGeom prst="line">
            <a:avLst/>
          </a:prstGeom>
          <a:ln w="15875">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 name="MS logo white - EMF" descr="Microsoft logo white text version">
            <a:extLst>
              <a:ext uri="{FF2B5EF4-FFF2-40B4-BE49-F238E27FC236}">
                <a16:creationId xmlns:a16="http://schemas.microsoft.com/office/drawing/2014/main" id="{2CD0783F-08EB-85C2-4F0A-94BFF61A080F}"/>
              </a:ext>
            </a:extLst>
          </p:cNvPr>
          <p:cNvPicPr>
            <a:picLocks noChangeAspect="1"/>
          </p:cNvPicPr>
          <p:nvPr userDrawn="1"/>
        </p:nvPicPr>
        <p:blipFill>
          <a:blip r:embed="rId4"/>
          <a:stretch>
            <a:fillRect/>
          </a:stretch>
        </p:blipFill>
        <p:spPr bwMode="black">
          <a:xfrm>
            <a:off x="584200" y="585788"/>
            <a:ext cx="1366245" cy="292608"/>
          </a:xfrm>
          <a:prstGeom prst="rect">
            <a:avLst/>
          </a:prstGeom>
        </p:spPr>
      </p:pic>
      <p:pic>
        <p:nvPicPr>
          <p:cNvPr id="2" name="Graphic 1">
            <a:extLst>
              <a:ext uri="{FF2B5EF4-FFF2-40B4-BE49-F238E27FC236}">
                <a16:creationId xmlns:a16="http://schemas.microsoft.com/office/drawing/2014/main" id="{CC0C4DEA-F299-53C3-92BC-C590A5001F5B}"/>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84200" y="3173639"/>
            <a:ext cx="2116800" cy="540000"/>
          </a:xfrm>
          <a:prstGeom prst="rect">
            <a:avLst/>
          </a:prstGeom>
        </p:spPr>
      </p:pic>
    </p:spTree>
    <p:extLst>
      <p:ext uri="{BB962C8B-B14F-4D97-AF65-F5344CB8AC3E}">
        <p14:creationId xmlns:p14="http://schemas.microsoft.com/office/powerpoint/2010/main" val="280660004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sv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338579658"/>
      </p:ext>
    </p:extLst>
  </p:cSld>
  <p:clrMap bg1="dk1" tx1="lt1" bg2="dk2" tx2="lt2" accent1="accent1" accent2="accent2" accent3="accent3" accent4="accent4" accent5="accent5" accent6="accent6" hlink="hlink" folHlink="folHlink"/>
  <p:sldLayoutIdLst>
    <p:sldLayoutId id="2147486543" r:id="rId1"/>
    <p:sldLayoutId id="2147486780" r:id="rId2"/>
    <p:sldLayoutId id="2147486811" r:id="rId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3.xml.rels><?xml version="1.0" encoding="UTF-8" standalone="yes"?>
<Relationships xmlns="http://schemas.openxmlformats.org/package/2006/relationships"><Relationship Id="rId2" Type="http://schemas.openxmlformats.org/officeDocument/2006/relationships/hyperlink" Target="https://aka.ms/privacy"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8.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hyperlink" Target="https://github.com/OfficeDev/microsoft-365-agents-toolkit-samples/tree/dev/ProxyAgent-NodeJS" TargetMode="External"/><Relationship Id="rId7" Type="http://schemas.openxmlformats.org/officeDocument/2006/relationships/image" Target="../media/image28.png"/><Relationship Id="rId2" Type="http://schemas.openxmlformats.org/officeDocument/2006/relationships/hyperlink" Target="https://github.com/OfficeDev/microsoft-365-agents-toolkit-samples/tree/dev/ProxyAgent-CSharp" TargetMode="External"/><Relationship Id="rId1" Type="http://schemas.openxmlformats.org/officeDocument/2006/relationships/slideLayout" Target="../slideLayouts/slideLayout1.xml"/><Relationship Id="rId6" Type="http://schemas.openxmlformats.org/officeDocument/2006/relationships/hyperlink" Target="https://github.com/ericsche/microsoft-365-agents-toolkit-samples/tree/ProxyAgent-NodeJS/ProxyAgent-NodeJS" TargetMode="External"/><Relationship Id="rId5" Type="http://schemas.openxmlformats.org/officeDocument/2006/relationships/hyperlink" Target="https://www.youtube.com/watch?v=nRuY_YI-Efk" TargetMode="External"/><Relationship Id="rId4" Type="http://schemas.openxmlformats.org/officeDocument/2006/relationships/hyperlink" Target="https://github.com/OfficeDev/microsoft-365-agents-toolkit-samples/tree/dev/ProxyAgent-Python" TargetMode="External"/><Relationship Id="rId9"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microsoft.com/office/2017/06/relationships/model3d" Target="../media/model3d1.glb"/><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hyperlink" Target="https://aka.ms/%5bSessionTitle%5d/Feedback" TargetMode="External"/><Relationship Id="rId4" Type="http://schemas.openxmlformats.org/officeDocument/2006/relationships/hyperlink" Target="https://aka.ms/AIWebinars/Feedbac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7B5951-FFA3-F02B-3E49-76F53FAF5844}"/>
              </a:ext>
            </a:extLst>
          </p:cNvPr>
          <p:cNvSpPr>
            <a:spLocks noGrp="1"/>
          </p:cNvSpPr>
          <p:nvPr>
            <p:ph type="body" sz="quarter" idx="10"/>
          </p:nvPr>
        </p:nvSpPr>
        <p:spPr>
          <a:xfrm>
            <a:off x="3385837" y="2616638"/>
            <a:ext cx="7745698" cy="2160300"/>
          </a:xfrm>
        </p:spPr>
        <p:txBody>
          <a:bodyPr lIns="91440" tIns="45720" rIns="91440" bIns="45720" anchor="ctr" anchorCtr="0">
            <a:noAutofit/>
          </a:bodyPr>
          <a:lstStyle/>
          <a:p>
            <a:pPr>
              <a:defRPr/>
            </a:pPr>
            <a:r>
              <a:rPr kumimoji="0" lang="en-US" sz="4000" b="1" i="0" u="none" strike="noStrike" kern="1200" cap="none" spc="0" normalizeH="0" baseline="0" noProof="0">
                <a:ln>
                  <a:noFill/>
                </a:ln>
                <a:solidFill>
                  <a:srgbClr val="449CD6"/>
                </a:solidFill>
                <a:effectLst/>
                <a:uLnTx/>
                <a:uFillTx/>
                <a:latin typeface="Segoe UI"/>
                <a:ea typeface="+mn-ea"/>
                <a:cs typeface="Segoe UI" panose="020B0502040204020203" pitchFamily="34" charset="0"/>
              </a:rPr>
              <a:t>COPILOT ACCELERATION TEAM</a:t>
            </a:r>
            <a:r>
              <a:rPr kumimoji="0" lang="en-US" sz="4000" b="1" i="0" u="none" strike="noStrike" kern="1200" cap="none" spc="0" normalizeH="0" baseline="0" noProof="0">
                <a:ln>
                  <a:noFill/>
                </a:ln>
                <a:solidFill>
                  <a:srgbClr val="FAA55A"/>
                </a:solidFill>
                <a:effectLst/>
                <a:uLnTx/>
                <a:uFillTx/>
                <a:latin typeface="Segoe UI"/>
                <a:ea typeface="+mn-ea"/>
                <a:cs typeface="Segoe UI" panose="020B0502040204020203" pitchFamily="34" charset="0"/>
              </a:rPr>
              <a:t>	</a:t>
            </a:r>
            <a:br>
              <a:rPr kumimoji="0" lang="en-US" sz="4000" b="1" i="0" u="none" strike="noStrike" kern="1200" cap="none" spc="0" normalizeH="0" baseline="0" noProof="0">
                <a:ln>
                  <a:noFill/>
                </a:ln>
                <a:solidFill>
                  <a:srgbClr val="FAA55A"/>
                </a:solidFill>
                <a:effectLst/>
                <a:uLnTx/>
                <a:uFillTx/>
                <a:latin typeface="Segoe UI"/>
                <a:ea typeface="+mn-ea"/>
                <a:cs typeface="Segoe UI" panose="020B0502040204020203" pitchFamily="34" charset="0"/>
              </a:rPr>
            </a:br>
            <a:endParaRPr lang="en-US" i="1">
              <a:solidFill>
                <a:srgbClr val="FFFFFF"/>
              </a:solidFill>
              <a:latin typeface="Segoe UI" panose="020B0502040204020203" pitchFamily="34" charset="0"/>
              <a:ea typeface="Times New Roman" panose="02020603050405020304" pitchFamily="18" charset="0"/>
            </a:endParaRPr>
          </a:p>
        </p:txBody>
      </p:sp>
      <p:sp>
        <p:nvSpPr>
          <p:cNvPr id="6" name="Text Placeholder 13">
            <a:extLst>
              <a:ext uri="{FF2B5EF4-FFF2-40B4-BE49-F238E27FC236}">
                <a16:creationId xmlns:a16="http://schemas.microsoft.com/office/drawing/2014/main" id="{AA0C8689-6E14-954E-2D83-9A1F4298F473}"/>
              </a:ext>
            </a:extLst>
          </p:cNvPr>
          <p:cNvSpPr>
            <a:spLocks noGrp="1"/>
          </p:cNvSpPr>
          <p:nvPr>
            <p:ph type="body" sz="quarter" idx="11"/>
          </p:nvPr>
        </p:nvSpPr>
        <p:spPr>
          <a:xfrm>
            <a:off x="4254828" y="6410873"/>
            <a:ext cx="7745413" cy="266700"/>
          </a:xfrm>
        </p:spPr>
        <p:txBody>
          <a:bodyPr vert="horz" wrap="square" lIns="0" tIns="0" rIns="0" bIns="0" rtlCol="0" anchor="t">
            <a:noAutofit/>
          </a:bodyPr>
          <a:lstStyle/>
          <a:p>
            <a:pPr algn="r"/>
            <a:r>
              <a:rPr lang="en-US" sz="1400">
                <a:cs typeface="Segoe UI"/>
              </a:rPr>
              <a:t>Last updated: 2026-05-21</a:t>
            </a:r>
            <a:endParaRPr lang="en-150" sz="1400"/>
          </a:p>
        </p:txBody>
      </p:sp>
      <p:sp>
        <p:nvSpPr>
          <p:cNvPr id="2" name="Text Placeholder 2">
            <a:extLst>
              <a:ext uri="{FF2B5EF4-FFF2-40B4-BE49-F238E27FC236}">
                <a16:creationId xmlns:a16="http://schemas.microsoft.com/office/drawing/2014/main" id="{595AAFC9-58AA-A27C-3142-36C6AB0F73D9}"/>
              </a:ext>
            </a:extLst>
          </p:cNvPr>
          <p:cNvSpPr txBox="1">
            <a:spLocks/>
          </p:cNvSpPr>
          <p:nvPr/>
        </p:nvSpPr>
        <p:spPr>
          <a:xfrm>
            <a:off x="3508847" y="4424706"/>
            <a:ext cx="4936237" cy="276999"/>
          </a:xfrm>
          <a:prstGeom prst="rect">
            <a:avLst/>
          </a:prstGeom>
          <a:noFill/>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GB" sz="1800">
                <a:solidFill>
                  <a:schemeClr val="tx2"/>
                </a:solidFill>
              </a:rPr>
              <a:t>Building an AI-ready organization</a:t>
            </a:r>
          </a:p>
        </p:txBody>
      </p:sp>
      <p:pic>
        <p:nvPicPr>
          <p:cNvPr id="4" name="Picture 3">
            <a:extLst>
              <a:ext uri="{FF2B5EF4-FFF2-40B4-BE49-F238E27FC236}">
                <a16:creationId xmlns:a16="http://schemas.microsoft.com/office/drawing/2014/main" id="{877F2934-6F2A-BB30-F80B-8A7CD38BE1F9}"/>
              </a:ext>
            </a:extLst>
          </p:cNvPr>
          <p:cNvPicPr>
            <a:picLocks noChangeAspect="1"/>
          </p:cNvPicPr>
          <p:nvPr/>
        </p:nvPicPr>
        <p:blipFill>
          <a:blip r:embed="rId2"/>
          <a:srcRect b="33157"/>
          <a:stretch>
            <a:fillRect/>
          </a:stretch>
        </p:blipFill>
        <p:spPr>
          <a:xfrm>
            <a:off x="3508847" y="3867383"/>
            <a:ext cx="4781750" cy="418824"/>
          </a:xfrm>
          <a:prstGeom prst="rect">
            <a:avLst/>
          </a:prstGeom>
        </p:spPr>
      </p:pic>
      <p:sp>
        <p:nvSpPr>
          <p:cNvPr id="5" name="TextBox 4">
            <a:extLst>
              <a:ext uri="{FF2B5EF4-FFF2-40B4-BE49-F238E27FC236}">
                <a16:creationId xmlns:a16="http://schemas.microsoft.com/office/drawing/2014/main" id="{375CDA50-F677-9458-6FDB-E0D64CAB94EF}"/>
              </a:ext>
            </a:extLst>
          </p:cNvPr>
          <p:cNvSpPr txBox="1"/>
          <p:nvPr/>
        </p:nvSpPr>
        <p:spPr>
          <a:xfrm>
            <a:off x="3484756" y="5148146"/>
            <a:ext cx="79638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400" u="sng">
                <a:solidFill>
                  <a:srgbClr val="FFFFFF"/>
                </a:solidFill>
                <a:latin typeface="Calibri"/>
                <a:ea typeface="Calibri"/>
                <a:cs typeface="Calibri"/>
              </a:rPr>
              <a:t>Connecting Customer-Built AI Agent to Microsoft 365 Copilot: The Proxy Agent Pattern</a:t>
            </a:r>
            <a:endParaRPr lang="en-US">
              <a:latin typeface="Calibri"/>
              <a:ea typeface="Calibri"/>
              <a:cs typeface="Calibri"/>
            </a:endParaRPr>
          </a:p>
        </p:txBody>
      </p:sp>
    </p:spTree>
    <p:extLst>
      <p:ext uri="{BB962C8B-B14F-4D97-AF65-F5344CB8AC3E}">
        <p14:creationId xmlns:p14="http://schemas.microsoft.com/office/powerpoint/2010/main" val="21116974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A2E7B-ECAC-BB5D-D0A5-6776FECB9C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75A0A0-5D90-009A-02A5-B95A6059CD6D}"/>
              </a:ext>
            </a:extLst>
          </p:cNvPr>
          <p:cNvSpPr>
            <a:spLocks noGrp="1"/>
          </p:cNvSpPr>
          <p:nvPr>
            <p:ph type="title" idx="4294967295"/>
          </p:nvPr>
        </p:nvSpPr>
        <p:spPr>
          <a:xfrm>
            <a:off x="435228" y="379913"/>
            <a:ext cx="6672582" cy="1107996"/>
          </a:xfrm>
        </p:spPr>
        <p:txBody>
          <a:bodyPr/>
          <a:lstStyle/>
          <a:p>
            <a:r>
              <a:rPr lang="en-US">
                <a:cs typeface="Segoe Sans Display Semibold"/>
              </a:rPr>
              <a:t>Meet your host and speakers</a:t>
            </a:r>
            <a:endParaRPr lang="en-US"/>
          </a:p>
        </p:txBody>
      </p:sp>
      <p:grpSp>
        <p:nvGrpSpPr>
          <p:cNvPr id="11" name="Group 10" descr="SLOT:PRESENTER_1">
            <a:extLst>
              <a:ext uri="{FF2B5EF4-FFF2-40B4-BE49-F238E27FC236}">
                <a16:creationId xmlns:a16="http://schemas.microsoft.com/office/drawing/2014/main" id="{C65B9521-506F-84AA-E5B2-1C782D802F50}"/>
              </a:ext>
            </a:extLst>
          </p:cNvPr>
          <p:cNvGrpSpPr/>
          <p:nvPr/>
        </p:nvGrpSpPr>
        <p:grpSpPr>
          <a:xfrm>
            <a:off x="4178808" y="4087368"/>
            <a:ext cx="3660114" cy="1082359"/>
            <a:chOff x="6309836" y="4118511"/>
            <a:chExt cx="3660114" cy="1082359"/>
          </a:xfrm>
        </p:grpSpPr>
        <p:sp>
          <p:nvSpPr>
            <p:cNvPr id="13" name="Title 1">
              <a:extLst>
                <a:ext uri="{FF2B5EF4-FFF2-40B4-BE49-F238E27FC236}">
                  <a16:creationId xmlns:a16="http://schemas.microsoft.com/office/drawing/2014/main" id="{6C1093BE-875E-9887-4BF9-41C845D05C20}"/>
                </a:ext>
              </a:extLst>
            </p:cNvPr>
            <p:cNvSpPr txBox="1">
              <a:spLocks/>
            </p:cNvSpPr>
            <p:nvPr/>
          </p:nvSpPr>
          <p:spPr>
            <a:xfrm>
              <a:off x="6309836" y="4118511"/>
              <a:ext cx="3660114"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50" normalizeH="0" baseline="0" noProof="0">
                  <a:ln w="3175">
                    <a:noFill/>
                  </a:ln>
                  <a:solidFill>
                    <a:srgbClr val="FFFFFF"/>
                  </a:solidFill>
                  <a:effectLst/>
                  <a:uLnTx/>
                  <a:uFillTx/>
                  <a:latin typeface="Segoe Sans Display Semibold"/>
                  <a:ea typeface="+mn-ea"/>
                  <a:cs typeface="Segoe Sans Display Semibold"/>
                </a:rPr>
                <a:t>Eric Scherlinger</a:t>
              </a:r>
              <a:endParaRPr kumimoji="0" lang="en-US" sz="3600" b="0" i="0" u="none" strike="noStrike" kern="1200" cap="none" spc="-50" normalizeH="0" baseline="0" noProof="0">
                <a:ln w="3175">
                  <a:noFill/>
                </a:ln>
                <a:solidFill>
                  <a:srgbClr val="FFFFFF"/>
                </a:solidFill>
                <a:effectLst/>
                <a:uLnTx/>
                <a:uFillTx/>
                <a:latin typeface="Segoe Sans Display Semibold"/>
                <a:ea typeface="+mn-ea"/>
                <a:cs typeface="Segoe UI" pitchFamily="34" charset="0"/>
              </a:endParaRPr>
            </a:p>
          </p:txBody>
        </p:sp>
        <p:sp>
          <p:nvSpPr>
            <p:cNvPr id="3" name="TextBox 7">
              <a:extLst>
                <a:ext uri="{FF2B5EF4-FFF2-40B4-BE49-F238E27FC236}">
                  <a16:creationId xmlns:a16="http://schemas.microsoft.com/office/drawing/2014/main" id="{1462D84F-2998-65F9-7423-49BCFAAA22FD}"/>
                </a:ext>
              </a:extLst>
            </p:cNvPr>
            <p:cNvSpPr txBox="1"/>
            <p:nvPr/>
          </p:nvSpPr>
          <p:spPr>
            <a:xfrm>
              <a:off x="6314549" y="4616095"/>
              <a:ext cx="3655401" cy="584775"/>
            </a:xfrm>
            <a:prstGeom prst="rect">
              <a:avLst/>
            </a:prstGeom>
            <a:noFill/>
          </p:spPr>
          <p:txBody>
            <a:bodyPr wrap="square" lIns="91440" tIns="45720" rIns="91440" bIns="45720" anchor="t">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a:defRPr/>
              </a:pPr>
              <a:endParaRPr kumimoji="0" lang="en-US" sz="1600" b="0" i="0" u="none" strike="noStrike" kern="1200" cap="none" spc="0" normalizeH="0" baseline="0" noProof="0">
                <a:ln>
                  <a:noFill/>
                </a:ln>
                <a:solidFill>
                  <a:srgbClr val="091F2C">
                    <a:lumMod val="10000"/>
                    <a:lumOff val="90000"/>
                  </a:srgbClr>
                </a:solidFill>
                <a:effectLst/>
                <a:uLnTx/>
                <a:uFillTx/>
                <a:latin typeface="Segoe UI"/>
                <a:ea typeface="+mn-ea"/>
                <a:cs typeface="Segoe UI"/>
              </a:endParaRPr>
            </a:p>
            <a:p>
              <a:pPr algn="ctr">
                <a:defRPr/>
              </a:pPr>
              <a:endParaRPr lang="en-US" sz="1600" b="1" i="0" u="none" strike="noStrike" kern="1200" cap="none" spc="0" normalizeH="0" baseline="0" noProof="0">
                <a:ln>
                  <a:noFill/>
                </a:ln>
                <a:solidFill>
                  <a:srgbClr val="091F2C">
                    <a:lumMod val="10000"/>
                    <a:lumOff val="90000"/>
                  </a:srgbClr>
                </a:solidFill>
                <a:effectLst/>
                <a:uLnTx/>
                <a:uFillTx/>
                <a:latin typeface="Segoe UI"/>
                <a:cs typeface="Segoe UI"/>
              </a:endParaRPr>
            </a:p>
          </p:txBody>
        </p:sp>
      </p:grpSp>
      <p:grpSp>
        <p:nvGrpSpPr>
          <p:cNvPr id="8" name="Group 7" descr="SLOT:PRESENTER_2">
            <a:extLst>
              <a:ext uri="{FF2B5EF4-FFF2-40B4-BE49-F238E27FC236}">
                <a16:creationId xmlns:a16="http://schemas.microsoft.com/office/drawing/2014/main" id="{C6F43CC1-3CF1-0690-C68F-3E85905D3A1D}"/>
              </a:ext>
            </a:extLst>
          </p:cNvPr>
          <p:cNvGrpSpPr/>
          <p:nvPr/>
        </p:nvGrpSpPr>
        <p:grpSpPr>
          <a:xfrm>
            <a:off x="7744968" y="4078224"/>
            <a:ext cx="3659761" cy="1098316"/>
            <a:chOff x="1662210" y="4102554"/>
            <a:chExt cx="3659761" cy="1098316"/>
          </a:xfrm>
        </p:grpSpPr>
        <p:sp>
          <p:nvSpPr>
            <p:cNvPr id="5" name="Title 1">
              <a:extLst>
                <a:ext uri="{FF2B5EF4-FFF2-40B4-BE49-F238E27FC236}">
                  <a16:creationId xmlns:a16="http://schemas.microsoft.com/office/drawing/2014/main" id="{9F5170F9-D29F-79BF-3A97-02A7A13E9047}"/>
                </a:ext>
              </a:extLst>
            </p:cNvPr>
            <p:cNvSpPr txBox="1">
              <a:spLocks/>
            </p:cNvSpPr>
            <p:nvPr/>
          </p:nvSpPr>
          <p:spPr>
            <a:xfrm>
              <a:off x="1662210" y="4102554"/>
              <a:ext cx="3659761"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50" normalizeH="0" baseline="0" noProof="0">
                  <a:ln w="3175">
                    <a:noFill/>
                  </a:ln>
                  <a:solidFill>
                    <a:srgbClr val="FFFFFF"/>
                  </a:solidFill>
                  <a:effectLst/>
                  <a:uLnTx/>
                  <a:uFillTx/>
                  <a:latin typeface="Segoe Sans Display Semibold"/>
                  <a:ea typeface="+mn-ea"/>
                  <a:cs typeface="Segoe Sans Display Semibold"/>
                </a:rPr>
                <a:t>Julie Chudakova</a:t>
              </a:r>
              <a:endParaRPr kumimoji="0" lang="en-US" sz="3600" b="0" i="0" u="none" strike="noStrike" kern="1200" cap="none" spc="-50" normalizeH="0" baseline="0" noProof="0">
                <a:ln w="3175">
                  <a:noFill/>
                </a:ln>
                <a:solidFill>
                  <a:srgbClr val="FFFFFF"/>
                </a:solidFill>
                <a:effectLst/>
                <a:uLnTx/>
                <a:uFillTx/>
                <a:latin typeface="Segoe Sans Display Semibold"/>
                <a:ea typeface="+mn-ea"/>
                <a:cs typeface="Segoe UI" pitchFamily="34" charset="0"/>
              </a:endParaRPr>
            </a:p>
          </p:txBody>
        </p:sp>
        <p:sp>
          <p:nvSpPr>
            <p:cNvPr id="7" name="TextBox 7">
              <a:extLst>
                <a:ext uri="{FF2B5EF4-FFF2-40B4-BE49-F238E27FC236}">
                  <a16:creationId xmlns:a16="http://schemas.microsoft.com/office/drawing/2014/main" id="{23EBD9AD-F061-7545-83B7-DD060ACDBF25}"/>
                </a:ext>
              </a:extLst>
            </p:cNvPr>
            <p:cNvSpPr txBox="1"/>
            <p:nvPr/>
          </p:nvSpPr>
          <p:spPr>
            <a:xfrm>
              <a:off x="1662210" y="4616095"/>
              <a:ext cx="3655401" cy="584775"/>
            </a:xfrm>
            <a:prstGeom prst="rect">
              <a:avLst/>
            </a:prstGeom>
            <a:noFill/>
          </p:spPr>
          <p:txBody>
            <a:bodyPr wrap="square" lIns="91440" tIns="45720" rIns="91440" bIns="45720" anchor="t">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91F2C">
                    <a:lumMod val="10000"/>
                    <a:lumOff val="90000"/>
                  </a:srgbClr>
                </a:solidFill>
                <a:effectLst/>
                <a:uLnTx/>
                <a:uFillTx/>
                <a:latin typeface="Segoe UI Semibold"/>
                <a:ea typeface="+mn-ea"/>
                <a:cs typeface="Segoe UI Semibold"/>
              </a:endParaRPr>
            </a:p>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91F2C">
                    <a:lumMod val="10000"/>
                    <a:lumOff val="90000"/>
                  </a:srgbClr>
                </a:solidFill>
                <a:effectLst/>
                <a:uLnTx/>
                <a:uFillTx/>
                <a:latin typeface="Segoe UI Semibold"/>
                <a:ea typeface="+mn-ea"/>
                <a:cs typeface="Segoe UI Semibold"/>
              </a:endParaRPr>
            </a:p>
          </p:txBody>
        </p:sp>
      </p:grpSp>
      <p:grpSp>
        <p:nvGrpSpPr>
          <p:cNvPr id="6" name="Group 5" descr="SLOT:HOST">
            <a:extLst>
              <a:ext uri="{FF2B5EF4-FFF2-40B4-BE49-F238E27FC236}">
                <a16:creationId xmlns:a16="http://schemas.microsoft.com/office/drawing/2014/main" id="{5CC85B5F-E38E-FCF4-DB3F-FCB1E4F3634E}"/>
              </a:ext>
            </a:extLst>
          </p:cNvPr>
          <p:cNvGrpSpPr/>
          <p:nvPr/>
        </p:nvGrpSpPr>
        <p:grpSpPr>
          <a:xfrm>
            <a:off x="429768" y="1636776"/>
            <a:ext cx="3659761" cy="3489866"/>
            <a:chOff x="-6350573" y="1711004"/>
            <a:chExt cx="3659761" cy="3489866"/>
          </a:xfrm>
        </p:grpSpPr>
        <p:sp>
          <p:nvSpPr>
            <p:cNvPr id="9" name="Title 1">
              <a:extLst>
                <a:ext uri="{FF2B5EF4-FFF2-40B4-BE49-F238E27FC236}">
                  <a16:creationId xmlns:a16="http://schemas.microsoft.com/office/drawing/2014/main" id="{7CFAB6BE-ABC2-165A-B60A-5381093D4807}"/>
                </a:ext>
              </a:extLst>
            </p:cNvPr>
            <p:cNvSpPr txBox="1">
              <a:spLocks/>
            </p:cNvSpPr>
            <p:nvPr/>
          </p:nvSpPr>
          <p:spPr>
            <a:xfrm>
              <a:off x="-6350573" y="4102554"/>
              <a:ext cx="3659761"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50" normalizeH="0" baseline="0" noProof="0">
                  <a:ln w="3175">
                    <a:noFill/>
                  </a:ln>
                  <a:solidFill>
                    <a:srgbClr val="FFFFFF"/>
                  </a:solidFill>
                  <a:effectLst/>
                  <a:uLnTx/>
                  <a:uFillTx/>
                  <a:latin typeface="Segoe Sans Display Semibold"/>
                  <a:ea typeface="+mn-ea"/>
                  <a:cs typeface="Segoe Sans Display Semibold"/>
                </a:rPr>
                <a:t>Darian Nastvogel</a:t>
              </a:r>
              <a:endParaRPr kumimoji="0" lang="en-US" sz="3600" b="0" i="0" u="none" strike="noStrike" kern="1200" cap="none" spc="-50" normalizeH="0" baseline="0" noProof="0">
                <a:ln w="3175">
                  <a:noFill/>
                </a:ln>
                <a:solidFill>
                  <a:srgbClr val="FFFFFF"/>
                </a:solidFill>
                <a:effectLst/>
                <a:uLnTx/>
                <a:uFillTx/>
                <a:latin typeface="Segoe Sans Display Semibold"/>
                <a:ea typeface="+mn-ea"/>
                <a:cs typeface="Segoe UI" pitchFamily="34" charset="0"/>
              </a:endParaRPr>
            </a:p>
          </p:txBody>
        </p:sp>
        <p:pic>
          <p:nvPicPr>
            <p:cNvPr id="10" name="Picture 9" descr="PHOTO:HOST">
              <a:extLst>
                <a:ext uri="{FF2B5EF4-FFF2-40B4-BE49-F238E27FC236}">
                  <a16:creationId xmlns:a16="http://schemas.microsoft.com/office/drawing/2014/main" id="{2046FE25-CF26-6A54-5247-5C83CE2984F2}"/>
                </a:ext>
              </a:extLst>
            </p:cNvPr>
            <p:cNvPicPr>
              <a:picLocks noChangeAspect="1"/>
            </p:cNvPicPr>
            <p:nvPr/>
          </p:nvPicPr>
          <p:blipFill>
            <a:blip r:embed="rId2" cstate="print">
              <a:extLst>
                <a:ext uri="{28A0092B-C50C-407E-A947-70E740481C1C}">
                  <a14:useLocalDpi xmlns:a14="http://schemas.microsoft.com/office/drawing/2010/main" val="0"/>
                </a:ext>
              </a:extLst>
            </a:blip>
            <a:srcRect t="63" b="63"/>
            <a:stretch/>
          </p:blipFill>
          <p:spPr>
            <a:xfrm>
              <a:off x="-5674501" y="1711004"/>
              <a:ext cx="2255633" cy="2255633"/>
            </a:xfrm>
            <a:prstGeom prst="ellipse">
              <a:avLst/>
            </a:prstGeom>
          </p:spPr>
        </p:pic>
        <p:sp>
          <p:nvSpPr>
            <p:cNvPr id="12" name="TextBox 7">
              <a:extLst>
                <a:ext uri="{FF2B5EF4-FFF2-40B4-BE49-F238E27FC236}">
                  <a16:creationId xmlns:a16="http://schemas.microsoft.com/office/drawing/2014/main" id="{7FDB102B-5613-58EB-5D99-07AA45538908}"/>
                </a:ext>
              </a:extLst>
            </p:cNvPr>
            <p:cNvSpPr txBox="1"/>
            <p:nvPr/>
          </p:nvSpPr>
          <p:spPr>
            <a:xfrm>
              <a:off x="-6350573" y="4616095"/>
              <a:ext cx="3655401" cy="584775"/>
            </a:xfrm>
            <a:prstGeom prst="rect">
              <a:avLst/>
            </a:prstGeom>
            <a:noFill/>
          </p:spPr>
          <p:txBody>
            <a:bodyPr wrap="square" lIns="91440" tIns="45720" rIns="91440" bIns="45720" anchor="t">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91F2C">
                    <a:lumMod val="10000"/>
                    <a:lumOff val="90000"/>
                  </a:srgbClr>
                </a:solidFill>
                <a:effectLst/>
                <a:uLnTx/>
                <a:uFillTx/>
                <a:latin typeface="Segoe UI Semibold"/>
                <a:ea typeface="+mn-ea"/>
                <a:cs typeface="Segoe UI Semibold"/>
              </a:endParaRPr>
            </a:p>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91F2C">
                    <a:lumMod val="10000"/>
                    <a:lumOff val="90000"/>
                  </a:srgbClr>
                </a:solidFill>
                <a:effectLst/>
                <a:uLnTx/>
                <a:uFillTx/>
                <a:latin typeface="Segoe UI Semibold"/>
                <a:ea typeface="+mn-ea"/>
                <a:cs typeface="Segoe UI Semibold"/>
              </a:endParaRPr>
            </a:p>
          </p:txBody>
        </p:sp>
      </p:grpSp>
      <p:pic>
        <p:nvPicPr>
          <p:cNvPr id="16" name="Picture 15" descr="PHOTO:PRESENTER_2">
            <a:extLst>
              <a:ext uri="{FF2B5EF4-FFF2-40B4-BE49-F238E27FC236}">
                <a16:creationId xmlns:a16="http://schemas.microsoft.com/office/drawing/2014/main" id="{9768C82E-EADD-D008-8B03-7ECA9EE2A9B4}"/>
              </a:ext>
            </a:extLst>
          </p:cNvPr>
          <p:cNvPicPr>
            <a:picLocks noChangeAspect="1"/>
          </p:cNvPicPr>
          <p:nvPr/>
        </p:nvPicPr>
        <p:blipFill>
          <a:blip r:embed="rId3"/>
          <a:stretch>
            <a:fillRect/>
          </a:stretch>
        </p:blipFill>
        <p:spPr>
          <a:xfrm>
            <a:off x="8430768" y="1609344"/>
            <a:ext cx="2286000" cy="2286000"/>
          </a:xfrm>
          <a:prstGeom prst="ellipse">
            <a:avLst/>
          </a:prstGeom>
        </p:spPr>
      </p:pic>
      <p:pic>
        <p:nvPicPr>
          <p:cNvPr id="18" name="Picture 17" descr="PHOTO:PRESENTER_1">
            <a:extLst>
              <a:ext uri="{FF2B5EF4-FFF2-40B4-BE49-F238E27FC236}">
                <a16:creationId xmlns:a16="http://schemas.microsoft.com/office/drawing/2014/main" id="{4670EA67-6B4D-E0D9-17BB-421EBD9AB8E3}"/>
              </a:ext>
            </a:extLst>
          </p:cNvPr>
          <p:cNvPicPr>
            <a:picLocks noChangeAspect="1"/>
          </p:cNvPicPr>
          <p:nvPr/>
        </p:nvPicPr>
        <p:blipFill>
          <a:blip r:embed="rId4"/>
          <a:stretch>
            <a:fillRect/>
          </a:stretch>
        </p:blipFill>
        <p:spPr>
          <a:xfrm>
            <a:off x="4882896" y="1581912"/>
            <a:ext cx="2258568" cy="2391550"/>
          </a:xfrm>
          <a:prstGeom prst="ellipse">
            <a:avLst/>
          </a:prstGeom>
        </p:spPr>
      </p:pic>
    </p:spTree>
    <p:extLst>
      <p:ext uri="{BB962C8B-B14F-4D97-AF65-F5344CB8AC3E}">
        <p14:creationId xmlns:p14="http://schemas.microsoft.com/office/powerpoint/2010/main" val="314498116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4893DEC-02FE-F959-A41B-650150FC18C8}"/>
              </a:ext>
            </a:extLst>
          </p:cNvPr>
          <p:cNvSpPr txBox="1">
            <a:spLocks/>
          </p:cNvSpPr>
          <p:nvPr/>
        </p:nvSpPr>
        <p:spPr>
          <a:xfrm>
            <a:off x="586740" y="382689"/>
            <a:ext cx="11018520" cy="1107996"/>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r>
              <a:rPr lang="en-US" b="1">
                <a:latin typeface="Segoe UI" panose="020B0502040204020203" pitchFamily="34" charset="0"/>
              </a:rPr>
              <a:t>Meeting Guidelines</a:t>
            </a:r>
            <a:br>
              <a:rPr lang="en-US" b="1">
                <a:latin typeface="Segoe UI" panose="020B0502040204020203" pitchFamily="34" charset="0"/>
              </a:rPr>
            </a:br>
            <a:endParaRPr lang="en-US" b="1">
              <a:latin typeface="Segoe UI" panose="020B0502040204020203" pitchFamily="34" charset="0"/>
            </a:endParaRPr>
          </a:p>
        </p:txBody>
      </p:sp>
      <p:sp>
        <p:nvSpPr>
          <p:cNvPr id="3" name="TextBox 2">
            <a:extLst>
              <a:ext uri="{FF2B5EF4-FFF2-40B4-BE49-F238E27FC236}">
                <a16:creationId xmlns:a16="http://schemas.microsoft.com/office/drawing/2014/main" id="{B1AB46D2-1866-3798-3714-40C40EA93A6C}"/>
              </a:ext>
            </a:extLst>
          </p:cNvPr>
          <p:cNvSpPr txBox="1"/>
          <p:nvPr/>
        </p:nvSpPr>
        <p:spPr>
          <a:xfrm>
            <a:off x="586739" y="1285531"/>
            <a:ext cx="9783387" cy="2945935"/>
          </a:xfrm>
          <a:prstGeom prst="rect">
            <a:avLst/>
          </a:prstGeom>
          <a:noFill/>
        </p:spPr>
        <p:txBody>
          <a:bodyPr wrap="square" lIns="91440" tIns="45720" rIns="91440" bIns="45720" anchor="t">
            <a:spAutoFit/>
          </a:bodyPr>
          <a:lstStyle/>
          <a:p>
            <a:pPr marL="285750" indent="-285750" defTabSz="914367">
              <a:lnSpc>
                <a:spcPct val="150000"/>
              </a:lnSpc>
              <a:buFont typeface="Arial,Sans-Serif" panose="020B0604020202020204" pitchFamily="34" charset="0"/>
              <a:buChar char="•"/>
              <a:defRPr/>
            </a:pPr>
            <a:r>
              <a:rPr lang="en-US">
                <a:latin typeface="Segoe Sans Display"/>
              </a:rPr>
              <a:t>The session is open to everyone. Please do not discuss any sensitive topics or Microsoft NDA content.</a:t>
            </a:r>
            <a:endParaRPr lang="en-US">
              <a:ea typeface="+mn-lt"/>
              <a:cs typeface="+mn-lt"/>
            </a:endParaRPr>
          </a:p>
          <a:p>
            <a:pPr marL="285750" indent="-285750" defTabSz="914367">
              <a:lnSpc>
                <a:spcPct val="150000"/>
              </a:lnSpc>
              <a:buFont typeface="Arial,Sans-Serif" panose="020B0604020202020204" pitchFamily="34" charset="0"/>
              <a:buChar char="•"/>
              <a:defRPr/>
            </a:pPr>
            <a:r>
              <a:rPr lang="en-US">
                <a:ea typeface="+mn-lt"/>
                <a:cs typeface="+mn-lt"/>
              </a:rPr>
              <a:t>Avoid adding any AI notetaking agents</a:t>
            </a:r>
          </a:p>
          <a:p>
            <a:pPr marL="285750" indent="-285750" defTabSz="914367">
              <a:lnSpc>
                <a:spcPct val="150000"/>
              </a:lnSpc>
              <a:buFont typeface="Arial,Sans-Serif" panose="020B0604020202020204" pitchFamily="34" charset="0"/>
              <a:buChar char="•"/>
              <a:defRPr/>
            </a:pPr>
            <a:r>
              <a:rPr lang="en-US">
                <a:ea typeface="+mn-lt"/>
                <a:cs typeface="+mn-lt"/>
              </a:rPr>
              <a:t>Poll questions are optional and subject to Microsoft Privacy Statement (</a:t>
            </a:r>
            <a:r>
              <a:rPr lang="en-US">
                <a:ea typeface="+mn-lt"/>
                <a:cs typeface="+mn-lt"/>
                <a:hlinkClick r:id="rId2"/>
              </a:rPr>
              <a:t>aka.ms/privacy</a:t>
            </a:r>
            <a:r>
              <a:rPr lang="en-US">
                <a:ea typeface="+mn-lt"/>
                <a:cs typeface="+mn-lt"/>
              </a:rPr>
              <a:t>)</a:t>
            </a:r>
            <a:endParaRPr lang="en-US">
              <a:latin typeface="Segoe Sans Display"/>
              <a:cs typeface="Segoe Sans Display"/>
            </a:endParaRPr>
          </a:p>
          <a:p>
            <a:pPr marL="285750" marR="0" lvl="0" indent="-285750" algn="l" defTabSz="914367">
              <a:lnSpc>
                <a:spcPct val="150000"/>
              </a:lnSpc>
              <a:spcBef>
                <a:spcPts val="0"/>
              </a:spcBef>
              <a:spcAft>
                <a:spcPts val="0"/>
              </a:spcAft>
              <a:buClrTx/>
              <a:buSzTx/>
              <a:buFont typeface="Arial,Sans-Serif" panose="020B0604020202020204" pitchFamily="34" charset="0"/>
              <a:buChar char="•"/>
              <a:tabLst/>
              <a:defRPr/>
            </a:pPr>
            <a:r>
              <a:rPr lang="en-US">
                <a:latin typeface="Segoe Sans Display"/>
              </a:rPr>
              <a:t>We will ask for your input, raise your hand to share and we will call on you.</a:t>
            </a:r>
            <a:endParaRPr lang="en-US" b="0" i="0" u="none" strike="noStrike" kern="1200" cap="none" spc="0" normalizeH="0" baseline="0" noProof="0">
              <a:ln>
                <a:noFill/>
              </a:ln>
              <a:effectLst/>
              <a:uLnTx/>
              <a:uFillTx/>
              <a:latin typeface="Segoe Sans Display"/>
              <a:cs typeface="Segoe Sans Display"/>
            </a:endParaRPr>
          </a:p>
          <a:p>
            <a:pPr marL="285750" marR="0" lvl="0" indent="-285750" algn="l" defTabSz="914367">
              <a:lnSpc>
                <a:spcPct val="150000"/>
              </a:lnSpc>
              <a:spcBef>
                <a:spcPts val="0"/>
              </a:spcBef>
              <a:spcAft>
                <a:spcPts val="0"/>
              </a:spcAft>
              <a:buClrTx/>
              <a:buSzTx/>
              <a:buFont typeface="Arial,Sans-Serif" panose="020B0604020202020204" pitchFamily="34" charset="0"/>
              <a:buChar char="•"/>
              <a:tabLst/>
              <a:defRPr/>
            </a:pPr>
            <a:r>
              <a:rPr kumimoji="0" lang="en-US" b="0" i="0" u="none" strike="noStrike" kern="1200" cap="none" spc="0" normalizeH="0" baseline="0" noProof="0">
                <a:ln>
                  <a:noFill/>
                </a:ln>
                <a:solidFill>
                  <a:srgbClr val="FFFFFF"/>
                </a:solidFill>
                <a:effectLst/>
                <a:uLnTx/>
                <a:uFillTx/>
                <a:latin typeface="Segoe Sans Display"/>
                <a:ea typeface="+mn-ea"/>
                <a:cs typeface="+mn-cs"/>
              </a:rPr>
              <a:t>Please be respectful of others</a:t>
            </a:r>
            <a:endParaRPr lang="en-US" b="0" i="0" u="none" strike="noStrike" kern="1200" cap="none" spc="0" normalizeH="0" baseline="0" noProof="0">
              <a:ln>
                <a:noFill/>
              </a:ln>
              <a:solidFill>
                <a:srgbClr val="FFFFFF"/>
              </a:solidFill>
              <a:effectLst/>
              <a:uLnTx/>
              <a:uFillTx/>
              <a:latin typeface="Segoe Sans Display"/>
              <a:cs typeface="Segoe Sans Display"/>
            </a:endParaRPr>
          </a:p>
          <a:p>
            <a:pPr marL="285750" marR="0" lvl="0" indent="-285750" algn="l" defTabSz="914367">
              <a:lnSpc>
                <a:spcPct val="150000"/>
              </a:lnSpc>
              <a:spcBef>
                <a:spcPts val="0"/>
              </a:spcBef>
              <a:spcAft>
                <a:spcPts val="0"/>
              </a:spcAft>
              <a:buClrTx/>
              <a:buSzTx/>
              <a:buFont typeface="Arial,Sans-Serif" panose="020B0604020202020204" pitchFamily="34" charset="0"/>
              <a:buChar char="•"/>
              <a:tabLst/>
              <a:defRPr/>
            </a:pPr>
            <a:r>
              <a:rPr kumimoji="0" lang="en-US" b="0" i="0" u="none" strike="noStrike" kern="1200" cap="none" spc="0" normalizeH="0" baseline="0" noProof="0">
                <a:ln>
                  <a:noFill/>
                </a:ln>
                <a:solidFill>
                  <a:srgbClr val="FFFFFF"/>
                </a:solidFill>
                <a:effectLst/>
                <a:uLnTx/>
                <a:uFillTx/>
                <a:latin typeface="Segoe Sans Display"/>
                <a:ea typeface="+mn-ea"/>
                <a:cs typeface="+mn-cs"/>
              </a:rPr>
              <a:t>Have fun!</a:t>
            </a:r>
            <a:endParaRPr lang="en-US" sz="1600">
              <a:ea typeface="+mn-ea"/>
              <a:cs typeface="+mn-cs"/>
            </a:endParaRPr>
          </a:p>
        </p:txBody>
      </p:sp>
    </p:spTree>
    <p:extLst>
      <p:ext uri="{BB962C8B-B14F-4D97-AF65-F5344CB8AC3E}">
        <p14:creationId xmlns:p14="http://schemas.microsoft.com/office/powerpoint/2010/main" val="173959978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p:cNvSpPr txBox="1"/>
          <p:nvPr/>
        </p:nvSpPr>
        <p:spPr>
          <a:xfrm>
            <a:off x="586740" y="382689"/>
            <a:ext cx="11018520" cy="70000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Segoe UI"/>
                <a:ea typeface="+mn-ea"/>
                <a:cs typeface="Segoe UI"/>
              </a:rPr>
              <a:t>What we'll cover today</a:t>
            </a:r>
          </a:p>
        </p:txBody>
      </p:sp>
      <p:sp>
        <p:nvSpPr>
          <p:cNvPr id="12" name="TextBox"/>
          <p:cNvSpPr txBox="1"/>
          <p:nvPr/>
        </p:nvSpPr>
        <p:spPr>
          <a:xfrm>
            <a:off x="586740" y="1050000"/>
            <a:ext cx="11018520" cy="36933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B6C4D2"/>
                </a:solidFill>
                <a:effectLst/>
                <a:uLnTx/>
                <a:uFillTx/>
                <a:latin typeface="Segoe UI"/>
                <a:ea typeface="+mn-ea"/>
                <a:cs typeface="Segoe UI"/>
              </a:rPr>
              <a:t>L</a:t>
            </a:r>
            <a:r>
              <a:rPr kumimoji="0" lang="en-US" sz="1800" b="0" i="0" u="none" strike="noStrike" kern="1200" cap="none" spc="0" normalizeH="0" baseline="0" noProof="0" err="1">
                <a:ln>
                  <a:noFill/>
                </a:ln>
                <a:solidFill>
                  <a:srgbClr val="B6C4D2"/>
                </a:solidFill>
                <a:effectLst/>
                <a:uLnTx/>
                <a:uFillTx/>
                <a:latin typeface="Segoe UI"/>
                <a:ea typeface="+mn-ea"/>
                <a:cs typeface="Segoe UI"/>
              </a:rPr>
              <a:t>ive</a:t>
            </a:r>
            <a:r>
              <a:rPr kumimoji="0" lang="en-US" sz="1800" b="0" i="0" u="none" strike="noStrike" kern="1200" cap="none" spc="0" normalizeH="0" baseline="0" noProof="0">
                <a:ln>
                  <a:noFill/>
                </a:ln>
                <a:solidFill>
                  <a:srgbClr val="B6C4D2"/>
                </a:solidFill>
                <a:effectLst/>
                <a:uLnTx/>
                <a:uFillTx/>
                <a:latin typeface="Segoe UI"/>
                <a:ea typeface="+mn-ea"/>
                <a:cs typeface="Segoe UI"/>
              </a:rPr>
              <a:t> demo included</a:t>
            </a:r>
          </a:p>
        </p:txBody>
      </p:sp>
      <p:sp>
        <p:nvSpPr>
          <p:cNvPr id="13" name="TextBox"/>
          <p:cNvSpPr txBox="1"/>
          <p:nvPr/>
        </p:nvSpPr>
        <p:spPr>
          <a:xfrm>
            <a:off x="585216" y="1984248"/>
            <a:ext cx="700000" cy="70000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449CD6"/>
                </a:solidFill>
                <a:effectLst/>
                <a:uLnTx/>
                <a:uFillTx/>
                <a:latin typeface="Segoe UI"/>
                <a:ea typeface="+mn-ea"/>
                <a:cs typeface="Segoe UI"/>
              </a:rPr>
              <a:t>1</a:t>
            </a:r>
          </a:p>
        </p:txBody>
      </p:sp>
      <p:sp>
        <p:nvSpPr>
          <p:cNvPr id="14" name="TextBox"/>
          <p:cNvSpPr txBox="1"/>
          <p:nvPr/>
        </p:nvSpPr>
        <p:spPr>
          <a:xfrm>
            <a:off x="1289304" y="1984248"/>
            <a:ext cx="2900000" cy="145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Segoe UI"/>
                <a:ea typeface="+mn-ea"/>
                <a:cs typeface="Segoe UI"/>
              </a:rPr>
              <a:t>Intro</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200" b="0" i="0" u="none" strike="noStrike" kern="1200" cap="none" spc="0" normalizeH="0" baseline="0" noProof="0">
                <a:ln>
                  <a:noFill/>
                </a:ln>
                <a:solidFill>
                  <a:srgbClr val="B6C4D2"/>
                </a:solidFill>
                <a:effectLst/>
                <a:uLnTx/>
                <a:uFillTx/>
                <a:latin typeface="Segoe UI"/>
                <a:ea typeface="+mn-ea"/>
                <a:cs typeface="Segoe UI"/>
              </a:rPr>
              <a:t>Welcome &amp; overview</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100" b="1" i="0" u="none" strike="noStrike" kern="1200" cap="none" spc="0" normalizeH="0" baseline="0" noProof="0">
                <a:ln>
                  <a:noFill/>
                </a:ln>
                <a:solidFill>
                  <a:srgbClr val="449CD6"/>
                </a:solidFill>
                <a:effectLst/>
                <a:uLnTx/>
                <a:uFillTx/>
                <a:latin typeface="Segoe UI"/>
                <a:ea typeface="+mn-ea"/>
                <a:cs typeface="Segoe UI"/>
              </a:rPr>
              <a:t>5m</a:t>
            </a:r>
          </a:p>
        </p:txBody>
      </p:sp>
      <p:sp>
        <p:nvSpPr>
          <p:cNvPr id="15" name="TextBox"/>
          <p:cNvSpPr txBox="1"/>
          <p:nvPr/>
        </p:nvSpPr>
        <p:spPr>
          <a:xfrm>
            <a:off x="4398264" y="1984248"/>
            <a:ext cx="700000" cy="70000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449CD6"/>
                </a:solidFill>
                <a:effectLst/>
                <a:uLnTx/>
                <a:uFillTx/>
                <a:latin typeface="Segoe UI"/>
                <a:ea typeface="+mn-ea"/>
                <a:cs typeface="Segoe UI"/>
              </a:rPr>
              <a:t>2</a:t>
            </a:r>
          </a:p>
        </p:txBody>
      </p:sp>
      <p:sp>
        <p:nvSpPr>
          <p:cNvPr id="16" name="TextBox"/>
          <p:cNvSpPr txBox="1"/>
          <p:nvPr/>
        </p:nvSpPr>
        <p:spPr>
          <a:xfrm>
            <a:off x="5102352" y="1984248"/>
            <a:ext cx="2900000" cy="145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Segoe UI"/>
                <a:ea typeface="+mn-ea"/>
                <a:cs typeface="Segoe UI"/>
              </a:rPr>
              <a:t>Topic &amp; Problem</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200" b="0" i="0" u="none" strike="noStrike" kern="1200" cap="none" spc="0" normalizeH="0" baseline="0" noProof="0">
                <a:ln>
                  <a:noFill/>
                </a:ln>
                <a:solidFill>
                  <a:srgbClr val="B6C4D2"/>
                </a:solidFill>
                <a:effectLst/>
                <a:uLnTx/>
                <a:uFillTx/>
                <a:latin typeface="Segoe UI"/>
                <a:ea typeface="+mn-ea"/>
                <a:cs typeface="Segoe UI"/>
              </a:rPr>
              <a:t>Why bring your own AI agent to Copilot</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100" b="1" i="0" u="none" strike="noStrike" kern="1200" cap="none" spc="0" normalizeH="0" baseline="0" noProof="0">
                <a:ln>
                  <a:noFill/>
                </a:ln>
                <a:solidFill>
                  <a:srgbClr val="449CD6"/>
                </a:solidFill>
                <a:effectLst/>
                <a:uLnTx/>
                <a:uFillTx/>
                <a:latin typeface="Segoe UI"/>
                <a:ea typeface="+mn-ea"/>
                <a:cs typeface="Segoe UI"/>
              </a:rPr>
              <a:t>5m</a:t>
            </a:r>
          </a:p>
        </p:txBody>
      </p:sp>
      <p:sp>
        <p:nvSpPr>
          <p:cNvPr id="17" name="TextBox"/>
          <p:cNvSpPr txBox="1"/>
          <p:nvPr/>
        </p:nvSpPr>
        <p:spPr>
          <a:xfrm>
            <a:off x="8202168" y="1984248"/>
            <a:ext cx="700000" cy="70000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449CD6"/>
                </a:solidFill>
                <a:effectLst/>
                <a:uLnTx/>
                <a:uFillTx/>
                <a:latin typeface="Segoe UI"/>
                <a:ea typeface="+mn-ea"/>
                <a:cs typeface="Segoe UI"/>
              </a:rPr>
              <a:t>3</a:t>
            </a:r>
          </a:p>
        </p:txBody>
      </p:sp>
      <p:sp>
        <p:nvSpPr>
          <p:cNvPr id="18" name="TextBox"/>
          <p:cNvSpPr txBox="1"/>
          <p:nvPr/>
        </p:nvSpPr>
        <p:spPr>
          <a:xfrm>
            <a:off x="8906256" y="1984248"/>
            <a:ext cx="2900000" cy="145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Segoe UI"/>
                <a:ea typeface="+mn-ea"/>
                <a:cs typeface="Segoe UI"/>
              </a:rPr>
              <a:t>Proxy Agent Sample</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200" b="0" i="0" u="none" strike="noStrike" kern="1200" cap="none" spc="0" normalizeH="0" baseline="0" noProof="0">
                <a:ln>
                  <a:noFill/>
                </a:ln>
                <a:solidFill>
                  <a:srgbClr val="B6C4D2"/>
                </a:solidFill>
                <a:effectLst/>
                <a:uLnTx/>
                <a:uFillTx/>
                <a:latin typeface="Segoe UI"/>
                <a:ea typeface="+mn-ea"/>
                <a:cs typeface="Segoe UI"/>
              </a:rPr>
              <a:t>Architecture deep-dive</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100" b="1" i="0" u="none" strike="noStrike" kern="1200" cap="none" spc="0" normalizeH="0" baseline="0" noProof="0">
                <a:ln>
                  <a:noFill/>
                </a:ln>
                <a:solidFill>
                  <a:srgbClr val="449CD6"/>
                </a:solidFill>
                <a:effectLst/>
                <a:uLnTx/>
                <a:uFillTx/>
                <a:latin typeface="Segoe UI"/>
                <a:ea typeface="+mn-ea"/>
                <a:cs typeface="Segoe UI"/>
              </a:rPr>
              <a:t>5m</a:t>
            </a:r>
          </a:p>
        </p:txBody>
      </p:sp>
      <p:sp>
        <p:nvSpPr>
          <p:cNvPr id="19" name="TextBox"/>
          <p:cNvSpPr txBox="1"/>
          <p:nvPr/>
        </p:nvSpPr>
        <p:spPr>
          <a:xfrm>
            <a:off x="585216" y="4270248"/>
            <a:ext cx="700000" cy="70000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449CD6"/>
                </a:solidFill>
                <a:effectLst/>
                <a:uLnTx/>
                <a:uFillTx/>
                <a:latin typeface="Segoe UI"/>
                <a:ea typeface="+mn-ea"/>
                <a:cs typeface="Segoe UI"/>
              </a:rPr>
              <a:t>4</a:t>
            </a:r>
          </a:p>
        </p:txBody>
      </p:sp>
      <p:sp>
        <p:nvSpPr>
          <p:cNvPr id="20" name="TextBox"/>
          <p:cNvSpPr txBox="1"/>
          <p:nvPr/>
        </p:nvSpPr>
        <p:spPr>
          <a:xfrm>
            <a:off x="1289304" y="4270248"/>
            <a:ext cx="2900000" cy="145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Segoe UI"/>
                <a:ea typeface="+mn-ea"/>
                <a:cs typeface="Segoe UI"/>
              </a:rPr>
              <a:t>Live Demo</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200" b="0" i="0" u="none" strike="noStrike" kern="1200" cap="none" spc="0" normalizeH="0" baseline="0" noProof="0">
                <a:ln>
                  <a:noFill/>
                </a:ln>
                <a:solidFill>
                  <a:srgbClr val="B6C4D2"/>
                </a:solidFill>
                <a:effectLst/>
                <a:uLnTx/>
                <a:uFillTx/>
                <a:latin typeface="Segoe UI"/>
                <a:ea typeface="+mn-ea"/>
                <a:cs typeface="Segoe UI"/>
              </a:rPr>
              <a:t>Foundry agent in M365 Copilot &amp; GitHub Copilot Skill</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100" b="1" i="0" u="none" strike="noStrike" kern="1200" cap="none" spc="0" normalizeH="0" baseline="0" noProof="0">
                <a:ln>
                  <a:noFill/>
                </a:ln>
                <a:solidFill>
                  <a:srgbClr val="449CD6"/>
                </a:solidFill>
                <a:effectLst/>
                <a:uLnTx/>
                <a:uFillTx/>
                <a:latin typeface="Segoe UI"/>
                <a:ea typeface="+mn-ea"/>
                <a:cs typeface="Segoe UI"/>
              </a:rPr>
              <a:t>15m</a:t>
            </a:r>
          </a:p>
        </p:txBody>
      </p:sp>
      <p:sp>
        <p:nvSpPr>
          <p:cNvPr id="21" name="TextBox"/>
          <p:cNvSpPr txBox="1"/>
          <p:nvPr/>
        </p:nvSpPr>
        <p:spPr>
          <a:xfrm>
            <a:off x="4398264" y="4270248"/>
            <a:ext cx="700000" cy="70000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449CD6"/>
                </a:solidFill>
                <a:effectLst/>
                <a:uLnTx/>
                <a:uFillTx/>
                <a:latin typeface="Segoe UI"/>
                <a:ea typeface="+mn-ea"/>
                <a:cs typeface="Segoe UI"/>
              </a:rPr>
              <a:t>5</a:t>
            </a:r>
          </a:p>
        </p:txBody>
      </p:sp>
      <p:sp>
        <p:nvSpPr>
          <p:cNvPr id="22" name="TextBox"/>
          <p:cNvSpPr txBox="1"/>
          <p:nvPr/>
        </p:nvSpPr>
        <p:spPr>
          <a:xfrm>
            <a:off x="5102352" y="4270248"/>
            <a:ext cx="2900000" cy="145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Segoe UI"/>
                <a:ea typeface="+mn-ea"/>
                <a:cs typeface="Segoe UI"/>
              </a:rPr>
              <a:t>Wrap up</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200" b="0" i="0" u="none" strike="noStrike" kern="1200" cap="none" spc="0" normalizeH="0" baseline="0" noProof="0">
                <a:ln>
                  <a:noFill/>
                </a:ln>
                <a:solidFill>
                  <a:srgbClr val="B6C4D2"/>
                </a:solidFill>
                <a:effectLst/>
                <a:uLnTx/>
                <a:uFillTx/>
                <a:latin typeface="Segoe UI"/>
                <a:ea typeface="+mn-ea"/>
                <a:cs typeface="Segoe UI"/>
              </a:rPr>
              <a:t>Key takeaways &amp; resources</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100" b="1" i="0" u="none" strike="noStrike" kern="1200" cap="none" spc="0" normalizeH="0" baseline="0" noProof="0">
                <a:ln>
                  <a:noFill/>
                </a:ln>
                <a:solidFill>
                  <a:srgbClr val="449CD6"/>
                </a:solidFill>
                <a:effectLst/>
                <a:uLnTx/>
                <a:uFillTx/>
                <a:latin typeface="Segoe UI"/>
                <a:ea typeface="+mn-ea"/>
                <a:cs typeface="Segoe UI"/>
              </a:rPr>
              <a:t>5m</a:t>
            </a:r>
          </a:p>
        </p:txBody>
      </p:sp>
      <p:sp>
        <p:nvSpPr>
          <p:cNvPr id="23" name="TextBox"/>
          <p:cNvSpPr txBox="1"/>
          <p:nvPr/>
        </p:nvSpPr>
        <p:spPr>
          <a:xfrm>
            <a:off x="8202168" y="4270248"/>
            <a:ext cx="700000" cy="70000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449CD6"/>
                </a:solidFill>
                <a:effectLst/>
                <a:uLnTx/>
                <a:uFillTx/>
                <a:latin typeface="Segoe UI"/>
                <a:ea typeface="+mn-ea"/>
                <a:cs typeface="Segoe UI"/>
              </a:rPr>
              <a:t>6</a:t>
            </a:r>
          </a:p>
        </p:txBody>
      </p:sp>
      <p:sp>
        <p:nvSpPr>
          <p:cNvPr id="24" name="TextBox"/>
          <p:cNvSpPr txBox="1"/>
          <p:nvPr/>
        </p:nvSpPr>
        <p:spPr>
          <a:xfrm>
            <a:off x="8906256" y="4270248"/>
            <a:ext cx="2900000" cy="145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Segoe UI"/>
                <a:ea typeface="+mn-ea"/>
                <a:cs typeface="Segoe UI"/>
              </a:rPr>
              <a:t>Q&amp;A</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200" b="0" i="0" u="none" strike="noStrike" kern="1200" cap="none" spc="0" normalizeH="0" baseline="0" noProof="0">
                <a:ln>
                  <a:noFill/>
                </a:ln>
                <a:solidFill>
                  <a:srgbClr val="B6C4D2"/>
                </a:solidFill>
                <a:effectLst/>
                <a:uLnTx/>
                <a:uFillTx/>
                <a:latin typeface="Segoe UI"/>
                <a:ea typeface="+mn-ea"/>
                <a:cs typeface="Segoe UI"/>
              </a:rPr>
              <a:t>Your questions</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100" b="1" i="0" u="none" strike="noStrike" kern="1200" cap="none" spc="0" normalizeH="0" baseline="0" noProof="0">
                <a:ln>
                  <a:noFill/>
                </a:ln>
                <a:solidFill>
                  <a:srgbClr val="449CD6"/>
                </a:solidFill>
                <a:effectLst/>
                <a:uLnTx/>
                <a:uFillTx/>
                <a:latin typeface="Segoe UI"/>
                <a:ea typeface="+mn-ea"/>
                <a:cs typeface="Segoe UI"/>
              </a:rPr>
              <a:t>15m</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extBox"/>
          <p:cNvSpPr txBox="1"/>
          <p:nvPr/>
        </p:nvSpPr>
        <p:spPr>
          <a:xfrm>
            <a:off x="586740" y="382689"/>
            <a:ext cx="1101852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Segoe UI"/>
                <a:ea typeface="+mn-ea"/>
                <a:cs typeface="Segoe UI"/>
              </a:rPr>
              <a:t>Why bring your own AI agent to M365 Copilot?</a:t>
            </a:r>
          </a:p>
        </p:txBody>
      </p:sp>
      <p:sp>
        <p:nvSpPr>
          <p:cNvPr id="112" name="TextBox"/>
          <p:cNvSpPr txBox="1"/>
          <p:nvPr/>
        </p:nvSpPr>
        <p:spPr>
          <a:xfrm>
            <a:off x="586740" y="1050000"/>
            <a:ext cx="11018520" cy="36933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B6C4D2"/>
                </a:solidFill>
                <a:effectLst/>
                <a:uLnTx/>
                <a:uFillTx/>
                <a:latin typeface="Segoe UI"/>
                <a:ea typeface="+mn-ea"/>
                <a:cs typeface="Segoe UI"/>
              </a:rPr>
              <a:t>Three common themes we hear from customers</a:t>
            </a:r>
          </a:p>
        </p:txBody>
      </p:sp>
      <p:cxnSp>
        <p:nvCxnSpPr>
          <p:cNvPr id="113" name="Line"/>
          <p:cNvCxnSpPr/>
          <p:nvPr/>
        </p:nvCxnSpPr>
        <p:spPr>
          <a:xfrm>
            <a:off x="586740" y="2100000"/>
            <a:ext cx="700000" cy="0"/>
          </a:xfrm>
          <a:prstGeom prst="line">
            <a:avLst/>
          </a:prstGeom>
          <a:ln w="20000">
            <a:solidFill>
              <a:srgbClr val="449CD6"/>
            </a:solidFill>
          </a:ln>
        </p:spPr>
      </p:cxnSp>
      <p:sp>
        <p:nvSpPr>
          <p:cNvPr id="114" name="TextBox"/>
          <p:cNvSpPr txBox="1"/>
          <p:nvPr/>
        </p:nvSpPr>
        <p:spPr>
          <a:xfrm>
            <a:off x="586740" y="2200000"/>
            <a:ext cx="3500000" cy="35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srgbClr val="FFFFFF"/>
                </a:solidFill>
                <a:effectLst/>
                <a:uLnTx/>
                <a:uFillTx/>
                <a:latin typeface="Segoe UI"/>
                <a:ea typeface="+mn-ea"/>
                <a:cs typeface="Segoe UI"/>
              </a:rPr>
              <a:t>Existing AI investment</a:t>
            </a:r>
          </a:p>
          <a:p>
            <a:pPr marL="0" marR="0" lvl="0" indent="0" algn="l" defTabSz="914400" rtl="0" eaLnBrk="1" fontAlgn="auto" latinLnBrk="0" hangingPunct="1">
              <a:lnSpc>
                <a:spcPct val="130000"/>
              </a:lnSpc>
              <a:spcBef>
                <a:spcPts val="600"/>
              </a:spcBef>
              <a:spcAft>
                <a:spcPts val="0"/>
              </a:spcAft>
              <a:buClrTx/>
              <a:buSzTx/>
              <a:buFontTx/>
              <a:buNone/>
              <a:tabLst/>
              <a:defRPr/>
            </a:pPr>
            <a:r>
              <a:rPr kumimoji="0" lang="en-US" sz="1500" b="0" i="0" u="none" strike="noStrike" kern="1200" cap="none" spc="0" normalizeH="0" baseline="0" noProof="0">
                <a:ln>
                  <a:noFill/>
                </a:ln>
                <a:solidFill>
                  <a:srgbClr val="B6C4D2"/>
                </a:solidFill>
                <a:effectLst/>
                <a:uLnTx/>
                <a:uFillTx/>
                <a:latin typeface="Segoe UI"/>
                <a:ea typeface="+mn-ea"/>
                <a:cs typeface="Segoe UI"/>
              </a:rPr>
              <a:t>You already operate an AI agent on Foundry, OpenAI, Anthropic, Groq, or LangChain. You want it reachable in M365 Copilot without moving or rebuilding it.</a:t>
            </a:r>
          </a:p>
        </p:txBody>
      </p:sp>
      <p:cxnSp>
        <p:nvCxnSpPr>
          <p:cNvPr id="115" name="Line"/>
          <p:cNvCxnSpPr/>
          <p:nvPr/>
        </p:nvCxnSpPr>
        <p:spPr>
          <a:xfrm>
            <a:off x="4400000" y="2100000"/>
            <a:ext cx="700000" cy="0"/>
          </a:xfrm>
          <a:prstGeom prst="line">
            <a:avLst/>
          </a:prstGeom>
          <a:ln w="20000">
            <a:solidFill>
              <a:srgbClr val="449CD6"/>
            </a:solidFill>
          </a:ln>
        </p:spPr>
      </p:cxnSp>
      <p:sp>
        <p:nvSpPr>
          <p:cNvPr id="116" name="TextBox"/>
          <p:cNvSpPr txBox="1"/>
          <p:nvPr/>
        </p:nvSpPr>
        <p:spPr>
          <a:xfrm>
            <a:off x="4400000" y="2200000"/>
            <a:ext cx="3500000" cy="35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srgbClr val="FFFFFF"/>
                </a:solidFill>
                <a:effectLst/>
                <a:uLnTx/>
                <a:uFillTx/>
                <a:latin typeface="Segoe UI"/>
                <a:ea typeface="+mn-ea"/>
                <a:cs typeface="Segoe UI"/>
              </a:rPr>
              <a:t>Familiar UI for any AI</a:t>
            </a:r>
          </a:p>
          <a:p>
            <a:pPr marL="0" marR="0" lvl="0" indent="0" algn="l" defTabSz="914400" rtl="0" eaLnBrk="1" fontAlgn="auto" latinLnBrk="0" hangingPunct="1">
              <a:lnSpc>
                <a:spcPct val="130000"/>
              </a:lnSpc>
              <a:spcBef>
                <a:spcPts val="600"/>
              </a:spcBef>
              <a:spcAft>
                <a:spcPts val="0"/>
              </a:spcAft>
              <a:buClrTx/>
              <a:buSzTx/>
              <a:buFontTx/>
              <a:buNone/>
              <a:tabLst/>
              <a:defRPr/>
            </a:pPr>
            <a:r>
              <a:rPr kumimoji="0" lang="en-US" sz="1500" b="0" i="0" u="none" strike="noStrike" kern="1200" cap="none" spc="0" normalizeH="0" baseline="0" noProof="0">
                <a:ln>
                  <a:noFill/>
                </a:ln>
                <a:solidFill>
                  <a:srgbClr val="B6C4D2"/>
                </a:solidFill>
                <a:effectLst/>
                <a:uLnTx/>
                <a:uFillTx/>
                <a:latin typeface="Segoe UI"/>
                <a:ea typeface="+mn-ea"/>
                <a:cs typeface="Segoe UI"/>
              </a:rPr>
              <a:t>Users meet your agent inside Copilot Chat, Word, Outlook, and Teams — the apps they already open every day.</a:t>
            </a:r>
          </a:p>
        </p:txBody>
      </p:sp>
      <p:cxnSp>
        <p:nvCxnSpPr>
          <p:cNvPr id="117" name="Line"/>
          <p:cNvCxnSpPr/>
          <p:nvPr/>
        </p:nvCxnSpPr>
        <p:spPr>
          <a:xfrm>
            <a:off x="8200000" y="2100000"/>
            <a:ext cx="700000" cy="0"/>
          </a:xfrm>
          <a:prstGeom prst="line">
            <a:avLst/>
          </a:prstGeom>
          <a:ln w="20000">
            <a:solidFill>
              <a:srgbClr val="449CD6"/>
            </a:solidFill>
          </a:ln>
        </p:spPr>
      </p:cxnSp>
      <p:sp>
        <p:nvSpPr>
          <p:cNvPr id="118" name="TextBox"/>
          <p:cNvSpPr txBox="1"/>
          <p:nvPr/>
        </p:nvSpPr>
        <p:spPr>
          <a:xfrm>
            <a:off x="8199999" y="2200000"/>
            <a:ext cx="3405261" cy="35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srgbClr val="FFFFFF"/>
                </a:solidFill>
                <a:effectLst/>
                <a:uLnTx/>
                <a:uFillTx/>
                <a:latin typeface="Segoe UI"/>
                <a:ea typeface="+mn-ea"/>
                <a:cs typeface="Segoe UI"/>
              </a:rPr>
              <a:t>Enterprise-grade integration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B6C4D2"/>
                </a:solidFill>
                <a:effectLst/>
                <a:uLnTx/>
                <a:uFillTx/>
                <a:latin typeface="Segoe UI"/>
                <a:ea typeface="+mn-ea"/>
                <a:cs typeface="Segoe UI"/>
              </a:rPr>
              <a:t>built with Microsoft’s identity, compliance, and governance standards from day one.</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extBox"/>
          <p:cNvSpPr txBox="1"/>
          <p:nvPr/>
        </p:nvSpPr>
        <p:spPr>
          <a:xfrm>
            <a:off x="586740" y="382689"/>
            <a:ext cx="11018520" cy="707886"/>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FFFF"/>
                </a:solidFill>
                <a:effectLst/>
                <a:uLnTx/>
                <a:uFillTx/>
                <a:latin typeface="Segoe UI"/>
                <a:ea typeface="+mn-ea"/>
                <a:cs typeface="+mn-cs"/>
              </a:rPr>
              <a:t>Customer scenarios</a:t>
            </a:r>
          </a:p>
        </p:txBody>
      </p:sp>
      <p:sp>
        <p:nvSpPr>
          <p:cNvPr id="112" name="TextBox"/>
          <p:cNvSpPr txBox="1"/>
          <p:nvPr/>
        </p:nvSpPr>
        <p:spPr>
          <a:xfrm>
            <a:off x="586740" y="1050000"/>
            <a:ext cx="11018520" cy="36933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B8C4D6"/>
                </a:solidFill>
                <a:effectLst/>
                <a:uLnTx/>
                <a:uFillTx/>
                <a:latin typeface="Segoe UI"/>
                <a:ea typeface="+mn-ea"/>
                <a:cs typeface="+mn-cs"/>
              </a:rPr>
              <a:t>Three patterns we hear at the customer table — same question, different industry</a:t>
            </a:r>
          </a:p>
        </p:txBody>
      </p:sp>
      <p:cxnSp>
        <p:nvCxnSpPr>
          <p:cNvPr id="113" name="Line"/>
          <p:cNvCxnSpPr/>
          <p:nvPr/>
        </p:nvCxnSpPr>
        <p:spPr>
          <a:xfrm>
            <a:off x="586740" y="2100000"/>
            <a:ext cx="700000" cy="0"/>
          </a:xfrm>
          <a:prstGeom prst="line">
            <a:avLst/>
          </a:prstGeom>
          <a:ln w="20000">
            <a:solidFill>
              <a:srgbClr val="449CD6"/>
            </a:solidFill>
          </a:ln>
        </p:spPr>
      </p:cxnSp>
      <p:cxnSp>
        <p:nvCxnSpPr>
          <p:cNvPr id="115" name="Line"/>
          <p:cNvCxnSpPr/>
          <p:nvPr/>
        </p:nvCxnSpPr>
        <p:spPr>
          <a:xfrm>
            <a:off x="4400000" y="2100000"/>
            <a:ext cx="700000" cy="0"/>
          </a:xfrm>
          <a:prstGeom prst="line">
            <a:avLst/>
          </a:prstGeom>
          <a:ln w="20000">
            <a:solidFill>
              <a:srgbClr val="449CD6"/>
            </a:solidFill>
          </a:ln>
        </p:spPr>
      </p:cxnSp>
      <p:cxnSp>
        <p:nvCxnSpPr>
          <p:cNvPr id="117" name="Line"/>
          <p:cNvCxnSpPr/>
          <p:nvPr/>
        </p:nvCxnSpPr>
        <p:spPr>
          <a:xfrm>
            <a:off x="8200000" y="2100000"/>
            <a:ext cx="700000" cy="0"/>
          </a:xfrm>
          <a:prstGeom prst="line">
            <a:avLst/>
          </a:prstGeom>
          <a:ln w="20000">
            <a:solidFill>
              <a:srgbClr val="449CD6"/>
            </a:solidFill>
          </a:ln>
        </p:spPr>
      </p:cxnSp>
      <p:sp>
        <p:nvSpPr>
          <p:cNvPr id="5" name="TextBox 4">
            <a:extLst>
              <a:ext uri="{FF2B5EF4-FFF2-40B4-BE49-F238E27FC236}">
                <a16:creationId xmlns:a16="http://schemas.microsoft.com/office/drawing/2014/main" id="{823247AA-7C96-3FBD-7F37-B91899667CAB}"/>
              </a:ext>
            </a:extLst>
          </p:cNvPr>
          <p:cNvSpPr txBox="1"/>
          <p:nvPr/>
        </p:nvSpPr>
        <p:spPr>
          <a:xfrm>
            <a:off x="685800" y="1669786"/>
            <a:ext cx="11155680" cy="4572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0" i="1" u="none" strike="noStrike" kern="1200" cap="none" spc="0" normalizeH="0" baseline="0" noProof="0">
                <a:ln>
                  <a:noFill/>
                </a:ln>
                <a:solidFill>
                  <a:srgbClr val="E6EDF7"/>
                </a:solidFill>
                <a:effectLst/>
                <a:uLnTx/>
                <a:uFillTx/>
                <a:latin typeface="Segoe UI"/>
                <a:ea typeface="+mn-ea"/>
                <a:cs typeface="+mn-cs"/>
              </a:rPr>
              <a:t>“We already built an AI assistant… can we make it work inside Microsoft 365 Copilot?”</a:t>
            </a:r>
          </a:p>
        </p:txBody>
      </p:sp>
      <p:sp>
        <p:nvSpPr>
          <p:cNvPr id="7" name="TextBox 6">
            <a:extLst>
              <a:ext uri="{FF2B5EF4-FFF2-40B4-BE49-F238E27FC236}">
                <a16:creationId xmlns:a16="http://schemas.microsoft.com/office/drawing/2014/main" id="{3BB753CD-3E6D-5908-E3F9-E2E430FD2D78}"/>
              </a:ext>
            </a:extLst>
          </p:cNvPr>
          <p:cNvSpPr txBox="1"/>
          <p:nvPr/>
        </p:nvSpPr>
        <p:spPr>
          <a:xfrm>
            <a:off x="578195" y="2210175"/>
            <a:ext cx="3611880" cy="3200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4CC2FF"/>
                </a:solidFill>
                <a:effectLst/>
                <a:uLnTx/>
                <a:uFillTx/>
                <a:latin typeface="Segoe UI"/>
                <a:ea typeface="+mn-ea"/>
                <a:cs typeface="+mn-cs"/>
              </a:rPr>
              <a:t>MANUFACTURING</a:t>
            </a:r>
          </a:p>
        </p:txBody>
      </p:sp>
      <p:sp>
        <p:nvSpPr>
          <p:cNvPr id="9" name="TextBox 8">
            <a:extLst>
              <a:ext uri="{FF2B5EF4-FFF2-40B4-BE49-F238E27FC236}">
                <a16:creationId xmlns:a16="http://schemas.microsoft.com/office/drawing/2014/main" id="{9B2C83AD-EA8D-D999-B70D-B759627F1500}"/>
              </a:ext>
            </a:extLst>
          </p:cNvPr>
          <p:cNvSpPr txBox="1"/>
          <p:nvPr/>
        </p:nvSpPr>
        <p:spPr>
          <a:xfrm>
            <a:off x="578195" y="2511927"/>
            <a:ext cx="3611880" cy="6400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Segoe UI"/>
                <a:ea typeface="+mn-ea"/>
                <a:cs typeface="+mn-cs"/>
              </a:rPr>
              <a:t>“Downtime Agent”</a:t>
            </a:r>
          </a:p>
        </p:txBody>
      </p:sp>
      <p:sp>
        <p:nvSpPr>
          <p:cNvPr id="11" name="TextBox 10">
            <a:extLst>
              <a:ext uri="{FF2B5EF4-FFF2-40B4-BE49-F238E27FC236}">
                <a16:creationId xmlns:a16="http://schemas.microsoft.com/office/drawing/2014/main" id="{9E10B129-8C33-7540-46B5-57E5BED28B6E}"/>
              </a:ext>
            </a:extLst>
          </p:cNvPr>
          <p:cNvSpPr txBox="1"/>
          <p:nvPr/>
        </p:nvSpPr>
        <p:spPr>
          <a:xfrm>
            <a:off x="578196" y="3152007"/>
            <a:ext cx="3611880" cy="10058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1" u="none" strike="noStrike" kern="1200" cap="none" spc="0" normalizeH="0" baseline="0" noProof="0">
                <a:ln>
                  <a:noFill/>
                </a:ln>
                <a:solidFill>
                  <a:srgbClr val="E6EDF7"/>
                </a:solidFill>
                <a:effectLst/>
                <a:uLnTx/>
                <a:uFillTx/>
                <a:latin typeface="Segoe UI"/>
                <a:ea typeface="+mn-ea"/>
                <a:cs typeface="+mn-cs"/>
              </a:rPr>
              <a:t>“We have an AI that diagnoses machine issues from manuals and sensor logs.”</a:t>
            </a:r>
          </a:p>
        </p:txBody>
      </p:sp>
      <p:sp>
        <p:nvSpPr>
          <p:cNvPr id="13" name="TextBox 12">
            <a:extLst>
              <a:ext uri="{FF2B5EF4-FFF2-40B4-BE49-F238E27FC236}">
                <a16:creationId xmlns:a16="http://schemas.microsoft.com/office/drawing/2014/main" id="{0814831F-01AD-1110-3DEC-5E459664ABE0}"/>
              </a:ext>
            </a:extLst>
          </p:cNvPr>
          <p:cNvSpPr txBox="1"/>
          <p:nvPr/>
        </p:nvSpPr>
        <p:spPr>
          <a:xfrm>
            <a:off x="639156" y="4203567"/>
            <a:ext cx="3611880" cy="1554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200" b="1" i="0" u="none" strike="noStrike" kern="1200" cap="none" spc="0" normalizeH="0" baseline="0" noProof="0">
                <a:ln>
                  <a:noFill/>
                </a:ln>
                <a:solidFill>
                  <a:srgbClr val="4CC2FF"/>
                </a:solidFill>
                <a:effectLst/>
                <a:uLnTx/>
                <a:uFillTx/>
                <a:latin typeface="Segoe UI"/>
                <a:ea typeface="+mn-ea"/>
                <a:cs typeface="+mn-cs"/>
              </a:rPr>
              <a:t>Why they want it in Copilot: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B8C4D6"/>
                </a:solidFill>
                <a:effectLst/>
                <a:uLnTx/>
                <a:uFillTx/>
                <a:latin typeface="Segoe UI"/>
                <a:ea typeface="+mn-ea"/>
                <a:cs typeface="+mn-cs"/>
              </a:rPr>
              <a:t>Engineers coordinate fixes in Teams and document work in M365 — tool switching during downtime kills speed.</a:t>
            </a:r>
          </a:p>
        </p:txBody>
      </p:sp>
      <p:sp>
        <p:nvSpPr>
          <p:cNvPr id="15" name="TextBox 14">
            <a:extLst>
              <a:ext uri="{FF2B5EF4-FFF2-40B4-BE49-F238E27FC236}">
                <a16:creationId xmlns:a16="http://schemas.microsoft.com/office/drawing/2014/main" id="{DD6A8177-231F-00EB-87DE-EF4C2F5904A3}"/>
              </a:ext>
            </a:extLst>
          </p:cNvPr>
          <p:cNvSpPr txBox="1"/>
          <p:nvPr/>
        </p:nvSpPr>
        <p:spPr>
          <a:xfrm>
            <a:off x="4400000" y="2210175"/>
            <a:ext cx="3611880" cy="3200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4CC2FF"/>
                </a:solidFill>
                <a:effectLst/>
                <a:uLnTx/>
                <a:uFillTx/>
                <a:latin typeface="Segoe UI"/>
                <a:ea typeface="+mn-ea"/>
                <a:cs typeface="+mn-cs"/>
              </a:rPr>
              <a:t>FINANCIAL SERVICES</a:t>
            </a:r>
          </a:p>
        </p:txBody>
      </p:sp>
      <p:sp>
        <p:nvSpPr>
          <p:cNvPr id="17" name="TextBox 16">
            <a:extLst>
              <a:ext uri="{FF2B5EF4-FFF2-40B4-BE49-F238E27FC236}">
                <a16:creationId xmlns:a16="http://schemas.microsoft.com/office/drawing/2014/main" id="{2C537103-E60F-9C8B-D4B6-187F47110B44}"/>
              </a:ext>
            </a:extLst>
          </p:cNvPr>
          <p:cNvSpPr txBox="1"/>
          <p:nvPr/>
        </p:nvSpPr>
        <p:spPr>
          <a:xfrm>
            <a:off x="4400000" y="2511927"/>
            <a:ext cx="3611880" cy="6400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Segoe UI"/>
                <a:ea typeface="+mn-ea"/>
                <a:cs typeface="+mn-cs"/>
              </a:rPr>
              <a:t>“Policy &amp; Risk Answers”</a:t>
            </a:r>
          </a:p>
        </p:txBody>
      </p:sp>
      <p:sp>
        <p:nvSpPr>
          <p:cNvPr id="19" name="TextBox 18">
            <a:extLst>
              <a:ext uri="{FF2B5EF4-FFF2-40B4-BE49-F238E27FC236}">
                <a16:creationId xmlns:a16="http://schemas.microsoft.com/office/drawing/2014/main" id="{EB1DFB4F-7C5D-7713-F6E7-59F0D4294DDF}"/>
              </a:ext>
            </a:extLst>
          </p:cNvPr>
          <p:cNvSpPr txBox="1"/>
          <p:nvPr/>
        </p:nvSpPr>
        <p:spPr>
          <a:xfrm>
            <a:off x="4460960" y="3152007"/>
            <a:ext cx="3611880" cy="10058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1" u="none" strike="noStrike" kern="1200" cap="none" spc="0" normalizeH="0" baseline="0" noProof="0">
                <a:ln>
                  <a:noFill/>
                </a:ln>
                <a:solidFill>
                  <a:srgbClr val="E6EDF7"/>
                </a:solidFill>
                <a:effectLst/>
                <a:uLnTx/>
                <a:uFillTx/>
                <a:latin typeface="Segoe UI"/>
                <a:ea typeface="+mn-ea"/>
                <a:cs typeface="+mn-cs"/>
              </a:rPr>
              <a:t>“We built AI for lending policy interpretation and risk checks.”</a:t>
            </a:r>
          </a:p>
        </p:txBody>
      </p:sp>
      <p:sp>
        <p:nvSpPr>
          <p:cNvPr id="21" name="TextBox 20">
            <a:extLst>
              <a:ext uri="{FF2B5EF4-FFF2-40B4-BE49-F238E27FC236}">
                <a16:creationId xmlns:a16="http://schemas.microsoft.com/office/drawing/2014/main" id="{84C9DB2E-D2D4-74F1-07C5-A7902393E39D}"/>
              </a:ext>
            </a:extLst>
          </p:cNvPr>
          <p:cNvSpPr txBox="1"/>
          <p:nvPr/>
        </p:nvSpPr>
        <p:spPr>
          <a:xfrm>
            <a:off x="4460960" y="4203567"/>
            <a:ext cx="3611880" cy="1554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200" b="1" i="0" u="none" strike="noStrike" kern="1200" cap="none" spc="0" normalizeH="0" baseline="0" noProof="0">
                <a:ln>
                  <a:noFill/>
                </a:ln>
                <a:solidFill>
                  <a:srgbClr val="4CC2FF"/>
                </a:solidFill>
                <a:effectLst/>
                <a:uLnTx/>
                <a:uFillTx/>
                <a:latin typeface="Segoe UI"/>
                <a:ea typeface="+mn-ea"/>
                <a:cs typeface="+mn-cs"/>
              </a:rPr>
              <a:t>Why they want it in Copilot: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B8C4D6"/>
                </a:solidFill>
                <a:effectLst/>
                <a:uLnTx/>
                <a:uFillTx/>
                <a:latin typeface="Segoe UI"/>
                <a:ea typeface="+mn-ea"/>
                <a:cs typeface="+mn-cs"/>
              </a:rPr>
              <a:t>Their relationship managers live in Outlook and Word — they don’t want another portal.</a:t>
            </a:r>
          </a:p>
        </p:txBody>
      </p:sp>
      <p:sp>
        <p:nvSpPr>
          <p:cNvPr id="23" name="TextBox 22">
            <a:extLst>
              <a:ext uri="{FF2B5EF4-FFF2-40B4-BE49-F238E27FC236}">
                <a16:creationId xmlns:a16="http://schemas.microsoft.com/office/drawing/2014/main" id="{BE877523-501A-F77D-7E80-02DF20EF1E6B}"/>
              </a:ext>
            </a:extLst>
          </p:cNvPr>
          <p:cNvSpPr txBox="1"/>
          <p:nvPr/>
        </p:nvSpPr>
        <p:spPr>
          <a:xfrm>
            <a:off x="8240480" y="2210175"/>
            <a:ext cx="3611880" cy="3200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4CC2FF"/>
                </a:solidFill>
                <a:effectLst/>
                <a:uLnTx/>
                <a:uFillTx/>
                <a:latin typeface="Segoe UI"/>
                <a:ea typeface="+mn-ea"/>
                <a:cs typeface="+mn-cs"/>
              </a:rPr>
              <a:t>UI FOR AI</a:t>
            </a:r>
          </a:p>
        </p:txBody>
      </p:sp>
      <p:sp>
        <p:nvSpPr>
          <p:cNvPr id="25" name="TextBox 24">
            <a:extLst>
              <a:ext uri="{FF2B5EF4-FFF2-40B4-BE49-F238E27FC236}">
                <a16:creationId xmlns:a16="http://schemas.microsoft.com/office/drawing/2014/main" id="{AA18F06C-C88B-E714-827C-FE8D642D84A0}"/>
              </a:ext>
            </a:extLst>
          </p:cNvPr>
          <p:cNvSpPr txBox="1"/>
          <p:nvPr/>
        </p:nvSpPr>
        <p:spPr>
          <a:xfrm>
            <a:off x="8240480" y="2511927"/>
            <a:ext cx="3611880" cy="6400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200" b="1" i="0" u="none" strike="noStrike" kern="1200" cap="none" spc="0" normalizeH="0" baseline="0" noProof="0">
                <a:ln>
                  <a:noFill/>
                </a:ln>
                <a:solidFill>
                  <a:srgbClr val="FFFFFF"/>
                </a:solidFill>
                <a:effectLst/>
                <a:uLnTx/>
                <a:uFillTx/>
                <a:latin typeface="Segoe UI"/>
                <a:ea typeface="+mn-ea"/>
                <a:cs typeface="+mn-cs"/>
              </a:rPr>
              <a:t>“Single Front Door”</a:t>
            </a:r>
          </a:p>
        </p:txBody>
      </p:sp>
      <p:sp>
        <p:nvSpPr>
          <p:cNvPr id="27" name="TextBox 26">
            <a:extLst>
              <a:ext uri="{FF2B5EF4-FFF2-40B4-BE49-F238E27FC236}">
                <a16:creationId xmlns:a16="http://schemas.microsoft.com/office/drawing/2014/main" id="{AF866A49-704A-06E3-D747-89C05218EDB7}"/>
              </a:ext>
            </a:extLst>
          </p:cNvPr>
          <p:cNvSpPr txBox="1"/>
          <p:nvPr/>
        </p:nvSpPr>
        <p:spPr>
          <a:xfrm>
            <a:off x="8301440" y="3152007"/>
            <a:ext cx="3611880" cy="10058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1" u="none" strike="noStrike" kern="1200" cap="none" spc="0" normalizeH="0" baseline="0" noProof="0">
                <a:ln>
                  <a:noFill/>
                </a:ln>
                <a:solidFill>
                  <a:srgbClr val="E6EDF7"/>
                </a:solidFill>
                <a:effectLst/>
                <a:uLnTx/>
                <a:uFillTx/>
                <a:latin typeface="Segoe UI"/>
                <a:ea typeface="+mn-ea"/>
                <a:cs typeface="+mn-cs"/>
              </a:rPr>
              <a:t>“We have several AI assistants across teams, but no single experience.”</a:t>
            </a:r>
          </a:p>
        </p:txBody>
      </p:sp>
      <p:sp>
        <p:nvSpPr>
          <p:cNvPr id="29" name="TextBox 28">
            <a:extLst>
              <a:ext uri="{FF2B5EF4-FFF2-40B4-BE49-F238E27FC236}">
                <a16:creationId xmlns:a16="http://schemas.microsoft.com/office/drawing/2014/main" id="{6708BB98-0F27-2261-D2C2-4799B6191E9A}"/>
              </a:ext>
            </a:extLst>
          </p:cNvPr>
          <p:cNvSpPr txBox="1"/>
          <p:nvPr/>
        </p:nvSpPr>
        <p:spPr>
          <a:xfrm>
            <a:off x="8301440" y="4203567"/>
            <a:ext cx="3611880" cy="1554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200" b="1" i="0" u="none" strike="noStrike" kern="1200" cap="none" spc="0" normalizeH="0" baseline="0" noProof="0">
                <a:ln>
                  <a:noFill/>
                </a:ln>
                <a:solidFill>
                  <a:srgbClr val="4CC2FF"/>
                </a:solidFill>
                <a:effectLst/>
                <a:uLnTx/>
                <a:uFillTx/>
                <a:latin typeface="Segoe UI"/>
                <a:ea typeface="+mn-ea"/>
                <a:cs typeface="+mn-cs"/>
              </a:rPr>
              <a:t>Why they want it in Copilot: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B8C4D6"/>
                </a:solidFill>
                <a:effectLst/>
                <a:uLnTx/>
                <a:uFillTx/>
                <a:latin typeface="Segoe UI"/>
                <a:ea typeface="+mn-ea"/>
                <a:cs typeface="+mn-cs"/>
              </a:rPr>
              <a:t>One unified place to go for AI — Copilot as the front door.</a:t>
            </a:r>
          </a:p>
        </p:txBody>
      </p:sp>
      <p:sp>
        <p:nvSpPr>
          <p:cNvPr id="31" name="TextBox 30">
            <a:extLst>
              <a:ext uri="{FF2B5EF4-FFF2-40B4-BE49-F238E27FC236}">
                <a16:creationId xmlns:a16="http://schemas.microsoft.com/office/drawing/2014/main" id="{8DA60064-7C5C-D3C7-34CA-693AFD450BF4}"/>
              </a:ext>
            </a:extLst>
          </p:cNvPr>
          <p:cNvSpPr txBox="1"/>
          <p:nvPr/>
        </p:nvSpPr>
        <p:spPr>
          <a:xfrm>
            <a:off x="487679" y="5880951"/>
            <a:ext cx="11155680" cy="59436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0" i="1" u="none" strike="noStrike" kern="1200" cap="none" spc="0" normalizeH="0" baseline="0" noProof="0">
                <a:ln>
                  <a:noFill/>
                </a:ln>
                <a:solidFill>
                  <a:srgbClr val="FFFFFF"/>
                </a:solidFill>
                <a:effectLst/>
                <a:uLnTx/>
                <a:uFillTx/>
                <a:latin typeface="Segoe UI"/>
                <a:ea typeface="+mn-ea"/>
                <a:cs typeface="+mn-cs"/>
              </a:rPr>
              <a:t>Customers are building AI everywhere. The question is always the same — how do we put it where users already work, without huge investment?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Box"/>
          <p:cNvSpPr txBox="1"/>
          <p:nvPr/>
        </p:nvSpPr>
        <p:spPr>
          <a:xfrm>
            <a:off x="457200" y="457200"/>
            <a:ext cx="11277600" cy="9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Segoe UI"/>
                <a:ea typeface="+mn-ea"/>
                <a:cs typeface="Segoe UI"/>
              </a:rPr>
              <a:t>Architecture at a glance</a:t>
            </a:r>
          </a:p>
        </p:txBody>
      </p:sp>
      <p:sp>
        <p:nvSpPr>
          <p:cNvPr id="101" name="TextBox"/>
          <p:cNvSpPr txBox="1"/>
          <p:nvPr/>
        </p:nvSpPr>
        <p:spPr>
          <a:xfrm>
            <a:off x="457200" y="1300000"/>
            <a:ext cx="11277600" cy="4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B6C4D2"/>
                </a:solidFill>
                <a:effectLst/>
                <a:uLnTx/>
                <a:uFillTx/>
                <a:latin typeface="Segoe UI"/>
                <a:ea typeface="+mn-ea"/>
                <a:cs typeface="Segoe UI"/>
              </a:rPr>
              <a:t>Your external AI agent stays put — the toolkit-generated sample fronts it to Copilot</a:t>
            </a:r>
          </a:p>
        </p:txBody>
      </p:sp>
      <p:sp>
        <p:nvSpPr>
          <p:cNvPr id="200" name="TextBox"/>
          <p:cNvSpPr txBox="1"/>
          <p:nvPr/>
        </p:nvSpPr>
        <p:spPr>
          <a:xfrm>
            <a:off x="200000" y="1780000"/>
            <a:ext cx="3800000" cy="28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1" u="none" strike="noStrike" kern="1200" cap="none" spc="0" normalizeH="0" baseline="0" noProof="0">
                <a:ln>
                  <a:noFill/>
                </a:ln>
                <a:solidFill>
                  <a:srgbClr val="449CD6"/>
                </a:solidFill>
                <a:effectLst/>
                <a:uLnTx/>
                <a:uFillTx/>
                <a:latin typeface="Segoe UI"/>
                <a:ea typeface="+mn-ea"/>
                <a:cs typeface="Segoe UI"/>
              </a:rPr>
              <a:t>EXTERNAL AI AGENTS</a:t>
            </a:r>
          </a:p>
        </p:txBody>
      </p:sp>
      <p:sp>
        <p:nvSpPr>
          <p:cNvPr id="201" name="TextBox"/>
          <p:cNvSpPr txBox="1"/>
          <p:nvPr/>
        </p:nvSpPr>
        <p:spPr>
          <a:xfrm>
            <a:off x="4350000" y="1780000"/>
            <a:ext cx="3700000" cy="28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1" u="none" strike="noStrike" kern="1200" cap="none" spc="0" normalizeH="0" baseline="0" noProof="0">
                <a:ln>
                  <a:noFill/>
                </a:ln>
                <a:solidFill>
                  <a:srgbClr val="449CD6"/>
                </a:solidFill>
                <a:effectLst/>
                <a:uLnTx/>
                <a:uFillTx/>
                <a:latin typeface="Segoe UI"/>
                <a:ea typeface="+mn-ea"/>
                <a:cs typeface="Segoe UI"/>
              </a:rPr>
              <a:t>AUTOMATED  —  M365 AGENTS TOOLKIT</a:t>
            </a:r>
          </a:p>
        </p:txBody>
      </p:sp>
      <p:sp>
        <p:nvSpPr>
          <p:cNvPr id="202" name="Rect"/>
          <p:cNvSpPr/>
          <p:nvPr/>
        </p:nvSpPr>
        <p:spPr>
          <a:xfrm>
            <a:off x="200000" y="2080000"/>
            <a:ext cx="3800000" cy="3277200"/>
          </a:xfrm>
          <a:prstGeom prst="roundRect">
            <a:avLst>
              <a:gd name="adj" fmla="val 8000"/>
            </a:avLst>
          </a:prstGeom>
          <a:noFill/>
          <a:ln w="12700">
            <a:solidFill>
              <a:srgbClr val="449CD6"/>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203" name="TextBox"/>
          <p:cNvSpPr txBox="1"/>
          <p:nvPr/>
        </p:nvSpPr>
        <p:spPr>
          <a:xfrm>
            <a:off x="300000" y="2200000"/>
            <a:ext cx="3600000" cy="30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Segoe UI"/>
                <a:ea typeface="+mn-ea"/>
                <a:cs typeface="Segoe UI"/>
              </a:rPr>
              <a:t>Existing AI investment</a:t>
            </a:r>
          </a:p>
        </p:txBody>
      </p:sp>
      <p:sp>
        <p:nvSpPr>
          <p:cNvPr id="204" name="Rect"/>
          <p:cNvSpPr/>
          <p:nvPr/>
        </p:nvSpPr>
        <p:spPr>
          <a:xfrm>
            <a:off x="390000" y="2580000"/>
            <a:ext cx="1650000" cy="600000"/>
          </a:xfrm>
          <a:prstGeom prst="roundRect">
            <a:avLst>
              <a:gd name="adj" fmla="val 8000"/>
            </a:avLst>
          </a:prstGeom>
          <a:solidFill>
            <a:srgbClr val="FFFFFF"/>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pic>
        <p:nvPicPr>
          <p:cNvPr id="205" name="Image"/>
          <p:cNvPicPr/>
          <p:nvPr/>
        </p:nvPicPr>
        <p:blipFill>
          <a:blip r:embed="rId2"/>
          <a:stretch>
            <a:fillRect/>
          </a:stretch>
        </p:blipFill>
        <p:spPr>
          <a:xfrm>
            <a:off x="480000" y="2690000"/>
            <a:ext cx="380000" cy="380000"/>
          </a:xfrm>
          <a:prstGeom prst="rect">
            <a:avLst/>
          </a:prstGeom>
        </p:spPr>
      </p:pic>
      <p:sp>
        <p:nvSpPr>
          <p:cNvPr id="206" name="TextBox"/>
          <p:cNvSpPr txBox="1"/>
          <p:nvPr/>
        </p:nvSpPr>
        <p:spPr>
          <a:xfrm>
            <a:off x="910000" y="2580000"/>
            <a:ext cx="1110000" cy="600000"/>
          </a:xfrm>
          <a:prstGeom prst="rect">
            <a:avLst/>
          </a:prstGeom>
          <a:noFill/>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C2638"/>
                </a:solidFill>
                <a:effectLst/>
                <a:uLnTx/>
                <a:uFillTx/>
                <a:latin typeface="Segoe UI"/>
                <a:ea typeface="+mn-ea"/>
                <a:cs typeface="Segoe UI"/>
              </a:rPr>
              <a:t>OpenAI</a:t>
            </a:r>
          </a:p>
        </p:txBody>
      </p:sp>
      <p:sp>
        <p:nvSpPr>
          <p:cNvPr id="207" name="Rect"/>
          <p:cNvSpPr/>
          <p:nvPr/>
        </p:nvSpPr>
        <p:spPr>
          <a:xfrm>
            <a:off x="2160000" y="2580000"/>
            <a:ext cx="1650000" cy="600000"/>
          </a:xfrm>
          <a:prstGeom prst="roundRect">
            <a:avLst>
              <a:gd name="adj" fmla="val 8000"/>
            </a:avLst>
          </a:prstGeom>
          <a:solidFill>
            <a:srgbClr val="FFFFFF"/>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pic>
        <p:nvPicPr>
          <p:cNvPr id="208" name="Image"/>
          <p:cNvPicPr/>
          <p:nvPr/>
        </p:nvPicPr>
        <p:blipFill>
          <a:blip r:embed="rId3"/>
          <a:stretch>
            <a:fillRect/>
          </a:stretch>
        </p:blipFill>
        <p:spPr>
          <a:xfrm>
            <a:off x="2250000" y="2690000"/>
            <a:ext cx="380000" cy="380000"/>
          </a:xfrm>
          <a:prstGeom prst="rect">
            <a:avLst/>
          </a:prstGeom>
        </p:spPr>
      </p:pic>
      <p:sp>
        <p:nvSpPr>
          <p:cNvPr id="209" name="TextBox"/>
          <p:cNvSpPr txBox="1"/>
          <p:nvPr/>
        </p:nvSpPr>
        <p:spPr>
          <a:xfrm>
            <a:off x="2680000" y="2580000"/>
            <a:ext cx="1110000" cy="600000"/>
          </a:xfrm>
          <a:prstGeom prst="rect">
            <a:avLst/>
          </a:prstGeom>
          <a:noFill/>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C2638"/>
                </a:solidFill>
                <a:effectLst/>
                <a:uLnTx/>
                <a:uFillTx/>
                <a:latin typeface="Segoe UI"/>
                <a:ea typeface="+mn-ea"/>
                <a:cs typeface="Segoe UI"/>
              </a:rPr>
              <a:t>Anthropic</a:t>
            </a:r>
          </a:p>
        </p:txBody>
      </p:sp>
      <p:sp>
        <p:nvSpPr>
          <p:cNvPr id="210" name="Rect"/>
          <p:cNvSpPr/>
          <p:nvPr/>
        </p:nvSpPr>
        <p:spPr>
          <a:xfrm>
            <a:off x="390000" y="3260000"/>
            <a:ext cx="1650000" cy="600000"/>
          </a:xfrm>
          <a:prstGeom prst="roundRect">
            <a:avLst>
              <a:gd name="adj" fmla="val 8000"/>
            </a:avLst>
          </a:prstGeom>
          <a:solidFill>
            <a:srgbClr val="FFFFFF"/>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pic>
        <p:nvPicPr>
          <p:cNvPr id="211" name="Image"/>
          <p:cNvPicPr/>
          <p:nvPr/>
        </p:nvPicPr>
        <p:blipFill>
          <a:blip r:embed="rId4"/>
          <a:stretch>
            <a:fillRect/>
          </a:stretch>
        </p:blipFill>
        <p:spPr>
          <a:xfrm>
            <a:off x="480000" y="3370000"/>
            <a:ext cx="380000" cy="380000"/>
          </a:xfrm>
          <a:prstGeom prst="rect">
            <a:avLst/>
          </a:prstGeom>
        </p:spPr>
      </p:pic>
      <p:sp>
        <p:nvSpPr>
          <p:cNvPr id="212" name="TextBox"/>
          <p:cNvSpPr txBox="1"/>
          <p:nvPr/>
        </p:nvSpPr>
        <p:spPr>
          <a:xfrm>
            <a:off x="910000" y="3260000"/>
            <a:ext cx="1110000" cy="600000"/>
          </a:xfrm>
          <a:prstGeom prst="rect">
            <a:avLst/>
          </a:prstGeom>
          <a:noFill/>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C2638"/>
                </a:solidFill>
                <a:effectLst/>
                <a:uLnTx/>
                <a:uFillTx/>
                <a:latin typeface="Segoe UI"/>
                <a:ea typeface="+mn-ea"/>
                <a:cs typeface="Segoe UI"/>
              </a:rPr>
              <a:t>Gemini</a:t>
            </a:r>
          </a:p>
        </p:txBody>
      </p:sp>
      <p:sp>
        <p:nvSpPr>
          <p:cNvPr id="213" name="Rect"/>
          <p:cNvSpPr/>
          <p:nvPr/>
        </p:nvSpPr>
        <p:spPr>
          <a:xfrm>
            <a:off x="2160000" y="3260000"/>
            <a:ext cx="1650000" cy="600000"/>
          </a:xfrm>
          <a:prstGeom prst="roundRect">
            <a:avLst>
              <a:gd name="adj" fmla="val 8000"/>
            </a:avLst>
          </a:prstGeom>
          <a:solidFill>
            <a:srgbClr val="FFFFFF"/>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pic>
        <p:nvPicPr>
          <p:cNvPr id="214" name="Image"/>
          <p:cNvPicPr/>
          <p:nvPr/>
        </p:nvPicPr>
        <p:blipFill>
          <a:blip r:embed="rId5"/>
          <a:stretch>
            <a:fillRect/>
          </a:stretch>
        </p:blipFill>
        <p:spPr>
          <a:xfrm>
            <a:off x="2250000" y="3370000"/>
            <a:ext cx="380000" cy="380000"/>
          </a:xfrm>
          <a:prstGeom prst="rect">
            <a:avLst/>
          </a:prstGeom>
        </p:spPr>
      </p:pic>
      <p:sp>
        <p:nvSpPr>
          <p:cNvPr id="215" name="TextBox"/>
          <p:cNvSpPr txBox="1"/>
          <p:nvPr/>
        </p:nvSpPr>
        <p:spPr>
          <a:xfrm>
            <a:off x="2680000" y="3260000"/>
            <a:ext cx="1110000" cy="600000"/>
          </a:xfrm>
          <a:prstGeom prst="rect">
            <a:avLst/>
          </a:prstGeom>
          <a:noFill/>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C2638"/>
                </a:solidFill>
                <a:effectLst/>
                <a:uLnTx/>
                <a:uFillTx/>
                <a:latin typeface="Segoe UI"/>
                <a:ea typeface="+mn-ea"/>
                <a:cs typeface="Segoe UI"/>
              </a:rPr>
              <a:t>LangChain</a:t>
            </a:r>
          </a:p>
        </p:txBody>
      </p:sp>
      <p:sp>
        <p:nvSpPr>
          <p:cNvPr id="216" name="TextBox"/>
          <p:cNvSpPr txBox="1"/>
          <p:nvPr/>
        </p:nvSpPr>
        <p:spPr>
          <a:xfrm>
            <a:off x="300000" y="3900000"/>
            <a:ext cx="3600000" cy="28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B6C4D2"/>
                </a:solidFill>
                <a:effectLst/>
                <a:uLnTx/>
                <a:uFillTx/>
                <a:latin typeface="Segoe UI"/>
                <a:ea typeface="+mn-ea"/>
                <a:cs typeface="Segoe UI"/>
              </a:rPr>
              <a:t>+ custom stacks</a:t>
            </a:r>
          </a:p>
        </p:txBody>
      </p:sp>
      <p:sp>
        <p:nvSpPr>
          <p:cNvPr id="217" name="TextBox"/>
          <p:cNvSpPr txBox="1"/>
          <p:nvPr/>
        </p:nvSpPr>
        <p:spPr>
          <a:xfrm>
            <a:off x="300000" y="4250000"/>
            <a:ext cx="3600000" cy="26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srgbClr val="449CD6"/>
                </a:solidFill>
                <a:effectLst/>
                <a:uLnTx/>
                <a:uFillTx/>
                <a:latin typeface="Segoe UI"/>
                <a:ea typeface="+mn-ea"/>
                <a:cs typeface="Segoe UI"/>
              </a:rPr>
              <a:t>EXISTING SURFACE</a:t>
            </a:r>
          </a:p>
        </p:txBody>
      </p:sp>
      <p:grpSp>
        <p:nvGrpSpPr>
          <p:cNvPr id="15" name="Group 14">
            <a:extLst>
              <a:ext uri="{FF2B5EF4-FFF2-40B4-BE49-F238E27FC236}">
                <a16:creationId xmlns:a16="http://schemas.microsoft.com/office/drawing/2014/main" id="{711012F9-2EC9-D3ED-4D5D-069E0A19719A}"/>
              </a:ext>
            </a:extLst>
          </p:cNvPr>
          <p:cNvGrpSpPr/>
          <p:nvPr/>
        </p:nvGrpSpPr>
        <p:grpSpPr>
          <a:xfrm>
            <a:off x="1341419" y="4570000"/>
            <a:ext cx="1500000" cy="580000"/>
            <a:chOff x="525000" y="4570000"/>
            <a:chExt cx="1500000" cy="580000"/>
          </a:xfrm>
        </p:grpSpPr>
        <p:sp>
          <p:nvSpPr>
            <p:cNvPr id="218" name="Rect"/>
            <p:cNvSpPr/>
            <p:nvPr/>
          </p:nvSpPr>
          <p:spPr>
            <a:xfrm>
              <a:off x="525000" y="4570000"/>
              <a:ext cx="1500000" cy="580000"/>
            </a:xfrm>
            <a:prstGeom prst="roundRect">
              <a:avLst>
                <a:gd name="adj" fmla="val 8000"/>
              </a:avLst>
            </a:prstGeom>
            <a:solidFill>
              <a:srgbClr val="FFFFFF"/>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pic>
          <p:nvPicPr>
            <p:cNvPr id="219" name="Image"/>
            <p:cNvPicPr/>
            <p:nvPr/>
          </p:nvPicPr>
          <p:blipFill>
            <a:blip r:embed="rId6"/>
            <a:stretch>
              <a:fillRect/>
            </a:stretch>
          </p:blipFill>
          <p:spPr>
            <a:xfrm>
              <a:off x="615000" y="4680000"/>
              <a:ext cx="360000" cy="360000"/>
            </a:xfrm>
            <a:prstGeom prst="rect">
              <a:avLst/>
            </a:prstGeom>
          </p:spPr>
        </p:pic>
        <p:sp>
          <p:nvSpPr>
            <p:cNvPr id="220" name="TextBox"/>
            <p:cNvSpPr txBox="1"/>
            <p:nvPr/>
          </p:nvSpPr>
          <p:spPr>
            <a:xfrm>
              <a:off x="1015000" y="4570000"/>
              <a:ext cx="1010000" cy="580000"/>
            </a:xfrm>
            <a:prstGeom prst="rect">
              <a:avLst/>
            </a:prstGeom>
            <a:noFill/>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C2638"/>
                  </a:solidFill>
                  <a:effectLst/>
                  <a:uLnTx/>
                  <a:uFillTx/>
                  <a:latin typeface="Segoe UI"/>
                  <a:ea typeface="+mn-ea"/>
                  <a:cs typeface="Segoe UI"/>
                </a:rPr>
                <a:t>Web UI</a:t>
              </a:r>
            </a:p>
          </p:txBody>
        </p:sp>
      </p:grpSp>
      <p:grpSp>
        <p:nvGrpSpPr>
          <p:cNvPr id="2" name="Group 1">
            <a:extLst>
              <a:ext uri="{FF2B5EF4-FFF2-40B4-BE49-F238E27FC236}">
                <a16:creationId xmlns:a16="http://schemas.microsoft.com/office/drawing/2014/main" id="{F49E58CD-22C3-E7D0-99D6-4E6075177193}"/>
              </a:ext>
            </a:extLst>
          </p:cNvPr>
          <p:cNvGrpSpPr/>
          <p:nvPr/>
        </p:nvGrpSpPr>
        <p:grpSpPr>
          <a:xfrm>
            <a:off x="1360801" y="5797200"/>
            <a:ext cx="1500000" cy="580000"/>
            <a:chOff x="2175000" y="4570000"/>
            <a:chExt cx="1500000" cy="580000"/>
          </a:xfrm>
        </p:grpSpPr>
        <p:sp>
          <p:nvSpPr>
            <p:cNvPr id="221" name="Rect"/>
            <p:cNvSpPr/>
            <p:nvPr/>
          </p:nvSpPr>
          <p:spPr>
            <a:xfrm>
              <a:off x="2175000" y="4570000"/>
              <a:ext cx="1500000" cy="580000"/>
            </a:xfrm>
            <a:prstGeom prst="roundRect">
              <a:avLst>
                <a:gd name="adj" fmla="val 8000"/>
              </a:avLst>
            </a:prstGeom>
            <a:solidFill>
              <a:srgbClr val="FFFFFF"/>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pic>
          <p:nvPicPr>
            <p:cNvPr id="222" name="Image"/>
            <p:cNvPicPr/>
            <p:nvPr/>
          </p:nvPicPr>
          <p:blipFill>
            <a:blip r:embed="rId7"/>
            <a:stretch>
              <a:fillRect/>
            </a:stretch>
          </p:blipFill>
          <p:spPr>
            <a:xfrm>
              <a:off x="2265000" y="4680000"/>
              <a:ext cx="360000" cy="360000"/>
            </a:xfrm>
            <a:prstGeom prst="rect">
              <a:avLst/>
            </a:prstGeom>
          </p:spPr>
        </p:pic>
        <p:sp>
          <p:nvSpPr>
            <p:cNvPr id="223" name="TextBox"/>
            <p:cNvSpPr txBox="1"/>
            <p:nvPr/>
          </p:nvSpPr>
          <p:spPr>
            <a:xfrm>
              <a:off x="2665000" y="4570000"/>
              <a:ext cx="1010000" cy="580000"/>
            </a:xfrm>
            <a:prstGeom prst="rect">
              <a:avLst/>
            </a:prstGeom>
            <a:noFill/>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C2638"/>
                  </a:solidFill>
                  <a:effectLst/>
                  <a:uLnTx/>
                  <a:uFillTx/>
                  <a:latin typeface="Segoe UI"/>
                  <a:ea typeface="+mn-ea"/>
                  <a:cs typeface="Segoe UI"/>
                </a:rPr>
                <a:t>User</a:t>
              </a:r>
            </a:p>
          </p:txBody>
        </p:sp>
      </p:grpSp>
      <p:sp>
        <p:nvSpPr>
          <p:cNvPr id="224" name="Arrow"/>
          <p:cNvSpPr/>
          <p:nvPr/>
        </p:nvSpPr>
        <p:spPr>
          <a:xfrm>
            <a:off x="4050000" y="4230000"/>
            <a:ext cx="280000" cy="100000"/>
          </a:xfrm>
          <a:prstGeom prst="rightArrow">
            <a:avLst>
              <a:gd name="adj1" fmla="val 50000"/>
              <a:gd name="adj2" fmla="val 50000"/>
            </a:avLst>
          </a:prstGeom>
          <a:solidFill>
            <a:srgbClr val="449CD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225" name="Arrow"/>
          <p:cNvSpPr/>
          <p:nvPr/>
        </p:nvSpPr>
        <p:spPr>
          <a:xfrm>
            <a:off x="4050000" y="4330000"/>
            <a:ext cx="280000" cy="100000"/>
          </a:xfrm>
          <a:prstGeom prst="leftArrow">
            <a:avLst>
              <a:gd name="adj1" fmla="val 50000"/>
              <a:gd name="adj2" fmla="val 50000"/>
            </a:avLst>
          </a:prstGeom>
          <a:solidFill>
            <a:srgbClr val="449CD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226" name="Rect"/>
          <p:cNvSpPr/>
          <p:nvPr/>
        </p:nvSpPr>
        <p:spPr>
          <a:xfrm>
            <a:off x="4350000" y="2080000"/>
            <a:ext cx="3700000" cy="3700000"/>
          </a:xfrm>
          <a:prstGeom prst="roundRect">
            <a:avLst>
              <a:gd name="adj" fmla="val 8000"/>
            </a:avLst>
          </a:prstGeom>
          <a:noFill/>
          <a:ln w="12700">
            <a:solidFill>
              <a:srgbClr val="449CD6"/>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227" name="TextBox"/>
          <p:cNvSpPr txBox="1"/>
          <p:nvPr/>
        </p:nvSpPr>
        <p:spPr>
          <a:xfrm>
            <a:off x="4450000" y="2200000"/>
            <a:ext cx="3500000" cy="30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Segoe UI"/>
                <a:ea typeface="+mn-ea"/>
                <a:cs typeface="Segoe UI"/>
              </a:rPr>
              <a:t>Toolkit-generated components</a:t>
            </a:r>
          </a:p>
        </p:txBody>
      </p:sp>
      <p:sp>
        <p:nvSpPr>
          <p:cNvPr id="228" name="Rect"/>
          <p:cNvSpPr/>
          <p:nvPr/>
        </p:nvSpPr>
        <p:spPr>
          <a:xfrm>
            <a:off x="4500000" y="2780000"/>
            <a:ext cx="1620000" cy="2600000"/>
          </a:xfrm>
          <a:prstGeom prst="roundRect">
            <a:avLst>
              <a:gd name="adj" fmla="val 8000"/>
            </a:avLst>
          </a:prstGeom>
          <a:solidFill>
            <a:srgbClr val="1F6FB2"/>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pic>
        <p:nvPicPr>
          <p:cNvPr id="229" name="Image"/>
          <p:cNvPicPr/>
          <p:nvPr/>
        </p:nvPicPr>
        <p:blipFill>
          <a:blip r:embed="rId8"/>
          <a:stretch>
            <a:fillRect/>
          </a:stretch>
        </p:blipFill>
        <p:spPr>
          <a:xfrm>
            <a:off x="5010000" y="3040000"/>
            <a:ext cx="600000" cy="600000"/>
          </a:xfrm>
          <a:prstGeom prst="rect">
            <a:avLst/>
          </a:prstGeom>
        </p:spPr>
      </p:pic>
      <p:sp>
        <p:nvSpPr>
          <p:cNvPr id="230" name="TextBox"/>
          <p:cNvSpPr txBox="1"/>
          <p:nvPr/>
        </p:nvSpPr>
        <p:spPr>
          <a:xfrm>
            <a:off x="4500000" y="3830000"/>
            <a:ext cx="1620000" cy="70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Segoe UI"/>
                <a:ea typeface="+mn-ea"/>
                <a:cs typeface="Segoe UI"/>
              </a:rPr>
              <a:t>Azure Bot</a:t>
            </a:r>
          </a:p>
        </p:txBody>
      </p:sp>
      <p:sp>
        <p:nvSpPr>
          <p:cNvPr id="231" name="TextBox"/>
          <p:cNvSpPr txBox="1"/>
          <p:nvPr/>
        </p:nvSpPr>
        <p:spPr>
          <a:xfrm>
            <a:off x="4500000" y="4130000"/>
            <a:ext cx="1620000" cy="36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Segoe UI"/>
                <a:ea typeface="+mn-ea"/>
                <a:cs typeface="Segoe UI"/>
              </a:rPr>
              <a:t>Service</a:t>
            </a:r>
          </a:p>
        </p:txBody>
      </p:sp>
      <p:sp>
        <p:nvSpPr>
          <p:cNvPr id="232" name="TextBox"/>
          <p:cNvSpPr txBox="1"/>
          <p:nvPr/>
        </p:nvSpPr>
        <p:spPr>
          <a:xfrm>
            <a:off x="4500000" y="4680000"/>
            <a:ext cx="1620000" cy="36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1" u="none" strike="noStrike" kern="1200" cap="none" spc="0" normalizeH="0" baseline="0" noProof="0">
              <a:ln>
                <a:noFill/>
              </a:ln>
              <a:solidFill>
                <a:srgbClr val="DCEAF7"/>
              </a:solidFill>
              <a:effectLst/>
              <a:uLnTx/>
              <a:uFillTx/>
              <a:latin typeface="Segoe UI"/>
              <a:ea typeface="+mn-ea"/>
              <a:cs typeface="Segoe UI"/>
            </a:endParaRPr>
          </a:p>
        </p:txBody>
      </p:sp>
      <p:sp>
        <p:nvSpPr>
          <p:cNvPr id="233" name="Rect"/>
          <p:cNvSpPr/>
          <p:nvPr/>
        </p:nvSpPr>
        <p:spPr>
          <a:xfrm>
            <a:off x="6280000" y="2780000"/>
            <a:ext cx="1620000" cy="2600000"/>
          </a:xfrm>
          <a:prstGeom prst="roundRect">
            <a:avLst>
              <a:gd name="adj" fmla="val 8000"/>
            </a:avLst>
          </a:prstGeom>
          <a:solidFill>
            <a:srgbClr val="1F6FB2"/>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pic>
        <p:nvPicPr>
          <p:cNvPr id="234" name="Image"/>
          <p:cNvPicPr/>
          <p:nvPr/>
        </p:nvPicPr>
        <p:blipFill>
          <a:blip r:embed="rId9"/>
          <a:stretch>
            <a:fillRect/>
          </a:stretch>
        </p:blipFill>
        <p:spPr>
          <a:xfrm>
            <a:off x="6790000" y="3040000"/>
            <a:ext cx="600000" cy="600000"/>
          </a:xfrm>
          <a:prstGeom prst="rect">
            <a:avLst/>
          </a:prstGeom>
        </p:spPr>
      </p:pic>
      <p:sp>
        <p:nvSpPr>
          <p:cNvPr id="235" name="TextBox"/>
          <p:cNvSpPr txBox="1"/>
          <p:nvPr/>
        </p:nvSpPr>
        <p:spPr>
          <a:xfrm>
            <a:off x="6280000" y="3830000"/>
            <a:ext cx="1620000" cy="36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Segoe UI"/>
                <a:ea typeface="+mn-ea"/>
                <a:cs typeface="Segoe UI"/>
              </a:rPr>
              <a:t>Proxy Agent</a:t>
            </a:r>
          </a:p>
        </p:txBody>
      </p:sp>
      <p:sp>
        <p:nvSpPr>
          <p:cNvPr id="236" name="TextBox"/>
          <p:cNvSpPr txBox="1"/>
          <p:nvPr/>
        </p:nvSpPr>
        <p:spPr>
          <a:xfrm>
            <a:off x="6280000" y="4680000"/>
            <a:ext cx="1620000" cy="36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DCEAF7"/>
                </a:solidFill>
                <a:effectLst/>
                <a:uLnTx/>
                <a:uFillTx/>
                <a:latin typeface="Segoe UI"/>
                <a:ea typeface="+mn-ea"/>
                <a:cs typeface="Segoe UI"/>
              </a:rPr>
              <a:t>Agents SDK</a:t>
            </a:r>
          </a:p>
        </p:txBody>
      </p:sp>
      <p:sp>
        <p:nvSpPr>
          <p:cNvPr id="237" name="Arrow"/>
          <p:cNvSpPr/>
          <p:nvPr/>
        </p:nvSpPr>
        <p:spPr>
          <a:xfrm>
            <a:off x="8100000" y="4230000"/>
            <a:ext cx="280000" cy="100000"/>
          </a:xfrm>
          <a:prstGeom prst="rightArrow">
            <a:avLst>
              <a:gd name="adj1" fmla="val 50000"/>
              <a:gd name="adj2" fmla="val 50000"/>
            </a:avLst>
          </a:prstGeom>
          <a:solidFill>
            <a:srgbClr val="449CD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238" name="Arrow"/>
          <p:cNvSpPr/>
          <p:nvPr/>
        </p:nvSpPr>
        <p:spPr>
          <a:xfrm>
            <a:off x="8100000" y="4330000"/>
            <a:ext cx="280000" cy="100000"/>
          </a:xfrm>
          <a:prstGeom prst="leftArrow">
            <a:avLst>
              <a:gd name="adj1" fmla="val 50000"/>
              <a:gd name="adj2" fmla="val 50000"/>
            </a:avLst>
          </a:prstGeom>
          <a:solidFill>
            <a:srgbClr val="449CD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239" name="Rect"/>
          <p:cNvSpPr/>
          <p:nvPr/>
        </p:nvSpPr>
        <p:spPr>
          <a:xfrm>
            <a:off x="8500000" y="2900000"/>
            <a:ext cx="2050000" cy="2400000"/>
          </a:xfrm>
          <a:prstGeom prst="roundRect">
            <a:avLst>
              <a:gd name="adj" fmla="val 8000"/>
            </a:avLst>
          </a:prstGeom>
          <a:solidFill>
            <a:srgbClr val="081D2E"/>
          </a:solidFill>
          <a:ln w="12700">
            <a:solidFill>
              <a:srgbClr val="2A5A7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pic>
        <p:nvPicPr>
          <p:cNvPr id="240" name="Image"/>
          <p:cNvPicPr/>
          <p:nvPr/>
        </p:nvPicPr>
        <p:blipFill>
          <a:blip r:embed="rId10"/>
          <a:stretch>
            <a:fillRect/>
          </a:stretch>
        </p:blipFill>
        <p:spPr>
          <a:xfrm>
            <a:off x="9225000" y="3140000"/>
            <a:ext cx="600000" cy="600000"/>
          </a:xfrm>
          <a:prstGeom prst="rect">
            <a:avLst/>
          </a:prstGeom>
        </p:spPr>
      </p:pic>
      <p:sp>
        <p:nvSpPr>
          <p:cNvPr id="241" name="TextBox"/>
          <p:cNvSpPr txBox="1"/>
          <p:nvPr/>
        </p:nvSpPr>
        <p:spPr>
          <a:xfrm>
            <a:off x="8500000" y="3900000"/>
            <a:ext cx="2050000" cy="36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Segoe UI"/>
                <a:ea typeface="+mn-ea"/>
                <a:cs typeface="Segoe UI"/>
              </a:rPr>
              <a:t>M365 Copilot</a:t>
            </a:r>
          </a:p>
        </p:txBody>
      </p:sp>
      <p:sp>
        <p:nvSpPr>
          <p:cNvPr id="242" name="TextBox"/>
          <p:cNvSpPr txBox="1"/>
          <p:nvPr/>
        </p:nvSpPr>
        <p:spPr>
          <a:xfrm>
            <a:off x="8500000" y="4700000"/>
            <a:ext cx="2050000" cy="32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B6C4D2"/>
                </a:solidFill>
                <a:effectLst/>
                <a:uLnTx/>
                <a:uFillTx/>
                <a:latin typeface="Segoe UI"/>
                <a:ea typeface="+mn-ea"/>
                <a:cs typeface="Segoe UI"/>
              </a:rPr>
              <a:t>Channel + UX</a:t>
            </a:r>
          </a:p>
        </p:txBody>
      </p:sp>
      <p:pic>
        <p:nvPicPr>
          <p:cNvPr id="244" name="Image"/>
          <p:cNvPicPr/>
          <p:nvPr/>
        </p:nvPicPr>
        <p:blipFill>
          <a:blip r:embed="rId7"/>
          <a:stretch>
            <a:fillRect/>
          </a:stretch>
        </p:blipFill>
        <p:spPr>
          <a:xfrm>
            <a:off x="11012000" y="3599509"/>
            <a:ext cx="700000" cy="700000"/>
          </a:xfrm>
          <a:prstGeom prst="rect">
            <a:avLst/>
          </a:prstGeom>
        </p:spPr>
      </p:pic>
      <p:sp>
        <p:nvSpPr>
          <p:cNvPr id="245" name="TextBox"/>
          <p:cNvSpPr txBox="1"/>
          <p:nvPr/>
        </p:nvSpPr>
        <p:spPr>
          <a:xfrm>
            <a:off x="10862000" y="4349509"/>
            <a:ext cx="1000000" cy="30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Segoe UI"/>
                <a:ea typeface="+mn-ea"/>
                <a:cs typeface="Segoe UI"/>
              </a:rPr>
              <a:t>User</a:t>
            </a:r>
          </a:p>
        </p:txBody>
      </p:sp>
      <p:sp>
        <p:nvSpPr>
          <p:cNvPr id="246" name="TextBox"/>
          <p:cNvSpPr txBox="1"/>
          <p:nvPr/>
        </p:nvSpPr>
        <p:spPr>
          <a:xfrm>
            <a:off x="200000" y="6500000"/>
            <a:ext cx="11800000" cy="25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B6C4D2"/>
                </a:solidFill>
                <a:effectLst/>
                <a:uLnTx/>
                <a:uFillTx/>
                <a:latin typeface="Segoe UI"/>
                <a:ea typeface="+mn-ea"/>
                <a:cs typeface="Segoe UI"/>
              </a:rPr>
              <a:t>Microsoft  |  CAT AI Webinars  |  The Proxy Agent Pattern</a:t>
            </a:r>
          </a:p>
        </p:txBody>
      </p:sp>
      <p:sp>
        <p:nvSpPr>
          <p:cNvPr id="12" name="Arrow">
            <a:extLst>
              <a:ext uri="{FF2B5EF4-FFF2-40B4-BE49-F238E27FC236}">
                <a16:creationId xmlns:a16="http://schemas.microsoft.com/office/drawing/2014/main" id="{3045AEAD-7A53-8800-5C80-29DAB53CFBF9}"/>
              </a:ext>
            </a:extLst>
          </p:cNvPr>
          <p:cNvSpPr/>
          <p:nvPr/>
        </p:nvSpPr>
        <p:spPr>
          <a:xfrm>
            <a:off x="10670000" y="4230000"/>
            <a:ext cx="280000" cy="100000"/>
          </a:xfrm>
          <a:prstGeom prst="rightArrow">
            <a:avLst>
              <a:gd name="adj1" fmla="val 50000"/>
              <a:gd name="adj2" fmla="val 50000"/>
            </a:avLst>
          </a:prstGeom>
          <a:solidFill>
            <a:srgbClr val="449CD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4" name="Arrow">
            <a:extLst>
              <a:ext uri="{FF2B5EF4-FFF2-40B4-BE49-F238E27FC236}">
                <a16:creationId xmlns:a16="http://schemas.microsoft.com/office/drawing/2014/main" id="{D9E95E16-37ED-71D3-6E02-7B1F04A9A244}"/>
              </a:ext>
            </a:extLst>
          </p:cNvPr>
          <p:cNvSpPr/>
          <p:nvPr/>
        </p:nvSpPr>
        <p:spPr>
          <a:xfrm>
            <a:off x="10670000" y="4330000"/>
            <a:ext cx="280000" cy="100000"/>
          </a:xfrm>
          <a:prstGeom prst="leftArrow">
            <a:avLst>
              <a:gd name="adj1" fmla="val 50000"/>
              <a:gd name="adj2" fmla="val 50000"/>
            </a:avLst>
          </a:prstGeom>
          <a:solidFill>
            <a:srgbClr val="449CD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7" name="Arrow">
            <a:extLst>
              <a:ext uri="{FF2B5EF4-FFF2-40B4-BE49-F238E27FC236}">
                <a16:creationId xmlns:a16="http://schemas.microsoft.com/office/drawing/2014/main" id="{5B516EB9-3072-D071-F6F4-C26579B9CB8F}"/>
              </a:ext>
            </a:extLst>
          </p:cNvPr>
          <p:cNvSpPr/>
          <p:nvPr/>
        </p:nvSpPr>
        <p:spPr>
          <a:xfrm rot="5400000">
            <a:off x="2037236" y="5546145"/>
            <a:ext cx="280000" cy="100000"/>
          </a:xfrm>
          <a:prstGeom prst="rightArrow">
            <a:avLst>
              <a:gd name="adj1" fmla="val 50000"/>
              <a:gd name="adj2" fmla="val 50000"/>
            </a:avLst>
          </a:prstGeom>
          <a:solidFill>
            <a:srgbClr val="449CD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9" name="Arrow">
            <a:extLst>
              <a:ext uri="{FF2B5EF4-FFF2-40B4-BE49-F238E27FC236}">
                <a16:creationId xmlns:a16="http://schemas.microsoft.com/office/drawing/2014/main" id="{B31CEB45-6C2C-7E46-790A-82AC6E2F4491}"/>
              </a:ext>
            </a:extLst>
          </p:cNvPr>
          <p:cNvSpPr/>
          <p:nvPr/>
        </p:nvSpPr>
        <p:spPr>
          <a:xfrm rot="5400000">
            <a:off x="1930000" y="5527200"/>
            <a:ext cx="280000" cy="100000"/>
          </a:xfrm>
          <a:prstGeom prst="leftArrow">
            <a:avLst>
              <a:gd name="adj1" fmla="val 50000"/>
              <a:gd name="adj2" fmla="val 50000"/>
            </a:avLst>
          </a:prstGeom>
          <a:solidFill>
            <a:srgbClr val="449CD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TextBox"/>
          <p:cNvSpPr txBox="1"/>
          <p:nvPr/>
        </p:nvSpPr>
        <p:spPr>
          <a:xfrm>
            <a:off x="586740" y="382689"/>
            <a:ext cx="11018520" cy="70000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Segoe UI"/>
                <a:ea typeface="+mn-ea"/>
                <a:cs typeface="Segoe UI"/>
              </a:rPr>
              <a:t>A thin relay to your AI agent</a:t>
            </a:r>
          </a:p>
        </p:txBody>
      </p:sp>
      <p:sp>
        <p:nvSpPr>
          <p:cNvPr id="212" name="TextBox"/>
          <p:cNvSpPr txBox="1"/>
          <p:nvPr/>
        </p:nvSpPr>
        <p:spPr>
          <a:xfrm>
            <a:off x="586740" y="1050000"/>
            <a:ext cx="11018520" cy="40000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B6C4D2"/>
                </a:solidFill>
                <a:effectLst/>
                <a:uLnTx/>
                <a:uFillTx/>
                <a:latin typeface="Segoe UI"/>
                <a:ea typeface="+mn-ea"/>
                <a:cs typeface="Segoe UI"/>
              </a:rPr>
              <a:t>Microsoft handles the transport. You own the intelligence.</a:t>
            </a:r>
          </a:p>
        </p:txBody>
      </p:sp>
      <p:sp>
        <p:nvSpPr>
          <p:cNvPr id="213" name="TextBox"/>
          <p:cNvSpPr txBox="1"/>
          <p:nvPr/>
        </p:nvSpPr>
        <p:spPr>
          <a:xfrm>
            <a:off x="586740" y="2100000"/>
            <a:ext cx="5200000" cy="40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200" normalizeH="0" baseline="0" noProof="0">
                <a:ln>
                  <a:noFill/>
                </a:ln>
                <a:solidFill>
                  <a:srgbClr val="449CD6"/>
                </a:solidFill>
                <a:effectLst/>
                <a:uLnTx/>
                <a:uFillTx/>
                <a:latin typeface="Segoe UI"/>
                <a:ea typeface="+mn-ea"/>
                <a:cs typeface="Segoe UI"/>
              </a:rPr>
              <a:t>THE IDEA</a:t>
            </a:r>
          </a:p>
          <a:p>
            <a:pPr marL="0" marR="0" lvl="0" indent="0" algn="l" defTabSz="914400" rtl="0" eaLnBrk="1" fontAlgn="auto" latinLnBrk="0" hangingPunct="1">
              <a:lnSpc>
                <a:spcPct val="140000"/>
              </a:lnSpc>
              <a:spcBef>
                <a:spcPts val="60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Segoe Sans Display"/>
                <a:ea typeface="+mn-ea"/>
                <a:cs typeface="+mn-cs"/>
              </a:rPr>
              <a:t>Bring your own AI Agent — and keep it yours. The proxy handles auth, streaming, and transport between Microsoft 365 and your agent, so your users get your brand, your experience, and your intelligence in Microsoft 365 Copilot — without worrying about the plumbing.</a:t>
            </a:r>
          </a:p>
          <a:p>
            <a:pPr marL="0" marR="0" lvl="0" indent="0" algn="l" defTabSz="914400" rtl="0" eaLnBrk="1" fontAlgn="auto" latinLnBrk="0" hangingPunct="1">
              <a:lnSpc>
                <a:spcPct val="140000"/>
              </a:lnSpc>
              <a:spcBef>
                <a:spcPts val="600"/>
              </a:spcBef>
              <a:spcAft>
                <a:spcPts val="0"/>
              </a:spcAft>
              <a:buClrTx/>
              <a:buSzTx/>
              <a:buFontTx/>
              <a:buNone/>
              <a:tabLst/>
              <a:defRPr/>
            </a:pPr>
            <a:r>
              <a:rPr kumimoji="0" lang="en-US" sz="1400" b="0" i="1" u="none" strike="noStrike" kern="1200" cap="none" spc="0" normalizeH="0" baseline="0" noProof="0">
                <a:ln>
                  <a:noFill/>
                </a:ln>
                <a:solidFill>
                  <a:srgbClr val="B6C4D2"/>
                </a:solidFill>
                <a:effectLst/>
                <a:uLnTx/>
                <a:uFillTx/>
                <a:latin typeface="Segoe UI"/>
                <a:ea typeface="+mn-ea"/>
                <a:cs typeface="Segoe UI"/>
              </a:rPr>
              <a:t>Your AI agent stays exactly where it is.</a:t>
            </a:r>
          </a:p>
        </p:txBody>
      </p:sp>
      <p:sp>
        <p:nvSpPr>
          <p:cNvPr id="214" name="TextBox"/>
          <p:cNvSpPr txBox="1"/>
          <p:nvPr/>
        </p:nvSpPr>
        <p:spPr>
          <a:xfrm>
            <a:off x="6300000" y="2100000"/>
            <a:ext cx="5300000" cy="40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200" normalizeH="0" baseline="0" noProof="0">
                <a:ln>
                  <a:noFill/>
                </a:ln>
                <a:solidFill>
                  <a:srgbClr val="449CD6"/>
                </a:solidFill>
                <a:effectLst/>
                <a:uLnTx/>
                <a:uFillTx/>
                <a:latin typeface="Segoe UI"/>
                <a:ea typeface="+mn-ea"/>
                <a:cs typeface="Segoe UI"/>
              </a:rPr>
              <a:t>THE PROXY HANDLES</a:t>
            </a:r>
          </a:p>
          <a:p>
            <a:pPr marL="228600" marR="0" lvl="0" indent="-228600" algn="l" defTabSz="914400" rtl="0" eaLnBrk="1" fontAlgn="auto" latinLnBrk="0" hangingPunct="1">
              <a:lnSpc>
                <a:spcPct val="130000"/>
              </a:lnSpc>
              <a:spcBef>
                <a:spcPts val="300"/>
              </a:spcBef>
              <a:spcAft>
                <a:spcPts val="0"/>
              </a:spcAft>
              <a:buClrTx/>
              <a:buSzTx/>
              <a:buFont typeface="Arial" panose="020B0604020202020204" pitchFamily="34" charset="0"/>
              <a:buChar char="•"/>
              <a:tabLst/>
              <a:defRPr/>
            </a:pPr>
            <a:r>
              <a:rPr kumimoji="0" lang="en-US" sz="1500" b="0" i="0" u="none" strike="noStrike" kern="1200" cap="none" spc="0" normalizeH="0" baseline="0" noProof="0">
                <a:ln>
                  <a:noFill/>
                </a:ln>
                <a:solidFill>
                  <a:srgbClr val="FFFFFF"/>
                </a:solidFill>
                <a:effectLst/>
                <a:uLnTx/>
                <a:uFillTx/>
                <a:latin typeface="Segoe UI"/>
                <a:ea typeface="+mn-ea"/>
                <a:cs typeface="Segoe UI"/>
              </a:rPr>
              <a:t>Microsoft 365 Copilot message protocol</a:t>
            </a:r>
          </a:p>
          <a:p>
            <a:pPr marL="228600" marR="0" lvl="0" indent="-228600" algn="l" defTabSz="914400" rtl="0" eaLnBrk="1" fontAlgn="auto" latinLnBrk="0" hangingPunct="1">
              <a:lnSpc>
                <a:spcPct val="130000"/>
              </a:lnSpc>
              <a:spcBef>
                <a:spcPts val="300"/>
              </a:spcBef>
              <a:spcAft>
                <a:spcPts val="0"/>
              </a:spcAft>
              <a:buClrTx/>
              <a:buSzTx/>
              <a:buFont typeface="Arial" panose="020B0604020202020204" pitchFamily="34" charset="0"/>
              <a:buChar char="•"/>
              <a:tabLst/>
              <a:defRPr/>
            </a:pPr>
            <a:r>
              <a:rPr kumimoji="0" lang="en-US" sz="1500" b="0" i="0" u="none" strike="noStrike" kern="1200" cap="none" spc="0" normalizeH="0" baseline="0" noProof="0">
                <a:ln>
                  <a:noFill/>
                </a:ln>
                <a:solidFill>
                  <a:srgbClr val="FFFFFF"/>
                </a:solidFill>
                <a:effectLst/>
                <a:uLnTx/>
                <a:uFillTx/>
                <a:latin typeface="Segoe UI"/>
                <a:ea typeface="+mn-ea"/>
                <a:cs typeface="Segoe UI"/>
              </a:rPr>
              <a:t>Bot Service registration and lifecycle</a:t>
            </a:r>
          </a:p>
          <a:p>
            <a:pPr marL="228600" marR="0" lvl="0" indent="-228600" algn="l" defTabSz="914400" rtl="0" eaLnBrk="1" fontAlgn="auto" latinLnBrk="0" hangingPunct="1">
              <a:lnSpc>
                <a:spcPct val="130000"/>
              </a:lnSpc>
              <a:spcBef>
                <a:spcPts val="300"/>
              </a:spcBef>
              <a:spcAft>
                <a:spcPts val="0"/>
              </a:spcAft>
              <a:buClrTx/>
              <a:buSzTx/>
              <a:buFont typeface="Arial" panose="020B0604020202020204" pitchFamily="34" charset="0"/>
              <a:buChar char="•"/>
              <a:tabLst/>
              <a:defRPr/>
            </a:pPr>
            <a:r>
              <a:rPr kumimoji="0" lang="en-US" sz="1500" b="0" i="0" u="none" strike="noStrike" kern="1200" cap="none" spc="0" normalizeH="0" baseline="0" noProof="0">
                <a:ln>
                  <a:noFill/>
                </a:ln>
                <a:solidFill>
                  <a:srgbClr val="FFFFFF"/>
                </a:solidFill>
                <a:effectLst/>
                <a:uLnTx/>
                <a:uFillTx/>
                <a:latin typeface="Segoe UI"/>
                <a:ea typeface="+mn-ea"/>
                <a:cs typeface="Segoe UI"/>
              </a:rPr>
              <a:t>User identity and SSO token exchange</a:t>
            </a:r>
          </a:p>
          <a:p>
            <a:pPr marL="228600" marR="0" lvl="0" indent="-228600" algn="l" defTabSz="914400" rtl="0" eaLnBrk="1" fontAlgn="auto" latinLnBrk="0" hangingPunct="1">
              <a:lnSpc>
                <a:spcPct val="130000"/>
              </a:lnSpc>
              <a:spcBef>
                <a:spcPts val="300"/>
              </a:spcBef>
              <a:spcAft>
                <a:spcPts val="0"/>
              </a:spcAft>
              <a:buClrTx/>
              <a:buSzTx/>
              <a:buFont typeface="Arial" panose="020B0604020202020204" pitchFamily="34" charset="0"/>
              <a:buChar char="•"/>
              <a:tabLst/>
              <a:defRPr/>
            </a:pPr>
            <a:r>
              <a:rPr kumimoji="0" lang="en-US" sz="1500" b="0" i="0" u="none" strike="noStrike" kern="1200" cap="none" spc="0" normalizeH="0" baseline="0" noProof="0">
                <a:ln>
                  <a:noFill/>
                </a:ln>
                <a:solidFill>
                  <a:srgbClr val="FFFFFF"/>
                </a:solidFill>
                <a:effectLst/>
                <a:uLnTx/>
                <a:uFillTx/>
                <a:latin typeface="Segoe UI"/>
                <a:ea typeface="+mn-ea"/>
                <a:cs typeface="Segoe UI"/>
              </a:rPr>
              <a:t>Streaming response chunking</a:t>
            </a:r>
          </a:p>
          <a:p>
            <a:pPr marL="228600" marR="0" lvl="0" indent="-228600" algn="l" defTabSz="914400" rtl="0" eaLnBrk="1" fontAlgn="auto" latinLnBrk="0" hangingPunct="1">
              <a:lnSpc>
                <a:spcPct val="130000"/>
              </a:lnSpc>
              <a:spcBef>
                <a:spcPts val="300"/>
              </a:spcBef>
              <a:spcAft>
                <a:spcPts val="0"/>
              </a:spcAft>
              <a:buClrTx/>
              <a:buSzTx/>
              <a:buFont typeface="Arial" panose="020B0604020202020204" pitchFamily="34" charset="0"/>
              <a:buChar char="•"/>
              <a:tabLst/>
              <a:defRPr/>
            </a:pPr>
            <a:r>
              <a:rPr kumimoji="0" lang="en-US" sz="1500" b="0" i="0" u="none" strike="noStrike" kern="1200" cap="none" spc="0" normalizeH="0" baseline="0" noProof="0">
                <a:ln>
                  <a:noFill/>
                </a:ln>
                <a:solidFill>
                  <a:srgbClr val="FFFFFF"/>
                </a:solidFill>
                <a:effectLst/>
                <a:uLnTx/>
                <a:uFillTx/>
                <a:latin typeface="Segoe UI"/>
                <a:ea typeface="+mn-ea"/>
                <a:cs typeface="Segoe UI"/>
              </a:rPr>
              <a:t>Activity formatting (adaptive cards, citations)</a:t>
            </a:r>
          </a:p>
          <a:p>
            <a:pPr marL="228600" marR="0" lvl="0" indent="-228600" algn="l" defTabSz="914400" rtl="0" eaLnBrk="1" fontAlgn="auto" latinLnBrk="0" hangingPunct="1">
              <a:lnSpc>
                <a:spcPct val="130000"/>
              </a:lnSpc>
              <a:spcBef>
                <a:spcPts val="300"/>
              </a:spcBef>
              <a:spcAft>
                <a:spcPts val="0"/>
              </a:spcAft>
              <a:buClrTx/>
              <a:buSzTx/>
              <a:buFont typeface="Arial" panose="020B0604020202020204" pitchFamily="34" charset="0"/>
              <a:buChar char="•"/>
              <a:tabLst/>
              <a:defRPr/>
            </a:pPr>
            <a:r>
              <a:rPr kumimoji="0" lang="en-US" sz="1500" b="0" i="0" u="none" strike="noStrike" kern="1200" cap="none" spc="0" normalizeH="0" baseline="0" noProof="0">
                <a:ln>
                  <a:noFill/>
                </a:ln>
                <a:solidFill>
                  <a:srgbClr val="FFFFFF"/>
                </a:solidFill>
                <a:effectLst/>
                <a:uLnTx/>
                <a:uFillTx/>
                <a:latin typeface="Segoe UI"/>
                <a:ea typeface="+mn-ea"/>
                <a:cs typeface="Segoe UI"/>
              </a:rPr>
              <a:t>Telemetry, retries, error surfacing</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TextBox"/>
          <p:cNvSpPr txBox="1"/>
          <p:nvPr/>
        </p:nvSpPr>
        <p:spPr>
          <a:xfrm>
            <a:off x="586740" y="382689"/>
            <a:ext cx="11018520" cy="70000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Segoe UI"/>
                <a:ea typeface="+mn-ea"/>
                <a:cs typeface="Segoe UI"/>
              </a:rPr>
              <a:t>How a single user turn flows</a:t>
            </a:r>
          </a:p>
        </p:txBody>
      </p:sp>
      <p:sp>
        <p:nvSpPr>
          <p:cNvPr id="412" name="TextBox"/>
          <p:cNvSpPr txBox="1"/>
          <p:nvPr/>
        </p:nvSpPr>
        <p:spPr>
          <a:xfrm>
            <a:off x="586740" y="1050000"/>
            <a:ext cx="11018520" cy="40000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B6C4D2"/>
                </a:solidFill>
                <a:effectLst/>
                <a:uLnTx/>
                <a:uFillTx/>
                <a:latin typeface="Segoe UI"/>
                <a:ea typeface="+mn-ea"/>
                <a:cs typeface="Segoe UI"/>
              </a:rPr>
              <a:t>User → M365 Copilot → Bot Service → Proxy Agent → Your AI Agent</a:t>
            </a:r>
          </a:p>
        </p:txBody>
      </p:sp>
      <p:sp>
        <p:nvSpPr>
          <p:cNvPr id="413" name="TextBox"/>
          <p:cNvSpPr txBox="1"/>
          <p:nvPr/>
        </p:nvSpPr>
        <p:spPr>
          <a:xfrm>
            <a:off x="586740" y="2200000"/>
            <a:ext cx="1900000" cy="90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a:ea typeface="+mn-ea"/>
                <a:cs typeface="Segoe UI"/>
              </a:rPr>
              <a:t>User</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200" b="0" i="0" u="none" strike="noStrike" kern="1200" cap="none" spc="0" normalizeH="0" baseline="0" noProof="0">
                <a:ln>
                  <a:noFill/>
                </a:ln>
                <a:solidFill>
                  <a:srgbClr val="B6C4D2"/>
                </a:solidFill>
                <a:effectLst/>
                <a:uLnTx/>
                <a:uFillTx/>
                <a:latin typeface="Segoe UI"/>
                <a:ea typeface="+mn-ea"/>
                <a:cs typeface="Segoe UI"/>
              </a:rPr>
              <a:t>Sends a question</a:t>
            </a:r>
          </a:p>
        </p:txBody>
      </p:sp>
      <p:cxnSp>
        <p:nvCxnSpPr>
          <p:cNvPr id="414" name="Line"/>
          <p:cNvCxnSpPr/>
          <p:nvPr/>
        </p:nvCxnSpPr>
        <p:spPr>
          <a:xfrm>
            <a:off x="2536740" y="2650000"/>
            <a:ext cx="279630" cy="0"/>
          </a:xfrm>
          <a:prstGeom prst="line">
            <a:avLst/>
          </a:prstGeom>
          <a:ln w="12700">
            <a:solidFill>
              <a:srgbClr val="449CD6"/>
            </a:solidFill>
          </a:ln>
        </p:spPr>
      </p:cxnSp>
      <p:sp>
        <p:nvSpPr>
          <p:cNvPr id="415" name="TextBox"/>
          <p:cNvSpPr txBox="1"/>
          <p:nvPr/>
        </p:nvSpPr>
        <p:spPr>
          <a:xfrm>
            <a:off x="2566370" y="2520000"/>
            <a:ext cx="250000" cy="260000"/>
          </a:xfrm>
          <a:prstGeom prst="rect">
            <a:avLst/>
          </a:prstGeom>
          <a:noFill/>
        </p:spPr>
        <p:txBody>
          <a:bodyPr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49CD6"/>
                </a:solidFill>
                <a:effectLst/>
                <a:uLnTx/>
                <a:uFillTx/>
                <a:latin typeface="Segoe UI"/>
                <a:ea typeface="+mn-ea"/>
                <a:cs typeface="Segoe UI"/>
              </a:rPr>
              <a:t>▶</a:t>
            </a:r>
          </a:p>
        </p:txBody>
      </p:sp>
      <p:sp>
        <p:nvSpPr>
          <p:cNvPr id="416" name="TextBox"/>
          <p:cNvSpPr txBox="1"/>
          <p:nvPr/>
        </p:nvSpPr>
        <p:spPr>
          <a:xfrm>
            <a:off x="2866370" y="2200000"/>
            <a:ext cx="1900000" cy="90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a:ea typeface="+mn-ea"/>
                <a:cs typeface="Segoe UI"/>
              </a:rPr>
              <a:t>M365 Copilot</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200" b="0" i="0" u="none" strike="noStrike" kern="1200" cap="none" spc="0" normalizeH="0" baseline="0" noProof="0">
                <a:ln>
                  <a:noFill/>
                </a:ln>
                <a:solidFill>
                  <a:srgbClr val="B6C4D2"/>
                </a:solidFill>
                <a:effectLst/>
                <a:uLnTx/>
                <a:uFillTx/>
                <a:latin typeface="Segoe UI"/>
                <a:ea typeface="+mn-ea"/>
                <a:cs typeface="Segoe UI"/>
              </a:rPr>
              <a:t>Channel + UX</a:t>
            </a:r>
          </a:p>
        </p:txBody>
      </p:sp>
      <p:cxnSp>
        <p:nvCxnSpPr>
          <p:cNvPr id="417" name="Line"/>
          <p:cNvCxnSpPr/>
          <p:nvPr/>
        </p:nvCxnSpPr>
        <p:spPr>
          <a:xfrm>
            <a:off x="4816370" y="2650000"/>
            <a:ext cx="279630" cy="0"/>
          </a:xfrm>
          <a:prstGeom prst="line">
            <a:avLst/>
          </a:prstGeom>
          <a:ln w="12700">
            <a:solidFill>
              <a:srgbClr val="449CD6"/>
            </a:solidFill>
          </a:ln>
        </p:spPr>
      </p:cxnSp>
      <p:sp>
        <p:nvSpPr>
          <p:cNvPr id="418" name="TextBox"/>
          <p:cNvSpPr txBox="1"/>
          <p:nvPr/>
        </p:nvSpPr>
        <p:spPr>
          <a:xfrm>
            <a:off x="4846000" y="2520000"/>
            <a:ext cx="250000" cy="260000"/>
          </a:xfrm>
          <a:prstGeom prst="rect">
            <a:avLst/>
          </a:prstGeom>
          <a:noFill/>
        </p:spPr>
        <p:txBody>
          <a:bodyPr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49CD6"/>
                </a:solidFill>
                <a:effectLst/>
                <a:uLnTx/>
                <a:uFillTx/>
                <a:latin typeface="Segoe UI"/>
                <a:ea typeface="+mn-ea"/>
                <a:cs typeface="Segoe UI"/>
              </a:rPr>
              <a:t>▶</a:t>
            </a:r>
          </a:p>
        </p:txBody>
      </p:sp>
      <p:sp>
        <p:nvSpPr>
          <p:cNvPr id="419" name="TextBox"/>
          <p:cNvSpPr txBox="1"/>
          <p:nvPr/>
        </p:nvSpPr>
        <p:spPr>
          <a:xfrm>
            <a:off x="5146000" y="2200000"/>
            <a:ext cx="1900000" cy="90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a:ea typeface="+mn-ea"/>
                <a:cs typeface="Segoe UI"/>
              </a:rPr>
              <a:t>Bot Service</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200" b="0" i="0" u="none" strike="noStrike" kern="1200" cap="none" spc="0" normalizeH="0" baseline="0" noProof="0">
                <a:ln>
                  <a:noFill/>
                </a:ln>
                <a:solidFill>
                  <a:srgbClr val="B6C4D2"/>
                </a:solidFill>
                <a:effectLst/>
                <a:uLnTx/>
                <a:uFillTx/>
                <a:latin typeface="Segoe UI"/>
                <a:ea typeface="+mn-ea"/>
                <a:cs typeface="Segoe UI"/>
              </a:rPr>
              <a:t>Agent registrar</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200" b="0" i="0" u="none" strike="noStrike" kern="1200" cap="none" spc="0" normalizeH="0" baseline="0" noProof="0">
                <a:ln>
                  <a:noFill/>
                </a:ln>
                <a:solidFill>
                  <a:srgbClr val="B6C4D2"/>
                </a:solidFill>
                <a:effectLst/>
                <a:uLnTx/>
                <a:uFillTx/>
                <a:latin typeface="Segoe UI"/>
                <a:ea typeface="+mn-ea"/>
                <a:cs typeface="Segoe UI"/>
              </a:rPr>
              <a:t>Auth Cache</a:t>
            </a:r>
          </a:p>
        </p:txBody>
      </p:sp>
      <p:cxnSp>
        <p:nvCxnSpPr>
          <p:cNvPr id="420" name="Line"/>
          <p:cNvCxnSpPr/>
          <p:nvPr/>
        </p:nvCxnSpPr>
        <p:spPr>
          <a:xfrm>
            <a:off x="7096000" y="2650000"/>
            <a:ext cx="279630" cy="0"/>
          </a:xfrm>
          <a:prstGeom prst="line">
            <a:avLst/>
          </a:prstGeom>
          <a:ln w="12700">
            <a:solidFill>
              <a:srgbClr val="449CD6"/>
            </a:solidFill>
          </a:ln>
        </p:spPr>
      </p:cxnSp>
      <p:sp>
        <p:nvSpPr>
          <p:cNvPr id="421" name="TextBox"/>
          <p:cNvSpPr txBox="1"/>
          <p:nvPr/>
        </p:nvSpPr>
        <p:spPr>
          <a:xfrm>
            <a:off x="7125630" y="2520000"/>
            <a:ext cx="250000" cy="260000"/>
          </a:xfrm>
          <a:prstGeom prst="rect">
            <a:avLst/>
          </a:prstGeom>
          <a:noFill/>
        </p:spPr>
        <p:txBody>
          <a:bodyPr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49CD6"/>
                </a:solidFill>
                <a:effectLst/>
                <a:uLnTx/>
                <a:uFillTx/>
                <a:latin typeface="Segoe UI"/>
                <a:ea typeface="+mn-ea"/>
                <a:cs typeface="Segoe UI"/>
              </a:rPr>
              <a:t>▶</a:t>
            </a:r>
          </a:p>
        </p:txBody>
      </p:sp>
      <p:sp>
        <p:nvSpPr>
          <p:cNvPr id="422" name="TextBox"/>
          <p:cNvSpPr txBox="1"/>
          <p:nvPr/>
        </p:nvSpPr>
        <p:spPr>
          <a:xfrm>
            <a:off x="7425630" y="2200000"/>
            <a:ext cx="1900000" cy="90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a:ea typeface="+mn-ea"/>
                <a:cs typeface="Segoe UI"/>
              </a:rPr>
              <a:t>Proxy Agent</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200" b="0" i="0" u="none" strike="noStrike" kern="1200" cap="none" spc="0" normalizeH="0" baseline="0" noProof="0">
                <a:ln>
                  <a:noFill/>
                </a:ln>
                <a:solidFill>
                  <a:srgbClr val="B6C4D2"/>
                </a:solidFill>
                <a:effectLst/>
                <a:uLnTx/>
                <a:uFillTx/>
                <a:latin typeface="Segoe UI"/>
                <a:ea typeface="+mn-ea"/>
                <a:cs typeface="Segoe UI"/>
              </a:rPr>
              <a:t>SSO, streaming</a:t>
            </a:r>
          </a:p>
        </p:txBody>
      </p:sp>
      <p:cxnSp>
        <p:nvCxnSpPr>
          <p:cNvPr id="423" name="Line"/>
          <p:cNvCxnSpPr/>
          <p:nvPr/>
        </p:nvCxnSpPr>
        <p:spPr>
          <a:xfrm>
            <a:off x="9375630" y="2650000"/>
            <a:ext cx="279630" cy="0"/>
          </a:xfrm>
          <a:prstGeom prst="line">
            <a:avLst/>
          </a:prstGeom>
          <a:ln w="12700">
            <a:solidFill>
              <a:srgbClr val="449CD6"/>
            </a:solidFill>
          </a:ln>
        </p:spPr>
      </p:cxnSp>
      <p:sp>
        <p:nvSpPr>
          <p:cNvPr id="424" name="TextBox"/>
          <p:cNvSpPr txBox="1"/>
          <p:nvPr/>
        </p:nvSpPr>
        <p:spPr>
          <a:xfrm>
            <a:off x="9405260" y="2520000"/>
            <a:ext cx="250000" cy="260000"/>
          </a:xfrm>
          <a:prstGeom prst="rect">
            <a:avLst/>
          </a:prstGeom>
          <a:noFill/>
        </p:spPr>
        <p:txBody>
          <a:bodyPr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49CD6"/>
                </a:solidFill>
                <a:effectLst/>
                <a:uLnTx/>
                <a:uFillTx/>
                <a:latin typeface="Segoe UI"/>
                <a:ea typeface="+mn-ea"/>
                <a:cs typeface="Segoe UI"/>
              </a:rPr>
              <a:t>▶</a:t>
            </a:r>
          </a:p>
        </p:txBody>
      </p:sp>
      <p:sp>
        <p:nvSpPr>
          <p:cNvPr id="425" name="TextBox"/>
          <p:cNvSpPr txBox="1"/>
          <p:nvPr/>
        </p:nvSpPr>
        <p:spPr>
          <a:xfrm>
            <a:off x="9705260" y="2200000"/>
            <a:ext cx="1900000" cy="900000"/>
          </a:xfrm>
          <a:prstGeom prst="rect">
            <a:avLst/>
          </a:prstGeom>
          <a:noFill/>
        </p:spPr>
        <p:txBody>
          <a:bodyPr wrap="square" lIns="91440" tIns="45720" rIns="9144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a:ea typeface="+mn-ea"/>
                <a:cs typeface="Segoe UI"/>
              </a:rPr>
              <a:t>AI Agent</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200" b="0" i="0" u="none" strike="noStrike" kern="1200" cap="none" spc="0" normalizeH="0" baseline="0" noProof="0">
                <a:ln>
                  <a:noFill/>
                </a:ln>
                <a:solidFill>
                  <a:srgbClr val="B6C4D2"/>
                </a:solidFill>
                <a:effectLst/>
                <a:uLnTx/>
                <a:uFillTx/>
                <a:latin typeface="Segoe UI"/>
                <a:ea typeface="+mn-ea"/>
                <a:cs typeface="Segoe UI"/>
              </a:rPr>
              <a:t>Foundry, OpenAI, ...</a:t>
            </a:r>
          </a:p>
        </p:txBody>
      </p:sp>
      <p:sp>
        <p:nvSpPr>
          <p:cNvPr id="426" name="TextBox"/>
          <p:cNvSpPr txBox="1"/>
          <p:nvPr/>
        </p:nvSpPr>
        <p:spPr>
          <a:xfrm>
            <a:off x="2866370" y="3300000"/>
            <a:ext cx="4393412" cy="400000"/>
          </a:xfrm>
          <a:prstGeom prst="rect">
            <a:avLst/>
          </a:prstGeom>
          <a:noFill/>
        </p:spPr>
        <p:txBody>
          <a:bodyPr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200" normalizeH="0" baseline="0" noProof="0">
                <a:ln>
                  <a:noFill/>
                </a:ln>
                <a:solidFill>
                  <a:srgbClr val="449CD6"/>
                </a:solidFill>
                <a:effectLst/>
                <a:uLnTx/>
                <a:uFillTx/>
                <a:latin typeface="Segoe UI"/>
                <a:ea typeface="+mn-ea"/>
                <a:cs typeface="Segoe UI"/>
              </a:rPr>
              <a:t>MICROSOFT-OPERATED</a:t>
            </a:r>
          </a:p>
        </p:txBody>
      </p:sp>
      <p:cxnSp>
        <p:nvCxnSpPr>
          <p:cNvPr id="427" name="Line"/>
          <p:cNvCxnSpPr>
            <a:cxnSpLocks/>
          </p:cNvCxnSpPr>
          <p:nvPr/>
        </p:nvCxnSpPr>
        <p:spPr>
          <a:xfrm>
            <a:off x="2866370" y="3650000"/>
            <a:ext cx="4393412" cy="0"/>
          </a:xfrm>
          <a:prstGeom prst="line">
            <a:avLst/>
          </a:prstGeom>
          <a:ln w="15000">
            <a:solidFill>
              <a:srgbClr val="449CD6"/>
            </a:solidFill>
          </a:ln>
        </p:spPr>
      </p:cxnSp>
      <p:sp>
        <p:nvSpPr>
          <p:cNvPr id="428" name="TextBox"/>
          <p:cNvSpPr txBox="1"/>
          <p:nvPr/>
        </p:nvSpPr>
        <p:spPr>
          <a:xfrm>
            <a:off x="7666182" y="3300000"/>
            <a:ext cx="3939078" cy="400000"/>
          </a:xfrm>
          <a:prstGeom prst="rect">
            <a:avLst/>
          </a:prstGeom>
          <a:noFill/>
        </p:spPr>
        <p:txBody>
          <a:bodyPr wrap="square"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200" normalizeH="0" baseline="0" noProof="0">
                <a:ln>
                  <a:noFill/>
                </a:ln>
                <a:solidFill>
                  <a:srgbClr val="FFFFFF"/>
                </a:solidFill>
                <a:effectLst/>
                <a:uLnTx/>
                <a:uFillTx/>
                <a:latin typeface="Segoe UI"/>
                <a:ea typeface="+mn-ea"/>
                <a:cs typeface="Segoe UI"/>
              </a:rPr>
              <a:t>YOU DEPLOY &amp; OPERATE THIS</a:t>
            </a:r>
          </a:p>
        </p:txBody>
      </p:sp>
      <p:cxnSp>
        <p:nvCxnSpPr>
          <p:cNvPr id="429" name="Line"/>
          <p:cNvCxnSpPr>
            <a:cxnSpLocks/>
          </p:cNvCxnSpPr>
          <p:nvPr/>
        </p:nvCxnSpPr>
        <p:spPr>
          <a:xfrm>
            <a:off x="7666182" y="3650000"/>
            <a:ext cx="3939078" cy="0"/>
          </a:xfrm>
          <a:prstGeom prst="line">
            <a:avLst/>
          </a:prstGeom>
          <a:ln w="15000">
            <a:solidFill>
              <a:srgbClr val="FFFFFF"/>
            </a:solidFill>
          </a:ln>
        </p:spPr>
      </p:cxnSp>
      <p:sp>
        <p:nvSpPr>
          <p:cNvPr id="430" name="TextBox"/>
          <p:cNvSpPr txBox="1"/>
          <p:nvPr/>
        </p:nvSpPr>
        <p:spPr>
          <a:xfrm>
            <a:off x="586740" y="4400000"/>
            <a:ext cx="11018520" cy="4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200" normalizeH="0" baseline="0" noProof="0">
                <a:ln>
                  <a:noFill/>
                </a:ln>
                <a:solidFill>
                  <a:srgbClr val="449CD6"/>
                </a:solidFill>
                <a:effectLst/>
                <a:uLnTx/>
                <a:uFillTx/>
                <a:latin typeface="Segoe UI"/>
                <a:ea typeface="+mn-ea"/>
                <a:cs typeface="Segoe UI"/>
              </a:rPr>
              <a:t>KEY COMPONENTS</a:t>
            </a:r>
          </a:p>
        </p:txBody>
      </p:sp>
      <p:sp>
        <p:nvSpPr>
          <p:cNvPr id="431" name="TextBox"/>
          <p:cNvSpPr txBox="1"/>
          <p:nvPr/>
        </p:nvSpPr>
        <p:spPr>
          <a:xfrm>
            <a:off x="586740" y="4900000"/>
            <a:ext cx="3500000" cy="9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a:ea typeface="+mn-ea"/>
                <a:cs typeface="Segoe UI"/>
              </a:rPr>
              <a:t>M365 Agents SDK</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300" b="0" i="0" u="none" strike="noStrike" kern="1200" cap="none" spc="0" normalizeH="0" baseline="0" noProof="0">
                <a:ln>
                  <a:noFill/>
                </a:ln>
                <a:solidFill>
                  <a:srgbClr val="B6C4D2"/>
                </a:solidFill>
                <a:effectLst/>
                <a:uLnTx/>
                <a:uFillTx/>
                <a:latin typeface="Segoe UI"/>
                <a:ea typeface="+mn-ea"/>
                <a:cs typeface="Segoe UI"/>
              </a:rPr>
              <a:t>Auth, streaming primitives</a:t>
            </a:r>
          </a:p>
        </p:txBody>
      </p:sp>
      <p:sp>
        <p:nvSpPr>
          <p:cNvPr id="432" name="TextBox"/>
          <p:cNvSpPr txBox="1"/>
          <p:nvPr/>
        </p:nvSpPr>
        <p:spPr>
          <a:xfrm>
            <a:off x="4400000" y="4900000"/>
            <a:ext cx="3500000" cy="9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a:ea typeface="+mn-ea"/>
                <a:cs typeface="Segoe UI"/>
              </a:rPr>
              <a:t>App Registration</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300" b="0" i="0" u="none" strike="noStrike" kern="1200" cap="none" spc="0" normalizeH="0" baseline="0" noProof="0">
                <a:ln>
                  <a:noFill/>
                </a:ln>
                <a:solidFill>
                  <a:srgbClr val="B6C4D2"/>
                </a:solidFill>
                <a:effectLst/>
                <a:uLnTx/>
                <a:uFillTx/>
                <a:latin typeface="Segoe UI"/>
                <a:ea typeface="+mn-ea"/>
                <a:cs typeface="Segoe UI"/>
              </a:rPr>
              <a:t>Identity for the proxy</a:t>
            </a:r>
          </a:p>
        </p:txBody>
      </p:sp>
      <p:sp>
        <p:nvSpPr>
          <p:cNvPr id="433" name="TextBox"/>
          <p:cNvSpPr txBox="1"/>
          <p:nvPr/>
        </p:nvSpPr>
        <p:spPr>
          <a:xfrm>
            <a:off x="8200000" y="4900000"/>
            <a:ext cx="3500000" cy="9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a:ea typeface="+mn-ea"/>
                <a:cs typeface="Segoe UI"/>
              </a:rPr>
              <a:t>Managed Identity</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300" b="0" i="0" u="none" strike="noStrike" kern="1200" cap="none" spc="0" normalizeH="0" baseline="0" noProof="0">
                <a:ln>
                  <a:noFill/>
                </a:ln>
                <a:solidFill>
                  <a:srgbClr val="B6C4D2"/>
                </a:solidFill>
                <a:effectLst/>
                <a:uLnTx/>
                <a:uFillTx/>
                <a:latin typeface="Segoe UI"/>
                <a:ea typeface="+mn-ea"/>
                <a:cs typeface="Segoe UI"/>
              </a:rPr>
              <a:t>No secrets in production</a:t>
            </a:r>
          </a:p>
        </p:txBody>
      </p:sp>
      <p:pic>
        <p:nvPicPr>
          <p:cNvPr id="500" name="Icon0"/>
          <p:cNvPicPr>
            <a:picLocks noChangeAspect="1"/>
          </p:cNvPicPr>
          <p:nvPr/>
        </p:nvPicPr>
        <p:blipFill>
          <a:blip r:embed="rId2"/>
          <a:stretch>
            <a:fillRect/>
          </a:stretch>
        </p:blipFill>
        <p:spPr>
          <a:xfrm>
            <a:off x="1261740" y="1700000"/>
            <a:ext cx="550000" cy="550000"/>
          </a:xfrm>
          <a:prstGeom prst="rect">
            <a:avLst/>
          </a:prstGeom>
        </p:spPr>
      </p:pic>
      <p:pic>
        <p:nvPicPr>
          <p:cNvPr id="501" name="Icon1"/>
          <p:cNvPicPr>
            <a:picLocks noChangeAspect="1"/>
          </p:cNvPicPr>
          <p:nvPr/>
        </p:nvPicPr>
        <p:blipFill>
          <a:blip r:embed="rId3"/>
          <a:stretch>
            <a:fillRect/>
          </a:stretch>
        </p:blipFill>
        <p:spPr>
          <a:xfrm>
            <a:off x="3541370" y="1700000"/>
            <a:ext cx="550000" cy="550000"/>
          </a:xfrm>
          <a:prstGeom prst="rect">
            <a:avLst/>
          </a:prstGeom>
        </p:spPr>
      </p:pic>
      <p:pic>
        <p:nvPicPr>
          <p:cNvPr id="502" name="Icon2"/>
          <p:cNvPicPr>
            <a:picLocks noChangeAspect="1"/>
          </p:cNvPicPr>
          <p:nvPr/>
        </p:nvPicPr>
        <p:blipFill>
          <a:blip r:embed="rId4"/>
          <a:stretch>
            <a:fillRect/>
          </a:stretch>
        </p:blipFill>
        <p:spPr>
          <a:xfrm>
            <a:off x="5821000" y="1700000"/>
            <a:ext cx="550000" cy="550000"/>
          </a:xfrm>
          <a:prstGeom prst="rect">
            <a:avLst/>
          </a:prstGeom>
        </p:spPr>
      </p:pic>
      <p:pic>
        <p:nvPicPr>
          <p:cNvPr id="503" name="Icon3"/>
          <p:cNvPicPr>
            <a:picLocks noChangeAspect="1"/>
          </p:cNvPicPr>
          <p:nvPr/>
        </p:nvPicPr>
        <p:blipFill>
          <a:blip r:embed="rId5"/>
          <a:stretch>
            <a:fillRect/>
          </a:stretch>
        </p:blipFill>
        <p:spPr>
          <a:xfrm>
            <a:off x="8100630" y="1700000"/>
            <a:ext cx="550000" cy="550000"/>
          </a:xfrm>
          <a:prstGeom prst="rect">
            <a:avLst/>
          </a:prstGeom>
        </p:spPr>
      </p:pic>
      <p:pic>
        <p:nvPicPr>
          <p:cNvPr id="504" name="Icon4"/>
          <p:cNvPicPr>
            <a:picLocks noChangeAspect="1"/>
          </p:cNvPicPr>
          <p:nvPr/>
        </p:nvPicPr>
        <p:blipFill>
          <a:blip r:embed="rId6"/>
          <a:stretch>
            <a:fillRect/>
          </a:stretch>
        </p:blipFill>
        <p:spPr>
          <a:xfrm>
            <a:off x="10380260" y="1700000"/>
            <a:ext cx="550000" cy="550000"/>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51F23-935C-3BD6-3F3E-C141252C367C}"/>
            </a:ext>
          </a:extLst>
        </p:cNvPr>
        <p:cNvGrpSpPr/>
        <p:nvPr/>
      </p:nvGrpSpPr>
      <p:grpSpPr>
        <a:xfrm>
          <a:off x="0" y="0"/>
          <a:ext cx="0" cy="0"/>
          <a:chOff x="0" y="0"/>
          <a:chExt cx="0" cy="0"/>
        </a:xfrm>
      </p:grpSpPr>
      <p:sp>
        <p:nvSpPr>
          <p:cNvPr id="511" name="TextBox">
            <a:extLst>
              <a:ext uri="{FF2B5EF4-FFF2-40B4-BE49-F238E27FC236}">
                <a16:creationId xmlns:a16="http://schemas.microsoft.com/office/drawing/2014/main" id="{EBD60B67-0C5B-A543-D7CD-9416D3FDEAF8}"/>
              </a:ext>
            </a:extLst>
          </p:cNvPr>
          <p:cNvSpPr txBox="1"/>
          <p:nvPr/>
        </p:nvSpPr>
        <p:spPr>
          <a:xfrm>
            <a:off x="586740" y="382689"/>
            <a:ext cx="1101852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Segoe UI"/>
                <a:ea typeface="+mn-ea"/>
                <a:cs typeface="Segoe UI"/>
              </a:rPr>
              <a:t>Proxy Agent Deep dive</a:t>
            </a:r>
          </a:p>
        </p:txBody>
      </p:sp>
      <p:pic>
        <p:nvPicPr>
          <p:cNvPr id="3" name="Image 2">
            <a:extLst>
              <a:ext uri="{FF2B5EF4-FFF2-40B4-BE49-F238E27FC236}">
                <a16:creationId xmlns:a16="http://schemas.microsoft.com/office/drawing/2014/main" id="{9CEC9180-B330-7835-27C2-5EAC51E266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2342" y="1029020"/>
            <a:ext cx="7447316" cy="5485368"/>
          </a:xfrm>
          <a:prstGeom prst="rect">
            <a:avLst/>
          </a:prstGeom>
        </p:spPr>
      </p:pic>
    </p:spTree>
    <p:extLst>
      <p:ext uri="{BB962C8B-B14F-4D97-AF65-F5344CB8AC3E}">
        <p14:creationId xmlns:p14="http://schemas.microsoft.com/office/powerpoint/2010/main" val="1750199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2E2F-6531-879D-299B-F9A8A8946BFD}"/>
            </a:ext>
          </a:extLst>
        </p:cNvPr>
        <p:cNvGrpSpPr/>
        <p:nvPr/>
      </p:nvGrpSpPr>
      <p:grpSpPr>
        <a:xfrm>
          <a:off x="0" y="0"/>
          <a:ext cx="0" cy="0"/>
          <a:chOff x="0" y="0"/>
          <a:chExt cx="0" cy="0"/>
        </a:xfrm>
      </p:grpSpPr>
      <p:sp>
        <p:nvSpPr>
          <p:cNvPr id="511" name="TextBox">
            <a:extLst>
              <a:ext uri="{FF2B5EF4-FFF2-40B4-BE49-F238E27FC236}">
                <a16:creationId xmlns:a16="http://schemas.microsoft.com/office/drawing/2014/main" id="{92B82BF7-EADE-5A9A-87C0-8C9D5ABA2FD1}"/>
              </a:ext>
            </a:extLst>
          </p:cNvPr>
          <p:cNvSpPr txBox="1"/>
          <p:nvPr/>
        </p:nvSpPr>
        <p:spPr>
          <a:xfrm>
            <a:off x="586740" y="382689"/>
            <a:ext cx="1101852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Segoe UI"/>
                <a:ea typeface="+mn-ea"/>
                <a:cs typeface="Segoe UI"/>
              </a:rPr>
              <a:t>Proxy Agent Deep dive - SSO</a:t>
            </a:r>
          </a:p>
        </p:txBody>
      </p:sp>
      <p:pic>
        <p:nvPicPr>
          <p:cNvPr id="3" name="Image 2">
            <a:extLst>
              <a:ext uri="{FF2B5EF4-FFF2-40B4-BE49-F238E27FC236}">
                <a16:creationId xmlns:a16="http://schemas.microsoft.com/office/drawing/2014/main" id="{C0471A97-A05C-15E9-74A4-269BC923D976}"/>
              </a:ext>
            </a:extLst>
          </p:cNvPr>
          <p:cNvPicPr>
            <a:picLocks noChangeAspect="1"/>
          </p:cNvPicPr>
          <p:nvPr/>
        </p:nvPicPr>
        <p:blipFill>
          <a:blip r:embed="rId2">
            <a:extLst>
              <a:ext uri="{28A0092B-C50C-407E-A947-70E740481C1C}">
                <a14:useLocalDpi xmlns:a14="http://schemas.microsoft.com/office/drawing/2010/main" val="0"/>
              </a:ext>
            </a:extLst>
          </a:blip>
          <a:srcRect l="7018" t="21996" r="27397" b="51091"/>
          <a:stretch>
            <a:fillRect/>
          </a:stretch>
        </p:blipFill>
        <p:spPr>
          <a:xfrm>
            <a:off x="1105745" y="1229833"/>
            <a:ext cx="9980509" cy="3016573"/>
          </a:xfrm>
          <a:prstGeom prst="rect">
            <a:avLst/>
          </a:prstGeom>
        </p:spPr>
      </p:pic>
      <p:pic>
        <p:nvPicPr>
          <p:cNvPr id="4" name="Image 3">
            <a:extLst>
              <a:ext uri="{FF2B5EF4-FFF2-40B4-BE49-F238E27FC236}">
                <a16:creationId xmlns:a16="http://schemas.microsoft.com/office/drawing/2014/main" id="{49982F5E-70EE-6462-6A83-6D3CCC8A6EA1}"/>
              </a:ext>
            </a:extLst>
          </p:cNvPr>
          <p:cNvPicPr>
            <a:picLocks noChangeAspect="1"/>
          </p:cNvPicPr>
          <p:nvPr/>
        </p:nvPicPr>
        <p:blipFill>
          <a:blip r:embed="rId3"/>
          <a:stretch>
            <a:fillRect/>
          </a:stretch>
        </p:blipFill>
        <p:spPr>
          <a:xfrm>
            <a:off x="2817390" y="5362189"/>
            <a:ext cx="6049219" cy="93358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888156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26FDF-11C0-DE5A-30D6-B93AA5B34C98}"/>
            </a:ext>
          </a:extLst>
        </p:cNvPr>
        <p:cNvGrpSpPr/>
        <p:nvPr/>
      </p:nvGrpSpPr>
      <p:grpSpPr>
        <a:xfrm>
          <a:off x="0" y="0"/>
          <a:ext cx="0" cy="0"/>
          <a:chOff x="0" y="0"/>
          <a:chExt cx="0" cy="0"/>
        </a:xfrm>
      </p:grpSpPr>
      <p:sp>
        <p:nvSpPr>
          <p:cNvPr id="511" name="TextBox">
            <a:extLst>
              <a:ext uri="{FF2B5EF4-FFF2-40B4-BE49-F238E27FC236}">
                <a16:creationId xmlns:a16="http://schemas.microsoft.com/office/drawing/2014/main" id="{B1996BD9-1357-169E-FC43-E5054901F6BC}"/>
              </a:ext>
            </a:extLst>
          </p:cNvPr>
          <p:cNvSpPr txBox="1"/>
          <p:nvPr/>
        </p:nvSpPr>
        <p:spPr>
          <a:xfrm>
            <a:off x="586740" y="382689"/>
            <a:ext cx="1101852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Segoe UI"/>
                <a:ea typeface="+mn-ea"/>
                <a:cs typeface="Segoe UI"/>
              </a:rPr>
              <a:t>Proxy Agent Deep dive</a:t>
            </a:r>
          </a:p>
        </p:txBody>
      </p:sp>
      <p:pic>
        <p:nvPicPr>
          <p:cNvPr id="3" name="Image 2">
            <a:extLst>
              <a:ext uri="{FF2B5EF4-FFF2-40B4-BE49-F238E27FC236}">
                <a16:creationId xmlns:a16="http://schemas.microsoft.com/office/drawing/2014/main" id="{F7B4A3D3-8383-0A9A-44E9-20FD31F841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2342" y="1029020"/>
            <a:ext cx="7447316" cy="5485368"/>
          </a:xfrm>
          <a:prstGeom prst="rect">
            <a:avLst/>
          </a:prstGeom>
        </p:spPr>
      </p:pic>
    </p:spTree>
    <p:extLst>
      <p:ext uri="{BB962C8B-B14F-4D97-AF65-F5344CB8AC3E}">
        <p14:creationId xmlns:p14="http://schemas.microsoft.com/office/powerpoint/2010/main" val="36068469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8A88C-01FE-AE7A-0003-FDC6C85C899F}"/>
            </a:ext>
          </a:extLst>
        </p:cNvPr>
        <p:cNvGrpSpPr/>
        <p:nvPr/>
      </p:nvGrpSpPr>
      <p:grpSpPr>
        <a:xfrm>
          <a:off x="0" y="0"/>
          <a:ext cx="0" cy="0"/>
          <a:chOff x="0" y="0"/>
          <a:chExt cx="0" cy="0"/>
        </a:xfrm>
      </p:grpSpPr>
      <p:sp>
        <p:nvSpPr>
          <p:cNvPr id="511" name="TextBox">
            <a:extLst>
              <a:ext uri="{FF2B5EF4-FFF2-40B4-BE49-F238E27FC236}">
                <a16:creationId xmlns:a16="http://schemas.microsoft.com/office/drawing/2014/main" id="{1FFAF64C-AA1C-9F9E-B750-0D2D600F5945}"/>
              </a:ext>
            </a:extLst>
          </p:cNvPr>
          <p:cNvSpPr txBox="1"/>
          <p:nvPr/>
        </p:nvSpPr>
        <p:spPr>
          <a:xfrm>
            <a:off x="638568" y="423329"/>
            <a:ext cx="1101852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Segoe UI"/>
                <a:ea typeface="+mn-ea"/>
                <a:cs typeface="Segoe UI"/>
              </a:rPr>
              <a:t>Proxy Agent Deep dive - streaming</a:t>
            </a:r>
          </a:p>
        </p:txBody>
      </p:sp>
      <p:pic>
        <p:nvPicPr>
          <p:cNvPr id="3" name="Image 2">
            <a:extLst>
              <a:ext uri="{FF2B5EF4-FFF2-40B4-BE49-F238E27FC236}">
                <a16:creationId xmlns:a16="http://schemas.microsoft.com/office/drawing/2014/main" id="{E4E01651-B8DD-B0ED-3C7E-12C7BA531714}"/>
              </a:ext>
            </a:extLst>
          </p:cNvPr>
          <p:cNvPicPr>
            <a:picLocks noChangeAspect="1"/>
          </p:cNvPicPr>
          <p:nvPr/>
        </p:nvPicPr>
        <p:blipFill>
          <a:blip r:embed="rId2">
            <a:extLst>
              <a:ext uri="{28A0092B-C50C-407E-A947-70E740481C1C}">
                <a14:useLocalDpi xmlns:a14="http://schemas.microsoft.com/office/drawing/2010/main" val="0"/>
              </a:ext>
            </a:extLst>
          </a:blip>
          <a:srcRect l="7263" t="48908" r="27935" b="36089"/>
          <a:stretch>
            <a:fillRect/>
          </a:stretch>
        </p:blipFill>
        <p:spPr>
          <a:xfrm>
            <a:off x="689096" y="1506379"/>
            <a:ext cx="10813808" cy="1844041"/>
          </a:xfrm>
          <a:prstGeom prst="rect">
            <a:avLst/>
          </a:prstGeom>
        </p:spPr>
      </p:pic>
      <p:pic>
        <p:nvPicPr>
          <p:cNvPr id="4" name="Image 3">
            <a:extLst>
              <a:ext uri="{FF2B5EF4-FFF2-40B4-BE49-F238E27FC236}">
                <a16:creationId xmlns:a16="http://schemas.microsoft.com/office/drawing/2014/main" id="{1690BA18-3D26-7A88-8A21-D2C639BCE828}"/>
              </a:ext>
            </a:extLst>
          </p:cNvPr>
          <p:cNvPicPr>
            <a:picLocks noChangeAspect="1"/>
          </p:cNvPicPr>
          <p:nvPr/>
        </p:nvPicPr>
        <p:blipFill>
          <a:blip r:embed="rId3"/>
          <a:stretch>
            <a:fillRect/>
          </a:stretch>
        </p:blipFill>
        <p:spPr>
          <a:xfrm>
            <a:off x="2595074" y="3787139"/>
            <a:ext cx="7001852" cy="228631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612278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3981F-FF60-42ED-1F02-5F6853AE0FA0}"/>
            </a:ext>
          </a:extLst>
        </p:cNvPr>
        <p:cNvGrpSpPr/>
        <p:nvPr/>
      </p:nvGrpSpPr>
      <p:grpSpPr>
        <a:xfrm>
          <a:off x="0" y="0"/>
          <a:ext cx="0" cy="0"/>
          <a:chOff x="0" y="0"/>
          <a:chExt cx="0" cy="0"/>
        </a:xfrm>
      </p:grpSpPr>
      <p:sp>
        <p:nvSpPr>
          <p:cNvPr id="511" name="TextBox">
            <a:extLst>
              <a:ext uri="{FF2B5EF4-FFF2-40B4-BE49-F238E27FC236}">
                <a16:creationId xmlns:a16="http://schemas.microsoft.com/office/drawing/2014/main" id="{EC52EBA3-F9D0-B66C-C0B1-87AFE0844EFA}"/>
              </a:ext>
            </a:extLst>
          </p:cNvPr>
          <p:cNvSpPr txBox="1"/>
          <p:nvPr/>
        </p:nvSpPr>
        <p:spPr>
          <a:xfrm>
            <a:off x="586740" y="382689"/>
            <a:ext cx="1101852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Segoe UI"/>
                <a:ea typeface="+mn-ea"/>
                <a:cs typeface="Segoe UI"/>
              </a:rPr>
              <a:t>Proxy Agent Deep dive</a:t>
            </a:r>
          </a:p>
        </p:txBody>
      </p:sp>
      <p:pic>
        <p:nvPicPr>
          <p:cNvPr id="3" name="Image 2">
            <a:extLst>
              <a:ext uri="{FF2B5EF4-FFF2-40B4-BE49-F238E27FC236}">
                <a16:creationId xmlns:a16="http://schemas.microsoft.com/office/drawing/2014/main" id="{2E37B3AD-882E-2138-E47F-153ED3194B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2342" y="1029020"/>
            <a:ext cx="7447316" cy="5485368"/>
          </a:xfrm>
          <a:prstGeom prst="rect">
            <a:avLst/>
          </a:prstGeom>
        </p:spPr>
      </p:pic>
    </p:spTree>
    <p:extLst>
      <p:ext uri="{BB962C8B-B14F-4D97-AF65-F5344CB8AC3E}">
        <p14:creationId xmlns:p14="http://schemas.microsoft.com/office/powerpoint/2010/main" val="11491211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3E289-1E3F-115E-9111-7DCB45CB2433}"/>
            </a:ext>
          </a:extLst>
        </p:cNvPr>
        <p:cNvGrpSpPr/>
        <p:nvPr/>
      </p:nvGrpSpPr>
      <p:grpSpPr>
        <a:xfrm>
          <a:off x="0" y="0"/>
          <a:ext cx="0" cy="0"/>
          <a:chOff x="0" y="0"/>
          <a:chExt cx="0" cy="0"/>
        </a:xfrm>
      </p:grpSpPr>
      <p:sp>
        <p:nvSpPr>
          <p:cNvPr id="511" name="TextBox">
            <a:extLst>
              <a:ext uri="{FF2B5EF4-FFF2-40B4-BE49-F238E27FC236}">
                <a16:creationId xmlns:a16="http://schemas.microsoft.com/office/drawing/2014/main" id="{E1DD14D1-CDFB-368D-4495-FC6F1A108B57}"/>
              </a:ext>
            </a:extLst>
          </p:cNvPr>
          <p:cNvSpPr txBox="1"/>
          <p:nvPr/>
        </p:nvSpPr>
        <p:spPr>
          <a:xfrm>
            <a:off x="586740" y="382689"/>
            <a:ext cx="11018520" cy="64633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Segoe UI"/>
                <a:ea typeface="+mn-ea"/>
                <a:cs typeface="Segoe UI"/>
              </a:rPr>
              <a:t>Proxy Agent Deep dive – backend connection</a:t>
            </a:r>
          </a:p>
        </p:txBody>
      </p:sp>
      <p:pic>
        <p:nvPicPr>
          <p:cNvPr id="3" name="Image 2">
            <a:extLst>
              <a:ext uri="{FF2B5EF4-FFF2-40B4-BE49-F238E27FC236}">
                <a16:creationId xmlns:a16="http://schemas.microsoft.com/office/drawing/2014/main" id="{343C4DDA-AEF0-0947-FA9F-3ADB60D971DC}"/>
              </a:ext>
            </a:extLst>
          </p:cNvPr>
          <p:cNvPicPr>
            <a:picLocks noChangeAspect="1"/>
          </p:cNvPicPr>
          <p:nvPr/>
        </p:nvPicPr>
        <p:blipFill>
          <a:blip r:embed="rId2">
            <a:extLst>
              <a:ext uri="{28A0092B-C50C-407E-A947-70E740481C1C}">
                <a14:useLocalDpi xmlns:a14="http://schemas.microsoft.com/office/drawing/2010/main" val="0"/>
              </a:ext>
            </a:extLst>
          </a:blip>
          <a:srcRect l="28273" t="63541" r="5561" b="15344"/>
          <a:stretch>
            <a:fillRect/>
          </a:stretch>
        </p:blipFill>
        <p:spPr>
          <a:xfrm>
            <a:off x="1254849" y="1307405"/>
            <a:ext cx="9682302" cy="2275840"/>
          </a:xfrm>
          <a:prstGeom prst="rect">
            <a:avLst/>
          </a:prstGeom>
        </p:spPr>
      </p:pic>
      <p:pic>
        <p:nvPicPr>
          <p:cNvPr id="4" name="Image 3">
            <a:extLst>
              <a:ext uri="{FF2B5EF4-FFF2-40B4-BE49-F238E27FC236}">
                <a16:creationId xmlns:a16="http://schemas.microsoft.com/office/drawing/2014/main" id="{8877CB5B-0E4E-6E39-ACEB-BF379722490E}"/>
              </a:ext>
            </a:extLst>
          </p:cNvPr>
          <p:cNvPicPr>
            <a:picLocks noChangeAspect="1"/>
          </p:cNvPicPr>
          <p:nvPr/>
        </p:nvPicPr>
        <p:blipFill>
          <a:blip r:embed="rId3"/>
          <a:stretch>
            <a:fillRect/>
          </a:stretch>
        </p:blipFill>
        <p:spPr>
          <a:xfrm>
            <a:off x="2833232" y="3867312"/>
            <a:ext cx="6525536" cy="885949"/>
          </a:xfrm>
          <a:prstGeom prst="rect">
            <a:avLst/>
          </a:prstGeom>
          <a:ln>
            <a:noFill/>
          </a:ln>
          <a:effectLst>
            <a:outerShdw blurRad="292100" dist="139700" dir="2700000" algn="tl" rotWithShape="0">
              <a:srgbClr val="333333">
                <a:alpha val="65000"/>
              </a:srgbClr>
            </a:outerShdw>
          </a:effectLst>
        </p:spPr>
      </p:pic>
      <p:pic>
        <p:nvPicPr>
          <p:cNvPr id="6" name="Image 5">
            <a:extLst>
              <a:ext uri="{FF2B5EF4-FFF2-40B4-BE49-F238E27FC236}">
                <a16:creationId xmlns:a16="http://schemas.microsoft.com/office/drawing/2014/main" id="{0854280B-2D2F-9A7F-65D2-4C34F08F9D11}"/>
              </a:ext>
            </a:extLst>
          </p:cNvPr>
          <p:cNvPicPr>
            <a:picLocks noChangeAspect="1"/>
          </p:cNvPicPr>
          <p:nvPr/>
        </p:nvPicPr>
        <p:blipFill>
          <a:blip r:embed="rId4"/>
          <a:stretch>
            <a:fillRect/>
          </a:stretch>
        </p:blipFill>
        <p:spPr>
          <a:xfrm>
            <a:off x="2539795" y="4897119"/>
            <a:ext cx="7478169" cy="16575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101121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 name="TextBox"/>
          <p:cNvSpPr txBox="1"/>
          <p:nvPr/>
        </p:nvSpPr>
        <p:spPr>
          <a:xfrm>
            <a:off x="586740" y="382689"/>
            <a:ext cx="11018520" cy="70000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Segoe UI"/>
                <a:ea typeface="+mn-ea"/>
                <a:cs typeface="Segoe UI"/>
              </a:rPr>
              <a:t>Everything you need to start today</a:t>
            </a:r>
          </a:p>
        </p:txBody>
      </p:sp>
      <p:sp>
        <p:nvSpPr>
          <p:cNvPr id="912" name="TextBox"/>
          <p:cNvSpPr txBox="1"/>
          <p:nvPr/>
        </p:nvSpPr>
        <p:spPr>
          <a:xfrm>
            <a:off x="586740" y="1050000"/>
            <a:ext cx="11018520" cy="40000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B6C4D2"/>
                </a:solidFill>
                <a:effectLst/>
                <a:uLnTx/>
                <a:uFillTx/>
                <a:latin typeface="Segoe UI"/>
                <a:ea typeface="+mn-ea"/>
                <a:cs typeface="Segoe UI"/>
              </a:rPr>
              <a:t>Sample code, walkthrough, and reference docs</a:t>
            </a:r>
          </a:p>
        </p:txBody>
      </p:sp>
      <p:cxnSp>
        <p:nvCxnSpPr>
          <p:cNvPr id="913" name="Line"/>
          <p:cNvCxnSpPr/>
          <p:nvPr/>
        </p:nvCxnSpPr>
        <p:spPr>
          <a:xfrm>
            <a:off x="586740" y="2100000"/>
            <a:ext cx="700000" cy="0"/>
          </a:xfrm>
          <a:prstGeom prst="line">
            <a:avLst/>
          </a:prstGeom>
          <a:ln w="20000">
            <a:solidFill>
              <a:srgbClr val="449CD6"/>
            </a:solidFill>
          </a:ln>
        </p:spPr>
      </p:cxnSp>
      <p:sp>
        <p:nvSpPr>
          <p:cNvPr id="914" name="TextBox"/>
          <p:cNvSpPr txBox="1"/>
          <p:nvPr/>
        </p:nvSpPr>
        <p:spPr>
          <a:xfrm>
            <a:off x="586740" y="2200000"/>
            <a:ext cx="3500000" cy="37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srgbClr val="FFFFFF"/>
                </a:solidFill>
                <a:effectLst/>
                <a:uLnTx/>
                <a:uFillTx/>
                <a:latin typeface="Segoe UI"/>
                <a:ea typeface="+mn-ea"/>
                <a:cs typeface="Segoe UI"/>
              </a:rPr>
              <a:t>GitHub Sample Repo</a:t>
            </a:r>
          </a:p>
          <a:p>
            <a:pPr marL="0" marR="0" lvl="0" indent="0" algn="l" defTabSz="914400" rtl="0" eaLnBrk="1" fontAlgn="auto" latinLnBrk="0" hangingPunct="1">
              <a:lnSpc>
                <a:spcPct val="130000"/>
              </a:lnSpc>
              <a:spcBef>
                <a:spcPts val="600"/>
              </a:spcBef>
              <a:spcAft>
                <a:spcPts val="0"/>
              </a:spcAft>
              <a:buClrTx/>
              <a:buSzTx/>
              <a:buFontTx/>
              <a:buNone/>
              <a:tabLst/>
              <a:defRPr/>
            </a:pPr>
            <a:r>
              <a:rPr kumimoji="0" lang="en-US" sz="1400" b="0" i="0" u="none" strike="noStrike" kern="1200" cap="none" spc="0" normalizeH="0" baseline="0" noProof="0">
                <a:ln>
                  <a:noFill/>
                </a:ln>
                <a:solidFill>
                  <a:srgbClr val="B6C4D2"/>
                </a:solidFill>
                <a:effectLst/>
                <a:uLnTx/>
                <a:uFillTx/>
                <a:latin typeface="Segoe UI"/>
                <a:ea typeface="+mn-ea"/>
                <a:cs typeface="Segoe UI"/>
              </a:rPr>
              <a:t>Node.js + C# +Python implementations with Bicep, manifests, architecture and deployment guide.</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300" b="1" i="0" u="none" strike="noStrike" kern="1200" cap="none" spc="0" normalizeH="0" baseline="0" noProof="0">
                <a:ln>
                  <a:noFill/>
                </a:ln>
                <a:solidFill>
                  <a:srgbClr val="449CD6"/>
                </a:solidFill>
                <a:effectLst/>
                <a:uLnTx/>
                <a:uFillTx/>
                <a:latin typeface="Segoe UI"/>
                <a:ea typeface="+mn-ea"/>
                <a:cs typeface="Segoe UI"/>
                <a:hlinkClick r:id="rId2"/>
              </a:rPr>
              <a:t>Proxy Agent C#</a:t>
            </a:r>
            <a:endParaRPr kumimoji="0" lang="en-US" sz="1300" b="1" i="0" u="none" strike="noStrike" kern="1200" cap="none" spc="0" normalizeH="0" baseline="0" noProof="0">
              <a:ln>
                <a:noFill/>
              </a:ln>
              <a:solidFill>
                <a:srgbClr val="449CD6"/>
              </a:solidFill>
              <a:effectLst/>
              <a:uLnTx/>
              <a:uFillTx/>
              <a:latin typeface="Segoe UI"/>
              <a:ea typeface="+mn-ea"/>
              <a:cs typeface="Segoe UI"/>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300" b="1" i="0" u="none" strike="noStrike" kern="1200" cap="none" spc="0" normalizeH="0" baseline="0" noProof="0">
                <a:ln>
                  <a:noFill/>
                </a:ln>
                <a:solidFill>
                  <a:srgbClr val="449CD6"/>
                </a:solidFill>
                <a:effectLst/>
                <a:uLnTx/>
                <a:uFillTx/>
                <a:latin typeface="Segoe UI"/>
                <a:ea typeface="+mn-ea"/>
                <a:cs typeface="Segoe UI"/>
                <a:hlinkClick r:id="rId3"/>
              </a:rPr>
              <a:t>Proxy Agent NodeJS</a:t>
            </a:r>
            <a:endParaRPr kumimoji="0" lang="en-US" sz="1300" b="1" i="0" u="none" strike="noStrike" kern="1200" cap="none" spc="0" normalizeH="0" baseline="0" noProof="0">
              <a:ln>
                <a:noFill/>
              </a:ln>
              <a:solidFill>
                <a:srgbClr val="449CD6"/>
              </a:solidFill>
              <a:effectLst/>
              <a:uLnTx/>
              <a:uFillTx/>
              <a:latin typeface="Segoe UI"/>
              <a:ea typeface="+mn-ea"/>
              <a:cs typeface="Segoe UI"/>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300" b="1" i="0" u="none" strike="noStrike" kern="1200" cap="none" spc="0" normalizeH="0" baseline="0" noProof="0">
                <a:ln>
                  <a:noFill/>
                </a:ln>
                <a:solidFill>
                  <a:srgbClr val="449CD6"/>
                </a:solidFill>
                <a:effectLst/>
                <a:uLnTx/>
                <a:uFillTx/>
                <a:latin typeface="Segoe UI"/>
                <a:ea typeface="+mn-ea"/>
                <a:cs typeface="Segoe UI"/>
                <a:hlinkClick r:id="rId4"/>
              </a:rPr>
              <a:t>Proxy Agent Python</a:t>
            </a:r>
            <a:endParaRPr kumimoji="0" lang="en-US" sz="1300" b="1" i="0" u="none" strike="noStrike" kern="1200" cap="none" spc="0" normalizeH="0" baseline="0" noProof="0">
              <a:ln>
                <a:noFill/>
              </a:ln>
              <a:solidFill>
                <a:srgbClr val="449CD6"/>
              </a:solidFill>
              <a:effectLst/>
              <a:uLnTx/>
              <a:uFillTx/>
              <a:latin typeface="Segoe UI"/>
              <a:ea typeface="+mn-ea"/>
              <a:cs typeface="Segoe UI"/>
            </a:endParaRPr>
          </a:p>
        </p:txBody>
      </p:sp>
      <p:cxnSp>
        <p:nvCxnSpPr>
          <p:cNvPr id="915" name="Line"/>
          <p:cNvCxnSpPr/>
          <p:nvPr/>
        </p:nvCxnSpPr>
        <p:spPr>
          <a:xfrm>
            <a:off x="4400000" y="2100000"/>
            <a:ext cx="700000" cy="0"/>
          </a:xfrm>
          <a:prstGeom prst="line">
            <a:avLst/>
          </a:prstGeom>
          <a:ln w="20000">
            <a:solidFill>
              <a:srgbClr val="449CD6"/>
            </a:solidFill>
          </a:ln>
        </p:spPr>
      </p:cxnSp>
      <p:sp>
        <p:nvSpPr>
          <p:cNvPr id="916" name="TextBox"/>
          <p:cNvSpPr txBox="1"/>
          <p:nvPr/>
        </p:nvSpPr>
        <p:spPr>
          <a:xfrm>
            <a:off x="4400000" y="2200000"/>
            <a:ext cx="3500000" cy="37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srgbClr val="FFFFFF"/>
                </a:solidFill>
                <a:effectLst/>
                <a:uLnTx/>
                <a:uFillTx/>
                <a:latin typeface="Segoe UI"/>
                <a:ea typeface="+mn-ea"/>
                <a:cs typeface="Segoe UI"/>
              </a:rPr>
              <a:t>Video Walkthrough</a:t>
            </a:r>
          </a:p>
          <a:p>
            <a:pPr marL="0" marR="0" lvl="0" indent="0" algn="l" defTabSz="914400" rtl="0" eaLnBrk="1" fontAlgn="auto" latinLnBrk="0" hangingPunct="1">
              <a:lnSpc>
                <a:spcPct val="130000"/>
              </a:lnSpc>
              <a:spcBef>
                <a:spcPts val="600"/>
              </a:spcBef>
              <a:spcAft>
                <a:spcPts val="0"/>
              </a:spcAft>
              <a:buClrTx/>
              <a:buSzTx/>
              <a:buFontTx/>
              <a:buNone/>
              <a:tabLst/>
              <a:defRPr/>
            </a:pPr>
            <a:r>
              <a:rPr kumimoji="0" lang="en-US" sz="1400" b="0" i="0" u="none" strike="noStrike" kern="1200" cap="none" spc="0" normalizeH="0" baseline="0" noProof="0">
                <a:ln>
                  <a:noFill/>
                </a:ln>
                <a:solidFill>
                  <a:srgbClr val="B6C4D2"/>
                </a:solidFill>
                <a:effectLst/>
                <a:uLnTx/>
                <a:uFillTx/>
                <a:latin typeface="Segoe UI"/>
                <a:ea typeface="+mn-ea"/>
                <a:cs typeface="Segoe UI"/>
              </a:rPr>
              <a:t>Recorded screencast: local dev → Azure deploy → agent swap, narrated end-to-end.</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300" b="1" i="0" u="none" strike="noStrike" kern="1200" cap="none" spc="0" normalizeH="0" baseline="0" noProof="0">
                <a:ln>
                  <a:noFill/>
                </a:ln>
                <a:solidFill>
                  <a:srgbClr val="449CD6"/>
                </a:solidFill>
                <a:effectLst/>
                <a:uLnTx/>
                <a:uFillTx/>
                <a:latin typeface="Segoe UI"/>
                <a:ea typeface="+mn-ea"/>
                <a:cs typeface="Segoe UI"/>
                <a:hlinkClick r:id="rId5"/>
              </a:rPr>
              <a:t>~20 minutes.</a:t>
            </a:r>
            <a:endParaRPr kumimoji="0" lang="en-US" sz="1300" b="1" i="0" u="none" strike="noStrike" kern="1200" cap="none" spc="0" normalizeH="0" baseline="0" noProof="0">
              <a:ln>
                <a:noFill/>
              </a:ln>
              <a:solidFill>
                <a:srgbClr val="449CD6"/>
              </a:solidFill>
              <a:effectLst/>
              <a:uLnTx/>
              <a:uFillTx/>
              <a:latin typeface="Segoe UI"/>
              <a:ea typeface="+mn-ea"/>
              <a:cs typeface="Segoe UI"/>
            </a:endParaRPr>
          </a:p>
        </p:txBody>
      </p:sp>
      <p:cxnSp>
        <p:nvCxnSpPr>
          <p:cNvPr id="917" name="Line"/>
          <p:cNvCxnSpPr/>
          <p:nvPr/>
        </p:nvCxnSpPr>
        <p:spPr>
          <a:xfrm>
            <a:off x="8200000" y="2100000"/>
            <a:ext cx="700000" cy="0"/>
          </a:xfrm>
          <a:prstGeom prst="line">
            <a:avLst/>
          </a:prstGeom>
          <a:ln w="20000">
            <a:solidFill>
              <a:srgbClr val="449CD6"/>
            </a:solidFill>
          </a:ln>
        </p:spPr>
      </p:cxnSp>
      <p:sp>
        <p:nvSpPr>
          <p:cNvPr id="918" name="TextBox"/>
          <p:cNvSpPr txBox="1"/>
          <p:nvPr/>
        </p:nvSpPr>
        <p:spPr>
          <a:xfrm>
            <a:off x="8200000" y="2200000"/>
            <a:ext cx="3500000" cy="37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srgbClr val="FFFFFF"/>
                </a:solidFill>
                <a:effectLst/>
                <a:uLnTx/>
                <a:uFillTx/>
                <a:latin typeface="Segoe UI"/>
                <a:ea typeface="+mn-ea"/>
                <a:cs typeface="Segoe UI"/>
              </a:rPr>
              <a:t>GitHub Copilot Skill </a:t>
            </a:r>
          </a:p>
          <a:p>
            <a:pPr marL="0" marR="0" lvl="0" indent="0" algn="l" defTabSz="914400" rtl="0" eaLnBrk="1" fontAlgn="auto" latinLnBrk="0" hangingPunct="1">
              <a:lnSpc>
                <a:spcPct val="130000"/>
              </a:lnSpc>
              <a:spcBef>
                <a:spcPts val="600"/>
              </a:spcBef>
              <a:spcAft>
                <a:spcPts val="0"/>
              </a:spcAft>
              <a:buClrTx/>
              <a:buSzTx/>
              <a:buFontTx/>
              <a:buNone/>
              <a:tabLst/>
              <a:defRPr/>
            </a:pPr>
            <a:r>
              <a:rPr kumimoji="0" lang="en-US" sz="1400" b="0" i="0" u="none" strike="noStrike" kern="1200" cap="none" spc="0" normalizeH="0" baseline="0" noProof="0">
                <a:ln>
                  <a:noFill/>
                </a:ln>
                <a:solidFill>
                  <a:srgbClr val="B6C4D2"/>
                </a:solidFill>
                <a:effectLst/>
                <a:uLnTx/>
                <a:uFillTx/>
                <a:latin typeface="Segoe UI"/>
                <a:ea typeface="+mn-ea"/>
                <a:cs typeface="Segoe UI"/>
              </a:rPr>
              <a:t>GitHub Copilot skill that guides on sample extension for any AI agent is part of the same repo and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300" b="1" i="0" u="none" strike="noStrike" kern="1200" cap="none" spc="0" normalizeH="0" baseline="0" noProof="0">
                <a:ln>
                  <a:noFill/>
                </a:ln>
                <a:solidFill>
                  <a:srgbClr val="449CD6"/>
                </a:solidFill>
                <a:effectLst/>
                <a:uLnTx/>
                <a:uFillTx/>
                <a:latin typeface="Segoe UI"/>
                <a:ea typeface="+mn-ea"/>
                <a:cs typeface="Segoe UI"/>
                <a:hlinkClick r:id="rId6"/>
              </a:rPr>
              <a:t>Merge in Progress in the Live Repo</a:t>
            </a:r>
            <a:r>
              <a:rPr kumimoji="0" lang="en-GB" sz="1300" b="1" i="0" u="none" strike="noStrike" kern="1200" cap="none" spc="0" normalizeH="0" baseline="0" noProof="0">
                <a:ln>
                  <a:noFill/>
                </a:ln>
                <a:solidFill>
                  <a:srgbClr val="449CD6"/>
                </a:solidFill>
                <a:effectLst/>
                <a:uLnTx/>
                <a:uFillTx/>
                <a:latin typeface="Segoe UI"/>
                <a:ea typeface="+mn-ea"/>
                <a:cs typeface="Segoe UI"/>
              </a:rPr>
              <a:t>²</a:t>
            </a:r>
            <a:endParaRPr kumimoji="0" lang="en-US" sz="1300" b="1" i="0" u="none" strike="noStrike" kern="1200" cap="none" spc="0" normalizeH="0" baseline="0" noProof="0">
              <a:ln>
                <a:noFill/>
              </a:ln>
              <a:solidFill>
                <a:srgbClr val="449CD6"/>
              </a:solidFill>
              <a:effectLst/>
              <a:uLnTx/>
              <a:uFillTx/>
              <a:latin typeface="Segoe UI"/>
              <a:ea typeface="+mn-ea"/>
              <a:cs typeface="Segoe UI"/>
            </a:endParaRPr>
          </a:p>
        </p:txBody>
      </p:sp>
      <p:pic>
        <p:nvPicPr>
          <p:cNvPr id="600" name="AssetIcon0"/>
          <p:cNvPicPr>
            <a:picLocks noChangeAspect="1"/>
          </p:cNvPicPr>
          <p:nvPr/>
        </p:nvPicPr>
        <p:blipFill>
          <a:blip r:embed="rId7"/>
          <a:stretch>
            <a:fillRect/>
          </a:stretch>
        </p:blipFill>
        <p:spPr>
          <a:xfrm>
            <a:off x="1986740" y="1450000"/>
            <a:ext cx="700000" cy="700000"/>
          </a:xfrm>
          <a:prstGeom prst="rect">
            <a:avLst/>
          </a:prstGeom>
        </p:spPr>
      </p:pic>
      <p:pic>
        <p:nvPicPr>
          <p:cNvPr id="601" name="AssetIcon1"/>
          <p:cNvPicPr>
            <a:picLocks noChangeAspect="1"/>
          </p:cNvPicPr>
          <p:nvPr/>
        </p:nvPicPr>
        <p:blipFill>
          <a:blip r:embed="rId8"/>
          <a:stretch>
            <a:fillRect/>
          </a:stretch>
        </p:blipFill>
        <p:spPr>
          <a:xfrm>
            <a:off x="5800000" y="1450000"/>
            <a:ext cx="700000" cy="700000"/>
          </a:xfrm>
          <a:prstGeom prst="rect">
            <a:avLst/>
          </a:prstGeom>
        </p:spPr>
      </p:pic>
      <p:pic>
        <p:nvPicPr>
          <p:cNvPr id="602" name="AssetIcon2"/>
          <p:cNvPicPr>
            <a:picLocks noChangeAspect="1"/>
          </p:cNvPicPr>
          <p:nvPr/>
        </p:nvPicPr>
        <p:blipFill>
          <a:blip r:embed="rId9"/>
          <a:stretch>
            <a:fillRect/>
          </a:stretch>
        </p:blipFill>
        <p:spPr>
          <a:xfrm>
            <a:off x="9600000" y="1450000"/>
            <a:ext cx="700000" cy="700000"/>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 name="TextBox"/>
          <p:cNvSpPr txBox="1"/>
          <p:nvPr/>
        </p:nvSpPr>
        <p:spPr>
          <a:xfrm>
            <a:off x="586740" y="382689"/>
            <a:ext cx="11018520" cy="70000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Segoe UI"/>
                <a:ea typeface="+mn-ea"/>
                <a:cs typeface="Segoe UI"/>
              </a:rPr>
              <a:t>Four things to remember</a:t>
            </a:r>
          </a:p>
        </p:txBody>
      </p:sp>
      <p:sp>
        <p:nvSpPr>
          <p:cNvPr id="1012" name="TextBox"/>
          <p:cNvSpPr txBox="1"/>
          <p:nvPr/>
        </p:nvSpPr>
        <p:spPr>
          <a:xfrm>
            <a:off x="586740" y="1050000"/>
            <a:ext cx="11018520" cy="40000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B6C4D2"/>
                </a:solidFill>
                <a:effectLst/>
                <a:uLnTx/>
                <a:uFillTx/>
                <a:latin typeface="Segoe UI"/>
                <a:ea typeface="+mn-ea"/>
                <a:cs typeface="Segoe UI"/>
              </a:rPr>
              <a:t>The talking points we want to stick</a:t>
            </a:r>
          </a:p>
        </p:txBody>
      </p:sp>
      <p:sp>
        <p:nvSpPr>
          <p:cNvPr id="1013" name="TextBox"/>
          <p:cNvSpPr txBox="1"/>
          <p:nvPr/>
        </p:nvSpPr>
        <p:spPr>
          <a:xfrm>
            <a:off x="586740" y="1900000"/>
            <a:ext cx="700000" cy="7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449CD6"/>
                </a:solidFill>
                <a:effectLst/>
                <a:uLnTx/>
                <a:uFillTx/>
                <a:latin typeface="Segoe UI"/>
                <a:ea typeface="+mn-ea"/>
                <a:cs typeface="Segoe UI"/>
              </a:rPr>
              <a:t>1</a:t>
            </a:r>
          </a:p>
        </p:txBody>
      </p:sp>
      <p:sp>
        <p:nvSpPr>
          <p:cNvPr id="1014" name="TextBox"/>
          <p:cNvSpPr txBox="1"/>
          <p:nvPr/>
        </p:nvSpPr>
        <p:spPr>
          <a:xfrm>
            <a:off x="1336740" y="1900000"/>
            <a:ext cx="4700000" cy="18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egoe UI"/>
                <a:ea typeface="+mn-ea"/>
                <a:cs typeface="Segoe UI"/>
              </a:rPr>
              <a:t>Backend-agnostic</a:t>
            </a:r>
          </a:p>
          <a:p>
            <a:pPr marL="0" marR="0" lvl="0" indent="0" algn="l" defTabSz="914400" rtl="0" eaLnBrk="1" fontAlgn="auto" latinLnBrk="0" hangingPunct="1">
              <a:lnSpc>
                <a:spcPct val="13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B6C4D2"/>
                </a:solidFill>
                <a:effectLst/>
                <a:uLnTx/>
                <a:uFillTx/>
                <a:latin typeface="Segoe UI"/>
                <a:ea typeface="+mn-ea"/>
                <a:cs typeface="Segoe UI"/>
              </a:rPr>
              <a:t>OpenAI, Anthropic, Groq, LangChain, Foundry, or anything custom. The proxy doesn't care.</a:t>
            </a:r>
          </a:p>
        </p:txBody>
      </p:sp>
      <p:sp>
        <p:nvSpPr>
          <p:cNvPr id="1015" name="TextBox"/>
          <p:cNvSpPr txBox="1"/>
          <p:nvPr/>
        </p:nvSpPr>
        <p:spPr>
          <a:xfrm>
            <a:off x="6300000" y="1900000"/>
            <a:ext cx="700000" cy="7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449CD6"/>
                </a:solidFill>
                <a:effectLst/>
                <a:uLnTx/>
                <a:uFillTx/>
                <a:latin typeface="Segoe UI"/>
                <a:ea typeface="+mn-ea"/>
                <a:cs typeface="Segoe UI"/>
              </a:rPr>
              <a:t>2</a:t>
            </a:r>
          </a:p>
        </p:txBody>
      </p:sp>
      <p:sp>
        <p:nvSpPr>
          <p:cNvPr id="1016" name="TextBox"/>
          <p:cNvSpPr txBox="1"/>
          <p:nvPr/>
        </p:nvSpPr>
        <p:spPr>
          <a:xfrm>
            <a:off x="7050000" y="1900000"/>
            <a:ext cx="4700000" cy="18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egoe UI"/>
                <a:ea typeface="+mn-ea"/>
                <a:cs typeface="Segoe UI"/>
              </a:rPr>
              <a:t>No secrets in production</a:t>
            </a:r>
          </a:p>
          <a:p>
            <a:pPr marL="0" marR="0" lvl="0" indent="0" algn="l" defTabSz="914400" rtl="0" eaLnBrk="1" fontAlgn="auto" latinLnBrk="0" hangingPunct="1">
              <a:lnSpc>
                <a:spcPct val="13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B6C4D2"/>
                </a:solidFill>
                <a:effectLst/>
                <a:uLnTx/>
                <a:uFillTx/>
                <a:latin typeface="Segoe UI"/>
                <a:ea typeface="+mn-ea"/>
                <a:cs typeface="Segoe UI"/>
              </a:rPr>
              <a:t>Managed Identity plus federated credentials. No keys checked in. No keys to rotate.</a:t>
            </a:r>
          </a:p>
        </p:txBody>
      </p:sp>
      <p:sp>
        <p:nvSpPr>
          <p:cNvPr id="1017" name="TextBox"/>
          <p:cNvSpPr txBox="1"/>
          <p:nvPr/>
        </p:nvSpPr>
        <p:spPr>
          <a:xfrm>
            <a:off x="586740" y="3900000"/>
            <a:ext cx="700000" cy="7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449CD6"/>
                </a:solidFill>
                <a:effectLst/>
                <a:uLnTx/>
                <a:uFillTx/>
                <a:latin typeface="Segoe UI"/>
                <a:ea typeface="+mn-ea"/>
                <a:cs typeface="Segoe UI"/>
              </a:rPr>
              <a:t>3</a:t>
            </a:r>
          </a:p>
        </p:txBody>
      </p:sp>
      <p:sp>
        <p:nvSpPr>
          <p:cNvPr id="1018" name="TextBox"/>
          <p:cNvSpPr txBox="1"/>
          <p:nvPr/>
        </p:nvSpPr>
        <p:spPr>
          <a:xfrm>
            <a:off x="1336740" y="3900000"/>
            <a:ext cx="4700000" cy="18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egoe UI"/>
                <a:ea typeface="+mn-ea"/>
                <a:cs typeface="Segoe UI"/>
              </a:rPr>
              <a:t>Swap in one file</a:t>
            </a:r>
          </a:p>
          <a:p>
            <a:pPr marL="0" marR="0" lvl="0" indent="0" algn="l" defTabSz="914400" rtl="0" eaLnBrk="1" fontAlgn="auto" latinLnBrk="0" hangingPunct="1">
              <a:lnSpc>
                <a:spcPct val="13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B6C4D2"/>
                </a:solidFill>
                <a:effectLst/>
                <a:uLnTx/>
                <a:uFillTx/>
                <a:latin typeface="Segoe UI"/>
                <a:ea typeface="+mn-ea"/>
                <a:cs typeface="Segoe UI"/>
              </a:rPr>
              <a:t>src/agent.ts is the only code that touches your AI agent. Everything else is reusable.</a:t>
            </a:r>
          </a:p>
        </p:txBody>
      </p:sp>
      <p:sp>
        <p:nvSpPr>
          <p:cNvPr id="1019" name="TextBox"/>
          <p:cNvSpPr txBox="1"/>
          <p:nvPr/>
        </p:nvSpPr>
        <p:spPr>
          <a:xfrm>
            <a:off x="6300000" y="3900000"/>
            <a:ext cx="700000" cy="7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449CD6"/>
                </a:solidFill>
                <a:effectLst/>
                <a:uLnTx/>
                <a:uFillTx/>
                <a:latin typeface="Segoe UI"/>
                <a:ea typeface="+mn-ea"/>
                <a:cs typeface="Segoe UI"/>
              </a:rPr>
              <a:t>4</a:t>
            </a:r>
          </a:p>
        </p:txBody>
      </p:sp>
      <p:sp>
        <p:nvSpPr>
          <p:cNvPr id="1020" name="TextBox"/>
          <p:cNvSpPr txBox="1"/>
          <p:nvPr/>
        </p:nvSpPr>
        <p:spPr>
          <a:xfrm>
            <a:off x="7050000" y="3900000"/>
            <a:ext cx="4700000" cy="18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egoe UI"/>
                <a:ea typeface="+mn-ea"/>
                <a:cs typeface="Segoe UI"/>
              </a:rPr>
              <a:t>Watch the pitfalls</a:t>
            </a:r>
          </a:p>
          <a:p>
            <a:pPr marL="0" marR="0" lvl="0" indent="0" algn="l" defTabSz="914400" rtl="0" eaLnBrk="1" fontAlgn="auto" latinLnBrk="0" hangingPunct="1">
              <a:lnSpc>
                <a:spcPct val="13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B6C4D2"/>
                </a:solidFill>
                <a:effectLst/>
                <a:uLnTx/>
                <a:uFillTx/>
                <a:latin typeface="Segoe UI"/>
                <a:ea typeface="+mn-ea"/>
                <a:cs typeface="Segoe UI"/>
              </a:rPr>
              <a:t>Token caching, streaming chunking, manifest configuration — covered in our docs.</a:t>
            </a:r>
          </a:p>
        </p:txBody>
      </p:sp>
      <p:pic>
        <p:nvPicPr>
          <p:cNvPr id="700" name="RecapIcon0"/>
          <p:cNvPicPr>
            <a:picLocks noChangeAspect="1"/>
          </p:cNvPicPr>
          <p:nvPr/>
        </p:nvPicPr>
        <p:blipFill>
          <a:blip r:embed="rId2"/>
          <a:stretch>
            <a:fillRect/>
          </a:stretch>
        </p:blipFill>
        <p:spPr>
          <a:xfrm>
            <a:off x="5086740" y="1900000"/>
            <a:ext cx="450000" cy="450000"/>
          </a:xfrm>
          <a:prstGeom prst="rect">
            <a:avLst/>
          </a:prstGeom>
        </p:spPr>
      </p:pic>
      <p:pic>
        <p:nvPicPr>
          <p:cNvPr id="701" name="RecapIcon1"/>
          <p:cNvPicPr>
            <a:picLocks noChangeAspect="1"/>
          </p:cNvPicPr>
          <p:nvPr/>
        </p:nvPicPr>
        <p:blipFill>
          <a:blip r:embed="rId3"/>
          <a:stretch>
            <a:fillRect/>
          </a:stretch>
        </p:blipFill>
        <p:spPr>
          <a:xfrm>
            <a:off x="10800000" y="1900000"/>
            <a:ext cx="450000" cy="450000"/>
          </a:xfrm>
          <a:prstGeom prst="rect">
            <a:avLst/>
          </a:prstGeom>
        </p:spPr>
      </p:pic>
      <p:pic>
        <p:nvPicPr>
          <p:cNvPr id="702" name="RecapIcon2"/>
          <p:cNvPicPr>
            <a:picLocks noChangeAspect="1"/>
          </p:cNvPicPr>
          <p:nvPr/>
        </p:nvPicPr>
        <p:blipFill>
          <a:blip r:embed="rId4"/>
          <a:stretch>
            <a:fillRect/>
          </a:stretch>
        </p:blipFill>
        <p:spPr>
          <a:xfrm>
            <a:off x="5086740" y="3900000"/>
            <a:ext cx="450000" cy="450000"/>
          </a:xfrm>
          <a:prstGeom prst="rect">
            <a:avLst/>
          </a:prstGeom>
        </p:spPr>
      </p:pic>
      <p:pic>
        <p:nvPicPr>
          <p:cNvPr id="703" name="RecapIcon3"/>
          <p:cNvPicPr>
            <a:picLocks noChangeAspect="1"/>
          </p:cNvPicPr>
          <p:nvPr/>
        </p:nvPicPr>
        <p:blipFill>
          <a:blip r:embed="rId5"/>
          <a:stretch>
            <a:fillRect/>
          </a:stretch>
        </p:blipFill>
        <p:spPr>
          <a:xfrm>
            <a:off x="10800000" y="3900000"/>
            <a:ext cx="450000" cy="450000"/>
          </a:xfrm>
          <a:prstGeom prst="rect">
            <a:avLst/>
          </a:prstGeom>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m3d="http://schemas.microsoft.com/office/drawing/2017/model3d" Requires="am3d">
          <p:graphicFrame>
            <p:nvGraphicFramePr>
              <p:cNvPr id="2" name="3D Model 1" descr="Links">
                <a:extLst>
                  <a:ext uri="{FF2B5EF4-FFF2-40B4-BE49-F238E27FC236}">
                    <a16:creationId xmlns:a16="http://schemas.microsoft.com/office/drawing/2014/main" id="{83A84DA0-FA87-DF8F-0709-91A185D908A0}"/>
                  </a:ext>
                </a:extLst>
              </p:cNvPr>
              <p:cNvGraphicFramePr>
                <a:graphicFrameLocks noChangeAspect="1"/>
              </p:cNvGraphicFramePr>
              <p:nvPr/>
            </p:nvGraphicFramePr>
            <p:xfrm>
              <a:off x="5575724" y="3839654"/>
              <a:ext cx="4237579" cy="3202168"/>
            </p:xfrm>
            <a:graphic>
              <a:graphicData uri="http://schemas.microsoft.com/office/drawing/2017/model3d">
                <am3d:model3d r:embed="rId2">
                  <am3d:spPr>
                    <a:xfrm>
                      <a:off x="0" y="0"/>
                      <a:ext cx="4237579" cy="3202168"/>
                    </a:xfrm>
                    <a:prstGeom prst="rect">
                      <a:avLst/>
                    </a:prstGeom>
                  </am3d:spPr>
                  <am3d:camera>
                    <am3d:pos x="0" y="0" z="61191839"/>
                    <am3d:up dx="0" dy="36000000" dz="0"/>
                    <am3d:lookAt x="0" y="0" z="0"/>
                    <am3d:perspective fov="2700000"/>
                  </am3d:camera>
                  <am3d:trans>
                    <am3d:meterPerModelUnit n="115759" d="1000000"/>
                    <am3d:preTrans dx="-1415555" dy="-7334695" dz="-4315675"/>
                    <am3d:scale>
                      <am3d:sx n="1000000" d="1000000"/>
                      <am3d:sy n="1000000" d="1000000"/>
                      <am3d:sz n="1000000" d="1000000"/>
                    </am3d:scale>
                    <am3d:rot/>
                    <am3d:postTrans dx="0" dy="0" dz="0"/>
                  </am3d:trans>
                  <am3d:raster rName="Office3DRenderer" rVer="16.0.8326">
                    <am3d:blip r:embed="rId3"/>
                  </am3d:raster>
                  <am3d:extLst>
                    <a:ext uri="{9A65AA19-BECB-4387-8358-8AD5134E1D82}">
                      <a3danim:embedAnim xmlns:a3danim="http://schemas.microsoft.com/office/drawing/2018/animation/model3d" animId="5">
                        <a3danim:animPr length="4800" count="indefinite"/>
                      </a3danim:embedAnim>
                    </a:ext>
                    <a:ext uri="{E9DE012E-A134-456F-84FE-255F9AAD75C6}">
                      <a3danim:posterFrame xmlns:a3danim="http://schemas.microsoft.com/office/drawing/2018/animation/model3d" animId="5"/>
                    </a:ext>
                  </am3d:extLst>
                  <am3d:objViewport viewportSz="781068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Links">
                <a:extLst>
                  <a:ext uri="{FF2B5EF4-FFF2-40B4-BE49-F238E27FC236}">
                    <a16:creationId xmlns:a16="http://schemas.microsoft.com/office/drawing/2014/main" id="{83A84DA0-FA87-DF8F-0709-91A185D908A0}"/>
                  </a:ext>
                </a:extLst>
              </p:cNvPr>
              <p:cNvPicPr>
                <a:picLocks noGrp="1" noRot="1" noChangeAspect="1" noMove="1" noResize="1" noEditPoints="1" noAdjustHandles="1" noChangeArrowheads="1" noChangeShapeType="1" noCrop="1"/>
              </p:cNvPicPr>
              <p:nvPr/>
            </p:nvPicPr>
            <p:blipFill>
              <a:blip r:embed="rId3"/>
              <a:stretch>
                <a:fillRect/>
              </a:stretch>
            </p:blipFill>
            <p:spPr>
              <a:xfrm>
                <a:off x="5575724" y="3839654"/>
                <a:ext cx="4237579" cy="3202168"/>
              </a:xfrm>
              <a:prstGeom prst="rect">
                <a:avLst/>
              </a:prstGeom>
            </p:spPr>
          </p:pic>
        </mc:Fallback>
      </mc:AlternateContent>
      <p:sp>
        <p:nvSpPr>
          <p:cNvPr id="4" name="Title 3">
            <a:extLst>
              <a:ext uri="{FF2B5EF4-FFF2-40B4-BE49-F238E27FC236}">
                <a16:creationId xmlns:a16="http://schemas.microsoft.com/office/drawing/2014/main" id="{CDD70888-6DC2-3C0D-8B61-8DDCD8DEE89D}"/>
              </a:ext>
            </a:extLst>
          </p:cNvPr>
          <p:cNvSpPr>
            <a:spLocks noGrp="1"/>
          </p:cNvSpPr>
          <p:nvPr>
            <p:ph type="title"/>
          </p:nvPr>
        </p:nvSpPr>
        <p:spPr>
          <a:xfrm>
            <a:off x="640740" y="4051579"/>
            <a:ext cx="11018520" cy="430887"/>
          </a:xfrm>
        </p:spPr>
        <p:txBody>
          <a:bodyPr/>
          <a:lstStyle/>
          <a:p>
            <a:r>
              <a:rPr lang="en-US" sz="2800">
                <a:cs typeface="Segoe UI"/>
              </a:rPr>
              <a:t>Please provide your feedback</a:t>
            </a:r>
            <a:endParaRPr lang="en-US" sz="2800"/>
          </a:p>
        </p:txBody>
      </p:sp>
      <p:sp>
        <p:nvSpPr>
          <p:cNvPr id="5" name="Content Placeholder 4">
            <a:extLst>
              <a:ext uri="{FF2B5EF4-FFF2-40B4-BE49-F238E27FC236}">
                <a16:creationId xmlns:a16="http://schemas.microsoft.com/office/drawing/2014/main" id="{3F73E9E9-AB03-3C5C-CF2E-A54D21CDA3B3}"/>
              </a:ext>
            </a:extLst>
          </p:cNvPr>
          <p:cNvSpPr>
            <a:spLocks noGrp="1"/>
          </p:cNvSpPr>
          <p:nvPr>
            <p:ph idx="1"/>
          </p:nvPr>
        </p:nvSpPr>
        <p:spPr>
          <a:xfrm>
            <a:off x="904187" y="4808252"/>
            <a:ext cx="6715370" cy="369332"/>
          </a:xfrm>
        </p:spPr>
        <p:txBody>
          <a:bodyPr vert="horz" wrap="square" lIns="0" tIns="0" rIns="0" bIns="0" rtlCol="0" anchor="t">
            <a:spAutoFit/>
          </a:bodyPr>
          <a:lstStyle/>
          <a:p>
            <a:pPr marL="0" indent="0">
              <a:buNone/>
            </a:pPr>
            <a:r>
              <a:rPr lang="en-US" sz="2400">
                <a:solidFill>
                  <a:schemeClr val="accent3"/>
                </a:solidFill>
                <a:ea typeface="+mn-lt"/>
                <a:cs typeface="+mn-lt"/>
                <a:hlinkClick r:id="rId4">
                  <a:extLst>
                    <a:ext uri="{A12FA001-AC4F-418D-AE19-62706E023703}">
                      <ahyp:hlinkClr xmlns:ahyp="http://schemas.microsoft.com/office/drawing/2018/hyperlinkcolor" val="tx"/>
                    </a:ext>
                  </a:extLst>
                </a:hlinkClick>
              </a:rPr>
              <a:t>aka.ms/</a:t>
            </a:r>
            <a:r>
              <a:rPr lang="en-US" sz="2400" err="1">
                <a:solidFill>
                  <a:schemeClr val="accent3"/>
                </a:solidFill>
                <a:ea typeface="+mn-lt"/>
                <a:cs typeface="+mn-lt"/>
                <a:hlinkClick r:id="rId4">
                  <a:extLst>
                    <a:ext uri="{A12FA001-AC4F-418D-AE19-62706E023703}">
                      <ahyp:hlinkClr xmlns:ahyp="http://schemas.microsoft.com/office/drawing/2018/hyperlinkcolor" val="tx"/>
                    </a:ext>
                  </a:extLst>
                </a:hlinkClick>
              </a:rPr>
              <a:t>AIWebinars</a:t>
            </a:r>
            <a:r>
              <a:rPr lang="en-US" sz="2400">
                <a:solidFill>
                  <a:schemeClr val="accent3"/>
                </a:solidFill>
                <a:ea typeface="+mn-lt"/>
                <a:cs typeface="+mn-lt"/>
                <a:hlinkClick r:id="rId4">
                  <a:extLst>
                    <a:ext uri="{A12FA001-AC4F-418D-AE19-62706E023703}">
                      <ahyp:hlinkClr xmlns:ahyp="http://schemas.microsoft.com/office/drawing/2018/hyperlinkcolor" val="tx"/>
                    </a:ext>
                  </a:extLst>
                </a:hlinkClick>
              </a:rPr>
              <a:t>/Feedback</a:t>
            </a:r>
            <a:endParaRPr lang="en-US" sz="2400">
              <a:solidFill>
                <a:schemeClr val="accent3"/>
              </a:solidFill>
              <a:hlinkClick r:id="rId5">
                <a:extLst>
                  <a:ext uri="{A12FA001-AC4F-418D-AE19-62706E023703}">
                    <ahyp:hlinkClr xmlns:ahyp="http://schemas.microsoft.com/office/drawing/2018/hyperlinkcolor" val="tx"/>
                  </a:ext>
                </a:extLst>
              </a:hlinkClick>
            </a:endParaRPr>
          </a:p>
        </p:txBody>
      </p:sp>
      <p:pic>
        <p:nvPicPr>
          <p:cNvPr id="7" name="Picture 6">
            <a:extLst>
              <a:ext uri="{FF2B5EF4-FFF2-40B4-BE49-F238E27FC236}">
                <a16:creationId xmlns:a16="http://schemas.microsoft.com/office/drawing/2014/main" id="{48C99A9D-FB42-3B38-2EE3-08E158913D13}"/>
              </a:ext>
            </a:extLst>
          </p:cNvPr>
          <p:cNvPicPr>
            <a:picLocks noChangeAspect="1"/>
          </p:cNvPicPr>
          <p:nvPr/>
        </p:nvPicPr>
        <p:blipFill>
          <a:blip r:embed="rId6"/>
          <a:stretch>
            <a:fillRect/>
          </a:stretch>
        </p:blipFill>
        <p:spPr>
          <a:xfrm>
            <a:off x="9675054" y="4657993"/>
            <a:ext cx="1744733" cy="1761271"/>
          </a:xfrm>
          <a:prstGeom prst="rect">
            <a:avLst/>
          </a:prstGeom>
        </p:spPr>
      </p:pic>
      <p:sp>
        <p:nvSpPr>
          <p:cNvPr id="3" name="TextBox">
            <a:extLst>
              <a:ext uri="{FF2B5EF4-FFF2-40B4-BE49-F238E27FC236}">
                <a16:creationId xmlns:a16="http://schemas.microsoft.com/office/drawing/2014/main" id="{3319A0A8-5495-117A-7513-40ABA0224CE6}"/>
              </a:ext>
            </a:extLst>
          </p:cNvPr>
          <p:cNvSpPr txBox="1"/>
          <p:nvPr/>
        </p:nvSpPr>
        <p:spPr>
          <a:xfrm>
            <a:off x="570165" y="623401"/>
            <a:ext cx="11018520" cy="16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FFFFFF"/>
                </a:solidFill>
                <a:effectLst/>
                <a:uLnTx/>
                <a:uFillTx/>
                <a:latin typeface="Segoe UI"/>
                <a:ea typeface="+mn-ea"/>
                <a:cs typeface="Segoe UI"/>
              </a:rPr>
              <a:t>Q&amp;A</a:t>
            </a:r>
          </a:p>
        </p:txBody>
      </p:sp>
      <p:sp>
        <p:nvSpPr>
          <p:cNvPr id="6" name="TextBox">
            <a:extLst>
              <a:ext uri="{FF2B5EF4-FFF2-40B4-BE49-F238E27FC236}">
                <a16:creationId xmlns:a16="http://schemas.microsoft.com/office/drawing/2014/main" id="{1FAB9532-6FE0-99DE-1228-23B33FD54786}"/>
              </a:ext>
            </a:extLst>
          </p:cNvPr>
          <p:cNvSpPr txBox="1"/>
          <p:nvPr/>
        </p:nvSpPr>
        <p:spPr>
          <a:xfrm>
            <a:off x="586740" y="1397615"/>
            <a:ext cx="11018520" cy="5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B6C4D2"/>
                </a:solidFill>
                <a:effectLst/>
                <a:uLnTx/>
                <a:uFillTx/>
                <a:latin typeface="Segoe UI"/>
                <a:ea typeface="+mn-ea"/>
                <a:cs typeface="Segoe UI"/>
              </a:rPr>
              <a:t>What would you like to dig into?</a:t>
            </a:r>
          </a:p>
        </p:txBody>
      </p:sp>
      <p:cxnSp>
        <p:nvCxnSpPr>
          <p:cNvPr id="8" name="Line">
            <a:extLst>
              <a:ext uri="{FF2B5EF4-FFF2-40B4-BE49-F238E27FC236}">
                <a16:creationId xmlns:a16="http://schemas.microsoft.com/office/drawing/2014/main" id="{D521AECA-938E-F8E3-1BCD-0A906A592B92}"/>
              </a:ext>
            </a:extLst>
          </p:cNvPr>
          <p:cNvCxnSpPr/>
          <p:nvPr/>
        </p:nvCxnSpPr>
        <p:spPr>
          <a:xfrm>
            <a:off x="586740" y="2123401"/>
            <a:ext cx="500000" cy="0"/>
          </a:xfrm>
          <a:prstGeom prst="line">
            <a:avLst/>
          </a:prstGeom>
          <a:ln w="20000">
            <a:solidFill>
              <a:srgbClr val="449CD6"/>
            </a:solidFill>
          </a:ln>
        </p:spPr>
      </p:cxnSp>
      <p:sp>
        <p:nvSpPr>
          <p:cNvPr id="9" name="TextBox">
            <a:extLst>
              <a:ext uri="{FF2B5EF4-FFF2-40B4-BE49-F238E27FC236}">
                <a16:creationId xmlns:a16="http://schemas.microsoft.com/office/drawing/2014/main" id="{FC1B9C2A-D300-D9F1-70A6-ABF4E9E1A7F9}"/>
              </a:ext>
            </a:extLst>
          </p:cNvPr>
          <p:cNvSpPr txBox="1"/>
          <p:nvPr/>
        </p:nvSpPr>
        <p:spPr>
          <a:xfrm>
            <a:off x="586740" y="2223401"/>
            <a:ext cx="3500000" cy="8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a:ea typeface="+mn-ea"/>
                <a:cs typeface="Segoe UI"/>
              </a:rPr>
              <a:t>Auth &amp; identity in your tenant</a:t>
            </a:r>
          </a:p>
        </p:txBody>
      </p:sp>
      <p:cxnSp>
        <p:nvCxnSpPr>
          <p:cNvPr id="10" name="Line">
            <a:extLst>
              <a:ext uri="{FF2B5EF4-FFF2-40B4-BE49-F238E27FC236}">
                <a16:creationId xmlns:a16="http://schemas.microsoft.com/office/drawing/2014/main" id="{F7240000-F138-3E85-1B9C-ECBD12BB26D1}"/>
              </a:ext>
            </a:extLst>
          </p:cNvPr>
          <p:cNvCxnSpPr/>
          <p:nvPr/>
        </p:nvCxnSpPr>
        <p:spPr>
          <a:xfrm>
            <a:off x="4400000" y="2123401"/>
            <a:ext cx="500000" cy="0"/>
          </a:xfrm>
          <a:prstGeom prst="line">
            <a:avLst/>
          </a:prstGeom>
          <a:ln w="20000">
            <a:solidFill>
              <a:srgbClr val="449CD6"/>
            </a:solidFill>
          </a:ln>
        </p:spPr>
      </p:cxnSp>
      <p:sp>
        <p:nvSpPr>
          <p:cNvPr id="11" name="TextBox">
            <a:extLst>
              <a:ext uri="{FF2B5EF4-FFF2-40B4-BE49-F238E27FC236}">
                <a16:creationId xmlns:a16="http://schemas.microsoft.com/office/drawing/2014/main" id="{70FF42BF-1716-2BA6-9249-998C27D16149}"/>
              </a:ext>
            </a:extLst>
          </p:cNvPr>
          <p:cNvSpPr txBox="1"/>
          <p:nvPr/>
        </p:nvSpPr>
        <p:spPr>
          <a:xfrm>
            <a:off x="4400000" y="2223401"/>
            <a:ext cx="3500000" cy="8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a:ea typeface="+mn-ea"/>
                <a:cs typeface="Segoe UI"/>
              </a:rPr>
              <a:t>Adapting a different AI agent</a:t>
            </a:r>
          </a:p>
        </p:txBody>
      </p:sp>
      <p:cxnSp>
        <p:nvCxnSpPr>
          <p:cNvPr id="12" name="Line">
            <a:extLst>
              <a:ext uri="{FF2B5EF4-FFF2-40B4-BE49-F238E27FC236}">
                <a16:creationId xmlns:a16="http://schemas.microsoft.com/office/drawing/2014/main" id="{F52D3294-0708-E517-A882-E34BA0682285}"/>
              </a:ext>
            </a:extLst>
          </p:cNvPr>
          <p:cNvCxnSpPr/>
          <p:nvPr/>
        </p:nvCxnSpPr>
        <p:spPr>
          <a:xfrm>
            <a:off x="8200000" y="2123401"/>
            <a:ext cx="500000" cy="0"/>
          </a:xfrm>
          <a:prstGeom prst="line">
            <a:avLst/>
          </a:prstGeom>
          <a:ln w="20000">
            <a:solidFill>
              <a:srgbClr val="449CD6"/>
            </a:solidFill>
          </a:ln>
        </p:spPr>
      </p:cxnSp>
      <p:sp>
        <p:nvSpPr>
          <p:cNvPr id="13" name="TextBox">
            <a:extLst>
              <a:ext uri="{FF2B5EF4-FFF2-40B4-BE49-F238E27FC236}">
                <a16:creationId xmlns:a16="http://schemas.microsoft.com/office/drawing/2014/main" id="{750B1336-AD75-25DA-643B-295AE151BA97}"/>
              </a:ext>
            </a:extLst>
          </p:cNvPr>
          <p:cNvSpPr txBox="1"/>
          <p:nvPr/>
        </p:nvSpPr>
        <p:spPr>
          <a:xfrm>
            <a:off x="8200000" y="2223401"/>
            <a:ext cx="3500000" cy="800000"/>
          </a:xfrm>
          <a:prstGeom prst="rect">
            <a:avLst/>
          </a:prstGeom>
          <a:noFill/>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Segoe UI"/>
                <a:ea typeface="+mn-ea"/>
                <a:cs typeface="Segoe UI"/>
              </a:rPr>
              <a:t>Deployment &amp; production rollouts</a:t>
            </a:r>
          </a:p>
        </p:txBody>
      </p:sp>
    </p:spTree>
    <p:extLst>
      <p:ext uri="{BB962C8B-B14F-4D97-AF65-F5344CB8AC3E}">
        <p14:creationId xmlns:p14="http://schemas.microsoft.com/office/powerpoint/2010/main" val="4257144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5" presetClass="emph" presetSubtype="1" repeatCount="2000" fill="hold" nodeType="withEffect">
                                  <p:stCondLst>
                                    <p:cond delay="0"/>
                                  </p:stCondLst>
                                  <p:childTnLst>
                                    <p:anim calcmode="lin" valueType="num">
                                      <p:cBhvr>
                                        <p:cTn id="6" dur="4800" fill="hold"/>
                                        <p:tgtEl>
                                          <p:spTgt spid="2"/>
                                        </p:tgtEl>
                                        <p:attrNameLst>
                                          <p:attrName>embedded6</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S Ignite 16:9 Template Dark">
  <a:themeElements>
    <a:clrScheme name="Custom 16">
      <a:dk1>
        <a:srgbClr val="091F2C"/>
      </a:dk1>
      <a:lt1>
        <a:srgbClr val="FFFFFF"/>
      </a:lt1>
      <a:dk2>
        <a:srgbClr val="2A446F"/>
      </a:dk2>
      <a:lt2>
        <a:srgbClr val="E8E6DF"/>
      </a:lt2>
      <a:accent1>
        <a:srgbClr val="8661C5"/>
      </a:accent1>
      <a:accent2>
        <a:srgbClr val="8DE971"/>
      </a:accent2>
      <a:accent3>
        <a:srgbClr val="0078D4"/>
      </a:accent3>
      <a:accent4>
        <a:srgbClr val="D7D2CB"/>
      </a:accent4>
      <a:accent5>
        <a:srgbClr val="FFE399"/>
      </a:accent5>
      <a:accent6>
        <a:srgbClr val="D2D2D2"/>
      </a:accent6>
      <a:hlink>
        <a:srgbClr val="D59ED7"/>
      </a:hlink>
      <a:folHlink>
        <a:srgbClr val="D59ED7"/>
      </a:folHlink>
    </a:clrScheme>
    <a:fontScheme name="Custom 3">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S_Ignite_2024_16-9 Event-template.potx  -  Last saved by user" id="{25E4B35E-646D-4F3A-8D0B-C2BDF548142B}" vid="{8A17B14A-69D5-4F26-BC7B-8547BA50C10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ikesCount xmlns="http://schemas.microsoft.com/sharepoint/v3" xsi:nil="true"/>
    <Ratings xmlns="http://schemas.microsoft.com/sharepoint/v3" xsi:nil="true"/>
    <lcf76f155ced4ddcb4097134ff3c332f xmlns="5164c192-e522-4d89-a5bb-3cb209f039bd">
      <Terms xmlns="http://schemas.microsoft.com/office/infopath/2007/PartnerControls"/>
    </lcf76f155ced4ddcb4097134ff3c332f>
    <MediaServiceKeyPoints xmlns="5164c192-e522-4d89-a5bb-3cb209f039bd" xsi:nil="true"/>
    <_ip_UnifiedCompliancePolicyProperties xmlns="http://schemas.microsoft.com/sharepoint/v3" xsi:nil="true"/>
    <LikedBy xmlns="http://schemas.microsoft.com/sharepoint/v3">
      <UserInfo>
        <DisplayName/>
        <AccountId xsi:nil="true"/>
        <AccountType/>
      </UserInfo>
    </LikedBy>
    <Reviewcomments xmlns="5164c192-e522-4d89-a5bb-3cb209f039bd" xsi:nil="true"/>
    <Adoptionpillar xmlns="5164c192-e522-4d89-a5bb-3cb209f039bd" xsi:nil="true"/>
    <TaxCatchAll xmlns="230e9df3-be65-4c73-a93b-d1236ebd677e" xsi:nil="true"/>
    <Contentstatus xmlns="5164c192-e522-4d89-a5bb-3cb209f039bd" xsi:nil="true"/>
    <RatedBy xmlns="http://schemas.microsoft.com/sharepoint/v3">
      <UserInfo>
        <DisplayName/>
        <AccountId xsi:nil="true"/>
        <AccountType/>
      </UserInfo>
    </RatedBy>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E1CA5C76A3A7148B502CA3C69F4C903" ma:contentTypeVersion="49" ma:contentTypeDescription="Create a new document." ma:contentTypeScope="" ma:versionID="5152b36f9bf3cb7d8e24c04152519100">
  <xsd:schema xmlns:xsd="http://www.w3.org/2001/XMLSchema" xmlns:xs="http://www.w3.org/2001/XMLSchema" xmlns:p="http://schemas.microsoft.com/office/2006/metadata/properties" xmlns:ns1="http://schemas.microsoft.com/sharepoint/v3" xmlns:ns2="5164c192-e522-4d89-a5bb-3cb209f039bd" xmlns:ns3="f5d7644a-4532-4813-a815-b54215be4a0c" xmlns:ns4="230e9df3-be65-4c73-a93b-d1236ebd677e" targetNamespace="http://schemas.microsoft.com/office/2006/metadata/properties" ma:root="true" ma:fieldsID="ea460b29a5c70aa0d08619641dff3750" ns1:_="" ns2:_="" ns3:_="" ns4:_="">
    <xsd:import namespace="http://schemas.microsoft.com/sharepoint/v3"/>
    <xsd:import namespace="5164c192-e522-4d89-a5bb-3cb209f039bd"/>
    <xsd:import namespace="f5d7644a-4532-4813-a815-b54215be4a0c"/>
    <xsd:import namespace="230e9df3-be65-4c73-a93b-d1236ebd677e"/>
    <xsd:element name="properties">
      <xsd:complexType>
        <xsd:sequence>
          <xsd:element name="documentManagement">
            <xsd:complexType>
              <xsd:all>
                <xsd:element ref="ns2:MediaServiceKeyPoints" minOccurs="0"/>
                <xsd:element ref="ns3:SharedWithUsers" minOccurs="0"/>
                <xsd:element ref="ns3:SharedWithDetails" minOccurs="0"/>
                <xsd:element ref="ns3:LastSharedByUser" minOccurs="0"/>
                <xsd:element ref="ns3:LastSharedByTime" minOccurs="0"/>
                <xsd:element ref="ns2:MediaServiceMetadata" minOccurs="0"/>
                <xsd:element ref="ns2:MediaServiceFastMetadata" minOccurs="0"/>
                <xsd:element ref="ns2:MediaServiceAutoTags" minOccurs="0"/>
                <xsd:element ref="ns2:MediaServiceDateTaken" minOccurs="0"/>
                <xsd:element ref="ns2:MediaServiceLocation" minOccurs="0"/>
                <xsd:element ref="ns2:MediaServiceOCR" minOccurs="0"/>
                <xsd:element ref="ns2:MediaServiceEventHashCode" minOccurs="0"/>
                <xsd:element ref="ns2:MediaServiceGenerationTime" minOccurs="0"/>
                <xsd:element ref="ns1:_ip_UnifiedCompliancePolicyProperties" minOccurs="0"/>
                <xsd:element ref="ns1:_ip_UnifiedCompliancePolicyUIAction" minOccurs="0"/>
                <xsd:element ref="ns2:MediaServiceAutoKeyPoints" minOccurs="0"/>
                <xsd:element ref="ns2:MediaLengthInSeconds" minOccurs="0"/>
                <xsd:element ref="ns2:lcf76f155ced4ddcb4097134ff3c332f" minOccurs="0"/>
                <xsd:element ref="ns4:TaxCatchAll" minOccurs="0"/>
                <xsd:element ref="ns2:MediaServiceSearchProperties" minOccurs="0"/>
                <xsd:element ref="ns2:MediaServiceDocTags" minOccurs="0"/>
                <xsd:element ref="ns2:MediaServiceObjectDetectorVersions" minOccurs="0"/>
                <xsd:element ref="ns2:MediaServiceSystemTags" minOccurs="0"/>
                <xsd:element ref="ns1:AverageRating" minOccurs="0"/>
                <xsd:element ref="ns1:RatingCount" minOccurs="0"/>
                <xsd:element ref="ns1:RatedBy" minOccurs="0"/>
                <xsd:element ref="ns1:Ratings" minOccurs="0"/>
                <xsd:element ref="ns1:LikesCount" minOccurs="0"/>
                <xsd:element ref="ns1:LikedBy" minOccurs="0"/>
                <xsd:element ref="ns2:MediaServiceBillingMetadata" minOccurs="0"/>
                <xsd:element ref="ns2:Adoptionpillar" minOccurs="0"/>
                <xsd:element ref="ns2:Contentstatus" minOccurs="0"/>
                <xsd:element ref="ns2:Reviewcomme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ma:readOnly="false">
      <xsd:simpleType>
        <xsd:restriction base="dms:Note"/>
      </xsd:simpleType>
    </xsd:element>
    <xsd:element name="_ip_UnifiedCompliancePolicyUIAction" ma:index="19" nillable="true" ma:displayName="Unified Compliance Policy UI Action" ma:hidden="true" ma:internalName="_ip_UnifiedCompliancePolicyUIAction" ma:readOnly="false">
      <xsd:simpleType>
        <xsd:restriction base="dms:Text"/>
      </xsd:simpleType>
    </xsd:element>
    <xsd:element name="AverageRating" ma:index="32" nillable="true" ma:displayName="Rating (0-5)" ma:decimals="2" ma:description="Average value of all the ratings that have been submitted" ma:internalName="AverageRating" ma:readOnly="true">
      <xsd:simpleType>
        <xsd:restriction base="dms:Number"/>
      </xsd:simpleType>
    </xsd:element>
    <xsd:element name="RatingCount" ma:index="33" nillable="true" ma:displayName="Number of Ratings" ma:decimals="0" ma:description="Number of ratings submitted" ma:internalName="RatingCount" ma:readOnly="true">
      <xsd:simpleType>
        <xsd:restriction base="dms:Number"/>
      </xsd:simpleType>
    </xsd:element>
    <xsd:element name="RatedBy" ma:index="34"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35" nillable="true" ma:displayName="User ratings" ma:description="User ratings for the item" ma:hidden="true" ma:internalName="Ratings">
      <xsd:simpleType>
        <xsd:restriction base="dms:Note"/>
      </xsd:simpleType>
    </xsd:element>
    <xsd:element name="LikesCount" ma:index="36" nillable="true" ma:displayName="Number of Likes" ma:internalName="LikesCount">
      <xsd:simpleType>
        <xsd:restriction base="dms:Unknown"/>
      </xsd:simpleType>
    </xsd:element>
    <xsd:element name="LikedBy" ma:index="37"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164c192-e522-4d89-a5bb-3cb209f039bd" elementFormDefault="qualified">
    <xsd:import namespace="http://schemas.microsoft.com/office/2006/documentManagement/types"/>
    <xsd:import namespace="http://schemas.microsoft.com/office/infopath/2007/PartnerControls"/>
    <xsd:element name="MediaServiceKeyPoints" ma:index="2" nillable="true" ma:displayName="KeyPoints" ma:internalName="MediaServiceKeyPoints" ma:readOnly="false">
      <xsd:simpleType>
        <xsd:restriction base="dms:Note">
          <xsd:maxLength value="255"/>
        </xsd:restriction>
      </xsd:simpleType>
    </xsd:element>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AutoTags" ma:index="12" nillable="true" ma:displayName="MediaServiceAutoTags" ma:description="" ma:hidden="true" ma:internalName="MediaServiceAutoTags" ma:readOnly="true">
      <xsd:simpleType>
        <xsd:restriction base="dms:Text"/>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Location" ma:index="14" nillable="true" ma:displayName="MediaServiceLocation" ma:description="" ma:hidden="true" ma:internalName="MediaServiceLocation" ma:readOnly="true">
      <xsd:simpleType>
        <xsd:restriction base="dms:Text"/>
      </xsd:simpleType>
    </xsd:element>
    <xsd:element name="MediaServiceOCR" ma:index="15" nillable="true" ma:displayName="MediaServiceOCR" ma:hidden="true" ma:internalName="MediaServiceOCR" ma:readOnly="true">
      <xsd:simpleType>
        <xsd:restriction base="dms:Note"/>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LengthInSeconds" ma:index="22" nillable="true" ma:displayName="Length (seconds)" ma:hidden="true"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DocTags" ma:index="29" nillable="true" ma:displayName="MediaServiceDocTags" ma:hidden="true" ma:internalName="MediaServiceDocTags" ma:readOnly="true">
      <xsd:simpleType>
        <xsd:restriction base="dms:Note"/>
      </xsd:simpleType>
    </xsd:element>
    <xsd:element name="MediaServiceObjectDetectorVersions" ma:index="30" nillable="true" ma:displayName="MediaServiceObjectDetectorVersions" ma:hidden="true" ma:indexed="true" ma:internalName="MediaServiceObjectDetectorVersions" ma:readOnly="true">
      <xsd:simpleType>
        <xsd:restriction base="dms:Text"/>
      </xsd:simpleType>
    </xsd:element>
    <xsd:element name="MediaServiceSystemTags" ma:index="31" nillable="true" ma:displayName="MediaServiceSystemTags" ma:hidden="true" ma:internalName="MediaServiceSystemTags" ma:readOnly="true">
      <xsd:simpleType>
        <xsd:restriction base="dms:Note"/>
      </xsd:simpleType>
    </xsd:element>
    <xsd:element name="MediaServiceBillingMetadata" ma:index="38" nillable="true" ma:displayName="MediaServiceBillingMetadata" ma:hidden="true" ma:internalName="MediaServiceBillingMetadata" ma:readOnly="true">
      <xsd:simpleType>
        <xsd:restriction base="dms:Text"/>
      </xsd:simpleType>
    </xsd:element>
    <xsd:element name="Adoptionpillar" ma:index="39" nillable="true" ma:displayName="Adoption pillar" ma:format="Dropdown" ma:internalName="Adoptionpillar">
      <xsd:simpleType>
        <xsd:restriction base="dms:Choice">
          <xsd:enumeration value="Strategy"/>
          <xsd:enumeration value="Plan"/>
          <xsd:enumeration value="Secure"/>
          <xsd:enumeration value="Govern"/>
          <xsd:enumeration value="Operate"/>
          <xsd:enumeration value="Ready"/>
          <xsd:enumeration value="Nurture"/>
        </xsd:restriction>
      </xsd:simpleType>
    </xsd:element>
    <xsd:element name="Contentstatus" ma:index="40" nillable="true" ma:displayName="Content status" ma:format="Dropdown" ma:internalName="Contentstatus">
      <xsd:simpleType>
        <xsd:restriction base="dms:Choice">
          <xsd:enumeration value="Keep"/>
          <xsd:enumeration value="Revise"/>
          <xsd:enumeration value="Retire"/>
        </xsd:restriction>
      </xsd:simpleType>
    </xsd:element>
    <xsd:element name="Reviewcomments" ma:index="41" nillable="true" ma:displayName="Review comments" ma:format="Dropdown" ma:internalName="Reviewcomment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5d7644a-4532-4813-a815-b54215be4a0c" elementFormDefault="qualified">
    <xsd:import namespace="http://schemas.microsoft.com/office/2006/documentManagement/types"/>
    <xsd:import namespace="http://schemas.microsoft.com/office/infopath/2007/PartnerControls"/>
    <xsd:element name="SharedWithUsers" ma:index="6" nillable="true" ma:displayName="Shared With" ma:description=""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7" nillable="true" ma:displayName="Shared With Details" ma:description="" ma:hidden="true" ma:internalName="SharedWithDetails" ma:readOnly="true">
      <xsd:simpleType>
        <xsd:restriction base="dms:Note"/>
      </xsd:simpleType>
    </xsd:element>
    <xsd:element name="LastSharedByUser" ma:index="8" nillable="true" ma:displayName="Last Shared By User" ma:description="" ma:hidden="true" ma:internalName="LastSharedByUser" ma:readOnly="true">
      <xsd:simpleType>
        <xsd:restriction base="dms:Note"/>
      </xsd:simpleType>
    </xsd:element>
    <xsd:element name="LastSharedByTime" ma:index="9" nillable="true" ma:displayName="Last Shared By Time" ma:description="" ma:hidden="true"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54b3b5bf-8119-46f1-8c02-b8499b97b8f8}" ma:internalName="TaxCatchAll" ma:readOnly="false" ma:showField="CatchAllData" ma:web="f5d7644a-4532-4813-a815-b54215be4a0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A389F3-58D6-47CB-9251-44029C94066F}">
  <ds:schemaRefs>
    <ds:schemaRef ds:uri="http://schemas.microsoft.com/office/2006/metadata/properties"/>
    <ds:schemaRef ds:uri="http://schemas.microsoft.com/office/infopath/2007/PartnerControls"/>
    <ds:schemaRef ds:uri="http://schemas.microsoft.com/sharepoint/v3"/>
    <ds:schemaRef ds:uri="5164c192-e522-4d89-a5bb-3cb209f039bd"/>
    <ds:schemaRef ds:uri="230e9df3-be65-4c73-a93b-d1236ebd677e"/>
  </ds:schemaRefs>
</ds:datastoreItem>
</file>

<file path=customXml/itemProps2.xml><?xml version="1.0" encoding="utf-8"?>
<ds:datastoreItem xmlns:ds="http://schemas.openxmlformats.org/officeDocument/2006/customXml" ds:itemID="{92ED237B-18A7-4A72-870A-3BB9B445776D}">
  <ds:schemaRefs>
    <ds:schemaRef ds:uri="http://schemas.microsoft.com/sharepoint/v3/contenttype/forms"/>
  </ds:schemaRefs>
</ds:datastoreItem>
</file>

<file path=customXml/itemProps3.xml><?xml version="1.0" encoding="utf-8"?>
<ds:datastoreItem xmlns:ds="http://schemas.openxmlformats.org/officeDocument/2006/customXml" ds:itemID="{207B37B4-737D-4D83-9933-7890870572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164c192-e522-4d89-a5bb-3cb209f039bd"/>
    <ds:schemaRef ds:uri="f5d7644a-4532-4813-a815-b54215be4a0c"/>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18</Slides>
  <Notes>0</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MS Ignite 16:9 Template Dark</vt:lpstr>
      <vt:lpstr>PowerPoint Presentation</vt:lpstr>
      <vt:lpstr>Meet your host and speakers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Please provide your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cp:revision>
  <dcterms:created xsi:type="dcterms:W3CDTF">2025-02-03T19:51:22Z</dcterms:created>
  <dcterms:modified xsi:type="dcterms:W3CDTF">2026-06-01T21:38:42Z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0x0101008E1CA5C76A3A7148B502CA3C69F4C903</vt:lpwstr>
  </property>
  <property fmtid="{D5CDD505-2E9C-101B-9397-08002B2CF9AE}" pid="3" name="MediaServiceImageTags">
    <vt:lpwstr/>
  </property>
</Properties>
</file>