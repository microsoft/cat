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 id="2147483663" r:id="rId6"/>
  </p:sldMasterIdLst>
  <p:sldIdLst>
    <p:sldId id="2147483644" r:id="rId7"/>
    <p:sldId id="2147482365" r:id="rId8"/>
    <p:sldId id="2147482364" r:id="rId9"/>
    <p:sldId id="2147482354" r:id="rId10"/>
    <p:sldId id="2147482362" r:id="rId11"/>
    <p:sldId id="2147482369" r:id="rId12"/>
    <p:sldId id="2147482357" r:id="rId13"/>
    <p:sldId id="2147482368" r:id="rId14"/>
    <p:sldId id="2147482353" r:id="rId15"/>
    <p:sldId id="2147482360" r:id="rId16"/>
    <p:sldId id="2147483647" r:id="rId17"/>
    <p:sldId id="2147482361" r:id="rId18"/>
    <p:sldId id="2147482363" r:id="rId19"/>
    <p:sldId id="325" r:id="rId20"/>
    <p:sldId id="2146846496" r:id="rId21"/>
    <p:sldId id="257" r:id="rId22"/>
    <p:sldId id="2146846502" r:id="rId23"/>
    <p:sldId id="259" r:id="rId24"/>
    <p:sldId id="260" r:id="rId25"/>
    <p:sldId id="26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EC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72" y="9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3.xml"/><Relationship Id="rId5" Type="http://schemas.openxmlformats.org/officeDocument/2006/relationships/image" Target="../media/image6.svg"/><Relationship Id="rId4"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mpletely blank">
  <p:cSld name="Completely blank">
    <p:spTree>
      <p:nvGrpSpPr>
        <p:cNvPr id="1" name="Shape 65"/>
        <p:cNvGrpSpPr/>
        <p:nvPr/>
      </p:nvGrpSpPr>
      <p:grpSpPr>
        <a:xfrm>
          <a:off x="0" y="0"/>
          <a:ext cx="0" cy="0"/>
          <a:chOff x="0" y="0"/>
          <a:chExt cx="0" cy="0"/>
        </a:xfrm>
      </p:grpSpPr>
      <p:sp>
        <p:nvSpPr>
          <p:cNvPr id="66" name="Google Shape;66;p11"/>
          <p:cNvSpPr txBox="1">
            <a:spLocks noGrp="1"/>
          </p:cNvSpPr>
          <p:nvPr>
            <p:ph type="sldNum" idx="12"/>
          </p:nvPr>
        </p:nvSpPr>
        <p:spPr>
          <a:xfrm>
            <a:off x="11390969" y="6333135"/>
            <a:ext cx="7316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57669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21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pic>
        <p:nvPicPr>
          <p:cNvPr id="6" name="Image 22" descr="Une image contenant capture d’écran, Graphique, noir, conception&#10;&#10;Description générée automatiquement">
            <a:extLst>
              <a:ext uri="{FF2B5EF4-FFF2-40B4-BE49-F238E27FC236}">
                <a16:creationId xmlns:a16="http://schemas.microsoft.com/office/drawing/2014/main" id="{F440FCB3-ECF5-52A2-C75D-DA911BBEAE97}"/>
              </a:ext>
            </a:extLst>
          </p:cNvPr>
          <p:cNvPicPr>
            <a:picLocks noChangeAspect="1"/>
          </p:cNvPicPr>
          <p:nvPr userDrawn="1"/>
        </p:nvPicPr>
        <p:blipFill>
          <a:blip r:embed="rId2">
            <a:alphaModFix amt="3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flipH="1">
            <a:off x="0" y="0"/>
            <a:ext cx="6197600" cy="6858000"/>
          </a:xfrm>
          <a:prstGeom prst="rect">
            <a:avLst/>
          </a:prstGeom>
        </p:spPr>
      </p:pic>
      <p:cxnSp>
        <p:nvCxnSpPr>
          <p:cNvPr id="7" name="Connecteur droit 21">
            <a:extLst>
              <a:ext uri="{FF2B5EF4-FFF2-40B4-BE49-F238E27FC236}">
                <a16:creationId xmlns:a16="http://schemas.microsoft.com/office/drawing/2014/main" id="{8F8B7ACC-CA50-BF7A-1DE2-BBA9A505FD5E}"/>
              </a:ext>
            </a:extLst>
          </p:cNvPr>
          <p:cNvCxnSpPr>
            <a:cxnSpLocks/>
          </p:cNvCxnSpPr>
          <p:nvPr userDrawn="1"/>
        </p:nvCxnSpPr>
        <p:spPr>
          <a:xfrm>
            <a:off x="11609388" y="6381328"/>
            <a:ext cx="0" cy="476672"/>
          </a:xfrm>
          <a:prstGeom prst="line">
            <a:avLst/>
          </a:prstGeom>
          <a:ln w="12700">
            <a:solidFill>
              <a:schemeClr val="tx1">
                <a:lumMod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 name="Image 20">
            <a:extLst>
              <a:ext uri="{FF2B5EF4-FFF2-40B4-BE49-F238E27FC236}">
                <a16:creationId xmlns:a16="http://schemas.microsoft.com/office/drawing/2014/main" id="{DA30B6C4-9C39-0A86-3056-CE1B7099E2B1}"/>
              </a:ext>
            </a:extLst>
          </p:cNvPr>
          <p:cNvPicPr>
            <a:picLocks noChangeAspect="1"/>
          </p:cNvPicPr>
          <p:nvPr userDrawn="1"/>
        </p:nvPicPr>
        <p:blipFill rotWithShape="1">
          <a:blip r:embed="rId4"/>
          <a:srcRect l="-3741" t="-20759" r="52945" b="-5827"/>
          <a:stretch/>
        </p:blipFill>
        <p:spPr>
          <a:xfrm>
            <a:off x="11736000" y="6443999"/>
            <a:ext cx="360000" cy="288000"/>
          </a:xfrm>
          <a:prstGeom prst="rect">
            <a:avLst/>
          </a:prstGeom>
        </p:spPr>
      </p:pic>
      <p:sp>
        <p:nvSpPr>
          <p:cNvPr id="2" name="Title 2">
            <a:extLst>
              <a:ext uri="{FF2B5EF4-FFF2-40B4-BE49-F238E27FC236}">
                <a16:creationId xmlns:a16="http://schemas.microsoft.com/office/drawing/2014/main" id="{132267ED-95CF-B057-E4EC-D5AE00D2748C}"/>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Tree>
    <p:extLst>
      <p:ext uri="{BB962C8B-B14F-4D97-AF65-F5344CB8AC3E}">
        <p14:creationId xmlns:p14="http://schemas.microsoft.com/office/powerpoint/2010/main" val="10992344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cxnSp>
        <p:nvCxnSpPr>
          <p:cNvPr id="7" name="Connecteur droit 21">
            <a:extLst>
              <a:ext uri="{FF2B5EF4-FFF2-40B4-BE49-F238E27FC236}">
                <a16:creationId xmlns:a16="http://schemas.microsoft.com/office/drawing/2014/main" id="{8F8B7ACC-CA50-BF7A-1DE2-BBA9A505FD5E}"/>
              </a:ext>
            </a:extLst>
          </p:cNvPr>
          <p:cNvCxnSpPr>
            <a:cxnSpLocks/>
          </p:cNvCxnSpPr>
          <p:nvPr userDrawn="1"/>
        </p:nvCxnSpPr>
        <p:spPr>
          <a:xfrm>
            <a:off x="11609388" y="6381328"/>
            <a:ext cx="0" cy="476672"/>
          </a:xfrm>
          <a:prstGeom prst="line">
            <a:avLst/>
          </a:prstGeom>
          <a:ln w="12700">
            <a:solidFill>
              <a:schemeClr val="tx1">
                <a:lumMod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 name="Image 20">
            <a:extLst>
              <a:ext uri="{FF2B5EF4-FFF2-40B4-BE49-F238E27FC236}">
                <a16:creationId xmlns:a16="http://schemas.microsoft.com/office/drawing/2014/main" id="{DA30B6C4-9C39-0A86-3056-CE1B7099E2B1}"/>
              </a:ext>
            </a:extLst>
          </p:cNvPr>
          <p:cNvPicPr>
            <a:picLocks noChangeAspect="1"/>
          </p:cNvPicPr>
          <p:nvPr userDrawn="1"/>
        </p:nvPicPr>
        <p:blipFill rotWithShape="1">
          <a:blip r:embed="rId2"/>
          <a:srcRect l="-3741" t="-20759" r="52945" b="-5827"/>
          <a:stretch/>
        </p:blipFill>
        <p:spPr>
          <a:xfrm>
            <a:off x="11736000" y="6443999"/>
            <a:ext cx="360000" cy="288000"/>
          </a:xfrm>
          <a:prstGeom prst="rect">
            <a:avLst/>
          </a:prstGeom>
        </p:spPr>
      </p:pic>
      <p:pic>
        <p:nvPicPr>
          <p:cNvPr id="2" name="Picture 1">
            <a:extLst>
              <a:ext uri="{FF2B5EF4-FFF2-40B4-BE49-F238E27FC236}">
                <a16:creationId xmlns:a16="http://schemas.microsoft.com/office/drawing/2014/main" id="{67231DA7-D218-3D74-3EBC-2E6F1F67FD0C}"/>
              </a:ext>
            </a:extLst>
          </p:cNvPr>
          <p:cNvPicPr>
            <a:picLocks noChangeAspect="1"/>
          </p:cNvPicPr>
          <p:nvPr userDrawn="1"/>
        </p:nvPicPr>
        <p:blipFill>
          <a:blip r:embed="rId3">
            <a:alphaModFix amt="3000"/>
          </a:blip>
          <a:srcRect l="9069" t="23997" r="42229" b="40674"/>
          <a:stretch/>
        </p:blipFill>
        <p:spPr>
          <a:xfrm>
            <a:off x="0" y="0"/>
            <a:ext cx="12192002" cy="6858000"/>
          </a:xfrm>
          <a:prstGeom prst="rect">
            <a:avLst/>
          </a:prstGeom>
        </p:spPr>
      </p:pic>
    </p:spTree>
    <p:extLst>
      <p:ext uri="{BB962C8B-B14F-4D97-AF65-F5344CB8AC3E}">
        <p14:creationId xmlns:p14="http://schemas.microsoft.com/office/powerpoint/2010/main" val="7739043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cxnSp>
        <p:nvCxnSpPr>
          <p:cNvPr id="7" name="Connecteur droit 21">
            <a:extLst>
              <a:ext uri="{FF2B5EF4-FFF2-40B4-BE49-F238E27FC236}">
                <a16:creationId xmlns:a16="http://schemas.microsoft.com/office/drawing/2014/main" id="{8F8B7ACC-CA50-BF7A-1DE2-BBA9A505FD5E}"/>
              </a:ext>
            </a:extLst>
          </p:cNvPr>
          <p:cNvCxnSpPr>
            <a:cxnSpLocks/>
          </p:cNvCxnSpPr>
          <p:nvPr userDrawn="1"/>
        </p:nvCxnSpPr>
        <p:spPr>
          <a:xfrm>
            <a:off x="11609388" y="6381328"/>
            <a:ext cx="0" cy="476672"/>
          </a:xfrm>
          <a:prstGeom prst="line">
            <a:avLst/>
          </a:prstGeom>
          <a:ln w="12700">
            <a:solidFill>
              <a:schemeClr val="tx1">
                <a:lumMod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 name="Image 20">
            <a:extLst>
              <a:ext uri="{FF2B5EF4-FFF2-40B4-BE49-F238E27FC236}">
                <a16:creationId xmlns:a16="http://schemas.microsoft.com/office/drawing/2014/main" id="{DA30B6C4-9C39-0A86-3056-CE1B7099E2B1}"/>
              </a:ext>
            </a:extLst>
          </p:cNvPr>
          <p:cNvPicPr>
            <a:picLocks noChangeAspect="1"/>
          </p:cNvPicPr>
          <p:nvPr userDrawn="1"/>
        </p:nvPicPr>
        <p:blipFill rotWithShape="1">
          <a:blip r:embed="rId2"/>
          <a:srcRect l="-3741" t="-20759" r="52945" b="-5827"/>
          <a:stretch/>
        </p:blipFill>
        <p:spPr>
          <a:xfrm>
            <a:off x="11736000" y="6443999"/>
            <a:ext cx="360000" cy="288000"/>
          </a:xfrm>
          <a:prstGeom prst="rect">
            <a:avLst/>
          </a:prstGeom>
        </p:spPr>
      </p:pic>
      <p:pic>
        <p:nvPicPr>
          <p:cNvPr id="2" name="Picture 1">
            <a:extLst>
              <a:ext uri="{FF2B5EF4-FFF2-40B4-BE49-F238E27FC236}">
                <a16:creationId xmlns:a16="http://schemas.microsoft.com/office/drawing/2014/main" id="{67231DA7-D218-3D74-3EBC-2E6F1F67FD0C}"/>
              </a:ext>
            </a:extLst>
          </p:cNvPr>
          <p:cNvPicPr>
            <a:picLocks noChangeAspect="1"/>
          </p:cNvPicPr>
          <p:nvPr userDrawn="1"/>
        </p:nvPicPr>
        <p:blipFill>
          <a:blip r:embed="rId3">
            <a:alphaModFix amt="3000"/>
          </a:blip>
          <a:srcRect l="9069" t="23997" r="42229" b="40674"/>
          <a:stretch/>
        </p:blipFill>
        <p:spPr>
          <a:xfrm>
            <a:off x="0" y="0"/>
            <a:ext cx="12192002" cy="6858000"/>
          </a:xfrm>
          <a:prstGeom prst="rect">
            <a:avLst/>
          </a:prstGeom>
        </p:spPr>
      </p:pic>
      <p:sp>
        <p:nvSpPr>
          <p:cNvPr id="5" name="Picture Placeholder 3">
            <a:extLst>
              <a:ext uri="{FF2B5EF4-FFF2-40B4-BE49-F238E27FC236}">
                <a16:creationId xmlns:a16="http://schemas.microsoft.com/office/drawing/2014/main" id="{BFCC7ED3-396A-79D4-AEBF-E51921BAF0C6}"/>
              </a:ext>
            </a:extLst>
          </p:cNvPr>
          <p:cNvSpPr>
            <a:spLocks noGrp="1"/>
          </p:cNvSpPr>
          <p:nvPr>
            <p:ph type="pic" sz="quarter" idx="11"/>
          </p:nvPr>
        </p:nvSpPr>
        <p:spPr>
          <a:xfrm>
            <a:off x="4878939" y="1468398"/>
            <a:ext cx="2434121" cy="2444117"/>
          </a:xfrm>
          <a:prstGeom prst="ellipse">
            <a:avLst/>
          </a:prstGeom>
        </p:spPr>
        <p:txBody>
          <a:bodyPr/>
          <a:lstStyle/>
          <a:p>
            <a:endParaRPr lang="en-US"/>
          </a:p>
        </p:txBody>
      </p:sp>
      <p:sp>
        <p:nvSpPr>
          <p:cNvPr id="3" name="Text Placeholder 11">
            <a:extLst>
              <a:ext uri="{FF2B5EF4-FFF2-40B4-BE49-F238E27FC236}">
                <a16:creationId xmlns:a16="http://schemas.microsoft.com/office/drawing/2014/main" id="{6EB63EF3-9F31-0364-8563-7881AA5C8D98}"/>
              </a:ext>
            </a:extLst>
          </p:cNvPr>
          <p:cNvSpPr>
            <a:spLocks noGrp="1"/>
          </p:cNvSpPr>
          <p:nvPr>
            <p:ph type="body" sz="quarter" idx="14" hasCustomPrompt="1"/>
          </p:nvPr>
        </p:nvSpPr>
        <p:spPr>
          <a:xfrm>
            <a:off x="4151836" y="4162918"/>
            <a:ext cx="3888328" cy="369332"/>
          </a:xfrm>
        </p:spPr>
        <p:txBody>
          <a:bodyPr/>
          <a:lstStyle>
            <a:lvl1pPr algn="ctr">
              <a:buNone/>
              <a:defRPr sz="2400" b="1"/>
            </a:lvl1pPr>
          </a:lstStyle>
          <a:p>
            <a:pPr lvl="0"/>
            <a:r>
              <a:rPr lang="en-US"/>
              <a:t>Full name</a:t>
            </a:r>
          </a:p>
        </p:txBody>
      </p:sp>
      <p:sp>
        <p:nvSpPr>
          <p:cNvPr id="9" name="Text Placeholder 11">
            <a:extLst>
              <a:ext uri="{FF2B5EF4-FFF2-40B4-BE49-F238E27FC236}">
                <a16:creationId xmlns:a16="http://schemas.microsoft.com/office/drawing/2014/main" id="{4562D8B0-ADC0-B69F-79EF-262A0F86C6E5}"/>
              </a:ext>
            </a:extLst>
          </p:cNvPr>
          <p:cNvSpPr>
            <a:spLocks noGrp="1"/>
          </p:cNvSpPr>
          <p:nvPr>
            <p:ph type="body" sz="quarter" idx="15" hasCustomPrompt="1"/>
          </p:nvPr>
        </p:nvSpPr>
        <p:spPr>
          <a:xfrm>
            <a:off x="4151836" y="4564362"/>
            <a:ext cx="3888328" cy="246221"/>
          </a:xfrm>
        </p:spPr>
        <p:txBody>
          <a:bodyPr/>
          <a:lstStyle>
            <a:lvl1pPr algn="ctr">
              <a:buNone/>
              <a:defRPr sz="1600">
                <a:solidFill>
                  <a:srgbClr val="D9ECF7"/>
                </a:solidFill>
              </a:defRPr>
            </a:lvl1pPr>
          </a:lstStyle>
          <a:p>
            <a:pPr lvl="0"/>
            <a:r>
              <a:rPr lang="en-US"/>
              <a:t>Full name</a:t>
            </a:r>
          </a:p>
        </p:txBody>
      </p:sp>
    </p:spTree>
    <p:extLst>
      <p:ext uri="{BB962C8B-B14F-4D97-AF65-F5344CB8AC3E}">
        <p14:creationId xmlns:p14="http://schemas.microsoft.com/office/powerpoint/2010/main" val="294173617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9A933-FE52-FC27-DCF4-2DAD399569B1}"/>
              </a:ext>
            </a:extLst>
          </p:cNvPr>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4291891E-B540-0830-3ACD-854437BD9A18}"/>
              </a:ext>
            </a:extLst>
          </p:cNvPr>
          <p:cNvSpPr>
            <a:spLocks noGrp="1"/>
          </p:cNvSpPr>
          <p:nvPr>
            <p:ph type="dt" sz="half" idx="10"/>
          </p:nvPr>
        </p:nvSpPr>
        <p:spPr/>
        <p:txBody>
          <a:bodyPr/>
          <a:lstStyle/>
          <a:p>
            <a:fld id="{67F1AAE4-6C6A-4337-9322-F43ACAC73CC7}" type="datetimeFigureOut">
              <a:rPr lang="en-US" smtClean="0"/>
              <a:t>6/2/2026</a:t>
            </a:fld>
            <a:endParaRPr lang="en-US"/>
          </a:p>
        </p:txBody>
      </p:sp>
      <p:sp>
        <p:nvSpPr>
          <p:cNvPr id="5" name="Footer Placeholder 4">
            <a:extLst>
              <a:ext uri="{FF2B5EF4-FFF2-40B4-BE49-F238E27FC236}">
                <a16:creationId xmlns:a16="http://schemas.microsoft.com/office/drawing/2014/main" id="{8691937F-9B8E-8125-912D-A10A344A92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A8A1A6-D5AC-607A-E5A8-244BFB0489FE}"/>
              </a:ext>
            </a:extLst>
          </p:cNvPr>
          <p:cNvSpPr>
            <a:spLocks noGrp="1"/>
          </p:cNvSpPr>
          <p:nvPr>
            <p:ph type="sldNum" sz="quarter" idx="12"/>
          </p:nvPr>
        </p:nvSpPr>
        <p:spPr/>
        <p:txBody>
          <a:bodyPr/>
          <a:lstStyle/>
          <a:p>
            <a:fld id="{33F74CFF-0500-4008-9756-F9312FF8F027}" type="slidenum">
              <a:rPr lang="en-US" smtClean="0"/>
              <a:t>‹#›</a:t>
            </a:fld>
            <a:endParaRPr lang="en-US"/>
          </a:p>
        </p:txBody>
      </p:sp>
      <p:cxnSp>
        <p:nvCxnSpPr>
          <p:cNvPr id="7" name="Connecteur droit 21">
            <a:extLst>
              <a:ext uri="{FF2B5EF4-FFF2-40B4-BE49-F238E27FC236}">
                <a16:creationId xmlns:a16="http://schemas.microsoft.com/office/drawing/2014/main" id="{9569FDB7-9240-C0A7-7FF1-E9A8A6DE1506}"/>
              </a:ext>
            </a:extLst>
          </p:cNvPr>
          <p:cNvCxnSpPr>
            <a:cxnSpLocks/>
          </p:cNvCxnSpPr>
          <p:nvPr userDrawn="1"/>
        </p:nvCxnSpPr>
        <p:spPr>
          <a:xfrm>
            <a:off x="11609388" y="6381328"/>
            <a:ext cx="0" cy="476672"/>
          </a:xfrm>
          <a:prstGeom prst="line">
            <a:avLst/>
          </a:prstGeom>
          <a:ln w="12700">
            <a:solidFill>
              <a:schemeClr val="tx1">
                <a:lumMod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 name="Image 20">
            <a:extLst>
              <a:ext uri="{FF2B5EF4-FFF2-40B4-BE49-F238E27FC236}">
                <a16:creationId xmlns:a16="http://schemas.microsoft.com/office/drawing/2014/main" id="{EFF318B3-217B-90FE-2CB6-72C205941256}"/>
              </a:ext>
            </a:extLst>
          </p:cNvPr>
          <p:cNvPicPr>
            <a:picLocks noChangeAspect="1"/>
          </p:cNvPicPr>
          <p:nvPr userDrawn="1"/>
        </p:nvPicPr>
        <p:blipFill rotWithShape="1">
          <a:blip r:embed="rId2"/>
          <a:srcRect l="-3741" t="-20759" r="52945" b="-5827"/>
          <a:stretch/>
        </p:blipFill>
        <p:spPr>
          <a:xfrm>
            <a:off x="11736000" y="6443999"/>
            <a:ext cx="360000" cy="288000"/>
          </a:xfrm>
          <a:prstGeom prst="rect">
            <a:avLst/>
          </a:prstGeom>
        </p:spPr>
      </p:pic>
    </p:spTree>
    <p:extLst>
      <p:ext uri="{BB962C8B-B14F-4D97-AF65-F5344CB8AC3E}">
        <p14:creationId xmlns:p14="http://schemas.microsoft.com/office/powerpoint/2010/main" val="2016613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ustom Layout">
    <p:bg>
      <p:bgPr>
        <a:solidFill>
          <a:srgbClr val="091F2C"/>
        </a:solidFill>
        <a:effectLst/>
      </p:bgPr>
    </p:bg>
    <p:spTree>
      <p:nvGrpSpPr>
        <p:cNvPr id="1" name=""/>
        <p:cNvGrpSpPr/>
        <p:nvPr/>
      </p:nvGrpSpPr>
      <p:grpSpPr>
        <a:xfrm>
          <a:off x="0" y="0"/>
          <a:ext cx="0" cy="0"/>
          <a:chOff x="0" y="0"/>
          <a:chExt cx="0" cy="0"/>
        </a:xfrm>
      </p:grpSpPr>
      <p:pic>
        <p:nvPicPr>
          <p:cNvPr id="9" name="Image 22" descr="Une image contenant capture d’écran, Graphique, noir, conception&#10;&#10;Description générée automatiquement">
            <a:extLst>
              <a:ext uri="{FF2B5EF4-FFF2-40B4-BE49-F238E27FC236}">
                <a16:creationId xmlns:a16="http://schemas.microsoft.com/office/drawing/2014/main" id="{99E7F4F9-EF38-9BF9-95D1-126195DC469C}"/>
              </a:ext>
            </a:extLst>
          </p:cNvPr>
          <p:cNvPicPr>
            <a:picLocks noChangeAspect="1"/>
          </p:cNvPicPr>
          <p:nvPr userDrawn="1"/>
        </p:nvPicPr>
        <p:blipFill>
          <a:blip r:embed="rId2">
            <a:alphaModFix amt="3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994400" y="0"/>
            <a:ext cx="6197600" cy="6858000"/>
          </a:xfrm>
          <a:prstGeom prst="rect">
            <a:avLst/>
          </a:prstGeom>
        </p:spPr>
      </p:pic>
      <p:sp>
        <p:nvSpPr>
          <p:cNvPr id="4" name="Espace réservé du texte 16">
            <a:extLst>
              <a:ext uri="{FF2B5EF4-FFF2-40B4-BE49-F238E27FC236}">
                <a16:creationId xmlns:a16="http://schemas.microsoft.com/office/drawing/2014/main" id="{8B9F4690-C01E-4903-3DFA-CA0113CB81F7}"/>
              </a:ext>
            </a:extLst>
          </p:cNvPr>
          <p:cNvSpPr>
            <a:spLocks noGrp="1"/>
          </p:cNvSpPr>
          <p:nvPr>
            <p:ph type="body" sz="quarter" idx="10" hasCustomPrompt="1"/>
          </p:nvPr>
        </p:nvSpPr>
        <p:spPr>
          <a:xfrm>
            <a:off x="3414117" y="2348850"/>
            <a:ext cx="7745698" cy="2160300"/>
          </a:xfrm>
          <a:prstGeom prst="rect">
            <a:avLst/>
          </a:prstGeom>
        </p:spPr>
        <p:txBody>
          <a:bodyPr anchor="ctr" anchorCtr="0">
            <a:noAutofit/>
          </a:bodyPr>
          <a:lstStyle>
            <a:lvl1pPr marL="0" marR="0" indent="0" algn="l" defTabSz="932742" rtl="0" eaLnBrk="1" fontAlgn="auto" latinLnBrk="0" hangingPunct="1">
              <a:lnSpc>
                <a:spcPct val="100000"/>
              </a:lnSpc>
              <a:spcBef>
                <a:spcPct val="20000"/>
              </a:spcBef>
              <a:spcAft>
                <a:spcPts val="0"/>
              </a:spcAft>
              <a:buClrTx/>
              <a:buSzPct val="90000"/>
              <a:buFontTx/>
              <a:buNone/>
              <a:tabLst/>
              <a:defRPr sz="4000" b="1">
                <a:solidFill>
                  <a:schemeClr val="bg1"/>
                </a:solidFill>
              </a:defRPr>
            </a:lvl1pPr>
            <a:lvl2pPr marL="228600" indent="0">
              <a:buFontTx/>
              <a:buNone/>
              <a:defRPr/>
            </a:lvl2pPr>
            <a:lvl3pPr marL="457200" indent="0">
              <a:buFontTx/>
              <a:buNone/>
              <a:defRPr/>
            </a:lvl3pPr>
            <a:lvl4pPr marL="661988" indent="0">
              <a:buFontTx/>
              <a:buNone/>
              <a:defRPr/>
            </a:lvl4pPr>
            <a:lvl5pPr marL="855663" indent="0">
              <a:buFontTx/>
              <a:buNone/>
              <a:defRPr/>
            </a:lvl5p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r>
              <a:rPr lang="fr-FR"/>
              <a:t>EVENT NAME OR PRESENTATION TITLE</a:t>
            </a:r>
          </a:p>
        </p:txBody>
      </p:sp>
      <p:sp>
        <p:nvSpPr>
          <p:cNvPr id="5" name="Espace réservé du texte 18">
            <a:extLst>
              <a:ext uri="{FF2B5EF4-FFF2-40B4-BE49-F238E27FC236}">
                <a16:creationId xmlns:a16="http://schemas.microsoft.com/office/drawing/2014/main" id="{4A9BAFB4-5F60-57BC-7E37-A0C980994AD0}"/>
              </a:ext>
            </a:extLst>
          </p:cNvPr>
          <p:cNvSpPr>
            <a:spLocks noGrp="1"/>
          </p:cNvSpPr>
          <p:nvPr>
            <p:ph type="body" sz="quarter" idx="11" hasCustomPrompt="1"/>
          </p:nvPr>
        </p:nvSpPr>
        <p:spPr>
          <a:xfrm>
            <a:off x="3414116" y="4509150"/>
            <a:ext cx="7745695" cy="265550"/>
          </a:xfrm>
          <a:prstGeom prst="rect">
            <a:avLst/>
          </a:prstGeom>
        </p:spPr>
        <p:txBody>
          <a:bodyPr>
            <a:noAutofit/>
          </a:bodyPr>
          <a:lstStyle>
            <a:lvl1pPr marL="0" indent="0">
              <a:buNone/>
              <a:defRPr sz="1800">
                <a:solidFill>
                  <a:schemeClr val="bg2">
                    <a:lumMod val="90000"/>
                  </a:schemeClr>
                </a:solidFill>
              </a:defRPr>
            </a:lvl1pPr>
            <a:lvl2pPr>
              <a:defRPr sz="1600">
                <a:solidFill>
                  <a:schemeClr val="bg2">
                    <a:lumMod val="90000"/>
                  </a:schemeClr>
                </a:solidFill>
              </a:defRPr>
            </a:lvl2pPr>
            <a:lvl3pPr>
              <a:defRPr sz="1600">
                <a:solidFill>
                  <a:schemeClr val="bg2">
                    <a:lumMod val="90000"/>
                  </a:schemeClr>
                </a:solidFill>
              </a:defRPr>
            </a:lvl3pPr>
            <a:lvl4pPr>
              <a:defRPr sz="1600">
                <a:solidFill>
                  <a:schemeClr val="bg2">
                    <a:lumMod val="90000"/>
                  </a:schemeClr>
                </a:solidFill>
              </a:defRPr>
            </a:lvl4pPr>
            <a:lvl5pPr>
              <a:defRPr sz="1600">
                <a:solidFill>
                  <a:schemeClr val="bg2">
                    <a:lumMod val="90000"/>
                  </a:schemeClr>
                </a:solidFill>
              </a:defRPr>
            </a:lvl5pPr>
          </a:lstStyle>
          <a:p>
            <a:pPr lvl="0"/>
            <a:r>
              <a:rPr lang="fr-FR"/>
              <a:t>Speaker </a:t>
            </a:r>
            <a:r>
              <a:rPr lang="fr-FR" err="1"/>
              <a:t>name</a:t>
            </a:r>
            <a:r>
              <a:rPr lang="fr-FR"/>
              <a:t> or </a:t>
            </a:r>
            <a:r>
              <a:rPr lang="fr-FR" err="1"/>
              <a:t>subtitle</a:t>
            </a:r>
            <a:endParaRPr lang="fr-FR"/>
          </a:p>
        </p:txBody>
      </p:sp>
      <p:cxnSp>
        <p:nvCxnSpPr>
          <p:cNvPr id="7" name="Connecteur droit 21">
            <a:extLst>
              <a:ext uri="{FF2B5EF4-FFF2-40B4-BE49-F238E27FC236}">
                <a16:creationId xmlns:a16="http://schemas.microsoft.com/office/drawing/2014/main" id="{09CCF768-F127-991A-0524-8D5B02DB48D8}"/>
              </a:ext>
            </a:extLst>
          </p:cNvPr>
          <p:cNvCxnSpPr>
            <a:cxnSpLocks/>
          </p:cNvCxnSpPr>
          <p:nvPr userDrawn="1"/>
        </p:nvCxnSpPr>
        <p:spPr>
          <a:xfrm>
            <a:off x="3101302" y="2112579"/>
            <a:ext cx="0" cy="2662121"/>
          </a:xfrm>
          <a:prstGeom prst="line">
            <a:avLst/>
          </a:prstGeom>
          <a:ln w="15875">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 name="MS logo white - EMF" descr="Microsoft logo white text version">
            <a:extLst>
              <a:ext uri="{FF2B5EF4-FFF2-40B4-BE49-F238E27FC236}">
                <a16:creationId xmlns:a16="http://schemas.microsoft.com/office/drawing/2014/main" id="{2CD0783F-08EB-85C2-4F0A-94BFF61A080F}"/>
              </a:ext>
            </a:extLst>
          </p:cNvPr>
          <p:cNvPicPr>
            <a:picLocks noChangeAspect="1"/>
          </p:cNvPicPr>
          <p:nvPr userDrawn="1"/>
        </p:nvPicPr>
        <p:blipFill>
          <a:blip r:embed="rId4"/>
          <a:stretch>
            <a:fillRect/>
          </a:stretch>
        </p:blipFill>
        <p:spPr bwMode="black">
          <a:xfrm>
            <a:off x="584200" y="585788"/>
            <a:ext cx="1366245" cy="292608"/>
          </a:xfrm>
          <a:prstGeom prst="rect">
            <a:avLst/>
          </a:prstGeom>
        </p:spPr>
      </p:pic>
      <p:pic>
        <p:nvPicPr>
          <p:cNvPr id="2" name="Graphic 1">
            <a:extLst>
              <a:ext uri="{FF2B5EF4-FFF2-40B4-BE49-F238E27FC236}">
                <a16:creationId xmlns:a16="http://schemas.microsoft.com/office/drawing/2014/main" id="{CC0C4DEA-F299-53C3-92BC-C590A5001F5B}"/>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584200" y="3173639"/>
            <a:ext cx="2116800" cy="540000"/>
          </a:xfrm>
          <a:prstGeom prst="rect">
            <a:avLst/>
          </a:prstGeom>
        </p:spPr>
      </p:pic>
    </p:spTree>
    <p:extLst>
      <p:ext uri="{BB962C8B-B14F-4D97-AF65-F5344CB8AC3E}">
        <p14:creationId xmlns:p14="http://schemas.microsoft.com/office/powerpoint/2010/main" val="298725321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1.sv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heme" Target="../theme/theme3.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CCFF87-B138-8A29-1E93-89F321863E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7A7934-DA1C-6FAC-31A1-DD9A95B036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2C97A3-DDF6-1935-065F-1B2AD72A42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CDFBA1-BA03-4F98-B7B7-81747CBE7CA0}" type="datetimeFigureOut">
              <a:rPr lang="en-US" smtClean="0"/>
              <a:t>6/2/2026</a:t>
            </a:fld>
            <a:endParaRPr lang="en-US"/>
          </a:p>
        </p:txBody>
      </p:sp>
      <p:sp>
        <p:nvSpPr>
          <p:cNvPr id="5" name="Footer Placeholder 4">
            <a:extLst>
              <a:ext uri="{FF2B5EF4-FFF2-40B4-BE49-F238E27FC236}">
                <a16:creationId xmlns:a16="http://schemas.microsoft.com/office/drawing/2014/main" id="{15BC3C6A-169D-535E-64A8-6BDA41B183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76454F8-3CE5-27AB-A82B-4E313615C6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4AE3D6-158A-47A1-860A-276F645C5E62}" type="slidenum">
              <a:rPr lang="en-US" smtClean="0"/>
              <a:t>‹#›</a:t>
            </a:fld>
            <a:endParaRPr lang="en-US"/>
          </a:p>
        </p:txBody>
      </p:sp>
    </p:spTree>
    <p:extLst>
      <p:ext uri="{BB962C8B-B14F-4D97-AF65-F5344CB8AC3E}">
        <p14:creationId xmlns:p14="http://schemas.microsoft.com/office/powerpoint/2010/main" val="1048972914"/>
      </p:ext>
    </p:extLst>
  </p:cSld>
  <p:clrMap bg1="lt1" tx1="dk1" bg2="lt2" tx2="dk2" accent1="accent1" accent2="accent2" accent3="accent3" accent4="accent4" accent5="accent5" accent6="accent6" hlink="hlink" folHlink="folHlink"/>
  <p:sldLayoutIdLst>
    <p:sldLayoutId id="214748366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1070299"/>
      </p:ext>
    </p:extLst>
  </p:cSld>
  <p:clrMap bg1="lt1" tx1="dk1" bg2="lt2" tx2="dk2" accent1="accent1" accent2="accent2" accent3="accent3" accent4="accent4" accent5="accent5" accent6="accent6" hlink="hlink" folHlink="folHlink"/>
  <p:sldLayoutIdLst>
    <p:sldLayoutId id="2147483662"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2609418946"/>
      </p:ext>
    </p:extLst>
  </p:cSld>
  <p:clrMap bg1="dk1" tx1="lt1" bg2="dk2" tx2="lt2" accent1="accent1" accent2="accent2" accent3="accent3" accent4="accent4" accent5="accent5" accent6="accent6" hlink="hlink" folHlink="folHlink"/>
  <p:sldLayoutIdLst>
    <p:sldLayoutId id="2147483676" r:id="rId1"/>
    <p:sldLayoutId id="2147483677" r:id="rId2"/>
    <p:sldLayoutId id="2147483787" r:id="rId3"/>
    <p:sldLayoutId id="2147483721" r:id="rId4"/>
    <p:sldLayoutId id="2147483722" r:id="rId5"/>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sv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svg"/><Relationship Id="rId9" Type="http://schemas.openxmlformats.org/officeDocument/2006/relationships/image" Target="../media/image24.sv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Layout" Target="../slideLayouts/slideLayout6.xml"/><Relationship Id="rId6" Type="http://schemas.openxmlformats.org/officeDocument/2006/relationships/image" Target="../media/image19.svg"/><Relationship Id="rId5" Type="http://schemas.openxmlformats.org/officeDocument/2006/relationships/image" Target="../media/image17.sv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34.emf"/><Relationship Id="rId7" Type="http://schemas.openxmlformats.org/officeDocument/2006/relationships/image" Target="../media/image38.png"/><Relationship Id="rId2" Type="http://schemas.openxmlformats.org/officeDocument/2006/relationships/image" Target="../media/image33.svg"/><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42.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38.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48.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38.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7B5951-FFA3-F02B-3E49-76F53FAF5844}"/>
              </a:ext>
            </a:extLst>
          </p:cNvPr>
          <p:cNvSpPr>
            <a:spLocks noGrp="1"/>
          </p:cNvSpPr>
          <p:nvPr>
            <p:ph type="body" sz="quarter" idx="10"/>
          </p:nvPr>
        </p:nvSpPr>
        <p:spPr>
          <a:xfrm>
            <a:off x="3385837" y="2364089"/>
            <a:ext cx="7745698" cy="2160300"/>
          </a:xfrm>
        </p:spPr>
        <p:txBody>
          <a:bodyPr lIns="91440" tIns="45720" rIns="91440" bIns="45720" anchor="ctr" anchorCtr="0">
            <a:noAutofit/>
          </a:bodyPr>
          <a:lstStyle/>
          <a:p>
            <a:pPr>
              <a:defRPr/>
            </a:pPr>
            <a:r>
              <a:rPr kumimoji="0" lang="en-US" sz="4000" b="1" i="0" u="none" strike="noStrike" kern="1200" cap="none" spc="0" normalizeH="0" baseline="0" noProof="0">
                <a:ln>
                  <a:noFill/>
                </a:ln>
                <a:solidFill>
                  <a:srgbClr val="449CD6"/>
                </a:solidFill>
                <a:effectLst/>
                <a:uLnTx/>
                <a:uFillTx/>
                <a:latin typeface="Segoe UI"/>
                <a:ea typeface="+mn-ea"/>
                <a:cs typeface="Segoe UI" panose="020B0502040204020203" pitchFamily="34" charset="0"/>
              </a:rPr>
              <a:t>COPILOT ACCELERATION TEAM</a:t>
            </a:r>
            <a:r>
              <a:rPr kumimoji="0" lang="en-US" sz="4000" b="1" i="0" u="none" strike="noStrike" kern="1200" cap="none" spc="0" normalizeH="0" baseline="0" noProof="0">
                <a:ln>
                  <a:noFill/>
                </a:ln>
                <a:solidFill>
                  <a:srgbClr val="FAA55A"/>
                </a:solidFill>
                <a:effectLst/>
                <a:uLnTx/>
                <a:uFillTx/>
                <a:latin typeface="Segoe UI"/>
                <a:ea typeface="+mn-ea"/>
                <a:cs typeface="Segoe UI" panose="020B0502040204020203" pitchFamily="34" charset="0"/>
              </a:rPr>
              <a:t>	</a:t>
            </a:r>
            <a:br>
              <a:rPr kumimoji="0" lang="en-US" sz="4000" b="1" i="0" u="none" strike="noStrike" kern="1200" cap="none" spc="0" normalizeH="0" baseline="0" noProof="0">
                <a:ln>
                  <a:noFill/>
                </a:ln>
                <a:solidFill>
                  <a:srgbClr val="FAA55A"/>
                </a:solidFill>
                <a:effectLst/>
                <a:uLnTx/>
                <a:uFillTx/>
                <a:latin typeface="Segoe UI"/>
                <a:ea typeface="+mn-ea"/>
                <a:cs typeface="Segoe UI" panose="020B0502040204020203" pitchFamily="34" charset="0"/>
              </a:rPr>
            </a:br>
            <a:endParaRPr lang="en-US" i="1">
              <a:solidFill>
                <a:srgbClr val="FFFFFF"/>
              </a:solidFill>
              <a:latin typeface="Segoe UI" panose="020B0502040204020203" pitchFamily="34" charset="0"/>
              <a:ea typeface="Times New Roman" panose="02020603050405020304" pitchFamily="18" charset="0"/>
            </a:endParaRPr>
          </a:p>
        </p:txBody>
      </p:sp>
      <p:sp>
        <p:nvSpPr>
          <p:cNvPr id="2" name="Text Placeholder 2">
            <a:extLst>
              <a:ext uri="{FF2B5EF4-FFF2-40B4-BE49-F238E27FC236}">
                <a16:creationId xmlns:a16="http://schemas.microsoft.com/office/drawing/2014/main" id="{595AAFC9-58AA-A27C-3142-36C6AB0F73D9}"/>
              </a:ext>
            </a:extLst>
          </p:cNvPr>
          <p:cNvSpPr txBox="1">
            <a:spLocks/>
          </p:cNvSpPr>
          <p:nvPr/>
        </p:nvSpPr>
        <p:spPr>
          <a:xfrm>
            <a:off x="3508847" y="4172157"/>
            <a:ext cx="4936237" cy="276999"/>
          </a:xfrm>
          <a:prstGeom prst="rect">
            <a:avLst/>
          </a:prstGeom>
          <a:noFill/>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GB" sz="1800">
                <a:solidFill>
                  <a:schemeClr val="tx2"/>
                </a:solidFill>
              </a:rPr>
              <a:t>Building an AI-ready organization</a:t>
            </a:r>
          </a:p>
        </p:txBody>
      </p:sp>
      <p:pic>
        <p:nvPicPr>
          <p:cNvPr id="4" name="Picture 3">
            <a:extLst>
              <a:ext uri="{FF2B5EF4-FFF2-40B4-BE49-F238E27FC236}">
                <a16:creationId xmlns:a16="http://schemas.microsoft.com/office/drawing/2014/main" id="{877F2934-6F2A-BB30-F80B-8A7CD38BE1F9}"/>
              </a:ext>
            </a:extLst>
          </p:cNvPr>
          <p:cNvPicPr>
            <a:picLocks noChangeAspect="1"/>
          </p:cNvPicPr>
          <p:nvPr/>
        </p:nvPicPr>
        <p:blipFill>
          <a:blip r:embed="rId2"/>
          <a:srcRect b="33157"/>
          <a:stretch>
            <a:fillRect/>
          </a:stretch>
        </p:blipFill>
        <p:spPr>
          <a:xfrm>
            <a:off x="3508847" y="3614834"/>
            <a:ext cx="4781750" cy="418824"/>
          </a:xfrm>
          <a:prstGeom prst="rect">
            <a:avLst/>
          </a:prstGeom>
        </p:spPr>
      </p:pic>
      <p:pic>
        <p:nvPicPr>
          <p:cNvPr id="7" name="Picture 6" descr="A colorful text on a black background&#10;&#10;AI-generated content may be incorrect.">
            <a:extLst>
              <a:ext uri="{FF2B5EF4-FFF2-40B4-BE49-F238E27FC236}">
                <a16:creationId xmlns:a16="http://schemas.microsoft.com/office/drawing/2014/main" id="{93752908-9AFC-616A-385C-00A9679970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3406" y="4779196"/>
            <a:ext cx="2960242" cy="1478028"/>
          </a:xfrm>
          <a:prstGeom prst="rect">
            <a:avLst/>
          </a:prstGeom>
        </p:spPr>
      </p:pic>
      <p:pic>
        <p:nvPicPr>
          <p:cNvPr id="9" name="Picture 8" descr="A blue logo with black background&#10;&#10;AI-generated content may be incorrect.">
            <a:extLst>
              <a:ext uri="{FF2B5EF4-FFF2-40B4-BE49-F238E27FC236}">
                <a16:creationId xmlns:a16="http://schemas.microsoft.com/office/drawing/2014/main" id="{B83676E8-9158-09EE-C716-14E33E922F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54624" y="4524389"/>
            <a:ext cx="1534576" cy="1534576"/>
          </a:xfrm>
          <a:prstGeom prst="rect">
            <a:avLst/>
          </a:prstGeom>
        </p:spPr>
      </p:pic>
    </p:spTree>
    <p:extLst>
      <p:ext uri="{BB962C8B-B14F-4D97-AF65-F5344CB8AC3E}">
        <p14:creationId xmlns:p14="http://schemas.microsoft.com/office/powerpoint/2010/main" val="21116974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2E78C-C205-36B5-87DB-B96B94BE9721}"/>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25D211C2-8B0F-48DC-5D38-5CD28480CB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4849" y="5084283"/>
            <a:ext cx="3062287" cy="1528978"/>
          </a:xfrm>
          <a:prstGeom prst="rect">
            <a:avLst/>
          </a:prstGeom>
        </p:spPr>
      </p:pic>
      <p:pic>
        <p:nvPicPr>
          <p:cNvPr id="14" name="Picture Placeholder 13">
            <a:extLst>
              <a:ext uri="{FF2B5EF4-FFF2-40B4-BE49-F238E27FC236}">
                <a16:creationId xmlns:a16="http://schemas.microsoft.com/office/drawing/2014/main" id="{9215070A-9362-9388-AB14-B6190C2345E8}"/>
              </a:ext>
            </a:extLst>
          </p:cNvPr>
          <p:cNvPicPr>
            <a:picLocks noGrp="1" noChangeAspect="1"/>
          </p:cNvPicPr>
          <p:nvPr>
            <p:ph type="pic" sz="quarter" idx="11"/>
          </p:nvPr>
        </p:nvPicPr>
        <p:blipFill>
          <a:blip r:embed="rId3"/>
          <a:srcRect l="409" r="409"/>
          <a:stretch/>
        </p:blipFill>
        <p:spPr>
          <a:xfrm>
            <a:off x="4878939" y="1468398"/>
            <a:ext cx="2434121" cy="2444117"/>
          </a:xfrm>
        </p:spPr>
      </p:pic>
      <p:sp>
        <p:nvSpPr>
          <p:cNvPr id="11" name="Text Placeholder 10">
            <a:extLst>
              <a:ext uri="{FF2B5EF4-FFF2-40B4-BE49-F238E27FC236}">
                <a16:creationId xmlns:a16="http://schemas.microsoft.com/office/drawing/2014/main" id="{536F13E6-397B-8DB8-0414-1ECF4FFF14AC}"/>
              </a:ext>
            </a:extLst>
          </p:cNvPr>
          <p:cNvSpPr>
            <a:spLocks noGrp="1"/>
          </p:cNvSpPr>
          <p:nvPr>
            <p:ph type="body" sz="quarter" idx="14"/>
          </p:nvPr>
        </p:nvSpPr>
        <p:spPr>
          <a:xfrm>
            <a:off x="4151836" y="4162918"/>
            <a:ext cx="3888328" cy="369332"/>
          </a:xfrm>
        </p:spPr>
        <p:txBody>
          <a:bodyPr/>
          <a:lstStyle/>
          <a:p>
            <a:r>
              <a:rPr lang="en-US"/>
              <a:t>Summit Bajracharya</a:t>
            </a:r>
          </a:p>
        </p:txBody>
      </p:sp>
      <p:sp>
        <p:nvSpPr>
          <p:cNvPr id="12" name="Text Placeholder 11">
            <a:extLst>
              <a:ext uri="{FF2B5EF4-FFF2-40B4-BE49-F238E27FC236}">
                <a16:creationId xmlns:a16="http://schemas.microsoft.com/office/drawing/2014/main" id="{1D6582FA-C01E-C3E4-87B0-0A97A98FF5DA}"/>
              </a:ext>
            </a:extLst>
          </p:cNvPr>
          <p:cNvSpPr>
            <a:spLocks noGrp="1"/>
          </p:cNvSpPr>
          <p:nvPr>
            <p:ph type="body" sz="quarter" idx="15"/>
          </p:nvPr>
        </p:nvSpPr>
        <p:spPr>
          <a:xfrm>
            <a:off x="4151836" y="4564362"/>
            <a:ext cx="3888328" cy="246221"/>
          </a:xfrm>
        </p:spPr>
        <p:txBody>
          <a:bodyPr/>
          <a:lstStyle/>
          <a:p>
            <a:r>
              <a:rPr lang="en-US"/>
              <a:t>Solution Architect</a:t>
            </a:r>
          </a:p>
        </p:txBody>
      </p:sp>
    </p:spTree>
    <p:extLst>
      <p:ext uri="{BB962C8B-B14F-4D97-AF65-F5344CB8AC3E}">
        <p14:creationId xmlns:p14="http://schemas.microsoft.com/office/powerpoint/2010/main" val="356350892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1AD3F-FE55-8F76-24F0-A9E9F8B7B335}"/>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1749AFFF-83C3-C32E-717D-EAF5C83B8ABB}"/>
              </a:ext>
            </a:extLst>
          </p:cNvPr>
          <p:cNvSpPr>
            <a:spLocks noGrp="1"/>
          </p:cNvSpPr>
          <p:nvPr>
            <p:ph type="title"/>
          </p:nvPr>
        </p:nvSpPr>
        <p:spPr>
          <a:xfrm>
            <a:off x="588263" y="457200"/>
            <a:ext cx="11018520" cy="553998"/>
          </a:xfrm>
        </p:spPr>
        <p:txBody>
          <a:bodyPr/>
          <a:lstStyle/>
          <a:p>
            <a:r>
              <a:rPr lang="en-US"/>
              <a:t>About </a:t>
            </a:r>
            <a:r>
              <a:rPr lang="en-US" err="1"/>
              <a:t>Signetic</a:t>
            </a:r>
            <a:endParaRPr lang="en-US"/>
          </a:p>
        </p:txBody>
      </p:sp>
      <p:sp>
        <p:nvSpPr>
          <p:cNvPr id="4" name="OrgDesc">
            <a:extLst>
              <a:ext uri="{FF2B5EF4-FFF2-40B4-BE49-F238E27FC236}">
                <a16:creationId xmlns:a16="http://schemas.microsoft.com/office/drawing/2014/main" id="{DED000CA-AC11-C5A5-93AE-87279A7A7620}"/>
              </a:ext>
            </a:extLst>
          </p:cNvPr>
          <p:cNvSpPr/>
          <p:nvPr/>
        </p:nvSpPr>
        <p:spPr>
          <a:xfrm>
            <a:off x="457200" y="1788263"/>
            <a:ext cx="11018520" cy="1787575"/>
          </a:xfrm>
          <a:prstGeom prst="rect">
            <a:avLst/>
          </a:prstGeom>
          <a:noFill/>
        </p:spPr>
        <p:txBody>
          <a:bodyPr wrap="square" lIns="91440" tIns="45720" rIns="91440" bIns="45720" numCol="2"/>
          <a:lstStyle/>
          <a:p>
            <a:pPr marL="285750" indent="-285750">
              <a:lnSpc>
                <a:spcPts val="2400"/>
              </a:lnSpc>
              <a:buFont typeface="Arial" panose="020B0604020202020204" pitchFamily="34" charset="0"/>
              <a:buChar char="•"/>
            </a:pPr>
            <a:r>
              <a:rPr lang="en-US" sz="1400"/>
              <a:t>HIPAA-compliant, cloud-hosted platform modernizing pharmacy and clinic operations</a:t>
            </a:r>
          </a:p>
          <a:p>
            <a:pPr marL="285750" indent="-285750">
              <a:lnSpc>
                <a:spcPts val="2400"/>
              </a:lnSpc>
              <a:buFont typeface="Arial" panose="020B0604020202020204" pitchFamily="34" charset="0"/>
              <a:buChar char="•"/>
            </a:pPr>
            <a:r>
              <a:rPr lang="en-US" sz="1400"/>
              <a:t>Modular, extensible platform with mobile and web-based applications for end-to-end pharmacy operations</a:t>
            </a:r>
          </a:p>
          <a:p>
            <a:pPr marL="285750" indent="-285750">
              <a:lnSpc>
                <a:spcPts val="2400"/>
              </a:lnSpc>
              <a:buFont typeface="Arial" panose="020B0604020202020204" pitchFamily="34" charset="0"/>
              <a:buChar char="•"/>
            </a:pPr>
            <a:endParaRPr lang="en-US" sz="1400"/>
          </a:p>
          <a:p>
            <a:pPr marL="285750" indent="-285750">
              <a:lnSpc>
                <a:spcPts val="2400"/>
              </a:lnSpc>
              <a:buFont typeface="Arial" panose="020B0604020202020204" pitchFamily="34" charset="0"/>
              <a:buChar char="•"/>
            </a:pPr>
            <a:r>
              <a:rPr lang="en-US" sz="1400"/>
              <a:t>Proven at scale: supported 800,000+ patients at Seattle’s Lumen Field mass-vaccination site during COVID-19</a:t>
            </a:r>
          </a:p>
          <a:p>
            <a:pPr marL="285750" indent="-285750">
              <a:lnSpc>
                <a:spcPts val="2400"/>
              </a:lnSpc>
              <a:buFont typeface="Arial" panose="020B0604020202020204" pitchFamily="34" charset="0"/>
              <a:buChar char="•"/>
            </a:pPr>
            <a:r>
              <a:rPr lang="en-US" sz="1400"/>
              <a:t>Helps pharmacies and clinics become modern community health hubs — from scheduling to billing to AI-powered claims processing</a:t>
            </a:r>
          </a:p>
        </p:txBody>
      </p:sp>
      <p:sp>
        <p:nvSpPr>
          <p:cNvPr id="20" name="TimelineBar">
            <a:extLst>
              <a:ext uri="{FF2B5EF4-FFF2-40B4-BE49-F238E27FC236}">
                <a16:creationId xmlns:a16="http://schemas.microsoft.com/office/drawing/2014/main" id="{541B073C-6FDC-D5B2-29CA-FE7AB6DF5A80}"/>
              </a:ext>
            </a:extLst>
          </p:cNvPr>
          <p:cNvSpPr/>
          <p:nvPr/>
        </p:nvSpPr>
        <p:spPr>
          <a:xfrm>
            <a:off x="588263" y="4939845"/>
            <a:ext cx="10546272" cy="66787"/>
          </a:xfrm>
          <a:prstGeom prst="rect">
            <a:avLst/>
          </a:prstGeom>
          <a:solidFill>
            <a:srgbClr val="FF6B00"/>
          </a:solidFill>
        </p:spPr>
        <p:txBody>
          <a:bodyPr/>
          <a:lstStyle/>
          <a:p>
            <a:endParaRPr lang="en-US"/>
          </a:p>
        </p:txBody>
      </p:sp>
      <p:sp>
        <p:nvSpPr>
          <p:cNvPr id="21" name="Node1Dot">
            <a:extLst>
              <a:ext uri="{FF2B5EF4-FFF2-40B4-BE49-F238E27FC236}">
                <a16:creationId xmlns:a16="http://schemas.microsoft.com/office/drawing/2014/main" id="{3B135BF3-3D70-229B-8AE2-1B6238A0E635}"/>
              </a:ext>
            </a:extLst>
          </p:cNvPr>
          <p:cNvSpPr/>
          <p:nvPr/>
        </p:nvSpPr>
        <p:spPr>
          <a:xfrm>
            <a:off x="724174" y="4873058"/>
            <a:ext cx="228600" cy="228600"/>
          </a:xfrm>
          <a:prstGeom prst="ellipse">
            <a:avLst/>
          </a:prstGeom>
          <a:solidFill>
            <a:srgbClr val="FF6B00"/>
          </a:solidFill>
        </p:spPr>
        <p:txBody>
          <a:bodyPr/>
          <a:lstStyle/>
          <a:p>
            <a:endParaRPr lang="en-US"/>
          </a:p>
        </p:txBody>
      </p:sp>
      <p:sp>
        <p:nvSpPr>
          <p:cNvPr id="22" name="Node1Label">
            <a:extLst>
              <a:ext uri="{FF2B5EF4-FFF2-40B4-BE49-F238E27FC236}">
                <a16:creationId xmlns:a16="http://schemas.microsoft.com/office/drawing/2014/main" id="{B0E9022C-72F1-719F-B574-7080298D26AD}"/>
              </a:ext>
            </a:extLst>
          </p:cNvPr>
          <p:cNvSpPr/>
          <p:nvPr/>
        </p:nvSpPr>
        <p:spPr>
          <a:xfrm>
            <a:off x="588263" y="3701515"/>
            <a:ext cx="2284226" cy="1154847"/>
          </a:xfrm>
          <a:prstGeom prst="rect">
            <a:avLst/>
          </a:prstGeom>
          <a:solidFill>
            <a:srgbClr val="FF6B00">
              <a:alpha val="15000"/>
            </a:srgbClr>
          </a:solidFill>
          <a:ln w="19050">
            <a:solidFill>
              <a:srgbClr val="FF6B00"/>
            </a:solidFill>
          </a:ln>
        </p:spPr>
        <p:txBody>
          <a:bodyPr wrap="square" lIns="91440" tIns="91440" rIns="91440" bIns="91440"/>
          <a:lstStyle/>
          <a:p>
            <a:pPr algn="ctr"/>
            <a:r>
              <a:rPr lang="en-US" sz="1600" b="1">
                <a:solidFill>
                  <a:srgbClr val="FF6B00"/>
                </a:solidFill>
              </a:rPr>
              <a:t>2016</a:t>
            </a:r>
          </a:p>
          <a:p>
            <a:pPr algn="ctr"/>
            <a:r>
              <a:rPr lang="en-US" sz="1100">
                <a:solidFill>
                  <a:srgbClr val="FFFFFF"/>
                </a:solidFill>
              </a:rPr>
              <a:t>Founded — mission to eliminate paperwork and help customer in digital transformation</a:t>
            </a:r>
          </a:p>
        </p:txBody>
      </p:sp>
      <p:sp>
        <p:nvSpPr>
          <p:cNvPr id="23" name="Conn1">
            <a:extLst>
              <a:ext uri="{FF2B5EF4-FFF2-40B4-BE49-F238E27FC236}">
                <a16:creationId xmlns:a16="http://schemas.microsoft.com/office/drawing/2014/main" id="{A99D0AD9-CE07-D9F3-9877-AB09370CD936}"/>
              </a:ext>
            </a:extLst>
          </p:cNvPr>
          <p:cNvSpPr/>
          <p:nvPr/>
        </p:nvSpPr>
        <p:spPr>
          <a:xfrm>
            <a:off x="842193" y="4856362"/>
            <a:ext cx="18131" cy="100180"/>
          </a:xfrm>
          <a:prstGeom prst="rect">
            <a:avLst/>
          </a:prstGeom>
          <a:solidFill>
            <a:srgbClr val="FF6B00"/>
          </a:solidFill>
        </p:spPr>
        <p:txBody>
          <a:bodyPr/>
          <a:lstStyle/>
          <a:p>
            <a:endParaRPr lang="en-US"/>
          </a:p>
        </p:txBody>
      </p:sp>
      <p:sp>
        <p:nvSpPr>
          <p:cNvPr id="24" name="Node2Dot">
            <a:extLst>
              <a:ext uri="{FF2B5EF4-FFF2-40B4-BE49-F238E27FC236}">
                <a16:creationId xmlns:a16="http://schemas.microsoft.com/office/drawing/2014/main" id="{A10A66EC-FD32-F0B2-B536-635D220B0CD2}"/>
              </a:ext>
            </a:extLst>
          </p:cNvPr>
          <p:cNvSpPr/>
          <p:nvPr/>
        </p:nvSpPr>
        <p:spPr>
          <a:xfrm>
            <a:off x="3008401" y="4873058"/>
            <a:ext cx="228600" cy="228600"/>
          </a:xfrm>
          <a:prstGeom prst="ellipse">
            <a:avLst/>
          </a:prstGeom>
          <a:solidFill>
            <a:srgbClr val="E91E8C"/>
          </a:solidFill>
        </p:spPr>
        <p:txBody>
          <a:bodyPr/>
          <a:lstStyle/>
          <a:p>
            <a:endParaRPr lang="en-US"/>
          </a:p>
        </p:txBody>
      </p:sp>
      <p:sp>
        <p:nvSpPr>
          <p:cNvPr id="25" name="Node2Label">
            <a:extLst>
              <a:ext uri="{FF2B5EF4-FFF2-40B4-BE49-F238E27FC236}">
                <a16:creationId xmlns:a16="http://schemas.microsoft.com/office/drawing/2014/main" id="{5E8A5766-2D34-567E-9F10-DF5B51D02260}"/>
              </a:ext>
            </a:extLst>
          </p:cNvPr>
          <p:cNvSpPr/>
          <p:nvPr/>
        </p:nvSpPr>
        <p:spPr>
          <a:xfrm>
            <a:off x="2722872" y="5232036"/>
            <a:ext cx="2569754" cy="1168764"/>
          </a:xfrm>
          <a:prstGeom prst="rect">
            <a:avLst/>
          </a:prstGeom>
          <a:solidFill>
            <a:srgbClr val="E91E8C">
              <a:alpha val="15000"/>
            </a:srgbClr>
          </a:solidFill>
          <a:ln w="19050">
            <a:solidFill>
              <a:srgbClr val="E91E8C"/>
            </a:solidFill>
          </a:ln>
        </p:spPr>
        <p:txBody>
          <a:bodyPr wrap="square" lIns="91440" tIns="91440" rIns="91440" bIns="91440"/>
          <a:lstStyle/>
          <a:p>
            <a:pPr algn="ctr"/>
            <a:r>
              <a:rPr lang="en-US" sz="1600" b="1">
                <a:solidFill>
                  <a:srgbClr val="E91E8C"/>
                </a:solidFill>
              </a:rPr>
              <a:t>2020</a:t>
            </a:r>
          </a:p>
          <a:p>
            <a:pPr algn="ctr"/>
            <a:r>
              <a:rPr lang="en-US" sz="1100">
                <a:solidFill>
                  <a:srgbClr val="FFFFFF"/>
                </a:solidFill>
              </a:rPr>
              <a:t>COVID pivot: mass vaccination at Lumen Field (800K+ patients). Power Apps + Dataverse deployed at scale</a:t>
            </a:r>
          </a:p>
        </p:txBody>
      </p:sp>
      <p:sp>
        <p:nvSpPr>
          <p:cNvPr id="26" name="Node3Dot">
            <a:extLst>
              <a:ext uri="{FF2B5EF4-FFF2-40B4-BE49-F238E27FC236}">
                <a16:creationId xmlns:a16="http://schemas.microsoft.com/office/drawing/2014/main" id="{96B6D39C-9585-C89E-F523-B28897E08B03}"/>
              </a:ext>
            </a:extLst>
          </p:cNvPr>
          <p:cNvSpPr/>
          <p:nvPr/>
        </p:nvSpPr>
        <p:spPr>
          <a:xfrm>
            <a:off x="5673331" y="4873058"/>
            <a:ext cx="228600" cy="228600"/>
          </a:xfrm>
          <a:prstGeom prst="ellipse">
            <a:avLst/>
          </a:prstGeom>
          <a:solidFill>
            <a:srgbClr val="0078D4"/>
          </a:solidFill>
        </p:spPr>
        <p:txBody>
          <a:bodyPr/>
          <a:lstStyle/>
          <a:p>
            <a:endParaRPr lang="en-US"/>
          </a:p>
        </p:txBody>
      </p:sp>
      <p:sp>
        <p:nvSpPr>
          <p:cNvPr id="27" name="Node3Label">
            <a:extLst>
              <a:ext uri="{FF2B5EF4-FFF2-40B4-BE49-F238E27FC236}">
                <a16:creationId xmlns:a16="http://schemas.microsoft.com/office/drawing/2014/main" id="{66C9009D-F92A-464C-E697-80D8C4BA2327}"/>
              </a:ext>
            </a:extLst>
          </p:cNvPr>
          <p:cNvSpPr/>
          <p:nvPr/>
        </p:nvSpPr>
        <p:spPr>
          <a:xfrm>
            <a:off x="5387803" y="3701515"/>
            <a:ext cx="2569754" cy="1154847"/>
          </a:xfrm>
          <a:prstGeom prst="rect">
            <a:avLst/>
          </a:prstGeom>
          <a:solidFill>
            <a:srgbClr val="0078D4">
              <a:alpha val="15000"/>
            </a:srgbClr>
          </a:solidFill>
          <a:ln w="19050">
            <a:solidFill>
              <a:srgbClr val="0078D4"/>
            </a:solidFill>
          </a:ln>
        </p:spPr>
        <p:txBody>
          <a:bodyPr wrap="square" lIns="91440" tIns="91440" rIns="91440" bIns="91440"/>
          <a:lstStyle/>
          <a:p>
            <a:pPr algn="ctr"/>
            <a:r>
              <a:rPr lang="en-US" sz="1600" b="1">
                <a:solidFill>
                  <a:srgbClr val="0078D4"/>
                </a:solidFill>
              </a:rPr>
              <a:t>2022–23</a:t>
            </a:r>
          </a:p>
          <a:p>
            <a:pPr algn="ctr"/>
            <a:r>
              <a:rPr lang="en-US" sz="1100">
                <a:solidFill>
                  <a:srgbClr val="FFFFFF"/>
                </a:solidFill>
              </a:rPr>
              <a:t>Enterprise platform: scheduling, billing, reporting. Power Automate + Power BI added</a:t>
            </a:r>
          </a:p>
        </p:txBody>
      </p:sp>
      <p:sp>
        <p:nvSpPr>
          <p:cNvPr id="28" name="Node4Dot">
            <a:extLst>
              <a:ext uri="{FF2B5EF4-FFF2-40B4-BE49-F238E27FC236}">
                <a16:creationId xmlns:a16="http://schemas.microsoft.com/office/drawing/2014/main" id="{C5959925-FC1E-1C0F-600C-7139A7626D47}"/>
              </a:ext>
            </a:extLst>
          </p:cNvPr>
          <p:cNvSpPr/>
          <p:nvPr/>
        </p:nvSpPr>
        <p:spPr>
          <a:xfrm>
            <a:off x="8338262" y="4873058"/>
            <a:ext cx="228600" cy="228600"/>
          </a:xfrm>
          <a:prstGeom prst="ellipse">
            <a:avLst/>
          </a:prstGeom>
          <a:solidFill>
            <a:srgbClr val="8DE971"/>
          </a:solidFill>
        </p:spPr>
        <p:txBody>
          <a:bodyPr/>
          <a:lstStyle/>
          <a:p>
            <a:endParaRPr lang="en-US"/>
          </a:p>
        </p:txBody>
      </p:sp>
      <p:sp>
        <p:nvSpPr>
          <p:cNvPr id="29" name="Node4Label">
            <a:extLst>
              <a:ext uri="{FF2B5EF4-FFF2-40B4-BE49-F238E27FC236}">
                <a16:creationId xmlns:a16="http://schemas.microsoft.com/office/drawing/2014/main" id="{FF1460A9-C729-2C35-F06C-82401F06E61D}"/>
              </a:ext>
            </a:extLst>
          </p:cNvPr>
          <p:cNvSpPr/>
          <p:nvPr/>
        </p:nvSpPr>
        <p:spPr>
          <a:xfrm>
            <a:off x="8052733" y="5232036"/>
            <a:ext cx="2569754" cy="1168764"/>
          </a:xfrm>
          <a:prstGeom prst="rect">
            <a:avLst/>
          </a:prstGeom>
          <a:solidFill>
            <a:srgbClr val="8DE971">
              <a:alpha val="15000"/>
            </a:srgbClr>
          </a:solidFill>
          <a:ln w="19050">
            <a:solidFill>
              <a:srgbClr val="8DE971"/>
            </a:solidFill>
          </a:ln>
        </p:spPr>
        <p:txBody>
          <a:bodyPr wrap="square" lIns="91440" tIns="91440" rIns="91440" bIns="91440"/>
          <a:lstStyle/>
          <a:p>
            <a:pPr algn="ctr"/>
            <a:r>
              <a:rPr lang="en-US" sz="1600" b="1">
                <a:solidFill>
                  <a:srgbClr val="8DE971"/>
                </a:solidFill>
              </a:rPr>
              <a:t>2024–Now</a:t>
            </a:r>
          </a:p>
          <a:p>
            <a:pPr algn="ctr"/>
            <a:r>
              <a:rPr lang="en-US" sz="1100">
                <a:solidFill>
                  <a:srgbClr val="FFFFFF"/>
                </a:solidFill>
              </a:rPr>
              <a:t>Copilot Studio AI agents live. Dedicated AI team formed. MCP + Dataverse powering autonomous workflows</a:t>
            </a:r>
          </a:p>
        </p:txBody>
      </p:sp>
      <p:sp>
        <p:nvSpPr>
          <p:cNvPr id="32" name="TextBox 31">
            <a:extLst>
              <a:ext uri="{FF2B5EF4-FFF2-40B4-BE49-F238E27FC236}">
                <a16:creationId xmlns:a16="http://schemas.microsoft.com/office/drawing/2014/main" id="{8E0A5AD5-5B44-A9E0-BE3D-F4706E21EE14}"/>
              </a:ext>
            </a:extLst>
          </p:cNvPr>
          <p:cNvSpPr txBox="1"/>
          <p:nvPr/>
        </p:nvSpPr>
        <p:spPr>
          <a:xfrm>
            <a:off x="457200" y="1355967"/>
            <a:ext cx="6813330" cy="348813"/>
          </a:xfrm>
          <a:prstGeom prst="rect">
            <a:avLst/>
          </a:prstGeom>
          <a:noFill/>
        </p:spPr>
        <p:txBody>
          <a:bodyPr wrap="square">
            <a:spAutoFit/>
          </a:bodyPr>
          <a:lstStyle/>
          <a:p>
            <a:pPr algn="l">
              <a:lnSpc>
                <a:spcPts val="2000"/>
              </a:lnSpc>
              <a:spcBef>
                <a:spcPts val="0"/>
              </a:spcBef>
            </a:pPr>
            <a:r>
              <a:rPr lang="en-US" sz="1800" b="1">
                <a:solidFill>
                  <a:srgbClr val="FF6B00"/>
                </a:solidFill>
              </a:rPr>
              <a:t>Seattle based Healthcare Technology Company</a:t>
            </a:r>
            <a:endParaRPr lang="en-US" sz="1400"/>
          </a:p>
        </p:txBody>
      </p:sp>
      <p:pic>
        <p:nvPicPr>
          <p:cNvPr id="33" name="Picture 32">
            <a:extLst>
              <a:ext uri="{FF2B5EF4-FFF2-40B4-BE49-F238E27FC236}">
                <a16:creationId xmlns:a16="http://schemas.microsoft.com/office/drawing/2014/main" id="{0BC4CE86-09D0-93B1-52A8-9828B1BFDE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5758" y="-153262"/>
            <a:ext cx="3888549" cy="1941525"/>
          </a:xfrm>
          <a:prstGeom prst="rect">
            <a:avLst/>
          </a:prstGeom>
        </p:spPr>
      </p:pic>
    </p:spTree>
    <p:extLst>
      <p:ext uri="{BB962C8B-B14F-4D97-AF65-F5344CB8AC3E}">
        <p14:creationId xmlns:p14="http://schemas.microsoft.com/office/powerpoint/2010/main" val="12496647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The Problem: Before Signetic</a:t>
            </a:r>
          </a:p>
        </p:txBody>
      </p:sp>
      <p:sp>
        <p:nvSpPr>
          <p:cNvPr id="3" name="BeforeHeader"/>
          <p:cNvSpPr/>
          <p:nvPr/>
        </p:nvSpPr>
        <p:spPr>
          <a:xfrm>
            <a:off x="457200" y="1892183"/>
            <a:ext cx="5200000" cy="600000"/>
          </a:xfrm>
          <a:prstGeom prst="rect">
            <a:avLst/>
          </a:prstGeom>
          <a:solidFill>
            <a:srgbClr val="8B1A1A"/>
          </a:solidFill>
        </p:spPr>
        <p:txBody>
          <a:bodyPr anchor="ctr"/>
          <a:lstStyle/>
          <a:p>
            <a:pPr algn="ctr"/>
            <a:r>
              <a:rPr lang="en-US" sz="1800" b="1">
                <a:solidFill>
                  <a:srgbClr val="FFFFFF"/>
                </a:solidFill>
              </a:rPr>
              <a:t>❌  BEFORE</a:t>
            </a:r>
          </a:p>
        </p:txBody>
      </p:sp>
      <p:sp>
        <p:nvSpPr>
          <p:cNvPr id="4" name="BeforeContent"/>
          <p:cNvSpPr/>
          <p:nvPr/>
        </p:nvSpPr>
        <p:spPr>
          <a:xfrm>
            <a:off x="457200" y="2492183"/>
            <a:ext cx="5200000" cy="3300000"/>
          </a:xfrm>
          <a:prstGeom prst="rect">
            <a:avLst/>
          </a:prstGeom>
          <a:solidFill>
            <a:srgbClr val="1A0808">
              <a:alpha val="80000"/>
            </a:srgbClr>
          </a:solidFill>
          <a:ln w="19050">
            <a:solidFill>
              <a:srgbClr val="8B1A1A"/>
            </a:solidFill>
          </a:ln>
        </p:spPr>
        <p:txBody>
          <a:bodyPr wrap="square" lIns="182880" tIns="182880" rIns="182880" bIns="182880"/>
          <a:lstStyle/>
          <a:p>
            <a:pPr algn="l">
              <a:lnSpc>
                <a:spcPts val="2000"/>
              </a:lnSpc>
              <a:spcBef>
                <a:spcPts val="0"/>
              </a:spcBef>
            </a:pPr>
            <a:r>
              <a:rPr lang="en-US" sz="1400">
                <a:solidFill>
                  <a:srgbClr val="FFFFFF"/>
                </a:solidFill>
              </a:rPr>
              <a:t>Patients fill out paper forms by hand at every visit</a:t>
            </a:r>
          </a:p>
          <a:p>
            <a:pPr algn="l">
              <a:lnSpc>
                <a:spcPts val="2000"/>
              </a:lnSpc>
              <a:spcBef>
                <a:spcPts val="500"/>
              </a:spcBef>
            </a:pPr>
            <a:r>
              <a:rPr lang="en-US" sz="1400">
                <a:solidFill>
                  <a:srgbClr val="FFFFFF"/>
                </a:solidFill>
              </a:rPr>
              <a:t>Staff manually transcribe records — lines out the door, hours of backlog</a:t>
            </a:r>
          </a:p>
          <a:p>
            <a:pPr algn="l">
              <a:lnSpc>
                <a:spcPts val="2000"/>
              </a:lnSpc>
              <a:spcBef>
                <a:spcPts val="500"/>
              </a:spcBef>
            </a:pPr>
            <a:r>
              <a:rPr lang="en-US" sz="1400">
                <a:solidFill>
                  <a:srgbClr val="FFFFFF"/>
                </a:solidFill>
              </a:rPr>
              <a:t>Immunization records missing 24hr reporting deadlines</a:t>
            </a:r>
          </a:p>
          <a:p>
            <a:pPr algn="l">
              <a:lnSpc>
                <a:spcPts val="2000"/>
              </a:lnSpc>
              <a:spcBef>
                <a:spcPts val="500"/>
              </a:spcBef>
            </a:pPr>
            <a:r>
              <a:rPr lang="en-US" sz="1400">
                <a:solidFill>
                  <a:srgbClr val="FFFFFF"/>
                </a:solidFill>
              </a:rPr>
              <a:t>Claims billing: manual, error-prone, slow reimbursement</a:t>
            </a:r>
          </a:p>
          <a:p>
            <a:pPr algn="l">
              <a:lnSpc>
                <a:spcPts val="2000"/>
              </a:lnSpc>
              <a:spcBef>
                <a:spcPts val="500"/>
              </a:spcBef>
            </a:pPr>
            <a:r>
              <a:rPr lang="en-US" sz="1400">
                <a:solidFill>
                  <a:srgbClr val="FFFFFF"/>
                </a:solidFill>
              </a:rPr>
              <a:t>Prior authorizations: weeks of back-and-forth with insurers</a:t>
            </a:r>
          </a:p>
          <a:p>
            <a:pPr algn="l">
              <a:lnSpc>
                <a:spcPts val="2000"/>
              </a:lnSpc>
              <a:spcBef>
                <a:spcPts val="500"/>
              </a:spcBef>
            </a:pPr>
            <a:r>
              <a:rPr lang="en-US" sz="1400">
                <a:solidFill>
                  <a:srgbClr val="FFFFFF"/>
                </a:solidFill>
              </a:rPr>
              <a:t>No scale — couldn’t grow without adding more manual labor</a:t>
            </a:r>
          </a:p>
        </p:txBody>
      </p:sp>
      <p:sp>
        <p:nvSpPr>
          <p:cNvPr id="5" name="AfterHeader"/>
          <p:cNvSpPr/>
          <p:nvPr/>
        </p:nvSpPr>
        <p:spPr>
          <a:xfrm>
            <a:off x="5900000" y="1892183"/>
            <a:ext cx="5400000" cy="600000"/>
          </a:xfrm>
          <a:prstGeom prst="rect">
            <a:avLst/>
          </a:prstGeom>
          <a:solidFill>
            <a:srgbClr val="1A5C1A"/>
          </a:solidFill>
        </p:spPr>
        <p:txBody>
          <a:bodyPr anchor="ctr"/>
          <a:lstStyle/>
          <a:p>
            <a:pPr algn="ctr"/>
            <a:r>
              <a:rPr lang="en-US" sz="1800" b="1">
                <a:solidFill>
                  <a:srgbClr val="FFFFFF"/>
                </a:solidFill>
              </a:rPr>
              <a:t>✅  AFTER: Signetic</a:t>
            </a:r>
          </a:p>
        </p:txBody>
      </p:sp>
      <p:sp>
        <p:nvSpPr>
          <p:cNvPr id="6" name="AfterContent"/>
          <p:cNvSpPr/>
          <p:nvPr/>
        </p:nvSpPr>
        <p:spPr>
          <a:xfrm>
            <a:off x="5900000" y="2492183"/>
            <a:ext cx="5400000" cy="3300000"/>
          </a:xfrm>
          <a:prstGeom prst="rect">
            <a:avLst/>
          </a:prstGeom>
          <a:solidFill>
            <a:srgbClr val="081A08">
              <a:alpha val="80000"/>
            </a:srgbClr>
          </a:solidFill>
          <a:ln w="19050">
            <a:solidFill>
              <a:srgbClr val="1A5C1A"/>
            </a:solidFill>
          </a:ln>
        </p:spPr>
        <p:txBody>
          <a:bodyPr wrap="square" lIns="182880" tIns="182880" rIns="182880" bIns="182880"/>
          <a:lstStyle/>
          <a:p>
            <a:pPr algn="l">
              <a:lnSpc>
                <a:spcPts val="2000"/>
              </a:lnSpc>
              <a:spcBef>
                <a:spcPts val="0"/>
              </a:spcBef>
            </a:pPr>
            <a:r>
              <a:rPr lang="en-US" sz="1400">
                <a:solidFill>
                  <a:srgbClr val="FFFFFF"/>
                </a:solidFill>
              </a:rPr>
              <a:t>Patients self-register via QR code — no clipboards, no lines</a:t>
            </a:r>
          </a:p>
          <a:p>
            <a:pPr algn="l">
              <a:lnSpc>
                <a:spcPts val="2000"/>
              </a:lnSpc>
              <a:spcBef>
                <a:spcPts val="500"/>
              </a:spcBef>
            </a:pPr>
            <a:r>
              <a:rPr lang="en-US" sz="1400">
                <a:solidFill>
                  <a:srgbClr val="FFFFFF"/>
                </a:solidFill>
              </a:rPr>
              <a:t>Staff use canvas apps — real-time, digital, zero transcription backlog</a:t>
            </a:r>
          </a:p>
          <a:p>
            <a:pPr algn="l">
              <a:lnSpc>
                <a:spcPts val="2000"/>
              </a:lnSpc>
              <a:spcBef>
                <a:spcPts val="500"/>
              </a:spcBef>
            </a:pPr>
            <a:r>
              <a:rPr lang="en-US" sz="1400">
                <a:solidFill>
                  <a:srgbClr val="FFFFFF"/>
                </a:solidFill>
              </a:rPr>
              <a:t>Auto IIS submission — immunization records filed within minutes</a:t>
            </a:r>
          </a:p>
          <a:p>
            <a:pPr algn="l">
              <a:lnSpc>
                <a:spcPts val="2000"/>
              </a:lnSpc>
              <a:spcBef>
                <a:spcPts val="500"/>
              </a:spcBef>
            </a:pPr>
            <a:r>
              <a:rPr lang="en-US" sz="1400">
                <a:solidFill>
                  <a:srgbClr val="FFFFFF"/>
                </a:solidFill>
              </a:rPr>
              <a:t>AI Billing Ops Agent resolves claims errors in natural language</a:t>
            </a:r>
          </a:p>
          <a:p>
            <a:pPr algn="l">
              <a:lnSpc>
                <a:spcPts val="2000"/>
              </a:lnSpc>
              <a:spcBef>
                <a:spcPts val="500"/>
              </a:spcBef>
            </a:pPr>
            <a:r>
              <a:rPr lang="en-US" sz="1400">
                <a:solidFill>
                  <a:srgbClr val="FFFFFF"/>
                </a:solidFill>
              </a:rPr>
              <a:t>Prior Auth Agent sends forms autonomously — end-to-end, no human touch</a:t>
            </a:r>
          </a:p>
          <a:p>
            <a:pPr algn="l">
              <a:lnSpc>
                <a:spcPts val="2000"/>
              </a:lnSpc>
              <a:spcBef>
                <a:spcPts val="500"/>
              </a:spcBef>
            </a:pPr>
            <a:r>
              <a:rPr lang="en-US" sz="1400">
                <a:solidFill>
                  <a:srgbClr val="FFFFFF"/>
                </a:solidFill>
              </a:rPr>
              <a:t>Scaled to 800K+ patients — without adding headcount</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AI enablement strategy and adoption journey</a:t>
            </a:r>
          </a:p>
        </p:txBody>
      </p:sp>
      <p:sp>
        <p:nvSpPr>
          <p:cNvPr id="3" name="Sub"/>
          <p:cNvSpPr/>
          <p:nvPr/>
        </p:nvSpPr>
        <p:spPr>
          <a:xfrm>
            <a:off x="457200" y="1050000"/>
            <a:ext cx="11080800" cy="350000"/>
          </a:xfrm>
          <a:prstGeom prst="rect">
            <a:avLst/>
          </a:prstGeom>
          <a:noFill/>
        </p:spPr>
        <p:txBody>
          <a:bodyPr/>
          <a:lstStyle/>
          <a:p>
            <a:pPr algn="l"/>
            <a:r>
              <a:rPr lang="en-US" sz="1200">
                <a:solidFill>
                  <a:srgbClr val="D2D2D2"/>
                </a:solidFill>
              </a:rPr>
              <a:t>How we brought billing operators and pharmacy staff from zero to autonomous AI agents — in two lanes</a:t>
            </a:r>
          </a:p>
        </p:txBody>
      </p:sp>
      <p:sp>
        <p:nvSpPr>
          <p:cNvPr id="4" name="DevLaneLabel"/>
          <p:cNvSpPr/>
          <p:nvPr/>
        </p:nvSpPr>
        <p:spPr>
          <a:xfrm>
            <a:off x="588263" y="2237646"/>
            <a:ext cx="1200000" cy="1550000"/>
          </a:xfrm>
          <a:prstGeom prst="rect">
            <a:avLst/>
          </a:prstGeom>
          <a:solidFill>
            <a:srgbClr val="0078D4">
              <a:alpha val="30000"/>
            </a:srgbClr>
          </a:solidFill>
          <a:ln w="19050">
            <a:solidFill>
              <a:srgbClr val="0078D4"/>
            </a:solidFill>
          </a:ln>
        </p:spPr>
        <p:txBody>
          <a:bodyPr vert="vert270" anchor="ctr"/>
          <a:lstStyle/>
          <a:p>
            <a:pPr algn="ctr"/>
            <a:r>
              <a:rPr lang="en-US" sz="1100" b="1">
                <a:solidFill>
                  <a:srgbClr val="0078D4"/>
                </a:solidFill>
              </a:rPr>
              <a:t>DEV JOURNEY</a:t>
            </a:r>
          </a:p>
        </p:txBody>
      </p:sp>
      <p:sp>
        <p:nvSpPr>
          <p:cNvPr id="5" name="D1"/>
          <p:cNvSpPr/>
          <p:nvPr/>
        </p:nvSpPr>
        <p:spPr>
          <a:xfrm>
            <a:off x="1931063" y="2237646"/>
            <a:ext cx="1900000" cy="700000"/>
          </a:xfrm>
          <a:prstGeom prst="roundRect">
            <a:avLst>
              <a:gd name="adj" fmla="val 12000"/>
            </a:avLst>
          </a:prstGeom>
          <a:solidFill>
            <a:srgbClr val="0078D4">
              <a:alpha val="25000"/>
            </a:srgbClr>
          </a:solidFill>
          <a:ln w="19050">
            <a:solidFill>
              <a:srgbClr val="0078D4"/>
            </a:solidFill>
          </a:ln>
        </p:spPr>
        <p:txBody>
          <a:bodyPr wrap="square" lIns="91440" tIns="45720" rIns="91440" bIns="45720" anchor="ctr"/>
          <a:lstStyle/>
          <a:p>
            <a:pPr algn="ctr"/>
            <a:r>
              <a:rPr lang="en-US" sz="1200" b="1">
                <a:solidFill>
                  <a:srgbClr val="0078D4"/>
                </a:solidFill>
              </a:rPr>
              <a:t>1. Identify</a:t>
            </a:r>
          </a:p>
          <a:p>
            <a:pPr algn="ctr"/>
            <a:r>
              <a:rPr lang="en-US" sz="900">
                <a:solidFill>
                  <a:srgbClr val="FFFFFF"/>
                </a:solidFill>
              </a:rPr>
              <a:t>Map painful workflows with staff</a:t>
            </a:r>
          </a:p>
        </p:txBody>
      </p:sp>
      <p:sp>
        <p:nvSpPr>
          <p:cNvPr id="6" name="DA1"/>
          <p:cNvSpPr/>
          <p:nvPr/>
        </p:nvSpPr>
        <p:spPr>
          <a:xfrm>
            <a:off x="3891063" y="2537646"/>
            <a:ext cx="350000" cy="220000"/>
          </a:xfrm>
          <a:prstGeom prst="rightArrow">
            <a:avLst>
              <a:gd name="adj1" fmla="val 50000"/>
              <a:gd name="adj2" fmla="val 50000"/>
            </a:avLst>
          </a:prstGeom>
          <a:solidFill>
            <a:srgbClr val="0078D4"/>
          </a:solidFill>
        </p:spPr>
        <p:txBody>
          <a:bodyPr/>
          <a:lstStyle/>
          <a:p>
            <a:endParaRPr lang="en-US"/>
          </a:p>
        </p:txBody>
      </p:sp>
      <p:sp>
        <p:nvSpPr>
          <p:cNvPr id="7" name="D2"/>
          <p:cNvSpPr/>
          <p:nvPr/>
        </p:nvSpPr>
        <p:spPr>
          <a:xfrm>
            <a:off x="4301063" y="2237646"/>
            <a:ext cx="1900000" cy="700000"/>
          </a:xfrm>
          <a:prstGeom prst="roundRect">
            <a:avLst>
              <a:gd name="adj" fmla="val 12000"/>
            </a:avLst>
          </a:prstGeom>
          <a:solidFill>
            <a:srgbClr val="0078D4">
              <a:alpha val="25000"/>
            </a:srgbClr>
          </a:solidFill>
          <a:ln w="19050">
            <a:solidFill>
              <a:srgbClr val="0078D4"/>
            </a:solidFill>
          </a:ln>
        </p:spPr>
        <p:txBody>
          <a:bodyPr wrap="square" lIns="91440" tIns="45720" rIns="91440" bIns="45720" anchor="ctr"/>
          <a:lstStyle/>
          <a:p>
            <a:pPr algn="ctr"/>
            <a:r>
              <a:rPr lang="en-US" sz="1200" b="1">
                <a:solidFill>
                  <a:srgbClr val="0078D4"/>
                </a:solidFill>
              </a:rPr>
              <a:t>2. Build Agent</a:t>
            </a:r>
          </a:p>
          <a:p>
            <a:pPr algn="ctr"/>
            <a:r>
              <a:rPr lang="en-US" sz="900">
                <a:solidFill>
                  <a:srgbClr val="FFFFFF"/>
                </a:solidFill>
              </a:rPr>
              <a:t>Copilot Studio + Dataverse MCP</a:t>
            </a:r>
          </a:p>
        </p:txBody>
      </p:sp>
      <p:pic>
        <p:nvPicPr>
          <p:cNvPr id="8" name="IcoCS"/>
          <p:cNvPicPr>
            <a:picLocks noChangeAspect="1"/>
          </p:cNvPicPr>
          <p:nvPr/>
        </p:nvPicPr>
        <p:blipFill>
          <a:blip r:embed="rId2"/>
          <a:stretch>
            <a:fillRect/>
          </a:stretch>
        </p:blipFill>
        <p:spPr>
          <a:xfrm>
            <a:off x="5991063" y="2267646"/>
            <a:ext cx="200000" cy="200000"/>
          </a:xfrm>
          <a:prstGeom prst="rect">
            <a:avLst/>
          </a:prstGeom>
        </p:spPr>
      </p:pic>
      <p:sp>
        <p:nvSpPr>
          <p:cNvPr id="9" name="DA2"/>
          <p:cNvSpPr/>
          <p:nvPr/>
        </p:nvSpPr>
        <p:spPr>
          <a:xfrm>
            <a:off x="6261063" y="2537646"/>
            <a:ext cx="350000" cy="220000"/>
          </a:xfrm>
          <a:prstGeom prst="rightArrow">
            <a:avLst>
              <a:gd name="adj1" fmla="val 50000"/>
              <a:gd name="adj2" fmla="val 50000"/>
            </a:avLst>
          </a:prstGeom>
          <a:solidFill>
            <a:srgbClr val="0078D4"/>
          </a:solidFill>
        </p:spPr>
        <p:txBody>
          <a:bodyPr/>
          <a:lstStyle/>
          <a:p>
            <a:endParaRPr lang="en-US"/>
          </a:p>
        </p:txBody>
      </p:sp>
      <p:sp>
        <p:nvSpPr>
          <p:cNvPr id="10" name="D3"/>
          <p:cNvSpPr/>
          <p:nvPr/>
        </p:nvSpPr>
        <p:spPr>
          <a:xfrm>
            <a:off x="6671063" y="2237646"/>
            <a:ext cx="1900000" cy="700000"/>
          </a:xfrm>
          <a:prstGeom prst="roundRect">
            <a:avLst>
              <a:gd name="adj" fmla="val 12000"/>
            </a:avLst>
          </a:prstGeom>
          <a:solidFill>
            <a:srgbClr val="0078D4">
              <a:alpha val="25000"/>
            </a:srgbClr>
          </a:solidFill>
          <a:ln w="19050">
            <a:solidFill>
              <a:srgbClr val="0078D4"/>
            </a:solidFill>
          </a:ln>
        </p:spPr>
        <p:txBody>
          <a:bodyPr wrap="square" lIns="91440" tIns="45720" rIns="91440" bIns="45720" anchor="ctr"/>
          <a:lstStyle/>
          <a:p>
            <a:pPr algn="ctr"/>
            <a:r>
              <a:rPr lang="en-US" sz="1200" b="1">
                <a:solidFill>
                  <a:srgbClr val="0078D4"/>
                </a:solidFill>
              </a:rPr>
              <a:t>3. Prompt + Test</a:t>
            </a:r>
          </a:p>
          <a:p>
            <a:pPr algn="ctr"/>
            <a:r>
              <a:rPr lang="en-US" sz="900">
                <a:solidFill>
                  <a:srgbClr val="FFFFFF"/>
                </a:solidFill>
              </a:rPr>
              <a:t>Model eval with real claim data</a:t>
            </a:r>
          </a:p>
        </p:txBody>
      </p:sp>
      <p:sp>
        <p:nvSpPr>
          <p:cNvPr id="11" name="DA3"/>
          <p:cNvSpPr/>
          <p:nvPr/>
        </p:nvSpPr>
        <p:spPr>
          <a:xfrm>
            <a:off x="8631063" y="2537646"/>
            <a:ext cx="350000" cy="220000"/>
          </a:xfrm>
          <a:prstGeom prst="rightArrow">
            <a:avLst>
              <a:gd name="adj1" fmla="val 50000"/>
              <a:gd name="adj2" fmla="val 50000"/>
            </a:avLst>
          </a:prstGeom>
          <a:solidFill>
            <a:srgbClr val="0078D4"/>
          </a:solidFill>
        </p:spPr>
        <p:txBody>
          <a:bodyPr/>
          <a:lstStyle/>
          <a:p>
            <a:endParaRPr lang="en-US"/>
          </a:p>
        </p:txBody>
      </p:sp>
      <p:sp>
        <p:nvSpPr>
          <p:cNvPr id="12" name="D4"/>
          <p:cNvSpPr/>
          <p:nvPr/>
        </p:nvSpPr>
        <p:spPr>
          <a:xfrm>
            <a:off x="9041063" y="2237646"/>
            <a:ext cx="2000000" cy="700000"/>
          </a:xfrm>
          <a:prstGeom prst="roundRect">
            <a:avLst>
              <a:gd name="adj" fmla="val 12000"/>
            </a:avLst>
          </a:prstGeom>
          <a:solidFill>
            <a:srgbClr val="8DE971">
              <a:alpha val="25000"/>
            </a:srgbClr>
          </a:solidFill>
          <a:ln w="22860">
            <a:solidFill>
              <a:srgbClr val="8DE971"/>
            </a:solidFill>
          </a:ln>
        </p:spPr>
        <p:txBody>
          <a:bodyPr wrap="square" lIns="91440" tIns="45720" rIns="91440" bIns="45720" anchor="ctr"/>
          <a:lstStyle/>
          <a:p>
            <a:pPr algn="ctr"/>
            <a:r>
              <a:rPr lang="en-US" sz="1200" b="1">
                <a:solidFill>
                  <a:srgbClr val="8DE971"/>
                </a:solidFill>
              </a:rPr>
              <a:t>4. Deploy Live</a:t>
            </a:r>
          </a:p>
          <a:p>
            <a:pPr algn="ctr"/>
            <a:r>
              <a:rPr lang="en-US" sz="900">
                <a:solidFill>
                  <a:srgbClr val="FFFFFF"/>
                </a:solidFill>
              </a:rPr>
              <a:t>Embedded in Power Apps</a:t>
            </a:r>
          </a:p>
        </p:txBody>
      </p:sp>
      <p:sp>
        <p:nvSpPr>
          <p:cNvPr id="13" name="Divider"/>
          <p:cNvSpPr/>
          <p:nvPr/>
        </p:nvSpPr>
        <p:spPr>
          <a:xfrm>
            <a:off x="588263" y="3887646"/>
            <a:ext cx="11080800" cy="30000"/>
          </a:xfrm>
          <a:prstGeom prst="rect">
            <a:avLst/>
          </a:prstGeom>
          <a:solidFill>
            <a:srgbClr val="FFFFFF">
              <a:alpha val="15000"/>
            </a:srgbClr>
          </a:solidFill>
        </p:spPr>
        <p:txBody>
          <a:bodyPr/>
          <a:lstStyle/>
          <a:p>
            <a:endParaRPr lang="en-US"/>
          </a:p>
        </p:txBody>
      </p:sp>
      <p:sp>
        <p:nvSpPr>
          <p:cNvPr id="14" name="UserLaneLabel"/>
          <p:cNvSpPr/>
          <p:nvPr/>
        </p:nvSpPr>
        <p:spPr>
          <a:xfrm>
            <a:off x="588263" y="4007646"/>
            <a:ext cx="1200000" cy="1900000"/>
          </a:xfrm>
          <a:prstGeom prst="rect">
            <a:avLst/>
          </a:prstGeom>
          <a:solidFill>
            <a:srgbClr val="E91E8C">
              <a:alpha val="30000"/>
            </a:srgbClr>
          </a:solidFill>
          <a:ln w="19050">
            <a:solidFill>
              <a:srgbClr val="E91E8C"/>
            </a:solidFill>
          </a:ln>
        </p:spPr>
        <p:txBody>
          <a:bodyPr vert="vert270" anchor="ctr"/>
          <a:lstStyle/>
          <a:p>
            <a:pPr algn="ctr"/>
            <a:r>
              <a:rPr lang="en-US" sz="1100" b="1">
                <a:solidFill>
                  <a:srgbClr val="E91E8C"/>
                </a:solidFill>
              </a:rPr>
              <a:t>USER ADOPTION</a:t>
            </a:r>
          </a:p>
        </p:txBody>
      </p:sp>
      <p:pic>
        <p:nvPicPr>
          <p:cNvPr id="15" name="BillingIcon"/>
          <p:cNvPicPr>
            <a:picLocks noChangeAspect="1"/>
          </p:cNvPicPr>
          <p:nvPr/>
        </p:nvPicPr>
        <p:blipFill>
          <a:blip r:embed="rId3"/>
          <a:stretch>
            <a:fillRect/>
          </a:stretch>
        </p:blipFill>
        <p:spPr>
          <a:xfrm>
            <a:off x="1931063" y="4087646"/>
            <a:ext cx="300000" cy="300000"/>
          </a:xfrm>
          <a:prstGeom prst="rect">
            <a:avLst/>
          </a:prstGeom>
        </p:spPr>
      </p:pic>
      <p:sp>
        <p:nvSpPr>
          <p:cNvPr id="16" name="BillingLabel"/>
          <p:cNvSpPr/>
          <p:nvPr/>
        </p:nvSpPr>
        <p:spPr>
          <a:xfrm>
            <a:off x="2271063" y="4067646"/>
            <a:ext cx="1560000" cy="350000"/>
          </a:xfrm>
          <a:prstGeom prst="rect">
            <a:avLst/>
          </a:prstGeom>
          <a:noFill/>
        </p:spPr>
        <p:txBody>
          <a:bodyPr anchor="ctr"/>
          <a:lstStyle/>
          <a:p>
            <a:pPr algn="l"/>
            <a:r>
              <a:rPr lang="en-US" sz="1200" b="1">
                <a:solidFill>
                  <a:srgbClr val="FF6B00"/>
                </a:solidFill>
              </a:rPr>
              <a:t>Billing Operators</a:t>
            </a:r>
          </a:p>
        </p:txBody>
      </p:sp>
      <p:pic>
        <p:nvPicPr>
          <p:cNvPr id="17" name="PharmIcon"/>
          <p:cNvPicPr>
            <a:picLocks noChangeAspect="1"/>
          </p:cNvPicPr>
          <p:nvPr/>
        </p:nvPicPr>
        <p:blipFill>
          <a:blip r:embed="rId4"/>
          <a:stretch>
            <a:fillRect/>
          </a:stretch>
        </p:blipFill>
        <p:spPr>
          <a:xfrm>
            <a:off x="1931063" y="4457646"/>
            <a:ext cx="300000" cy="300000"/>
          </a:xfrm>
          <a:prstGeom prst="rect">
            <a:avLst/>
          </a:prstGeom>
        </p:spPr>
      </p:pic>
      <p:sp>
        <p:nvSpPr>
          <p:cNvPr id="18" name="PharmLabel"/>
          <p:cNvSpPr/>
          <p:nvPr/>
        </p:nvSpPr>
        <p:spPr>
          <a:xfrm>
            <a:off x="2271063" y="4437646"/>
            <a:ext cx="1560000" cy="350000"/>
          </a:xfrm>
          <a:prstGeom prst="rect">
            <a:avLst/>
          </a:prstGeom>
          <a:noFill/>
        </p:spPr>
        <p:txBody>
          <a:bodyPr anchor="ctr"/>
          <a:lstStyle/>
          <a:p>
            <a:pPr algn="l"/>
            <a:r>
              <a:rPr lang="en-US" sz="1200" b="1">
                <a:solidFill>
                  <a:srgbClr val="E91E8C"/>
                </a:solidFill>
              </a:rPr>
              <a:t>Pharmacy Staff</a:t>
            </a:r>
          </a:p>
        </p:txBody>
      </p:sp>
      <p:sp>
        <p:nvSpPr>
          <p:cNvPr id="19" name="UA1"/>
          <p:cNvSpPr/>
          <p:nvPr/>
        </p:nvSpPr>
        <p:spPr>
          <a:xfrm>
            <a:off x="3891063" y="4697646"/>
            <a:ext cx="350000" cy="220000"/>
          </a:xfrm>
          <a:prstGeom prst="rightArrow">
            <a:avLst>
              <a:gd name="adj1" fmla="val 50000"/>
              <a:gd name="adj2" fmla="val 50000"/>
            </a:avLst>
          </a:prstGeom>
          <a:solidFill>
            <a:srgbClr val="E91E8C"/>
          </a:solidFill>
        </p:spPr>
        <p:txBody>
          <a:bodyPr/>
          <a:lstStyle/>
          <a:p>
            <a:endParaRPr lang="en-US"/>
          </a:p>
        </p:txBody>
      </p:sp>
      <p:sp>
        <p:nvSpPr>
          <p:cNvPr id="20" name="U1"/>
          <p:cNvSpPr/>
          <p:nvPr/>
        </p:nvSpPr>
        <p:spPr>
          <a:xfrm>
            <a:off x="4301063" y="4407646"/>
            <a:ext cx="1900000" cy="750000"/>
          </a:xfrm>
          <a:prstGeom prst="roundRect">
            <a:avLst>
              <a:gd name="adj" fmla="val 12000"/>
            </a:avLst>
          </a:prstGeom>
          <a:solidFill>
            <a:srgbClr val="E91E8C">
              <a:alpha val="22000"/>
            </a:srgbClr>
          </a:solidFill>
          <a:ln w="19050">
            <a:solidFill>
              <a:srgbClr val="E91E8C"/>
            </a:solidFill>
          </a:ln>
        </p:spPr>
        <p:txBody>
          <a:bodyPr wrap="square" lIns="91440" tIns="45720" rIns="91440" bIns="45720" anchor="ctr"/>
          <a:lstStyle/>
          <a:p>
            <a:pPr algn="ctr"/>
            <a:r>
              <a:rPr lang="en-US" sz="1200" b="1">
                <a:solidFill>
                  <a:srgbClr val="E91E8C"/>
                </a:solidFill>
              </a:rPr>
              <a:t>A. Awareness</a:t>
            </a:r>
          </a:p>
          <a:p>
            <a:pPr algn="ctr"/>
            <a:r>
              <a:rPr lang="en-US" sz="870">
                <a:solidFill>
                  <a:srgbClr val="FFFFFF"/>
                </a:solidFill>
              </a:rPr>
              <a:t>Live demo of agent solving real claim error</a:t>
            </a:r>
          </a:p>
        </p:txBody>
      </p:sp>
      <p:sp>
        <p:nvSpPr>
          <p:cNvPr id="21" name="UA2"/>
          <p:cNvSpPr/>
          <p:nvPr/>
        </p:nvSpPr>
        <p:spPr>
          <a:xfrm>
            <a:off x="6261063" y="4697646"/>
            <a:ext cx="350000" cy="220000"/>
          </a:xfrm>
          <a:prstGeom prst="rightArrow">
            <a:avLst>
              <a:gd name="adj1" fmla="val 50000"/>
              <a:gd name="adj2" fmla="val 50000"/>
            </a:avLst>
          </a:prstGeom>
          <a:solidFill>
            <a:srgbClr val="E91E8C"/>
          </a:solidFill>
        </p:spPr>
        <p:txBody>
          <a:bodyPr/>
          <a:lstStyle/>
          <a:p>
            <a:endParaRPr lang="en-US"/>
          </a:p>
        </p:txBody>
      </p:sp>
      <p:sp>
        <p:nvSpPr>
          <p:cNvPr id="22" name="U2"/>
          <p:cNvSpPr/>
          <p:nvPr/>
        </p:nvSpPr>
        <p:spPr>
          <a:xfrm>
            <a:off x="6671063" y="4407646"/>
            <a:ext cx="1900000" cy="750000"/>
          </a:xfrm>
          <a:prstGeom prst="roundRect">
            <a:avLst>
              <a:gd name="adj" fmla="val 12000"/>
            </a:avLst>
          </a:prstGeom>
          <a:solidFill>
            <a:srgbClr val="E91E8C">
              <a:alpha val="22000"/>
            </a:srgbClr>
          </a:solidFill>
          <a:ln w="19050">
            <a:solidFill>
              <a:srgbClr val="E91E8C"/>
            </a:solidFill>
          </a:ln>
        </p:spPr>
        <p:txBody>
          <a:bodyPr wrap="square" lIns="91440" tIns="45720" rIns="91440" bIns="45720" anchor="ctr"/>
          <a:lstStyle/>
          <a:p>
            <a:pPr algn="ctr"/>
            <a:r>
              <a:rPr lang="en-US" sz="1200" b="1">
                <a:solidFill>
                  <a:srgbClr val="E91E8C"/>
                </a:solidFill>
              </a:rPr>
              <a:t>B. Guided Practice</a:t>
            </a:r>
          </a:p>
          <a:p>
            <a:pPr algn="ctr"/>
            <a:r>
              <a:rPr lang="en-US" sz="870">
                <a:solidFill>
                  <a:srgbClr val="FFFFFF"/>
                </a:solidFill>
              </a:rPr>
              <a:t>Side-by-side walkthrough with dev team</a:t>
            </a:r>
          </a:p>
        </p:txBody>
      </p:sp>
      <p:sp>
        <p:nvSpPr>
          <p:cNvPr id="23" name="UA3"/>
          <p:cNvSpPr/>
          <p:nvPr/>
        </p:nvSpPr>
        <p:spPr>
          <a:xfrm>
            <a:off x="8631063" y="4697646"/>
            <a:ext cx="350000" cy="220000"/>
          </a:xfrm>
          <a:prstGeom prst="rightArrow">
            <a:avLst>
              <a:gd name="adj1" fmla="val 50000"/>
              <a:gd name="adj2" fmla="val 50000"/>
            </a:avLst>
          </a:prstGeom>
          <a:solidFill>
            <a:srgbClr val="E91E8C"/>
          </a:solidFill>
        </p:spPr>
        <p:txBody>
          <a:bodyPr/>
          <a:lstStyle/>
          <a:p>
            <a:endParaRPr lang="en-US"/>
          </a:p>
        </p:txBody>
      </p:sp>
      <p:sp>
        <p:nvSpPr>
          <p:cNvPr id="24" name="U3"/>
          <p:cNvSpPr/>
          <p:nvPr/>
        </p:nvSpPr>
        <p:spPr>
          <a:xfrm>
            <a:off x="9041063" y="4407646"/>
            <a:ext cx="2000000" cy="750000"/>
          </a:xfrm>
          <a:prstGeom prst="roundRect">
            <a:avLst>
              <a:gd name="adj" fmla="val 12000"/>
            </a:avLst>
          </a:prstGeom>
          <a:solidFill>
            <a:srgbClr val="8DE971">
              <a:alpha val="25000"/>
            </a:srgbClr>
          </a:solidFill>
          <a:ln w="22860">
            <a:solidFill>
              <a:srgbClr val="8DE971"/>
            </a:solidFill>
          </a:ln>
        </p:spPr>
        <p:txBody>
          <a:bodyPr wrap="square" lIns="91440" tIns="45720" rIns="91440" bIns="45720" anchor="ctr"/>
          <a:lstStyle/>
          <a:p>
            <a:pPr algn="ctr"/>
            <a:r>
              <a:rPr lang="en-US" sz="1200" b="1">
                <a:solidFill>
                  <a:srgbClr val="8DE971"/>
                </a:solidFill>
              </a:rPr>
              <a:t>C. Daily Use</a:t>
            </a:r>
          </a:p>
          <a:p>
            <a:pPr algn="ctr"/>
            <a:r>
              <a:rPr lang="en-US" sz="870">
                <a:solidFill>
                  <a:srgbClr val="FFFFFF"/>
                </a:solidFill>
              </a:rPr>
              <a:t>Staff request next agent themselves</a:t>
            </a:r>
          </a:p>
        </p:txBody>
      </p:sp>
      <p:sp>
        <p:nvSpPr>
          <p:cNvPr id="25" name="Handoff"/>
          <p:cNvSpPr/>
          <p:nvPr/>
        </p:nvSpPr>
        <p:spPr>
          <a:xfrm>
            <a:off x="10031063" y="2987646"/>
            <a:ext cx="30000" cy="1420000"/>
          </a:xfrm>
          <a:prstGeom prst="rect">
            <a:avLst/>
          </a:prstGeom>
          <a:solidFill>
            <a:srgbClr val="8DE971"/>
          </a:solidFill>
        </p:spPr>
        <p:txBody>
          <a:bodyPr/>
          <a:lstStyle/>
          <a:p>
            <a:endParaRPr lang="en-US"/>
          </a:p>
        </p:txBody>
      </p:sp>
      <p:sp>
        <p:nvSpPr>
          <p:cNvPr id="26" name="HandoffLabel"/>
          <p:cNvSpPr/>
          <p:nvPr/>
        </p:nvSpPr>
        <p:spPr>
          <a:xfrm>
            <a:off x="10081063" y="3457646"/>
            <a:ext cx="1500000" cy="350000"/>
          </a:xfrm>
          <a:prstGeom prst="rect">
            <a:avLst/>
          </a:prstGeom>
          <a:noFill/>
        </p:spPr>
        <p:txBody>
          <a:bodyPr anchor="ctr"/>
          <a:lstStyle/>
          <a:p>
            <a:pPr algn="l"/>
            <a:r>
              <a:rPr lang="en-US" sz="1200" b="1">
                <a:solidFill>
                  <a:srgbClr val="8DE971"/>
                </a:solidFill>
              </a:rPr>
              <a:t>↓ Handed to users</a:t>
            </a:r>
          </a:p>
        </p:txBody>
      </p:sp>
      <p:pic>
        <p:nvPicPr>
          <p:cNvPr id="27" name="IcoPAut"/>
          <p:cNvPicPr>
            <a:picLocks noChangeAspect="1"/>
          </p:cNvPicPr>
          <p:nvPr/>
        </p:nvPicPr>
        <p:blipFill>
          <a:blip r:embed="rId5"/>
          <a:stretch>
            <a:fillRect/>
          </a:stretch>
        </p:blipFill>
        <p:spPr>
          <a:xfrm>
            <a:off x="4301063" y="2267646"/>
            <a:ext cx="200000" cy="200000"/>
          </a:xfrm>
          <a:prstGeom prst="rect">
            <a:avLst/>
          </a:prstGeom>
        </p:spPr>
      </p:pic>
      <p:pic>
        <p:nvPicPr>
          <p:cNvPr id="28" name="IcoDV"/>
          <p:cNvPicPr>
            <a:picLocks noChangeAspect="1"/>
          </p:cNvPicPr>
          <p:nvPr/>
        </p:nvPicPr>
        <p:blipFill>
          <a:blip r:embed="rId6"/>
          <a:stretch>
            <a:fillRect/>
          </a:stretch>
        </p:blipFill>
        <p:spPr>
          <a:xfrm>
            <a:off x="6671063" y="4437646"/>
            <a:ext cx="200000" cy="200000"/>
          </a:xfrm>
          <a:prstGeom prst="rect">
            <a:avLst/>
          </a:prstGeom>
        </p:spPr>
      </p:pic>
      <p:pic>
        <p:nvPicPr>
          <p:cNvPr id="29" name="IcoPA"/>
          <p:cNvPicPr>
            <a:picLocks noChangeAspect="1"/>
          </p:cNvPicPr>
          <p:nvPr/>
        </p:nvPicPr>
        <p:blipFill>
          <a:blip r:embed="rId7"/>
          <a:stretch>
            <a:fillRect/>
          </a:stretch>
        </p:blipFill>
        <p:spPr>
          <a:xfrm>
            <a:off x="9041063" y="2267646"/>
            <a:ext cx="200000" cy="200000"/>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F9BB6-906B-699B-08FD-EF739B984B30}"/>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B2003F27-9F64-E0E5-9FAE-4ADCEE20D608}"/>
              </a:ext>
            </a:extLst>
          </p:cNvPr>
          <p:cNvSpPr>
            <a:spLocks noGrp="1"/>
          </p:cNvSpPr>
          <p:nvPr>
            <p:ph type="title"/>
          </p:nvPr>
        </p:nvSpPr>
        <p:spPr/>
        <p:txBody>
          <a:bodyPr/>
          <a:lstStyle/>
          <a:p>
            <a:r>
              <a:rPr lang="en-US"/>
              <a:t>AI enablement strategy and adoption journey</a:t>
            </a:r>
          </a:p>
        </p:txBody>
      </p:sp>
      <p:sp>
        <p:nvSpPr>
          <p:cNvPr id="32" name="Rectangle 31">
            <a:extLst>
              <a:ext uri="{FF2B5EF4-FFF2-40B4-BE49-F238E27FC236}">
                <a16:creationId xmlns:a16="http://schemas.microsoft.com/office/drawing/2014/main" id="{6BC8CB1F-0DEA-FDA6-975D-0C98E0F3C743}"/>
              </a:ext>
            </a:extLst>
          </p:cNvPr>
          <p:cNvSpPr/>
          <p:nvPr/>
        </p:nvSpPr>
        <p:spPr>
          <a:xfrm>
            <a:off x="585358" y="2716062"/>
            <a:ext cx="9120250" cy="7149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
            <a:extLst>
              <a:ext uri="{FF2B5EF4-FFF2-40B4-BE49-F238E27FC236}">
                <a16:creationId xmlns:a16="http://schemas.microsoft.com/office/drawing/2014/main" id="{A5B05628-A78B-5819-174A-51A1337CDD06}"/>
              </a:ext>
            </a:extLst>
          </p:cNvPr>
          <p:cNvSpPr/>
          <p:nvPr/>
        </p:nvSpPr>
        <p:spPr>
          <a:xfrm>
            <a:off x="525983" y="2520791"/>
            <a:ext cx="2434393" cy="476271"/>
          </a:xfrm>
          <a:prstGeom prst="roundRect">
            <a:avLst/>
          </a:prstGeom>
          <a:solidFill>
            <a:srgbClr val="FF6B00"/>
          </a:solidFill>
          <a:ln>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  </a:t>
            </a:r>
            <a:r>
              <a:rPr lang="en-US"/>
              <a:t>The Value Hypothesis</a:t>
            </a:r>
            <a:endParaRPr/>
          </a:p>
        </p:txBody>
      </p:sp>
      <p:sp>
        <p:nvSpPr>
          <p:cNvPr id="34" name="Oval 33">
            <a:extLst>
              <a:ext uri="{FF2B5EF4-FFF2-40B4-BE49-F238E27FC236}">
                <a16:creationId xmlns:a16="http://schemas.microsoft.com/office/drawing/2014/main" id="{585B04B6-B7D0-C385-0BB1-88D97E9F9BDB}"/>
              </a:ext>
            </a:extLst>
          </p:cNvPr>
          <p:cNvSpPr/>
          <p:nvPr/>
        </p:nvSpPr>
        <p:spPr>
          <a:xfrm>
            <a:off x="1565053" y="2835130"/>
            <a:ext cx="308752" cy="2476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a:extLst>
              <a:ext uri="{FF2B5EF4-FFF2-40B4-BE49-F238E27FC236}">
                <a16:creationId xmlns:a16="http://schemas.microsoft.com/office/drawing/2014/main" id="{91C3B0A5-A782-5AD0-50E9-4671FFFEF8AD}"/>
              </a:ext>
            </a:extLst>
          </p:cNvPr>
          <p:cNvSpPr/>
          <p:nvPr/>
        </p:nvSpPr>
        <p:spPr>
          <a:xfrm>
            <a:off x="525983" y="3054214"/>
            <a:ext cx="2434393" cy="2836563"/>
          </a:xfrm>
          <a:prstGeom prst="rect">
            <a:avLst/>
          </a:prstGeom>
          <a:solidFill>
            <a:srgbClr val="142837"/>
          </a:solidFill>
          <a:ln w="19050">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2DBB27EF-8B18-99F0-8758-210D837F970B}"/>
              </a:ext>
            </a:extLst>
          </p:cNvPr>
          <p:cNvSpPr txBox="1"/>
          <p:nvPr/>
        </p:nvSpPr>
        <p:spPr>
          <a:xfrm>
            <a:off x="585358" y="3187094"/>
            <a:ext cx="2315642" cy="2226250"/>
          </a:xfrm>
          <a:prstGeom prst="rect">
            <a:avLst/>
          </a:prstGeom>
          <a:noFill/>
        </p:spPr>
        <p:txBody>
          <a:bodyPr wrap="square">
            <a:spAutoFit/>
          </a:bodyPr>
          <a:lstStyle/>
          <a:p>
            <a:pPr>
              <a:spcBef>
                <a:spcPts val="400"/>
              </a:spcBef>
              <a:defRPr sz="1000" b="1">
                <a:solidFill>
                  <a:srgbClr val="FF6B00"/>
                </a:solidFill>
              </a:defRPr>
            </a:pPr>
            <a:r>
              <a:rPr sz="1200"/>
              <a:t>Audit time + pain</a:t>
            </a:r>
          </a:p>
          <a:p>
            <a:pPr>
              <a:defRPr sz="1000">
                <a:solidFill>
                  <a:srgbClr val="FFFFFF"/>
                </a:solidFill>
              </a:defRPr>
            </a:pPr>
            <a:r>
              <a:rPr sz="1200"/>
              <a:t>Sit with billing ops and pharmacy staff. Time every manual task.</a:t>
            </a:r>
          </a:p>
          <a:p>
            <a:pPr>
              <a:spcBef>
                <a:spcPts val="400"/>
              </a:spcBef>
              <a:defRPr sz="1000" b="1">
                <a:solidFill>
                  <a:srgbClr val="FF6B00"/>
                </a:solidFill>
              </a:defRPr>
            </a:pPr>
            <a:r>
              <a:rPr sz="1200"/>
              <a:t>Find the target</a:t>
            </a:r>
          </a:p>
          <a:p>
            <a:pPr>
              <a:defRPr sz="1000">
                <a:solidFill>
                  <a:srgbClr val="FFFFFF"/>
                </a:solidFill>
              </a:defRPr>
            </a:pPr>
            <a:r>
              <a:rPr sz="1200"/>
              <a:t>Same task every day? Manual copy-paste? That's just how we do it? That's your first agent.</a:t>
            </a:r>
          </a:p>
          <a:p>
            <a:pPr>
              <a:spcBef>
                <a:spcPts val="400"/>
              </a:spcBef>
              <a:defRPr sz="1000" b="1">
                <a:solidFill>
                  <a:srgbClr val="FF6B00"/>
                </a:solidFill>
              </a:defRPr>
            </a:pPr>
            <a:r>
              <a:rPr sz="1200"/>
              <a:t>Our pick: Prior Auth</a:t>
            </a:r>
          </a:p>
          <a:p>
            <a:pPr>
              <a:defRPr sz="1000">
                <a:solidFill>
                  <a:srgbClr val="FFFFFF"/>
                </a:solidFill>
              </a:defRPr>
            </a:pPr>
            <a:r>
              <a:rPr sz="1200"/>
              <a:t>2 </a:t>
            </a:r>
            <a:r>
              <a:rPr sz="1200" err="1"/>
              <a:t>hrs</a:t>
            </a:r>
            <a:r>
              <a:rPr sz="1200"/>
              <a:t> per case. Manual. Hated. Perfect first target.</a:t>
            </a:r>
          </a:p>
        </p:txBody>
      </p:sp>
      <p:sp>
        <p:nvSpPr>
          <p:cNvPr id="37" name="Rounded Rectangle 7">
            <a:extLst>
              <a:ext uri="{FF2B5EF4-FFF2-40B4-BE49-F238E27FC236}">
                <a16:creationId xmlns:a16="http://schemas.microsoft.com/office/drawing/2014/main" id="{EBC15F3A-B313-B5F6-DAEA-852EB3432323}"/>
              </a:ext>
            </a:extLst>
          </p:cNvPr>
          <p:cNvSpPr/>
          <p:nvPr/>
        </p:nvSpPr>
        <p:spPr>
          <a:xfrm>
            <a:off x="3323498" y="2520791"/>
            <a:ext cx="2434393" cy="476271"/>
          </a:xfrm>
          <a:prstGeom prst="roundRect">
            <a:avLst/>
          </a:prstGeom>
          <a:solidFill>
            <a:srgbClr val="E91E8C"/>
          </a:solidFill>
          <a:ln>
            <a:solidFill>
              <a:srgbClr val="E91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  </a:t>
            </a:r>
            <a:r>
              <a:rPr lang="en-US"/>
              <a:t>Co-Creation Framework</a:t>
            </a:r>
            <a:endParaRPr/>
          </a:p>
        </p:txBody>
      </p:sp>
      <p:sp>
        <p:nvSpPr>
          <p:cNvPr id="38" name="Oval 37">
            <a:extLst>
              <a:ext uri="{FF2B5EF4-FFF2-40B4-BE49-F238E27FC236}">
                <a16:creationId xmlns:a16="http://schemas.microsoft.com/office/drawing/2014/main" id="{13C74DBB-0392-E964-0B2D-E1EA08A93565}"/>
              </a:ext>
            </a:extLst>
          </p:cNvPr>
          <p:cNvSpPr/>
          <p:nvPr/>
        </p:nvSpPr>
        <p:spPr>
          <a:xfrm>
            <a:off x="4362568" y="2835130"/>
            <a:ext cx="308752" cy="247661"/>
          </a:xfrm>
          <a:prstGeom prst="ellipse">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a:extLst>
              <a:ext uri="{FF2B5EF4-FFF2-40B4-BE49-F238E27FC236}">
                <a16:creationId xmlns:a16="http://schemas.microsoft.com/office/drawing/2014/main" id="{D8737895-B950-C95F-86F3-D783C09AEB94}"/>
              </a:ext>
            </a:extLst>
          </p:cNvPr>
          <p:cNvSpPr/>
          <p:nvPr/>
        </p:nvSpPr>
        <p:spPr>
          <a:xfrm>
            <a:off x="3323498" y="3054214"/>
            <a:ext cx="2434393" cy="2836563"/>
          </a:xfrm>
          <a:prstGeom prst="rect">
            <a:avLst/>
          </a:prstGeom>
          <a:solidFill>
            <a:srgbClr val="142837"/>
          </a:solidFill>
          <a:ln w="19050">
            <a:solidFill>
              <a:srgbClr val="E91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BB584063-3DD3-E8F6-68BD-D9A5BE91988A}"/>
              </a:ext>
            </a:extLst>
          </p:cNvPr>
          <p:cNvSpPr txBox="1"/>
          <p:nvPr/>
        </p:nvSpPr>
        <p:spPr>
          <a:xfrm>
            <a:off x="3382873" y="3187094"/>
            <a:ext cx="2315642" cy="2595582"/>
          </a:xfrm>
          <a:prstGeom prst="rect">
            <a:avLst/>
          </a:prstGeom>
          <a:noFill/>
        </p:spPr>
        <p:txBody>
          <a:bodyPr wrap="square">
            <a:spAutoFit/>
          </a:bodyPr>
          <a:lstStyle/>
          <a:p>
            <a:pPr>
              <a:spcBef>
                <a:spcPts val="400"/>
              </a:spcBef>
              <a:defRPr sz="1000" b="1">
                <a:solidFill>
                  <a:srgbClr val="E91E8C"/>
                </a:solidFill>
              </a:defRPr>
            </a:pPr>
            <a:r>
              <a:rPr sz="1200"/>
              <a:t>Frontline users first</a:t>
            </a:r>
          </a:p>
          <a:p>
            <a:pPr>
              <a:defRPr sz="1000">
                <a:solidFill>
                  <a:srgbClr val="FFFFFF"/>
                </a:solidFill>
              </a:defRPr>
            </a:pPr>
            <a:r>
              <a:rPr sz="1200"/>
              <a:t>Job-shadow billing ops. Run prototype reviews with pharmacy leads.</a:t>
            </a:r>
          </a:p>
          <a:p>
            <a:pPr>
              <a:spcBef>
                <a:spcPts val="400"/>
              </a:spcBef>
              <a:defRPr sz="1000" b="1">
                <a:solidFill>
                  <a:srgbClr val="E91E8C"/>
                </a:solidFill>
              </a:defRPr>
            </a:pPr>
            <a:r>
              <a:rPr sz="1200"/>
              <a:t>Name champions</a:t>
            </a:r>
          </a:p>
          <a:p>
            <a:pPr>
              <a:defRPr sz="1000">
                <a:solidFill>
                  <a:srgbClr val="FFFFFF"/>
                </a:solidFill>
              </a:defRPr>
            </a:pPr>
            <a:r>
              <a:rPr sz="1200"/>
              <a:t>Internal champions co-own the rollout. Their word carries more weight than any IT memo.</a:t>
            </a:r>
          </a:p>
          <a:p>
            <a:pPr>
              <a:spcBef>
                <a:spcPts val="400"/>
              </a:spcBef>
              <a:defRPr sz="1000" b="1">
                <a:solidFill>
                  <a:srgbClr val="E91E8C"/>
                </a:solidFill>
              </a:defRPr>
            </a:pPr>
            <a:r>
              <a:rPr sz="1200"/>
              <a:t>Shape every prompt</a:t>
            </a:r>
          </a:p>
          <a:p>
            <a:pPr>
              <a:defRPr sz="1000">
                <a:solidFill>
                  <a:srgbClr val="FFFFFF"/>
                </a:solidFill>
              </a:defRPr>
            </a:pPr>
            <a:r>
              <a:rPr sz="1200"/>
              <a:t>Staff told us what 'a good answer' looks like. They caught edge cases we'd never find in testing.</a:t>
            </a:r>
          </a:p>
        </p:txBody>
      </p:sp>
      <p:sp>
        <p:nvSpPr>
          <p:cNvPr id="41" name="Rounded Rectangle 11">
            <a:extLst>
              <a:ext uri="{FF2B5EF4-FFF2-40B4-BE49-F238E27FC236}">
                <a16:creationId xmlns:a16="http://schemas.microsoft.com/office/drawing/2014/main" id="{FEFC866C-2111-08AA-E07E-60781733BD5D}"/>
              </a:ext>
            </a:extLst>
          </p:cNvPr>
          <p:cNvSpPr/>
          <p:nvPr/>
        </p:nvSpPr>
        <p:spPr>
          <a:xfrm>
            <a:off x="6121013" y="2520791"/>
            <a:ext cx="2434393" cy="476271"/>
          </a:xfrm>
          <a:prstGeom prst="round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  </a:t>
            </a:r>
            <a:r>
              <a:rPr lang="en-US"/>
              <a:t>Workflow Ecosystem</a:t>
            </a:r>
            <a:endParaRPr/>
          </a:p>
        </p:txBody>
      </p:sp>
      <p:sp>
        <p:nvSpPr>
          <p:cNvPr id="42" name="Oval 41">
            <a:extLst>
              <a:ext uri="{FF2B5EF4-FFF2-40B4-BE49-F238E27FC236}">
                <a16:creationId xmlns:a16="http://schemas.microsoft.com/office/drawing/2014/main" id="{9B226E06-A6ED-5882-9A18-0AD3B5ED15B8}"/>
              </a:ext>
            </a:extLst>
          </p:cNvPr>
          <p:cNvSpPr/>
          <p:nvPr/>
        </p:nvSpPr>
        <p:spPr>
          <a:xfrm>
            <a:off x="7160083" y="2835130"/>
            <a:ext cx="308752" cy="247661"/>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a:extLst>
              <a:ext uri="{FF2B5EF4-FFF2-40B4-BE49-F238E27FC236}">
                <a16:creationId xmlns:a16="http://schemas.microsoft.com/office/drawing/2014/main" id="{32BFBAC5-7B15-4BCA-2A4E-C896F4E6A907}"/>
              </a:ext>
            </a:extLst>
          </p:cNvPr>
          <p:cNvSpPr/>
          <p:nvPr/>
        </p:nvSpPr>
        <p:spPr>
          <a:xfrm>
            <a:off x="6121013" y="3054214"/>
            <a:ext cx="2434393" cy="2836563"/>
          </a:xfrm>
          <a:prstGeom prst="rect">
            <a:avLst/>
          </a:prstGeom>
          <a:solidFill>
            <a:srgbClr val="142837"/>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28961C5F-6C6F-1035-25A6-2F5F2EBC34BA}"/>
              </a:ext>
            </a:extLst>
          </p:cNvPr>
          <p:cNvSpPr txBox="1"/>
          <p:nvPr/>
        </p:nvSpPr>
        <p:spPr>
          <a:xfrm>
            <a:off x="6255767" y="3187094"/>
            <a:ext cx="2299639" cy="2226250"/>
          </a:xfrm>
          <a:prstGeom prst="rect">
            <a:avLst/>
          </a:prstGeom>
          <a:noFill/>
        </p:spPr>
        <p:txBody>
          <a:bodyPr wrap="square">
            <a:spAutoFit/>
          </a:bodyPr>
          <a:lstStyle/>
          <a:p>
            <a:pPr>
              <a:spcBef>
                <a:spcPts val="400"/>
              </a:spcBef>
              <a:defRPr sz="1000" b="1">
                <a:solidFill>
                  <a:srgbClr val="0078D4"/>
                </a:solidFill>
              </a:defRPr>
            </a:pPr>
            <a:r>
              <a:rPr lang="en-US" sz="1200"/>
              <a:t>Role-specific tools</a:t>
            </a:r>
          </a:p>
          <a:p>
            <a:pPr>
              <a:defRPr sz="1000">
                <a:solidFill>
                  <a:srgbClr val="FFFFFF"/>
                </a:solidFill>
              </a:defRPr>
            </a:pPr>
            <a:r>
              <a:rPr lang="en-US" sz="1200"/>
              <a:t>Billing ops: model-driven app + embedded Copilot Studio agent. Pharmacy: canvas app.</a:t>
            </a:r>
          </a:p>
          <a:p>
            <a:pPr>
              <a:spcBef>
                <a:spcPts val="400"/>
              </a:spcBef>
              <a:defRPr sz="1000" b="1">
                <a:solidFill>
                  <a:srgbClr val="0078D4"/>
                </a:solidFill>
              </a:defRPr>
            </a:pPr>
            <a:r>
              <a:rPr lang="en-US" sz="1200"/>
              <a:t>Agent in the workflow</a:t>
            </a:r>
          </a:p>
          <a:p>
            <a:pPr>
              <a:defRPr sz="1000">
                <a:solidFill>
                  <a:srgbClr val="FFFFFF"/>
                </a:solidFill>
              </a:defRPr>
            </a:pPr>
            <a:r>
              <a:rPr lang="en-US" sz="1200"/>
              <a:t>Embedded inside the app they already use. No new tab. No context switch.</a:t>
            </a:r>
          </a:p>
          <a:p>
            <a:pPr>
              <a:spcBef>
                <a:spcPts val="400"/>
              </a:spcBef>
              <a:defRPr sz="1000" b="1">
                <a:solidFill>
                  <a:srgbClr val="0078D4"/>
                </a:solidFill>
              </a:defRPr>
            </a:pPr>
            <a:r>
              <a:rPr lang="en-US" sz="1200"/>
              <a:t>Dataverse MCP</a:t>
            </a:r>
          </a:p>
          <a:p>
            <a:pPr>
              <a:defRPr sz="1000">
                <a:solidFill>
                  <a:srgbClr val="FFFFFF"/>
                </a:solidFill>
              </a:defRPr>
            </a:pPr>
            <a:r>
              <a:rPr lang="en-US" sz="1200"/>
              <a:t>Real-time patient lookups with zero custom API code.</a:t>
            </a:r>
          </a:p>
        </p:txBody>
      </p:sp>
      <p:sp>
        <p:nvSpPr>
          <p:cNvPr id="56" name="Sub">
            <a:extLst>
              <a:ext uri="{FF2B5EF4-FFF2-40B4-BE49-F238E27FC236}">
                <a16:creationId xmlns:a16="http://schemas.microsoft.com/office/drawing/2014/main" id="{A23B092B-A498-BF52-21A1-5FB740D3126D}"/>
              </a:ext>
            </a:extLst>
          </p:cNvPr>
          <p:cNvSpPr/>
          <p:nvPr/>
        </p:nvSpPr>
        <p:spPr>
          <a:xfrm>
            <a:off x="525983" y="1092164"/>
            <a:ext cx="11080800" cy="350000"/>
          </a:xfrm>
          <a:prstGeom prst="rect">
            <a:avLst/>
          </a:prstGeom>
          <a:noFill/>
        </p:spPr>
        <p:txBody>
          <a:bodyPr/>
          <a:lstStyle/>
          <a:p>
            <a:pPr algn="l"/>
            <a:r>
              <a:rPr lang="en-US" sz="1200">
                <a:solidFill>
                  <a:srgbClr val="D2D2D2"/>
                </a:solidFill>
              </a:rPr>
              <a:t>The Strategic Pillar we have adopted.</a:t>
            </a:r>
          </a:p>
        </p:txBody>
      </p:sp>
      <p:sp>
        <p:nvSpPr>
          <p:cNvPr id="59" name="Rounded Rectangle 15">
            <a:extLst>
              <a:ext uri="{FF2B5EF4-FFF2-40B4-BE49-F238E27FC236}">
                <a16:creationId xmlns:a16="http://schemas.microsoft.com/office/drawing/2014/main" id="{C4CF3595-02B5-4AD8-3024-5DEEA56E3233}"/>
              </a:ext>
            </a:extLst>
          </p:cNvPr>
          <p:cNvSpPr/>
          <p:nvPr/>
        </p:nvSpPr>
        <p:spPr>
          <a:xfrm>
            <a:off x="8918528" y="2494215"/>
            <a:ext cx="2434392" cy="500000"/>
          </a:xfrm>
          <a:prstGeom prst="roundRect">
            <a:avLst/>
          </a:prstGeom>
          <a:solidFill>
            <a:srgbClr val="8661C5"/>
          </a:solidFill>
          <a:ln>
            <a:solidFill>
              <a:srgbClr val="866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4  </a:t>
            </a:r>
            <a:r>
              <a:rPr lang="en-US"/>
              <a:t>Adopt</a:t>
            </a:r>
            <a:endParaRPr/>
          </a:p>
        </p:txBody>
      </p:sp>
      <p:sp>
        <p:nvSpPr>
          <p:cNvPr id="60" name="Rectangle 59">
            <a:extLst>
              <a:ext uri="{FF2B5EF4-FFF2-40B4-BE49-F238E27FC236}">
                <a16:creationId xmlns:a16="http://schemas.microsoft.com/office/drawing/2014/main" id="{14490A91-14B8-78B7-0E85-832E829AE929}"/>
              </a:ext>
            </a:extLst>
          </p:cNvPr>
          <p:cNvSpPr/>
          <p:nvPr/>
        </p:nvSpPr>
        <p:spPr>
          <a:xfrm>
            <a:off x="8918528" y="3054215"/>
            <a:ext cx="2434392" cy="2867614"/>
          </a:xfrm>
          <a:prstGeom prst="rect">
            <a:avLst/>
          </a:prstGeom>
          <a:solidFill>
            <a:srgbClr val="142837"/>
          </a:solidFill>
          <a:ln w="19050">
            <a:solidFill>
              <a:srgbClr val="866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9104E155-9515-472C-692D-97E03DD9CC9E}"/>
              </a:ext>
            </a:extLst>
          </p:cNvPr>
          <p:cNvSpPr txBox="1"/>
          <p:nvPr/>
        </p:nvSpPr>
        <p:spPr>
          <a:xfrm>
            <a:off x="8968527" y="3187094"/>
            <a:ext cx="2315641" cy="2226250"/>
          </a:xfrm>
          <a:prstGeom prst="rect">
            <a:avLst/>
          </a:prstGeom>
          <a:noFill/>
        </p:spPr>
        <p:txBody>
          <a:bodyPr wrap="square">
            <a:spAutoFit/>
          </a:bodyPr>
          <a:lstStyle/>
          <a:p>
            <a:pPr>
              <a:spcBef>
                <a:spcPts val="400"/>
              </a:spcBef>
              <a:defRPr sz="1000" b="1">
                <a:solidFill>
                  <a:srgbClr val="8661C5"/>
                </a:solidFill>
              </a:defRPr>
            </a:pPr>
            <a:r>
              <a:rPr sz="1200"/>
              <a:t>Structured rollout</a:t>
            </a:r>
          </a:p>
          <a:p>
            <a:pPr>
              <a:defRPr sz="1000">
                <a:solidFill>
                  <a:srgbClr val="FFFFFF"/>
                </a:solidFill>
              </a:defRPr>
            </a:pPr>
            <a:r>
              <a:rPr sz="1200"/>
              <a:t>Wk 1: Live demo -&gt; Wk 2–3: Guided use -&gt; Wk 4+: Independent use</a:t>
            </a:r>
          </a:p>
          <a:p>
            <a:pPr>
              <a:spcBef>
                <a:spcPts val="400"/>
              </a:spcBef>
              <a:defRPr sz="1000" b="1">
                <a:solidFill>
                  <a:srgbClr val="8661C5"/>
                </a:solidFill>
              </a:defRPr>
            </a:pPr>
            <a:r>
              <a:rPr sz="1200"/>
              <a:t>Measure weekly</a:t>
            </a:r>
          </a:p>
          <a:p>
            <a:pPr>
              <a:defRPr sz="1000">
                <a:solidFill>
                  <a:srgbClr val="FFFFFF"/>
                </a:solidFill>
              </a:defRPr>
            </a:pPr>
            <a:r>
              <a:rPr sz="1200"/>
              <a:t>Track agent usage and error rates. Treat adoption like a project.</a:t>
            </a:r>
          </a:p>
          <a:p>
            <a:pPr>
              <a:spcBef>
                <a:spcPts val="400"/>
              </a:spcBef>
              <a:defRPr sz="1000" b="1">
                <a:solidFill>
                  <a:srgbClr val="8661C5"/>
                </a:solidFill>
              </a:defRPr>
            </a:pPr>
            <a:r>
              <a:rPr sz="1200"/>
              <a:t>Show, don't mandate</a:t>
            </a:r>
          </a:p>
          <a:p>
            <a:pPr>
              <a:defRPr sz="1000">
                <a:solidFill>
                  <a:srgbClr val="FFFFFF"/>
                </a:solidFill>
              </a:defRPr>
            </a:pPr>
            <a:r>
              <a:rPr sz="1200"/>
              <a:t>Resistance drops when users see it work on their own claims.</a:t>
            </a:r>
          </a:p>
        </p:txBody>
      </p:sp>
    </p:spTree>
    <p:extLst>
      <p:ext uri="{BB962C8B-B14F-4D97-AF65-F5344CB8AC3E}">
        <p14:creationId xmlns:p14="http://schemas.microsoft.com/office/powerpoint/2010/main" val="153002612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How We Enabled AI: Our Technology Stack</a:t>
            </a:r>
          </a:p>
        </p:txBody>
      </p:sp>
      <p:sp>
        <p:nvSpPr>
          <p:cNvPr id="109" name="Rectangle 108">
            <a:extLst>
              <a:ext uri="{FF2B5EF4-FFF2-40B4-BE49-F238E27FC236}">
                <a16:creationId xmlns:a16="http://schemas.microsoft.com/office/drawing/2014/main" id="{30F5F140-76EA-CDA1-DB45-4FC5E916F4D3}"/>
              </a:ext>
            </a:extLst>
          </p:cNvPr>
          <p:cNvSpPr/>
          <p:nvPr/>
        </p:nvSpPr>
        <p:spPr>
          <a:xfrm>
            <a:off x="2940677" y="6086541"/>
            <a:ext cx="93607" cy="93607"/>
          </a:xfrm>
          <a:prstGeom prst="rect">
            <a:avLst/>
          </a:prstGeom>
          <a:solidFill>
            <a:srgbClr val="00C9A7"/>
          </a:solidFill>
          <a:ln>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a:extLst>
              <a:ext uri="{FF2B5EF4-FFF2-40B4-BE49-F238E27FC236}">
                <a16:creationId xmlns:a16="http://schemas.microsoft.com/office/drawing/2014/main" id="{BC2B2D11-1A4D-A7CE-977C-D35A31F7864A}"/>
              </a:ext>
            </a:extLst>
          </p:cNvPr>
          <p:cNvSpPr txBox="1"/>
          <p:nvPr/>
        </p:nvSpPr>
        <p:spPr>
          <a:xfrm>
            <a:off x="3057687" y="6078740"/>
            <a:ext cx="463856" cy="150972"/>
          </a:xfrm>
          <a:prstGeom prst="rect">
            <a:avLst/>
          </a:prstGeom>
          <a:noFill/>
        </p:spPr>
        <p:txBody>
          <a:bodyPr wrap="none">
            <a:spAutoFit/>
          </a:bodyPr>
          <a:lstStyle/>
          <a:p>
            <a:r>
              <a:rPr sz="550">
                <a:solidFill>
                  <a:srgbClr val="607080"/>
                </a:solidFill>
              </a:rPr>
              <a:t>Data / Core</a:t>
            </a:r>
          </a:p>
        </p:txBody>
      </p:sp>
      <p:sp>
        <p:nvSpPr>
          <p:cNvPr id="111" name="Rectangle 110">
            <a:extLst>
              <a:ext uri="{FF2B5EF4-FFF2-40B4-BE49-F238E27FC236}">
                <a16:creationId xmlns:a16="http://schemas.microsoft.com/office/drawing/2014/main" id="{19F56608-9194-6BFA-A06F-C35BF49DC397}"/>
              </a:ext>
            </a:extLst>
          </p:cNvPr>
          <p:cNvSpPr/>
          <p:nvPr/>
        </p:nvSpPr>
        <p:spPr>
          <a:xfrm>
            <a:off x="3993760" y="6086541"/>
            <a:ext cx="93607" cy="93607"/>
          </a:xfrm>
          <a:prstGeom prst="rect">
            <a:avLst/>
          </a:prstGeom>
          <a:solidFill>
            <a:srgbClr val="38A8F0"/>
          </a:solidFill>
          <a:ln>
            <a:solidFill>
              <a:srgbClr val="38A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a:extLst>
              <a:ext uri="{FF2B5EF4-FFF2-40B4-BE49-F238E27FC236}">
                <a16:creationId xmlns:a16="http://schemas.microsoft.com/office/drawing/2014/main" id="{8D6DD3C7-9FDC-A1A3-5DF0-CA5EF53E80D3}"/>
              </a:ext>
            </a:extLst>
          </p:cNvPr>
          <p:cNvSpPr txBox="1"/>
          <p:nvPr/>
        </p:nvSpPr>
        <p:spPr>
          <a:xfrm>
            <a:off x="4110770" y="6078740"/>
            <a:ext cx="540436" cy="150972"/>
          </a:xfrm>
          <a:prstGeom prst="rect">
            <a:avLst/>
          </a:prstGeom>
          <a:noFill/>
        </p:spPr>
        <p:txBody>
          <a:bodyPr wrap="none">
            <a:spAutoFit/>
          </a:bodyPr>
          <a:lstStyle/>
          <a:p>
            <a:r>
              <a:rPr sz="550">
                <a:solidFill>
                  <a:srgbClr val="607080"/>
                </a:solidFill>
              </a:rPr>
              <a:t>Azure Services</a:t>
            </a:r>
          </a:p>
        </p:txBody>
      </p:sp>
      <p:sp>
        <p:nvSpPr>
          <p:cNvPr id="113" name="Rectangle 112">
            <a:extLst>
              <a:ext uri="{FF2B5EF4-FFF2-40B4-BE49-F238E27FC236}">
                <a16:creationId xmlns:a16="http://schemas.microsoft.com/office/drawing/2014/main" id="{1059D27E-C321-4538-8F8E-0ACC3C11DF18}"/>
              </a:ext>
            </a:extLst>
          </p:cNvPr>
          <p:cNvSpPr/>
          <p:nvPr/>
        </p:nvSpPr>
        <p:spPr>
          <a:xfrm>
            <a:off x="5046844" y="6086541"/>
            <a:ext cx="93607" cy="93607"/>
          </a:xfrm>
          <a:prstGeom prst="rect">
            <a:avLst/>
          </a:prstGeom>
          <a:solidFill>
            <a:srgbClr val="A07AEC"/>
          </a:solidFill>
          <a:ln>
            <a:solidFill>
              <a:srgbClr val="A07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a:extLst>
              <a:ext uri="{FF2B5EF4-FFF2-40B4-BE49-F238E27FC236}">
                <a16:creationId xmlns:a16="http://schemas.microsoft.com/office/drawing/2014/main" id="{C063374C-0F8D-D2AB-6EA0-60D531147769}"/>
              </a:ext>
            </a:extLst>
          </p:cNvPr>
          <p:cNvSpPr txBox="1"/>
          <p:nvPr/>
        </p:nvSpPr>
        <p:spPr>
          <a:xfrm>
            <a:off x="5163854" y="6078740"/>
            <a:ext cx="562316" cy="150972"/>
          </a:xfrm>
          <a:prstGeom prst="rect">
            <a:avLst/>
          </a:prstGeom>
          <a:noFill/>
        </p:spPr>
        <p:txBody>
          <a:bodyPr wrap="none">
            <a:spAutoFit/>
          </a:bodyPr>
          <a:lstStyle/>
          <a:p>
            <a:r>
              <a:rPr sz="550">
                <a:solidFill>
                  <a:srgbClr val="607080"/>
                </a:solidFill>
              </a:rPr>
              <a:t>Power Platform</a:t>
            </a:r>
          </a:p>
        </p:txBody>
      </p:sp>
      <p:sp>
        <p:nvSpPr>
          <p:cNvPr id="115" name="Rectangle 114">
            <a:extLst>
              <a:ext uri="{FF2B5EF4-FFF2-40B4-BE49-F238E27FC236}">
                <a16:creationId xmlns:a16="http://schemas.microsoft.com/office/drawing/2014/main" id="{7530912F-288D-1BDC-116B-106B6CDD4B80}"/>
              </a:ext>
            </a:extLst>
          </p:cNvPr>
          <p:cNvSpPr/>
          <p:nvPr/>
        </p:nvSpPr>
        <p:spPr>
          <a:xfrm>
            <a:off x="6099927" y="6086541"/>
            <a:ext cx="93607" cy="93607"/>
          </a:xfrm>
          <a:prstGeom prst="rect">
            <a:avLst/>
          </a:prstGeom>
          <a:solidFill>
            <a:srgbClr val="DDB040"/>
          </a:solidFill>
          <a:ln>
            <a:solidFill>
              <a:srgbClr val="DDB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a:extLst>
              <a:ext uri="{FF2B5EF4-FFF2-40B4-BE49-F238E27FC236}">
                <a16:creationId xmlns:a16="http://schemas.microsoft.com/office/drawing/2014/main" id="{D4E89330-FC50-A7FD-43D9-EB124A8BD21B}"/>
              </a:ext>
            </a:extLst>
          </p:cNvPr>
          <p:cNvSpPr txBox="1"/>
          <p:nvPr/>
        </p:nvSpPr>
        <p:spPr>
          <a:xfrm>
            <a:off x="6216937" y="6078740"/>
            <a:ext cx="499411" cy="150972"/>
          </a:xfrm>
          <a:prstGeom prst="rect">
            <a:avLst/>
          </a:prstGeom>
          <a:noFill/>
        </p:spPr>
        <p:txBody>
          <a:bodyPr wrap="none">
            <a:spAutoFit/>
          </a:bodyPr>
          <a:lstStyle/>
          <a:p>
            <a:r>
              <a:rPr sz="550">
                <a:solidFill>
                  <a:srgbClr val="607080"/>
                </a:solidFill>
              </a:rPr>
              <a:t>Data Pipeline</a:t>
            </a:r>
          </a:p>
        </p:txBody>
      </p:sp>
      <p:sp>
        <p:nvSpPr>
          <p:cNvPr id="117" name="Rectangle 116">
            <a:extLst>
              <a:ext uri="{FF2B5EF4-FFF2-40B4-BE49-F238E27FC236}">
                <a16:creationId xmlns:a16="http://schemas.microsoft.com/office/drawing/2014/main" id="{50782EF4-6DC8-EFE0-C70E-5896F61EFE49}"/>
              </a:ext>
            </a:extLst>
          </p:cNvPr>
          <p:cNvSpPr/>
          <p:nvPr/>
        </p:nvSpPr>
        <p:spPr>
          <a:xfrm>
            <a:off x="7153010" y="6086541"/>
            <a:ext cx="93607" cy="93607"/>
          </a:xfrm>
          <a:prstGeom prst="rect">
            <a:avLst/>
          </a:prstGeom>
          <a:solidFill>
            <a:srgbClr val="E06060"/>
          </a:solidFill>
          <a:ln>
            <a:solidFill>
              <a:srgbClr val="E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a:extLst>
              <a:ext uri="{FF2B5EF4-FFF2-40B4-BE49-F238E27FC236}">
                <a16:creationId xmlns:a16="http://schemas.microsoft.com/office/drawing/2014/main" id="{05FBFE85-EC2D-FF28-A833-FE773924AD0F}"/>
              </a:ext>
            </a:extLst>
          </p:cNvPr>
          <p:cNvSpPr txBox="1"/>
          <p:nvPr/>
        </p:nvSpPr>
        <p:spPr>
          <a:xfrm>
            <a:off x="7270020" y="6078740"/>
            <a:ext cx="525393" cy="150972"/>
          </a:xfrm>
          <a:prstGeom prst="rect">
            <a:avLst/>
          </a:prstGeom>
          <a:noFill/>
        </p:spPr>
        <p:txBody>
          <a:bodyPr wrap="none">
            <a:spAutoFit/>
          </a:bodyPr>
          <a:lstStyle/>
          <a:p>
            <a:r>
              <a:rPr sz="550">
                <a:solidFill>
                  <a:srgbClr val="607080"/>
                </a:solidFill>
              </a:rPr>
              <a:t>Gov / External</a:t>
            </a:r>
          </a:p>
        </p:txBody>
      </p:sp>
      <p:sp>
        <p:nvSpPr>
          <p:cNvPr id="119" name="TextBox 118">
            <a:extLst>
              <a:ext uri="{FF2B5EF4-FFF2-40B4-BE49-F238E27FC236}">
                <a16:creationId xmlns:a16="http://schemas.microsoft.com/office/drawing/2014/main" id="{02B88A8C-E450-CB3D-05E4-5621B708C43F}"/>
              </a:ext>
            </a:extLst>
          </p:cNvPr>
          <p:cNvSpPr txBox="1"/>
          <p:nvPr/>
        </p:nvSpPr>
        <p:spPr>
          <a:xfrm>
            <a:off x="10334916" y="6793222"/>
            <a:ext cx="526761" cy="157536"/>
          </a:xfrm>
          <a:prstGeom prst="rect">
            <a:avLst/>
          </a:prstGeom>
          <a:noFill/>
        </p:spPr>
        <p:txBody>
          <a:bodyPr wrap="none">
            <a:spAutoFit/>
          </a:bodyPr>
          <a:lstStyle/>
          <a:p>
            <a:pPr algn="r"/>
            <a:r>
              <a:rPr sz="600">
                <a:solidFill>
                  <a:srgbClr val="1A3A35"/>
                </a:solidFill>
              </a:rPr>
              <a:t>signetic.com</a:t>
            </a:r>
          </a:p>
        </p:txBody>
      </p:sp>
      <p:sp>
        <p:nvSpPr>
          <p:cNvPr id="11" name="Rectangle 10">
            <a:extLst>
              <a:ext uri="{FF2B5EF4-FFF2-40B4-BE49-F238E27FC236}">
                <a16:creationId xmlns:a16="http://schemas.microsoft.com/office/drawing/2014/main" id="{8CE04F44-1D06-B725-2A52-ACF58E2C9755}"/>
              </a:ext>
            </a:extLst>
          </p:cNvPr>
          <p:cNvSpPr/>
          <p:nvPr/>
        </p:nvSpPr>
        <p:spPr>
          <a:xfrm>
            <a:off x="588263" y="1483027"/>
            <a:ext cx="2263643" cy="4259890"/>
          </a:xfrm>
          <a:prstGeom prst="rect">
            <a:avLst/>
          </a:prstGeom>
          <a:solidFill>
            <a:srgbClr val="0A201C"/>
          </a:solidFill>
          <a:ln w="6350">
            <a:solidFill>
              <a:srgbClr val="008068"/>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9E35956C-E457-87DD-3EC4-0F340B442F62}"/>
              </a:ext>
            </a:extLst>
          </p:cNvPr>
          <p:cNvSpPr txBox="1"/>
          <p:nvPr/>
        </p:nvSpPr>
        <p:spPr>
          <a:xfrm>
            <a:off x="617418" y="1519401"/>
            <a:ext cx="605674" cy="179275"/>
          </a:xfrm>
          <a:prstGeom prst="rect">
            <a:avLst/>
          </a:prstGeom>
          <a:noFill/>
        </p:spPr>
        <p:txBody>
          <a:bodyPr wrap="none">
            <a:spAutoFit/>
          </a:bodyPr>
          <a:lstStyle/>
          <a:p>
            <a:r>
              <a:rPr sz="600" b="1">
                <a:solidFill>
                  <a:srgbClr val="00A080"/>
                </a:solidFill>
              </a:rPr>
              <a:t>USER LAYER</a:t>
            </a:r>
          </a:p>
        </p:txBody>
      </p:sp>
      <p:sp>
        <p:nvSpPr>
          <p:cNvPr id="13" name="Rectangle 12">
            <a:extLst>
              <a:ext uri="{FF2B5EF4-FFF2-40B4-BE49-F238E27FC236}">
                <a16:creationId xmlns:a16="http://schemas.microsoft.com/office/drawing/2014/main" id="{2D41CA43-E1AE-B385-2B0E-37CAF1DBD93B}"/>
              </a:ext>
            </a:extLst>
          </p:cNvPr>
          <p:cNvSpPr/>
          <p:nvPr/>
        </p:nvSpPr>
        <p:spPr>
          <a:xfrm>
            <a:off x="2940677" y="1483027"/>
            <a:ext cx="5814456" cy="4259890"/>
          </a:xfrm>
          <a:prstGeom prst="rect">
            <a:avLst/>
          </a:prstGeom>
          <a:solidFill>
            <a:srgbClr val="0A201C"/>
          </a:solidFill>
          <a:ln w="6350">
            <a:solidFill>
              <a:srgbClr val="008068"/>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7BFFD5CD-D66E-273D-0F35-03453FB10A26}"/>
              </a:ext>
            </a:extLst>
          </p:cNvPr>
          <p:cNvSpPr txBox="1"/>
          <p:nvPr/>
        </p:nvSpPr>
        <p:spPr>
          <a:xfrm>
            <a:off x="3052439" y="1510525"/>
            <a:ext cx="784638" cy="179275"/>
          </a:xfrm>
          <a:prstGeom prst="rect">
            <a:avLst/>
          </a:prstGeom>
          <a:noFill/>
        </p:spPr>
        <p:txBody>
          <a:bodyPr wrap="none">
            <a:spAutoFit/>
          </a:bodyPr>
          <a:lstStyle/>
          <a:p>
            <a:r>
              <a:rPr sz="600" b="1">
                <a:solidFill>
                  <a:srgbClr val="00A080"/>
                </a:solidFill>
              </a:rPr>
              <a:t>CORE PLATFORM</a:t>
            </a:r>
          </a:p>
        </p:txBody>
      </p:sp>
      <p:sp>
        <p:nvSpPr>
          <p:cNvPr id="15" name="Rectangle 14">
            <a:extLst>
              <a:ext uri="{FF2B5EF4-FFF2-40B4-BE49-F238E27FC236}">
                <a16:creationId xmlns:a16="http://schemas.microsoft.com/office/drawing/2014/main" id="{E8E653A4-66B4-A555-D4C1-7D43ECEB2ACE}"/>
              </a:ext>
            </a:extLst>
          </p:cNvPr>
          <p:cNvSpPr/>
          <p:nvPr/>
        </p:nvSpPr>
        <p:spPr>
          <a:xfrm>
            <a:off x="8843901" y="1450000"/>
            <a:ext cx="2551764" cy="4292917"/>
          </a:xfrm>
          <a:prstGeom prst="rect">
            <a:avLst/>
          </a:prstGeom>
          <a:solidFill>
            <a:srgbClr val="0A201C"/>
          </a:solidFill>
          <a:ln w="6350">
            <a:solidFill>
              <a:srgbClr val="008068"/>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3888461F-0170-737F-E63B-61C7AA6866F0}"/>
              </a:ext>
            </a:extLst>
          </p:cNvPr>
          <p:cNvSpPr txBox="1"/>
          <p:nvPr/>
        </p:nvSpPr>
        <p:spPr>
          <a:xfrm>
            <a:off x="8848985" y="1483027"/>
            <a:ext cx="1309076" cy="179275"/>
          </a:xfrm>
          <a:prstGeom prst="rect">
            <a:avLst/>
          </a:prstGeom>
          <a:noFill/>
        </p:spPr>
        <p:txBody>
          <a:bodyPr wrap="none">
            <a:spAutoFit/>
          </a:bodyPr>
          <a:lstStyle/>
          <a:p>
            <a:r>
              <a:rPr sz="600" b="1">
                <a:solidFill>
                  <a:srgbClr val="00A080"/>
                </a:solidFill>
              </a:rPr>
              <a:t>INTEGRATIONS &amp; MONITORING</a:t>
            </a:r>
          </a:p>
        </p:txBody>
      </p:sp>
      <p:sp>
        <p:nvSpPr>
          <p:cNvPr id="17" name="Rectangle 8">
            <a:extLst>
              <a:ext uri="{FF2B5EF4-FFF2-40B4-BE49-F238E27FC236}">
                <a16:creationId xmlns:a16="http://schemas.microsoft.com/office/drawing/2014/main" id="{C52BA241-CBC1-C537-29BB-6B3F74085818}"/>
              </a:ext>
            </a:extLst>
          </p:cNvPr>
          <p:cNvSpPr/>
          <p:nvPr/>
        </p:nvSpPr>
        <p:spPr>
          <a:xfrm>
            <a:off x="677033" y="1697810"/>
            <a:ext cx="1020858" cy="843318"/>
          </a:xfrm>
          <a:prstGeom prst="roundRect">
            <a:avLst>
              <a:gd name="adj" fmla="val 8000"/>
            </a:avLst>
          </a:prstGeom>
          <a:solidFill>
            <a:srgbClr val="0A2E2A"/>
          </a:solidFill>
          <a:ln w="9525">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E62A346B-6D36-10B1-0B8F-FB78572080F8}"/>
              </a:ext>
            </a:extLst>
          </p:cNvPr>
          <p:cNvSpPr txBox="1"/>
          <p:nvPr/>
        </p:nvSpPr>
        <p:spPr>
          <a:xfrm>
            <a:off x="960880" y="1768826"/>
            <a:ext cx="453165" cy="328670"/>
          </a:xfrm>
          <a:prstGeom prst="rect">
            <a:avLst/>
          </a:prstGeom>
          <a:noFill/>
        </p:spPr>
        <p:txBody>
          <a:bodyPr wrap="none">
            <a:spAutoFit/>
          </a:bodyPr>
          <a:lstStyle/>
          <a:p>
            <a:pPr algn="ctr"/>
            <a:r>
              <a:rPr sz="1600">
                <a:solidFill>
                  <a:srgbClr val="00C9A7"/>
                </a:solidFill>
              </a:rPr>
              <a:t>👤</a:t>
            </a:r>
          </a:p>
        </p:txBody>
      </p:sp>
      <p:sp>
        <p:nvSpPr>
          <p:cNvPr id="19" name="TextBox 18">
            <a:extLst>
              <a:ext uri="{FF2B5EF4-FFF2-40B4-BE49-F238E27FC236}">
                <a16:creationId xmlns:a16="http://schemas.microsoft.com/office/drawing/2014/main" id="{C93C4EA4-7D62-42BD-D6D6-958E6FFEFACF}"/>
              </a:ext>
            </a:extLst>
          </p:cNvPr>
          <p:cNvSpPr txBox="1"/>
          <p:nvPr/>
        </p:nvSpPr>
        <p:spPr>
          <a:xfrm>
            <a:off x="939871" y="2088401"/>
            <a:ext cx="495183" cy="201684"/>
          </a:xfrm>
          <a:prstGeom prst="rect">
            <a:avLst/>
          </a:prstGeom>
          <a:noFill/>
        </p:spPr>
        <p:txBody>
          <a:bodyPr wrap="none">
            <a:spAutoFit/>
          </a:bodyPr>
          <a:lstStyle/>
          <a:p>
            <a:pPr algn="ctr"/>
            <a:r>
              <a:rPr sz="750" b="1">
                <a:solidFill>
                  <a:srgbClr val="A0EDE5"/>
                </a:solidFill>
              </a:rPr>
              <a:t>Patient</a:t>
            </a:r>
          </a:p>
        </p:txBody>
      </p:sp>
      <p:sp>
        <p:nvSpPr>
          <p:cNvPr id="20" name="TextBox 19">
            <a:extLst>
              <a:ext uri="{FF2B5EF4-FFF2-40B4-BE49-F238E27FC236}">
                <a16:creationId xmlns:a16="http://schemas.microsoft.com/office/drawing/2014/main" id="{37B3B2DD-10C8-FF8A-5A3E-AE8D314E623B}"/>
              </a:ext>
            </a:extLst>
          </p:cNvPr>
          <p:cNvSpPr txBox="1"/>
          <p:nvPr/>
        </p:nvSpPr>
        <p:spPr>
          <a:xfrm>
            <a:off x="782694" y="2301448"/>
            <a:ext cx="809537" cy="179275"/>
          </a:xfrm>
          <a:prstGeom prst="rect">
            <a:avLst/>
          </a:prstGeom>
          <a:noFill/>
        </p:spPr>
        <p:txBody>
          <a:bodyPr wrap="none">
            <a:spAutoFit/>
          </a:bodyPr>
          <a:lstStyle/>
          <a:p>
            <a:pPr algn="ctr"/>
            <a:r>
              <a:rPr sz="600">
                <a:solidFill>
                  <a:srgbClr val="509A90"/>
                </a:solidFill>
              </a:rPr>
              <a:t>Browse &amp; Schedule</a:t>
            </a:r>
          </a:p>
        </p:txBody>
      </p:sp>
      <p:sp>
        <p:nvSpPr>
          <p:cNvPr id="21" name="Rectangle 12">
            <a:extLst>
              <a:ext uri="{FF2B5EF4-FFF2-40B4-BE49-F238E27FC236}">
                <a16:creationId xmlns:a16="http://schemas.microsoft.com/office/drawing/2014/main" id="{623D57CF-6A7A-FBD0-D09F-41548BD3F2DC}"/>
              </a:ext>
            </a:extLst>
          </p:cNvPr>
          <p:cNvSpPr/>
          <p:nvPr/>
        </p:nvSpPr>
        <p:spPr>
          <a:xfrm>
            <a:off x="677033" y="2736422"/>
            <a:ext cx="1020858" cy="843318"/>
          </a:xfrm>
          <a:prstGeom prst="roundRect">
            <a:avLst>
              <a:gd name="adj" fmla="val 8000"/>
            </a:avLst>
          </a:prstGeom>
          <a:solidFill>
            <a:srgbClr val="0A2A18"/>
          </a:solidFill>
          <a:ln w="9525">
            <a:solidFill>
              <a:srgbClr val="27C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D01312E5-AAC8-F1E5-3226-781E1C86A23F}"/>
              </a:ext>
            </a:extLst>
          </p:cNvPr>
          <p:cNvSpPr txBox="1"/>
          <p:nvPr/>
        </p:nvSpPr>
        <p:spPr>
          <a:xfrm>
            <a:off x="1050361" y="2807438"/>
            <a:ext cx="274202" cy="328670"/>
          </a:xfrm>
          <a:prstGeom prst="rect">
            <a:avLst/>
          </a:prstGeom>
          <a:noFill/>
        </p:spPr>
        <p:txBody>
          <a:bodyPr wrap="none">
            <a:spAutoFit/>
          </a:bodyPr>
          <a:lstStyle/>
          <a:p>
            <a:pPr algn="ctr"/>
            <a:r>
              <a:rPr sz="1600">
                <a:solidFill>
                  <a:srgbClr val="27C878"/>
                </a:solidFill>
              </a:rPr>
              <a:t>⚕</a:t>
            </a:r>
          </a:p>
        </p:txBody>
      </p:sp>
      <p:sp>
        <p:nvSpPr>
          <p:cNvPr id="23" name="TextBox 22">
            <a:extLst>
              <a:ext uri="{FF2B5EF4-FFF2-40B4-BE49-F238E27FC236}">
                <a16:creationId xmlns:a16="http://schemas.microsoft.com/office/drawing/2014/main" id="{BB0B4119-B90E-B5A1-EC97-FD80B8039CCD}"/>
              </a:ext>
            </a:extLst>
          </p:cNvPr>
          <p:cNvSpPr txBox="1"/>
          <p:nvPr/>
        </p:nvSpPr>
        <p:spPr>
          <a:xfrm>
            <a:off x="989670" y="3127013"/>
            <a:ext cx="395586" cy="201684"/>
          </a:xfrm>
          <a:prstGeom prst="rect">
            <a:avLst/>
          </a:prstGeom>
          <a:noFill/>
        </p:spPr>
        <p:txBody>
          <a:bodyPr wrap="none">
            <a:spAutoFit/>
          </a:bodyPr>
          <a:lstStyle/>
          <a:p>
            <a:pPr algn="ctr"/>
            <a:r>
              <a:rPr sz="750" b="1">
                <a:solidFill>
                  <a:srgbClr val="90E8B8"/>
                </a:solidFill>
              </a:rPr>
              <a:t>Staff</a:t>
            </a:r>
          </a:p>
        </p:txBody>
      </p:sp>
      <p:sp>
        <p:nvSpPr>
          <p:cNvPr id="24" name="TextBox 23">
            <a:extLst>
              <a:ext uri="{FF2B5EF4-FFF2-40B4-BE49-F238E27FC236}">
                <a16:creationId xmlns:a16="http://schemas.microsoft.com/office/drawing/2014/main" id="{727386EF-1363-C56E-6ACC-F5D0AD26590A}"/>
              </a:ext>
            </a:extLst>
          </p:cNvPr>
          <p:cNvSpPr txBox="1"/>
          <p:nvPr/>
        </p:nvSpPr>
        <p:spPr>
          <a:xfrm>
            <a:off x="890851" y="3340060"/>
            <a:ext cx="593224" cy="179275"/>
          </a:xfrm>
          <a:prstGeom prst="rect">
            <a:avLst/>
          </a:prstGeom>
          <a:noFill/>
        </p:spPr>
        <p:txBody>
          <a:bodyPr wrap="none">
            <a:spAutoFit/>
          </a:bodyPr>
          <a:lstStyle/>
          <a:p>
            <a:pPr algn="ctr"/>
            <a:r>
              <a:rPr sz="600">
                <a:solidFill>
                  <a:srgbClr val="409060"/>
                </a:solidFill>
              </a:rPr>
              <a:t>View &amp; Fulfill</a:t>
            </a:r>
          </a:p>
        </p:txBody>
      </p:sp>
      <p:sp>
        <p:nvSpPr>
          <p:cNvPr id="25" name="Rectangle 16">
            <a:extLst>
              <a:ext uri="{FF2B5EF4-FFF2-40B4-BE49-F238E27FC236}">
                <a16:creationId xmlns:a16="http://schemas.microsoft.com/office/drawing/2014/main" id="{F6994256-0F17-E795-2609-1D64781CB6F8}"/>
              </a:ext>
            </a:extLst>
          </p:cNvPr>
          <p:cNvSpPr/>
          <p:nvPr/>
        </p:nvSpPr>
        <p:spPr>
          <a:xfrm>
            <a:off x="677033" y="3775036"/>
            <a:ext cx="1020858" cy="843318"/>
          </a:xfrm>
          <a:prstGeom prst="roundRect">
            <a:avLst>
              <a:gd name="adj" fmla="val 8000"/>
            </a:avLst>
          </a:prstGeom>
          <a:solidFill>
            <a:srgbClr val="0A2A18"/>
          </a:solidFill>
          <a:ln w="9525">
            <a:solidFill>
              <a:srgbClr val="27C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525FAF45-AF81-2BB2-0B83-DD98735A6E9E}"/>
              </a:ext>
            </a:extLst>
          </p:cNvPr>
          <p:cNvSpPr txBox="1"/>
          <p:nvPr/>
        </p:nvSpPr>
        <p:spPr>
          <a:xfrm>
            <a:off x="960880" y="3846052"/>
            <a:ext cx="453165" cy="328670"/>
          </a:xfrm>
          <a:prstGeom prst="rect">
            <a:avLst/>
          </a:prstGeom>
          <a:noFill/>
        </p:spPr>
        <p:txBody>
          <a:bodyPr wrap="none">
            <a:spAutoFit/>
          </a:bodyPr>
          <a:lstStyle/>
          <a:p>
            <a:pPr algn="ctr"/>
            <a:r>
              <a:rPr sz="1600">
                <a:solidFill>
                  <a:srgbClr val="27C878"/>
                </a:solidFill>
              </a:rPr>
              <a:t>🏥</a:t>
            </a:r>
          </a:p>
        </p:txBody>
      </p:sp>
      <p:sp>
        <p:nvSpPr>
          <p:cNvPr id="27" name="TextBox 26">
            <a:extLst>
              <a:ext uri="{FF2B5EF4-FFF2-40B4-BE49-F238E27FC236}">
                <a16:creationId xmlns:a16="http://schemas.microsoft.com/office/drawing/2014/main" id="{F31FA94B-A840-562F-C995-4644834867A0}"/>
              </a:ext>
            </a:extLst>
          </p:cNvPr>
          <p:cNvSpPr txBox="1"/>
          <p:nvPr/>
        </p:nvSpPr>
        <p:spPr>
          <a:xfrm>
            <a:off x="901744" y="4165626"/>
            <a:ext cx="571438" cy="201684"/>
          </a:xfrm>
          <a:prstGeom prst="rect">
            <a:avLst/>
          </a:prstGeom>
          <a:noFill/>
        </p:spPr>
        <p:txBody>
          <a:bodyPr wrap="none">
            <a:spAutoFit/>
          </a:bodyPr>
          <a:lstStyle/>
          <a:p>
            <a:pPr algn="ctr"/>
            <a:r>
              <a:rPr sz="750" b="1">
                <a:solidFill>
                  <a:srgbClr val="90E8B8"/>
                </a:solidFill>
              </a:rPr>
              <a:t>Manager</a:t>
            </a:r>
          </a:p>
        </p:txBody>
      </p:sp>
      <p:sp>
        <p:nvSpPr>
          <p:cNvPr id="28" name="TextBox 27">
            <a:extLst>
              <a:ext uri="{FF2B5EF4-FFF2-40B4-BE49-F238E27FC236}">
                <a16:creationId xmlns:a16="http://schemas.microsoft.com/office/drawing/2014/main" id="{CE1B5A76-2742-0051-D34A-016482919162}"/>
              </a:ext>
            </a:extLst>
          </p:cNvPr>
          <p:cNvSpPr txBox="1"/>
          <p:nvPr/>
        </p:nvSpPr>
        <p:spPr>
          <a:xfrm>
            <a:off x="798256" y="4378674"/>
            <a:ext cx="778413" cy="179275"/>
          </a:xfrm>
          <a:prstGeom prst="rect">
            <a:avLst/>
          </a:prstGeom>
          <a:noFill/>
        </p:spPr>
        <p:txBody>
          <a:bodyPr wrap="none">
            <a:spAutoFit/>
          </a:bodyPr>
          <a:lstStyle/>
          <a:p>
            <a:pPr algn="ctr"/>
            <a:r>
              <a:rPr sz="600">
                <a:solidFill>
                  <a:srgbClr val="409060"/>
                </a:solidFill>
              </a:rPr>
              <a:t>Locations &amp; Setup</a:t>
            </a:r>
          </a:p>
        </p:txBody>
      </p:sp>
      <p:sp>
        <p:nvSpPr>
          <p:cNvPr id="29" name="Rectangle 20">
            <a:extLst>
              <a:ext uri="{FF2B5EF4-FFF2-40B4-BE49-F238E27FC236}">
                <a16:creationId xmlns:a16="http://schemas.microsoft.com/office/drawing/2014/main" id="{02F7E1D4-6AF9-83AA-AE63-086547774B38}"/>
              </a:ext>
            </a:extLst>
          </p:cNvPr>
          <p:cNvSpPr/>
          <p:nvPr/>
        </p:nvSpPr>
        <p:spPr>
          <a:xfrm>
            <a:off x="677033" y="4813649"/>
            <a:ext cx="1020858" cy="843318"/>
          </a:xfrm>
          <a:prstGeom prst="roundRect">
            <a:avLst>
              <a:gd name="adj" fmla="val 8000"/>
            </a:avLst>
          </a:prstGeom>
          <a:solidFill>
            <a:srgbClr val="2A1E08"/>
          </a:solidFill>
          <a:ln w="9525">
            <a:solidFill>
              <a:srgbClr val="DDB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B905DC93-B781-AD75-1A78-D07DFB131F9F}"/>
              </a:ext>
            </a:extLst>
          </p:cNvPr>
          <p:cNvSpPr txBox="1"/>
          <p:nvPr/>
        </p:nvSpPr>
        <p:spPr>
          <a:xfrm>
            <a:off x="960880" y="4884665"/>
            <a:ext cx="453165" cy="328670"/>
          </a:xfrm>
          <a:prstGeom prst="rect">
            <a:avLst/>
          </a:prstGeom>
          <a:noFill/>
        </p:spPr>
        <p:txBody>
          <a:bodyPr wrap="none">
            <a:spAutoFit/>
          </a:bodyPr>
          <a:lstStyle/>
          <a:p>
            <a:pPr algn="ctr"/>
            <a:r>
              <a:rPr sz="1600">
                <a:solidFill>
                  <a:srgbClr val="DDB040"/>
                </a:solidFill>
              </a:rPr>
              <a:t>💳</a:t>
            </a:r>
          </a:p>
        </p:txBody>
      </p:sp>
      <p:sp>
        <p:nvSpPr>
          <p:cNvPr id="31" name="TextBox 30">
            <a:extLst>
              <a:ext uri="{FF2B5EF4-FFF2-40B4-BE49-F238E27FC236}">
                <a16:creationId xmlns:a16="http://schemas.microsoft.com/office/drawing/2014/main" id="{9218E231-3388-AB6D-F6BE-8E1676C9AC90}"/>
              </a:ext>
            </a:extLst>
          </p:cNvPr>
          <p:cNvSpPr txBox="1"/>
          <p:nvPr/>
        </p:nvSpPr>
        <p:spPr>
          <a:xfrm>
            <a:off x="864395" y="5204239"/>
            <a:ext cx="646135" cy="201684"/>
          </a:xfrm>
          <a:prstGeom prst="rect">
            <a:avLst/>
          </a:prstGeom>
          <a:noFill/>
        </p:spPr>
        <p:txBody>
          <a:bodyPr wrap="none">
            <a:spAutoFit/>
          </a:bodyPr>
          <a:lstStyle/>
          <a:p>
            <a:pPr algn="ctr"/>
            <a:r>
              <a:rPr sz="750" b="1">
                <a:solidFill>
                  <a:srgbClr val="F0D090"/>
                </a:solidFill>
              </a:rPr>
              <a:t>Billing Ops</a:t>
            </a:r>
          </a:p>
        </p:txBody>
      </p:sp>
      <p:sp>
        <p:nvSpPr>
          <p:cNvPr id="32" name="TextBox 31">
            <a:extLst>
              <a:ext uri="{FF2B5EF4-FFF2-40B4-BE49-F238E27FC236}">
                <a16:creationId xmlns:a16="http://schemas.microsoft.com/office/drawing/2014/main" id="{E93335E3-E885-714B-0242-5606973EDDE7}"/>
              </a:ext>
            </a:extLst>
          </p:cNvPr>
          <p:cNvSpPr txBox="1"/>
          <p:nvPr/>
        </p:nvSpPr>
        <p:spPr>
          <a:xfrm>
            <a:off x="858171" y="5417287"/>
            <a:ext cx="658585" cy="179275"/>
          </a:xfrm>
          <a:prstGeom prst="rect">
            <a:avLst/>
          </a:prstGeom>
          <a:noFill/>
        </p:spPr>
        <p:txBody>
          <a:bodyPr wrap="none">
            <a:spAutoFit/>
          </a:bodyPr>
          <a:lstStyle/>
          <a:p>
            <a:pPr algn="ctr"/>
            <a:r>
              <a:rPr sz="600">
                <a:solidFill>
                  <a:srgbClr val="886820"/>
                </a:solidFill>
              </a:rPr>
              <a:t>Manage Billing</a:t>
            </a:r>
          </a:p>
        </p:txBody>
      </p:sp>
      <p:sp>
        <p:nvSpPr>
          <p:cNvPr id="33" name="Rectangle 24">
            <a:extLst>
              <a:ext uri="{FF2B5EF4-FFF2-40B4-BE49-F238E27FC236}">
                <a16:creationId xmlns:a16="http://schemas.microsoft.com/office/drawing/2014/main" id="{80424DBF-111A-39F6-503C-C44701282A78}"/>
              </a:ext>
            </a:extLst>
          </p:cNvPr>
          <p:cNvSpPr/>
          <p:nvPr/>
        </p:nvSpPr>
        <p:spPr>
          <a:xfrm>
            <a:off x="3118217" y="1697810"/>
            <a:ext cx="1020858" cy="843318"/>
          </a:xfrm>
          <a:prstGeom prst="roundRect">
            <a:avLst>
              <a:gd name="adj" fmla="val 8000"/>
            </a:avLst>
          </a:prstGeom>
          <a:solidFill>
            <a:srgbClr val="0A2E2A"/>
          </a:solidFill>
          <a:ln w="9525">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8D1AEF63-7EC4-2EDC-272B-5C39EF452356}"/>
              </a:ext>
            </a:extLst>
          </p:cNvPr>
          <p:cNvSpPr txBox="1"/>
          <p:nvPr/>
        </p:nvSpPr>
        <p:spPr>
          <a:xfrm>
            <a:off x="3402063" y="1768826"/>
            <a:ext cx="453165" cy="328670"/>
          </a:xfrm>
          <a:prstGeom prst="rect">
            <a:avLst/>
          </a:prstGeom>
          <a:noFill/>
        </p:spPr>
        <p:txBody>
          <a:bodyPr wrap="none">
            <a:spAutoFit/>
          </a:bodyPr>
          <a:lstStyle/>
          <a:p>
            <a:pPr algn="ctr"/>
            <a:r>
              <a:rPr sz="1600">
                <a:solidFill>
                  <a:srgbClr val="00C9A7"/>
                </a:solidFill>
              </a:rPr>
              <a:t>🌐</a:t>
            </a:r>
          </a:p>
        </p:txBody>
      </p:sp>
      <p:sp>
        <p:nvSpPr>
          <p:cNvPr id="35" name="TextBox 34">
            <a:extLst>
              <a:ext uri="{FF2B5EF4-FFF2-40B4-BE49-F238E27FC236}">
                <a16:creationId xmlns:a16="http://schemas.microsoft.com/office/drawing/2014/main" id="{EB54B0DF-5CD7-D335-3F63-4B4FB22462D5}"/>
              </a:ext>
            </a:extLst>
          </p:cNvPr>
          <p:cNvSpPr txBox="1"/>
          <p:nvPr/>
        </p:nvSpPr>
        <p:spPr>
          <a:xfrm>
            <a:off x="3237883" y="2088401"/>
            <a:ext cx="781524" cy="201684"/>
          </a:xfrm>
          <a:prstGeom prst="rect">
            <a:avLst/>
          </a:prstGeom>
          <a:noFill/>
        </p:spPr>
        <p:txBody>
          <a:bodyPr wrap="none">
            <a:spAutoFit/>
          </a:bodyPr>
          <a:lstStyle/>
          <a:p>
            <a:pPr algn="ctr"/>
            <a:r>
              <a:rPr sz="750" b="1">
                <a:solidFill>
                  <a:srgbClr val="A0EDE5"/>
                </a:solidFill>
              </a:rPr>
              <a:t>Patient Portal</a:t>
            </a:r>
          </a:p>
        </p:txBody>
      </p:sp>
      <p:sp>
        <p:nvSpPr>
          <p:cNvPr id="36" name="TextBox 35">
            <a:extLst>
              <a:ext uri="{FF2B5EF4-FFF2-40B4-BE49-F238E27FC236}">
                <a16:creationId xmlns:a16="http://schemas.microsoft.com/office/drawing/2014/main" id="{7B359DAE-D073-FDCB-C954-D092C77AA5D1}"/>
              </a:ext>
            </a:extLst>
          </p:cNvPr>
          <p:cNvSpPr txBox="1"/>
          <p:nvPr/>
        </p:nvSpPr>
        <p:spPr>
          <a:xfrm>
            <a:off x="3347596" y="2301448"/>
            <a:ext cx="562100" cy="179275"/>
          </a:xfrm>
          <a:prstGeom prst="rect">
            <a:avLst/>
          </a:prstGeom>
          <a:noFill/>
        </p:spPr>
        <p:txBody>
          <a:bodyPr wrap="none">
            <a:spAutoFit/>
          </a:bodyPr>
          <a:lstStyle/>
          <a:p>
            <a:pPr algn="ctr"/>
            <a:r>
              <a:rPr sz="600">
                <a:solidFill>
                  <a:srgbClr val="509A90"/>
                </a:solidFill>
              </a:rPr>
              <a:t>+ Portal API</a:t>
            </a:r>
          </a:p>
        </p:txBody>
      </p:sp>
      <p:sp>
        <p:nvSpPr>
          <p:cNvPr id="37" name="Rectangle 28">
            <a:extLst>
              <a:ext uri="{FF2B5EF4-FFF2-40B4-BE49-F238E27FC236}">
                <a16:creationId xmlns:a16="http://schemas.microsoft.com/office/drawing/2014/main" id="{3AC0B8CF-4F3E-8BD8-88F2-331D8CFEFE72}"/>
              </a:ext>
            </a:extLst>
          </p:cNvPr>
          <p:cNvSpPr/>
          <p:nvPr/>
        </p:nvSpPr>
        <p:spPr>
          <a:xfrm>
            <a:off x="4316615" y="1697810"/>
            <a:ext cx="1020858" cy="843318"/>
          </a:xfrm>
          <a:prstGeom prst="roundRect">
            <a:avLst>
              <a:gd name="adj" fmla="val 8000"/>
            </a:avLst>
          </a:prstGeom>
          <a:solidFill>
            <a:srgbClr val="0A1E35"/>
          </a:solidFill>
          <a:ln w="9525">
            <a:solidFill>
              <a:srgbClr val="38A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a:extLst>
              <a:ext uri="{FF2B5EF4-FFF2-40B4-BE49-F238E27FC236}">
                <a16:creationId xmlns:a16="http://schemas.microsoft.com/office/drawing/2014/main" id="{43465239-F817-12E1-C5CE-7AB4C3BBBD5C}"/>
              </a:ext>
            </a:extLst>
          </p:cNvPr>
          <p:cNvSpPr txBox="1"/>
          <p:nvPr/>
        </p:nvSpPr>
        <p:spPr>
          <a:xfrm>
            <a:off x="4651038" y="1768826"/>
            <a:ext cx="352014" cy="328670"/>
          </a:xfrm>
          <a:prstGeom prst="rect">
            <a:avLst/>
          </a:prstGeom>
          <a:noFill/>
        </p:spPr>
        <p:txBody>
          <a:bodyPr wrap="none">
            <a:spAutoFit/>
          </a:bodyPr>
          <a:lstStyle/>
          <a:p>
            <a:pPr algn="ctr"/>
            <a:r>
              <a:rPr sz="1600">
                <a:solidFill>
                  <a:srgbClr val="38A8F0"/>
                </a:solidFill>
              </a:rPr>
              <a:t>☁</a:t>
            </a:r>
          </a:p>
        </p:txBody>
      </p:sp>
      <p:sp>
        <p:nvSpPr>
          <p:cNvPr id="39" name="TextBox 38">
            <a:extLst>
              <a:ext uri="{FF2B5EF4-FFF2-40B4-BE49-F238E27FC236}">
                <a16:creationId xmlns:a16="http://schemas.microsoft.com/office/drawing/2014/main" id="{29E16D61-8786-2D93-8C86-4FE27BFF6927}"/>
              </a:ext>
            </a:extLst>
          </p:cNvPr>
          <p:cNvSpPr txBox="1"/>
          <p:nvPr/>
        </p:nvSpPr>
        <p:spPr>
          <a:xfrm>
            <a:off x="4419164" y="2088401"/>
            <a:ext cx="815762" cy="201684"/>
          </a:xfrm>
          <a:prstGeom prst="rect">
            <a:avLst/>
          </a:prstGeom>
          <a:noFill/>
        </p:spPr>
        <p:txBody>
          <a:bodyPr wrap="none">
            <a:spAutoFit/>
          </a:bodyPr>
          <a:lstStyle/>
          <a:p>
            <a:pPr algn="ctr"/>
            <a:r>
              <a:rPr sz="750" b="1">
                <a:solidFill>
                  <a:srgbClr val="90D0F8"/>
                </a:solidFill>
              </a:rPr>
              <a:t>Azure App Svc</a:t>
            </a:r>
          </a:p>
        </p:txBody>
      </p:sp>
      <p:sp>
        <p:nvSpPr>
          <p:cNvPr id="40" name="TextBox 39">
            <a:extLst>
              <a:ext uri="{FF2B5EF4-FFF2-40B4-BE49-F238E27FC236}">
                <a16:creationId xmlns:a16="http://schemas.microsoft.com/office/drawing/2014/main" id="{CCB8E15D-A16F-DCA5-42EC-B29FE57EE2F7}"/>
              </a:ext>
            </a:extLst>
          </p:cNvPr>
          <p:cNvSpPr txBox="1"/>
          <p:nvPr/>
        </p:nvSpPr>
        <p:spPr>
          <a:xfrm>
            <a:off x="4533545" y="2301448"/>
            <a:ext cx="587000" cy="179275"/>
          </a:xfrm>
          <a:prstGeom prst="rect">
            <a:avLst/>
          </a:prstGeom>
          <a:noFill/>
        </p:spPr>
        <p:txBody>
          <a:bodyPr wrap="none">
            <a:spAutoFit/>
          </a:bodyPr>
          <a:lstStyle/>
          <a:p>
            <a:pPr algn="ctr"/>
            <a:r>
              <a:rPr sz="600">
                <a:solidFill>
                  <a:srgbClr val="3878A8"/>
                </a:solidFill>
              </a:rPr>
              <a:t>API Gateway</a:t>
            </a:r>
          </a:p>
        </p:txBody>
      </p:sp>
      <p:sp>
        <p:nvSpPr>
          <p:cNvPr id="41" name="Rectangle 32">
            <a:extLst>
              <a:ext uri="{FF2B5EF4-FFF2-40B4-BE49-F238E27FC236}">
                <a16:creationId xmlns:a16="http://schemas.microsoft.com/office/drawing/2014/main" id="{BE7E56DD-45B9-DA99-1B18-4229390AE888}"/>
              </a:ext>
            </a:extLst>
          </p:cNvPr>
          <p:cNvSpPr/>
          <p:nvPr/>
        </p:nvSpPr>
        <p:spPr>
          <a:xfrm>
            <a:off x="5515015" y="1697810"/>
            <a:ext cx="1020858" cy="843318"/>
          </a:xfrm>
          <a:prstGeom prst="roundRect">
            <a:avLst>
              <a:gd name="adj" fmla="val 8000"/>
            </a:avLst>
          </a:prstGeom>
          <a:solidFill>
            <a:srgbClr val="0A2E2A"/>
          </a:solidFill>
          <a:ln w="9525">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0F75181A-C85C-EB21-298B-B20089E515F6}"/>
              </a:ext>
            </a:extLst>
          </p:cNvPr>
          <p:cNvSpPr txBox="1"/>
          <p:nvPr/>
        </p:nvSpPr>
        <p:spPr>
          <a:xfrm>
            <a:off x="5714048" y="2088401"/>
            <a:ext cx="622792" cy="201684"/>
          </a:xfrm>
          <a:prstGeom prst="rect">
            <a:avLst/>
          </a:prstGeom>
          <a:noFill/>
        </p:spPr>
        <p:txBody>
          <a:bodyPr wrap="none">
            <a:spAutoFit/>
          </a:bodyPr>
          <a:lstStyle/>
          <a:p>
            <a:pPr algn="ctr"/>
            <a:r>
              <a:rPr sz="750" b="1">
                <a:solidFill>
                  <a:srgbClr val="A0EDE5"/>
                </a:solidFill>
              </a:rPr>
              <a:t>Dataverse</a:t>
            </a:r>
          </a:p>
        </p:txBody>
      </p:sp>
      <p:sp>
        <p:nvSpPr>
          <p:cNvPr id="44" name="TextBox 43">
            <a:extLst>
              <a:ext uri="{FF2B5EF4-FFF2-40B4-BE49-F238E27FC236}">
                <a16:creationId xmlns:a16="http://schemas.microsoft.com/office/drawing/2014/main" id="{688428DE-2A01-CDEB-7DBD-D86E782C60CE}"/>
              </a:ext>
            </a:extLst>
          </p:cNvPr>
          <p:cNvSpPr txBox="1"/>
          <p:nvPr/>
        </p:nvSpPr>
        <p:spPr>
          <a:xfrm>
            <a:off x="5633126" y="2301448"/>
            <a:ext cx="784638" cy="179275"/>
          </a:xfrm>
          <a:prstGeom prst="rect">
            <a:avLst/>
          </a:prstGeom>
          <a:noFill/>
        </p:spPr>
        <p:txBody>
          <a:bodyPr wrap="none">
            <a:spAutoFit/>
          </a:bodyPr>
          <a:lstStyle/>
          <a:p>
            <a:pPr algn="ctr"/>
            <a:r>
              <a:rPr sz="600">
                <a:solidFill>
                  <a:srgbClr val="509A90"/>
                </a:solidFill>
              </a:rPr>
              <a:t>Central Data Store</a:t>
            </a:r>
          </a:p>
        </p:txBody>
      </p:sp>
      <p:sp>
        <p:nvSpPr>
          <p:cNvPr id="45" name="Rectangle 36">
            <a:extLst>
              <a:ext uri="{FF2B5EF4-FFF2-40B4-BE49-F238E27FC236}">
                <a16:creationId xmlns:a16="http://schemas.microsoft.com/office/drawing/2014/main" id="{7B126A2F-E1E4-C66F-251F-8E38075D3CC5}"/>
              </a:ext>
            </a:extLst>
          </p:cNvPr>
          <p:cNvSpPr/>
          <p:nvPr/>
        </p:nvSpPr>
        <p:spPr>
          <a:xfrm>
            <a:off x="3118217" y="2736422"/>
            <a:ext cx="1020858" cy="843318"/>
          </a:xfrm>
          <a:prstGeom prst="roundRect">
            <a:avLst>
              <a:gd name="adj" fmla="val 8000"/>
            </a:avLst>
          </a:prstGeom>
          <a:solidFill>
            <a:srgbClr val="1A1035"/>
          </a:solidFill>
          <a:ln w="9525">
            <a:solidFill>
              <a:srgbClr val="A07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153563A0-F3E2-06A7-90CB-B31DA408E415}"/>
              </a:ext>
            </a:extLst>
          </p:cNvPr>
          <p:cNvSpPr txBox="1"/>
          <p:nvPr/>
        </p:nvSpPr>
        <p:spPr>
          <a:xfrm>
            <a:off x="3277567" y="3127013"/>
            <a:ext cx="702158" cy="201684"/>
          </a:xfrm>
          <a:prstGeom prst="rect">
            <a:avLst/>
          </a:prstGeom>
          <a:noFill/>
        </p:spPr>
        <p:txBody>
          <a:bodyPr wrap="none">
            <a:spAutoFit/>
          </a:bodyPr>
          <a:lstStyle/>
          <a:p>
            <a:pPr algn="ctr"/>
            <a:r>
              <a:rPr sz="750" b="1">
                <a:solidFill>
                  <a:srgbClr val="C8B0F8"/>
                </a:solidFill>
              </a:rPr>
              <a:t>Power Apps</a:t>
            </a:r>
          </a:p>
        </p:txBody>
      </p:sp>
      <p:sp>
        <p:nvSpPr>
          <p:cNvPr id="48" name="TextBox 47">
            <a:extLst>
              <a:ext uri="{FF2B5EF4-FFF2-40B4-BE49-F238E27FC236}">
                <a16:creationId xmlns:a16="http://schemas.microsoft.com/office/drawing/2014/main" id="{C5282294-09F1-BA46-BBDA-92E28BF3F5FF}"/>
              </a:ext>
            </a:extLst>
          </p:cNvPr>
          <p:cNvSpPr txBox="1"/>
          <p:nvPr/>
        </p:nvSpPr>
        <p:spPr>
          <a:xfrm>
            <a:off x="3269787" y="3340060"/>
            <a:ext cx="717721" cy="179275"/>
          </a:xfrm>
          <a:prstGeom prst="rect">
            <a:avLst/>
          </a:prstGeom>
          <a:noFill/>
        </p:spPr>
        <p:txBody>
          <a:bodyPr wrap="none">
            <a:spAutoFit/>
          </a:bodyPr>
          <a:lstStyle/>
          <a:p>
            <a:pPr algn="ctr"/>
            <a:r>
              <a:rPr sz="600">
                <a:solidFill>
                  <a:srgbClr val="685098"/>
                </a:solidFill>
              </a:rPr>
              <a:t>Canvas &amp; Model</a:t>
            </a:r>
          </a:p>
        </p:txBody>
      </p:sp>
      <p:sp>
        <p:nvSpPr>
          <p:cNvPr id="49" name="Rectangle 40">
            <a:extLst>
              <a:ext uri="{FF2B5EF4-FFF2-40B4-BE49-F238E27FC236}">
                <a16:creationId xmlns:a16="http://schemas.microsoft.com/office/drawing/2014/main" id="{6B101583-99FA-735C-EF0F-11B11C4E442B}"/>
              </a:ext>
            </a:extLst>
          </p:cNvPr>
          <p:cNvSpPr/>
          <p:nvPr/>
        </p:nvSpPr>
        <p:spPr>
          <a:xfrm>
            <a:off x="4316615" y="2736422"/>
            <a:ext cx="1020858" cy="843318"/>
          </a:xfrm>
          <a:prstGeom prst="roundRect">
            <a:avLst>
              <a:gd name="adj" fmla="val 8000"/>
            </a:avLst>
          </a:prstGeom>
          <a:solidFill>
            <a:srgbClr val="0A1E35"/>
          </a:solidFill>
          <a:ln w="9525">
            <a:solidFill>
              <a:srgbClr val="38A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F7692619-3532-3F1B-C06E-8337E42B0560}"/>
              </a:ext>
            </a:extLst>
          </p:cNvPr>
          <p:cNvSpPr txBox="1"/>
          <p:nvPr/>
        </p:nvSpPr>
        <p:spPr>
          <a:xfrm>
            <a:off x="4367808" y="3127013"/>
            <a:ext cx="918470" cy="201684"/>
          </a:xfrm>
          <a:prstGeom prst="rect">
            <a:avLst/>
          </a:prstGeom>
          <a:noFill/>
        </p:spPr>
        <p:txBody>
          <a:bodyPr wrap="none">
            <a:spAutoFit/>
          </a:bodyPr>
          <a:lstStyle/>
          <a:p>
            <a:pPr algn="ctr"/>
            <a:r>
              <a:rPr sz="750" b="1">
                <a:solidFill>
                  <a:srgbClr val="90D0F8"/>
                </a:solidFill>
              </a:rPr>
              <a:t>Power Automate</a:t>
            </a:r>
          </a:p>
        </p:txBody>
      </p:sp>
      <p:sp>
        <p:nvSpPr>
          <p:cNvPr id="52" name="TextBox 51">
            <a:extLst>
              <a:ext uri="{FF2B5EF4-FFF2-40B4-BE49-F238E27FC236}">
                <a16:creationId xmlns:a16="http://schemas.microsoft.com/office/drawing/2014/main" id="{AB76EDD6-1EC7-D116-BF1D-ABCFBB49F788}"/>
              </a:ext>
            </a:extLst>
          </p:cNvPr>
          <p:cNvSpPr txBox="1"/>
          <p:nvPr/>
        </p:nvSpPr>
        <p:spPr>
          <a:xfrm>
            <a:off x="4563892" y="3340060"/>
            <a:ext cx="526307" cy="179275"/>
          </a:xfrm>
          <a:prstGeom prst="rect">
            <a:avLst/>
          </a:prstGeom>
          <a:noFill/>
        </p:spPr>
        <p:txBody>
          <a:bodyPr wrap="none">
            <a:spAutoFit/>
          </a:bodyPr>
          <a:lstStyle/>
          <a:p>
            <a:pPr algn="ctr"/>
            <a:r>
              <a:rPr sz="600">
                <a:solidFill>
                  <a:srgbClr val="3878A8"/>
                </a:solidFill>
              </a:rPr>
              <a:t>Workflows</a:t>
            </a:r>
          </a:p>
        </p:txBody>
      </p:sp>
      <p:sp>
        <p:nvSpPr>
          <p:cNvPr id="53" name="Rectangle 44">
            <a:extLst>
              <a:ext uri="{FF2B5EF4-FFF2-40B4-BE49-F238E27FC236}">
                <a16:creationId xmlns:a16="http://schemas.microsoft.com/office/drawing/2014/main" id="{9F46A424-3BE7-126C-0EB0-DB84C6BDDD67}"/>
              </a:ext>
            </a:extLst>
          </p:cNvPr>
          <p:cNvSpPr/>
          <p:nvPr/>
        </p:nvSpPr>
        <p:spPr>
          <a:xfrm>
            <a:off x="5515015" y="2736422"/>
            <a:ext cx="1020858" cy="843318"/>
          </a:xfrm>
          <a:prstGeom prst="roundRect">
            <a:avLst>
              <a:gd name="adj" fmla="val 8000"/>
            </a:avLst>
          </a:prstGeom>
          <a:solidFill>
            <a:srgbClr val="0A1E35"/>
          </a:solidFill>
          <a:ln w="9525">
            <a:solidFill>
              <a:srgbClr val="38A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E18037BD-99CB-CD48-B240-970EE6EB5568}"/>
              </a:ext>
            </a:extLst>
          </p:cNvPr>
          <p:cNvSpPr txBox="1"/>
          <p:nvPr/>
        </p:nvSpPr>
        <p:spPr>
          <a:xfrm>
            <a:off x="5582550" y="3127013"/>
            <a:ext cx="885789" cy="201684"/>
          </a:xfrm>
          <a:prstGeom prst="rect">
            <a:avLst/>
          </a:prstGeom>
          <a:noFill/>
        </p:spPr>
        <p:txBody>
          <a:bodyPr wrap="none">
            <a:spAutoFit/>
          </a:bodyPr>
          <a:lstStyle/>
          <a:p>
            <a:pPr algn="ctr"/>
            <a:r>
              <a:rPr sz="750" b="1">
                <a:solidFill>
                  <a:srgbClr val="90D0F8"/>
                </a:solidFill>
              </a:rPr>
              <a:t>Azure Functions</a:t>
            </a:r>
          </a:p>
        </p:txBody>
      </p:sp>
      <p:sp>
        <p:nvSpPr>
          <p:cNvPr id="56" name="TextBox 55">
            <a:extLst>
              <a:ext uri="{FF2B5EF4-FFF2-40B4-BE49-F238E27FC236}">
                <a16:creationId xmlns:a16="http://schemas.microsoft.com/office/drawing/2014/main" id="{262FFF91-8883-66C4-96B5-994C6F004F73}"/>
              </a:ext>
            </a:extLst>
          </p:cNvPr>
          <p:cNvSpPr txBox="1"/>
          <p:nvPr/>
        </p:nvSpPr>
        <p:spPr>
          <a:xfrm>
            <a:off x="5769294" y="3340060"/>
            <a:ext cx="512302" cy="179275"/>
          </a:xfrm>
          <a:prstGeom prst="rect">
            <a:avLst/>
          </a:prstGeom>
          <a:noFill/>
        </p:spPr>
        <p:txBody>
          <a:bodyPr wrap="none">
            <a:spAutoFit/>
          </a:bodyPr>
          <a:lstStyle/>
          <a:p>
            <a:pPr algn="ctr"/>
            <a:r>
              <a:rPr sz="600">
                <a:solidFill>
                  <a:srgbClr val="3878A8"/>
                </a:solidFill>
              </a:rPr>
              <a:t>Serverless</a:t>
            </a:r>
          </a:p>
        </p:txBody>
      </p:sp>
      <p:sp>
        <p:nvSpPr>
          <p:cNvPr id="57" name="Rectangle 48">
            <a:extLst>
              <a:ext uri="{FF2B5EF4-FFF2-40B4-BE49-F238E27FC236}">
                <a16:creationId xmlns:a16="http://schemas.microsoft.com/office/drawing/2014/main" id="{E0BE0E58-12F2-5057-D6A6-A972C6F18C9B}"/>
              </a:ext>
            </a:extLst>
          </p:cNvPr>
          <p:cNvSpPr/>
          <p:nvPr/>
        </p:nvSpPr>
        <p:spPr>
          <a:xfrm>
            <a:off x="3118217" y="3775036"/>
            <a:ext cx="1020858" cy="843318"/>
          </a:xfrm>
          <a:prstGeom prst="roundRect">
            <a:avLst>
              <a:gd name="adj" fmla="val 8000"/>
            </a:avLst>
          </a:prstGeom>
          <a:solidFill>
            <a:srgbClr val="1A1035"/>
          </a:solidFill>
          <a:ln w="9525">
            <a:solidFill>
              <a:srgbClr val="A07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a:extLst>
              <a:ext uri="{FF2B5EF4-FFF2-40B4-BE49-F238E27FC236}">
                <a16:creationId xmlns:a16="http://schemas.microsoft.com/office/drawing/2014/main" id="{AD0E9182-28D9-5DEA-ECBF-DF064E98809A}"/>
              </a:ext>
            </a:extLst>
          </p:cNvPr>
          <p:cNvSpPr txBox="1"/>
          <p:nvPr/>
        </p:nvSpPr>
        <p:spPr>
          <a:xfrm>
            <a:off x="3402063" y="3846052"/>
            <a:ext cx="453165" cy="328670"/>
          </a:xfrm>
          <a:prstGeom prst="rect">
            <a:avLst/>
          </a:prstGeom>
          <a:noFill/>
        </p:spPr>
        <p:txBody>
          <a:bodyPr wrap="none">
            <a:spAutoFit/>
          </a:bodyPr>
          <a:lstStyle/>
          <a:p>
            <a:pPr algn="ctr"/>
            <a:r>
              <a:rPr sz="1600">
                <a:solidFill>
                  <a:srgbClr val="A07AEC"/>
                </a:solidFill>
              </a:rPr>
              <a:t>🔌</a:t>
            </a:r>
          </a:p>
        </p:txBody>
      </p:sp>
      <p:sp>
        <p:nvSpPr>
          <p:cNvPr id="59" name="TextBox 58">
            <a:extLst>
              <a:ext uri="{FF2B5EF4-FFF2-40B4-BE49-F238E27FC236}">
                <a16:creationId xmlns:a16="http://schemas.microsoft.com/office/drawing/2014/main" id="{62D6F3A1-72F4-ED69-B335-DC74010E816F}"/>
              </a:ext>
            </a:extLst>
          </p:cNvPr>
          <p:cNvSpPr txBox="1"/>
          <p:nvPr/>
        </p:nvSpPr>
        <p:spPr>
          <a:xfrm>
            <a:off x="3146846" y="4165626"/>
            <a:ext cx="963600" cy="201684"/>
          </a:xfrm>
          <a:prstGeom prst="rect">
            <a:avLst/>
          </a:prstGeom>
          <a:noFill/>
        </p:spPr>
        <p:txBody>
          <a:bodyPr wrap="none">
            <a:spAutoFit/>
          </a:bodyPr>
          <a:lstStyle/>
          <a:p>
            <a:pPr algn="ctr"/>
            <a:r>
              <a:rPr sz="750" b="1">
                <a:solidFill>
                  <a:srgbClr val="C8B0F8"/>
                </a:solidFill>
              </a:rPr>
              <a:t>Dataverse Plugins</a:t>
            </a:r>
          </a:p>
        </p:txBody>
      </p:sp>
      <p:sp>
        <p:nvSpPr>
          <p:cNvPr id="60" name="TextBox 59">
            <a:extLst>
              <a:ext uri="{FF2B5EF4-FFF2-40B4-BE49-F238E27FC236}">
                <a16:creationId xmlns:a16="http://schemas.microsoft.com/office/drawing/2014/main" id="{4B2C1DFA-D95B-9D88-DC79-7A8DD268D109}"/>
              </a:ext>
            </a:extLst>
          </p:cNvPr>
          <p:cNvSpPr txBox="1"/>
          <p:nvPr/>
        </p:nvSpPr>
        <p:spPr>
          <a:xfrm>
            <a:off x="3310248" y="4378674"/>
            <a:ext cx="636798" cy="179275"/>
          </a:xfrm>
          <a:prstGeom prst="rect">
            <a:avLst/>
          </a:prstGeom>
          <a:noFill/>
        </p:spPr>
        <p:txBody>
          <a:bodyPr wrap="none">
            <a:spAutoFit/>
          </a:bodyPr>
          <a:lstStyle/>
          <a:p>
            <a:pPr algn="ctr"/>
            <a:r>
              <a:rPr sz="600">
                <a:solidFill>
                  <a:srgbClr val="685098"/>
                </a:solidFill>
              </a:rPr>
              <a:t>Custom Logic</a:t>
            </a:r>
          </a:p>
        </p:txBody>
      </p:sp>
      <p:sp>
        <p:nvSpPr>
          <p:cNvPr id="61" name="Rectangle 52">
            <a:extLst>
              <a:ext uri="{FF2B5EF4-FFF2-40B4-BE49-F238E27FC236}">
                <a16:creationId xmlns:a16="http://schemas.microsoft.com/office/drawing/2014/main" id="{A0142164-ED49-2456-4543-82BE10750DF7}"/>
              </a:ext>
            </a:extLst>
          </p:cNvPr>
          <p:cNvSpPr/>
          <p:nvPr/>
        </p:nvSpPr>
        <p:spPr>
          <a:xfrm>
            <a:off x="4316615" y="3775036"/>
            <a:ext cx="1020858" cy="843318"/>
          </a:xfrm>
          <a:prstGeom prst="roundRect">
            <a:avLst>
              <a:gd name="adj" fmla="val 8000"/>
            </a:avLst>
          </a:prstGeom>
          <a:solidFill>
            <a:srgbClr val="0A1E35"/>
          </a:solidFill>
          <a:ln w="9525">
            <a:solidFill>
              <a:srgbClr val="38A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EBECF1A8-15B1-68C2-D7FA-0F8BED2A8DFA}"/>
              </a:ext>
            </a:extLst>
          </p:cNvPr>
          <p:cNvSpPr txBox="1"/>
          <p:nvPr/>
        </p:nvSpPr>
        <p:spPr>
          <a:xfrm>
            <a:off x="4430056" y="4165626"/>
            <a:ext cx="793974" cy="201684"/>
          </a:xfrm>
          <a:prstGeom prst="rect">
            <a:avLst/>
          </a:prstGeom>
          <a:noFill/>
        </p:spPr>
        <p:txBody>
          <a:bodyPr wrap="none">
            <a:spAutoFit/>
          </a:bodyPr>
          <a:lstStyle/>
          <a:p>
            <a:pPr algn="ctr"/>
            <a:r>
              <a:rPr sz="750" b="1">
                <a:solidFill>
                  <a:srgbClr val="90D0F8"/>
                </a:solidFill>
              </a:rPr>
              <a:t>Azure Svc Bus</a:t>
            </a:r>
          </a:p>
        </p:txBody>
      </p:sp>
      <p:sp>
        <p:nvSpPr>
          <p:cNvPr id="64" name="TextBox 63">
            <a:extLst>
              <a:ext uri="{FF2B5EF4-FFF2-40B4-BE49-F238E27FC236}">
                <a16:creationId xmlns:a16="http://schemas.microsoft.com/office/drawing/2014/main" id="{E1D9F571-EC70-AABD-F3F8-747D4DD3C57F}"/>
              </a:ext>
            </a:extLst>
          </p:cNvPr>
          <p:cNvSpPr txBox="1"/>
          <p:nvPr/>
        </p:nvSpPr>
        <p:spPr>
          <a:xfrm>
            <a:off x="4558444" y="4378674"/>
            <a:ext cx="537201" cy="179275"/>
          </a:xfrm>
          <a:prstGeom prst="rect">
            <a:avLst/>
          </a:prstGeom>
          <a:noFill/>
        </p:spPr>
        <p:txBody>
          <a:bodyPr wrap="none">
            <a:spAutoFit/>
          </a:bodyPr>
          <a:lstStyle/>
          <a:p>
            <a:pPr algn="ctr"/>
            <a:r>
              <a:rPr sz="600">
                <a:solidFill>
                  <a:srgbClr val="3878A8"/>
                </a:solidFill>
              </a:rPr>
              <a:t>Messaging</a:t>
            </a:r>
          </a:p>
        </p:txBody>
      </p:sp>
      <p:sp>
        <p:nvSpPr>
          <p:cNvPr id="65" name="Rectangle 56">
            <a:extLst>
              <a:ext uri="{FF2B5EF4-FFF2-40B4-BE49-F238E27FC236}">
                <a16:creationId xmlns:a16="http://schemas.microsoft.com/office/drawing/2014/main" id="{311B8CB4-DFE4-2A67-1E15-57611D45F67F}"/>
              </a:ext>
            </a:extLst>
          </p:cNvPr>
          <p:cNvSpPr/>
          <p:nvPr/>
        </p:nvSpPr>
        <p:spPr>
          <a:xfrm>
            <a:off x="5515015" y="3775036"/>
            <a:ext cx="1020858" cy="843318"/>
          </a:xfrm>
          <a:prstGeom prst="roundRect">
            <a:avLst>
              <a:gd name="adj" fmla="val 8000"/>
            </a:avLst>
          </a:prstGeom>
          <a:solidFill>
            <a:srgbClr val="2A1E08"/>
          </a:solidFill>
          <a:ln w="9525">
            <a:solidFill>
              <a:srgbClr val="DDB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a:extLst>
              <a:ext uri="{FF2B5EF4-FFF2-40B4-BE49-F238E27FC236}">
                <a16:creationId xmlns:a16="http://schemas.microsoft.com/office/drawing/2014/main" id="{8AD24A33-CE3D-1EAD-0321-79195461C65B}"/>
              </a:ext>
            </a:extLst>
          </p:cNvPr>
          <p:cNvSpPr txBox="1"/>
          <p:nvPr/>
        </p:nvSpPr>
        <p:spPr>
          <a:xfrm>
            <a:off x="5742839" y="4165626"/>
            <a:ext cx="565213" cy="201684"/>
          </a:xfrm>
          <a:prstGeom prst="rect">
            <a:avLst/>
          </a:prstGeom>
          <a:noFill/>
        </p:spPr>
        <p:txBody>
          <a:bodyPr wrap="none">
            <a:spAutoFit/>
          </a:bodyPr>
          <a:lstStyle/>
          <a:p>
            <a:pPr algn="ctr"/>
            <a:r>
              <a:rPr sz="750" b="1">
                <a:solidFill>
                  <a:srgbClr val="F0D090"/>
                </a:solidFill>
              </a:rPr>
              <a:t>Power BI</a:t>
            </a:r>
          </a:p>
        </p:txBody>
      </p:sp>
      <p:sp>
        <p:nvSpPr>
          <p:cNvPr id="68" name="TextBox 67">
            <a:extLst>
              <a:ext uri="{FF2B5EF4-FFF2-40B4-BE49-F238E27FC236}">
                <a16:creationId xmlns:a16="http://schemas.microsoft.com/office/drawing/2014/main" id="{EB5D1A14-7033-5127-FA00-BEEE0E3156D2}"/>
              </a:ext>
            </a:extLst>
          </p:cNvPr>
          <p:cNvSpPr txBox="1"/>
          <p:nvPr/>
        </p:nvSpPr>
        <p:spPr>
          <a:xfrm>
            <a:off x="5733502" y="4378674"/>
            <a:ext cx="583887" cy="179275"/>
          </a:xfrm>
          <a:prstGeom prst="rect">
            <a:avLst/>
          </a:prstGeom>
          <a:noFill/>
        </p:spPr>
        <p:txBody>
          <a:bodyPr wrap="none">
            <a:spAutoFit/>
          </a:bodyPr>
          <a:lstStyle/>
          <a:p>
            <a:pPr algn="ctr"/>
            <a:r>
              <a:rPr sz="600">
                <a:solidFill>
                  <a:srgbClr val="886820"/>
                </a:solidFill>
              </a:rPr>
              <a:t>SQL Pipeline</a:t>
            </a:r>
          </a:p>
        </p:txBody>
      </p:sp>
      <p:sp>
        <p:nvSpPr>
          <p:cNvPr id="69" name="Rectangle 60">
            <a:extLst>
              <a:ext uri="{FF2B5EF4-FFF2-40B4-BE49-F238E27FC236}">
                <a16:creationId xmlns:a16="http://schemas.microsoft.com/office/drawing/2014/main" id="{419C0E2A-AC80-0945-2FB1-94D9725C404F}"/>
              </a:ext>
            </a:extLst>
          </p:cNvPr>
          <p:cNvSpPr/>
          <p:nvPr/>
        </p:nvSpPr>
        <p:spPr>
          <a:xfrm>
            <a:off x="3118217" y="4813649"/>
            <a:ext cx="1020858" cy="843318"/>
          </a:xfrm>
          <a:prstGeom prst="roundRect">
            <a:avLst>
              <a:gd name="adj" fmla="val 8000"/>
            </a:avLst>
          </a:prstGeom>
          <a:solidFill>
            <a:srgbClr val="1A1035"/>
          </a:solidFill>
          <a:ln w="9525">
            <a:solidFill>
              <a:srgbClr val="A07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a:extLst>
              <a:ext uri="{FF2B5EF4-FFF2-40B4-BE49-F238E27FC236}">
                <a16:creationId xmlns:a16="http://schemas.microsoft.com/office/drawing/2014/main" id="{CA63EAAE-FAAC-DC60-D1A4-57A9EC5C826B}"/>
              </a:ext>
            </a:extLst>
          </p:cNvPr>
          <p:cNvSpPr txBox="1"/>
          <p:nvPr/>
        </p:nvSpPr>
        <p:spPr>
          <a:xfrm>
            <a:off x="3220766" y="5204239"/>
            <a:ext cx="815762" cy="201684"/>
          </a:xfrm>
          <a:prstGeom prst="rect">
            <a:avLst/>
          </a:prstGeom>
          <a:noFill/>
        </p:spPr>
        <p:txBody>
          <a:bodyPr wrap="none">
            <a:spAutoFit/>
          </a:bodyPr>
          <a:lstStyle/>
          <a:p>
            <a:pPr algn="ctr"/>
            <a:r>
              <a:rPr sz="750" b="1">
                <a:solidFill>
                  <a:srgbClr val="C8B0F8"/>
                </a:solidFill>
              </a:rPr>
              <a:t>Copilot Studio</a:t>
            </a:r>
          </a:p>
        </p:txBody>
      </p:sp>
      <p:sp>
        <p:nvSpPr>
          <p:cNvPr id="72" name="TextBox 71">
            <a:extLst>
              <a:ext uri="{FF2B5EF4-FFF2-40B4-BE49-F238E27FC236}">
                <a16:creationId xmlns:a16="http://schemas.microsoft.com/office/drawing/2014/main" id="{E7B5274F-F382-A919-ACE5-191CC89DA2FA}"/>
              </a:ext>
            </a:extLst>
          </p:cNvPr>
          <p:cNvSpPr txBox="1"/>
          <p:nvPr/>
        </p:nvSpPr>
        <p:spPr>
          <a:xfrm>
            <a:off x="3346819" y="5417287"/>
            <a:ext cx="563656" cy="179275"/>
          </a:xfrm>
          <a:prstGeom prst="rect">
            <a:avLst/>
          </a:prstGeom>
          <a:noFill/>
        </p:spPr>
        <p:txBody>
          <a:bodyPr wrap="none">
            <a:spAutoFit/>
          </a:bodyPr>
          <a:lstStyle/>
          <a:p>
            <a:pPr algn="ctr"/>
            <a:r>
              <a:rPr sz="600">
                <a:solidFill>
                  <a:srgbClr val="685098"/>
                </a:solidFill>
              </a:rPr>
              <a:t>AI Assistant</a:t>
            </a:r>
          </a:p>
        </p:txBody>
      </p:sp>
      <p:sp>
        <p:nvSpPr>
          <p:cNvPr id="73" name="Rectangle 64">
            <a:extLst>
              <a:ext uri="{FF2B5EF4-FFF2-40B4-BE49-F238E27FC236}">
                <a16:creationId xmlns:a16="http://schemas.microsoft.com/office/drawing/2014/main" id="{A38BF58C-B8D5-FBDF-6CF1-F9EEC42984E6}"/>
              </a:ext>
            </a:extLst>
          </p:cNvPr>
          <p:cNvSpPr/>
          <p:nvPr/>
        </p:nvSpPr>
        <p:spPr>
          <a:xfrm>
            <a:off x="8932672" y="1697810"/>
            <a:ext cx="1020858" cy="843318"/>
          </a:xfrm>
          <a:prstGeom prst="roundRect">
            <a:avLst>
              <a:gd name="adj" fmla="val 8000"/>
            </a:avLst>
          </a:prstGeom>
          <a:solidFill>
            <a:srgbClr val="2A0E0E"/>
          </a:solidFill>
          <a:ln w="9525">
            <a:solidFill>
              <a:srgbClr val="E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a:extLst>
              <a:ext uri="{FF2B5EF4-FFF2-40B4-BE49-F238E27FC236}">
                <a16:creationId xmlns:a16="http://schemas.microsoft.com/office/drawing/2014/main" id="{67BDBC0A-F56B-654E-71A2-9B54F187A3A9}"/>
              </a:ext>
            </a:extLst>
          </p:cNvPr>
          <p:cNvSpPr txBox="1"/>
          <p:nvPr/>
        </p:nvSpPr>
        <p:spPr>
          <a:xfrm>
            <a:off x="9253867" y="1768826"/>
            <a:ext cx="378468" cy="328670"/>
          </a:xfrm>
          <a:prstGeom prst="rect">
            <a:avLst/>
          </a:prstGeom>
          <a:noFill/>
        </p:spPr>
        <p:txBody>
          <a:bodyPr wrap="none">
            <a:spAutoFit/>
          </a:bodyPr>
          <a:lstStyle/>
          <a:p>
            <a:pPr algn="ctr"/>
            <a:r>
              <a:rPr sz="1600">
                <a:solidFill>
                  <a:srgbClr val="E06060"/>
                </a:solidFill>
              </a:rPr>
              <a:t>🏛</a:t>
            </a:r>
          </a:p>
        </p:txBody>
      </p:sp>
      <p:sp>
        <p:nvSpPr>
          <p:cNvPr id="75" name="TextBox 74">
            <a:extLst>
              <a:ext uri="{FF2B5EF4-FFF2-40B4-BE49-F238E27FC236}">
                <a16:creationId xmlns:a16="http://schemas.microsoft.com/office/drawing/2014/main" id="{B8EA18A1-5D28-A710-24DE-B5B84EC9AB0B}"/>
              </a:ext>
            </a:extLst>
          </p:cNvPr>
          <p:cNvSpPr txBox="1"/>
          <p:nvPr/>
        </p:nvSpPr>
        <p:spPr>
          <a:xfrm>
            <a:off x="9252310" y="2088401"/>
            <a:ext cx="381581" cy="201684"/>
          </a:xfrm>
          <a:prstGeom prst="rect">
            <a:avLst/>
          </a:prstGeom>
          <a:noFill/>
        </p:spPr>
        <p:txBody>
          <a:bodyPr wrap="none">
            <a:spAutoFit/>
          </a:bodyPr>
          <a:lstStyle/>
          <a:p>
            <a:pPr algn="ctr"/>
            <a:r>
              <a:rPr sz="750" b="1">
                <a:solidFill>
                  <a:srgbClr val="F0A0A0"/>
                </a:solidFill>
              </a:rPr>
              <a:t>CDC</a:t>
            </a:r>
          </a:p>
        </p:txBody>
      </p:sp>
      <p:sp>
        <p:nvSpPr>
          <p:cNvPr id="76" name="TextBox 75">
            <a:extLst>
              <a:ext uri="{FF2B5EF4-FFF2-40B4-BE49-F238E27FC236}">
                <a16:creationId xmlns:a16="http://schemas.microsoft.com/office/drawing/2014/main" id="{5A345F29-81B5-254E-6FE3-D670878D35F0}"/>
              </a:ext>
            </a:extLst>
          </p:cNvPr>
          <p:cNvSpPr txBox="1"/>
          <p:nvPr/>
        </p:nvSpPr>
        <p:spPr>
          <a:xfrm>
            <a:off x="9092801" y="2301448"/>
            <a:ext cx="700601" cy="179275"/>
          </a:xfrm>
          <a:prstGeom prst="rect">
            <a:avLst/>
          </a:prstGeom>
          <a:noFill/>
        </p:spPr>
        <p:txBody>
          <a:bodyPr wrap="none">
            <a:spAutoFit/>
          </a:bodyPr>
          <a:lstStyle/>
          <a:p>
            <a:pPr algn="ctr"/>
            <a:r>
              <a:rPr sz="600">
                <a:solidFill>
                  <a:srgbClr val="883838"/>
                </a:solidFill>
              </a:rPr>
              <a:t>Disease Control</a:t>
            </a:r>
          </a:p>
        </p:txBody>
      </p:sp>
      <p:sp>
        <p:nvSpPr>
          <p:cNvPr id="77" name="Rectangle 68">
            <a:extLst>
              <a:ext uri="{FF2B5EF4-FFF2-40B4-BE49-F238E27FC236}">
                <a16:creationId xmlns:a16="http://schemas.microsoft.com/office/drawing/2014/main" id="{197A97BF-3668-B74E-D7F9-861FE09B49C2}"/>
              </a:ext>
            </a:extLst>
          </p:cNvPr>
          <p:cNvSpPr/>
          <p:nvPr/>
        </p:nvSpPr>
        <p:spPr>
          <a:xfrm>
            <a:off x="8932672" y="2736422"/>
            <a:ext cx="1020858" cy="843318"/>
          </a:xfrm>
          <a:prstGeom prst="roundRect">
            <a:avLst>
              <a:gd name="adj" fmla="val 8000"/>
            </a:avLst>
          </a:prstGeom>
          <a:solidFill>
            <a:srgbClr val="181820"/>
          </a:solidFill>
          <a:ln w="9525">
            <a:solidFill>
              <a:srgbClr val="80809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a:extLst>
              <a:ext uri="{FF2B5EF4-FFF2-40B4-BE49-F238E27FC236}">
                <a16:creationId xmlns:a16="http://schemas.microsoft.com/office/drawing/2014/main" id="{E29F7434-910A-37C4-1536-A62FC1CA9F08}"/>
              </a:ext>
            </a:extLst>
          </p:cNvPr>
          <p:cNvSpPr txBox="1"/>
          <p:nvPr/>
        </p:nvSpPr>
        <p:spPr>
          <a:xfrm>
            <a:off x="9216518" y="2807438"/>
            <a:ext cx="453165" cy="328670"/>
          </a:xfrm>
          <a:prstGeom prst="rect">
            <a:avLst/>
          </a:prstGeom>
          <a:noFill/>
        </p:spPr>
        <p:txBody>
          <a:bodyPr wrap="none">
            <a:spAutoFit/>
          </a:bodyPr>
          <a:lstStyle/>
          <a:p>
            <a:pPr algn="ctr"/>
            <a:r>
              <a:rPr sz="1600">
                <a:solidFill>
                  <a:srgbClr val="808098"/>
                </a:solidFill>
              </a:rPr>
              <a:t>🔗</a:t>
            </a:r>
          </a:p>
        </p:txBody>
      </p:sp>
      <p:sp>
        <p:nvSpPr>
          <p:cNvPr id="79" name="TextBox 78">
            <a:extLst>
              <a:ext uri="{FF2B5EF4-FFF2-40B4-BE49-F238E27FC236}">
                <a16:creationId xmlns:a16="http://schemas.microsoft.com/office/drawing/2014/main" id="{FF2AD791-3C73-0311-8626-35A8B8947BE5}"/>
              </a:ext>
            </a:extLst>
          </p:cNvPr>
          <p:cNvSpPr txBox="1"/>
          <p:nvPr/>
        </p:nvSpPr>
        <p:spPr>
          <a:xfrm>
            <a:off x="9099803" y="3127013"/>
            <a:ext cx="686596" cy="201684"/>
          </a:xfrm>
          <a:prstGeom prst="rect">
            <a:avLst/>
          </a:prstGeom>
          <a:noFill/>
        </p:spPr>
        <p:txBody>
          <a:bodyPr wrap="none">
            <a:spAutoFit/>
          </a:bodyPr>
          <a:lstStyle/>
          <a:p>
            <a:pPr algn="ctr"/>
            <a:r>
              <a:rPr sz="750" b="1">
                <a:solidFill>
                  <a:srgbClr val="B0B0C8"/>
                </a:solidFill>
              </a:rPr>
              <a:t>Third-party</a:t>
            </a:r>
          </a:p>
        </p:txBody>
      </p:sp>
      <p:sp>
        <p:nvSpPr>
          <p:cNvPr id="80" name="TextBox 79">
            <a:extLst>
              <a:ext uri="{FF2B5EF4-FFF2-40B4-BE49-F238E27FC236}">
                <a16:creationId xmlns:a16="http://schemas.microsoft.com/office/drawing/2014/main" id="{2F6926F4-F17F-DBFD-68AE-0AA7D528AAAB}"/>
              </a:ext>
            </a:extLst>
          </p:cNvPr>
          <p:cNvSpPr txBox="1"/>
          <p:nvPr/>
        </p:nvSpPr>
        <p:spPr>
          <a:xfrm>
            <a:off x="9078794" y="3340060"/>
            <a:ext cx="728613" cy="179275"/>
          </a:xfrm>
          <a:prstGeom prst="rect">
            <a:avLst/>
          </a:prstGeom>
          <a:noFill/>
        </p:spPr>
        <p:txBody>
          <a:bodyPr wrap="none">
            <a:spAutoFit/>
          </a:bodyPr>
          <a:lstStyle/>
          <a:p>
            <a:pPr algn="ctr"/>
            <a:r>
              <a:rPr sz="600">
                <a:solidFill>
                  <a:srgbClr val="505060"/>
                </a:solidFill>
              </a:rPr>
              <a:t>External Services</a:t>
            </a:r>
          </a:p>
        </p:txBody>
      </p:sp>
      <p:sp>
        <p:nvSpPr>
          <p:cNvPr id="81" name="Rectangle 72">
            <a:extLst>
              <a:ext uri="{FF2B5EF4-FFF2-40B4-BE49-F238E27FC236}">
                <a16:creationId xmlns:a16="http://schemas.microsoft.com/office/drawing/2014/main" id="{FCE9F88D-4A4D-2571-F1D5-CCDF8CF39BFE}"/>
              </a:ext>
            </a:extLst>
          </p:cNvPr>
          <p:cNvSpPr/>
          <p:nvPr/>
        </p:nvSpPr>
        <p:spPr>
          <a:xfrm>
            <a:off x="8932672" y="3775036"/>
            <a:ext cx="1020858" cy="843318"/>
          </a:xfrm>
          <a:prstGeom prst="roundRect">
            <a:avLst>
              <a:gd name="adj" fmla="val 8000"/>
            </a:avLst>
          </a:prstGeom>
          <a:solidFill>
            <a:srgbClr val="0A2E2A"/>
          </a:solidFill>
          <a:ln w="9525">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a:extLst>
              <a:ext uri="{FF2B5EF4-FFF2-40B4-BE49-F238E27FC236}">
                <a16:creationId xmlns:a16="http://schemas.microsoft.com/office/drawing/2014/main" id="{5E6AEA23-B121-E192-6DC0-4EC081D86E3E}"/>
              </a:ext>
            </a:extLst>
          </p:cNvPr>
          <p:cNvSpPr txBox="1"/>
          <p:nvPr/>
        </p:nvSpPr>
        <p:spPr>
          <a:xfrm>
            <a:off x="9216518" y="3846052"/>
            <a:ext cx="453165" cy="328670"/>
          </a:xfrm>
          <a:prstGeom prst="rect">
            <a:avLst/>
          </a:prstGeom>
          <a:noFill/>
        </p:spPr>
        <p:txBody>
          <a:bodyPr wrap="none">
            <a:spAutoFit/>
          </a:bodyPr>
          <a:lstStyle/>
          <a:p>
            <a:pPr algn="ctr"/>
            <a:r>
              <a:rPr sz="1600">
                <a:solidFill>
                  <a:srgbClr val="00C9A7"/>
                </a:solidFill>
              </a:rPr>
              <a:t>📈</a:t>
            </a:r>
          </a:p>
        </p:txBody>
      </p:sp>
      <p:sp>
        <p:nvSpPr>
          <p:cNvPr id="83" name="TextBox 82">
            <a:extLst>
              <a:ext uri="{FF2B5EF4-FFF2-40B4-BE49-F238E27FC236}">
                <a16:creationId xmlns:a16="http://schemas.microsoft.com/office/drawing/2014/main" id="{0F3014BF-07AB-7CAD-4161-324A27D8202E}"/>
              </a:ext>
            </a:extLst>
          </p:cNvPr>
          <p:cNvSpPr txBox="1"/>
          <p:nvPr/>
        </p:nvSpPr>
        <p:spPr>
          <a:xfrm>
            <a:off x="9059342" y="4165626"/>
            <a:ext cx="767519" cy="201684"/>
          </a:xfrm>
          <a:prstGeom prst="rect">
            <a:avLst/>
          </a:prstGeom>
          <a:noFill/>
        </p:spPr>
        <p:txBody>
          <a:bodyPr wrap="none">
            <a:spAutoFit/>
          </a:bodyPr>
          <a:lstStyle/>
          <a:p>
            <a:pPr algn="ctr"/>
            <a:r>
              <a:rPr sz="750" b="1">
                <a:solidFill>
                  <a:srgbClr val="A0EDE5"/>
                </a:solidFill>
              </a:rPr>
              <a:t>Log Analytics</a:t>
            </a:r>
          </a:p>
        </p:txBody>
      </p:sp>
      <p:sp>
        <p:nvSpPr>
          <p:cNvPr id="84" name="TextBox 83">
            <a:extLst>
              <a:ext uri="{FF2B5EF4-FFF2-40B4-BE49-F238E27FC236}">
                <a16:creationId xmlns:a16="http://schemas.microsoft.com/office/drawing/2014/main" id="{8BA9F926-382A-2D05-EC6B-FAF6B3A3780F}"/>
              </a:ext>
            </a:extLst>
          </p:cNvPr>
          <p:cNvSpPr txBox="1"/>
          <p:nvPr/>
        </p:nvSpPr>
        <p:spPr>
          <a:xfrm>
            <a:off x="9118478" y="4378674"/>
            <a:ext cx="649248" cy="179275"/>
          </a:xfrm>
          <a:prstGeom prst="rect">
            <a:avLst/>
          </a:prstGeom>
          <a:noFill/>
        </p:spPr>
        <p:txBody>
          <a:bodyPr wrap="none">
            <a:spAutoFit/>
          </a:bodyPr>
          <a:lstStyle/>
          <a:p>
            <a:pPr algn="ctr"/>
            <a:r>
              <a:rPr sz="600">
                <a:solidFill>
                  <a:srgbClr val="509A90"/>
                </a:solidFill>
              </a:rPr>
              <a:t>Azure Monitor</a:t>
            </a:r>
          </a:p>
        </p:txBody>
      </p:sp>
      <p:sp>
        <p:nvSpPr>
          <p:cNvPr id="85" name="Rectangle 76">
            <a:extLst>
              <a:ext uri="{FF2B5EF4-FFF2-40B4-BE49-F238E27FC236}">
                <a16:creationId xmlns:a16="http://schemas.microsoft.com/office/drawing/2014/main" id="{B099170B-8C1C-06CF-109D-0ABE8857E34A}"/>
              </a:ext>
            </a:extLst>
          </p:cNvPr>
          <p:cNvSpPr/>
          <p:nvPr/>
        </p:nvSpPr>
        <p:spPr>
          <a:xfrm>
            <a:off x="8932672" y="4813649"/>
            <a:ext cx="1020858" cy="843318"/>
          </a:xfrm>
          <a:prstGeom prst="roundRect">
            <a:avLst>
              <a:gd name="adj" fmla="val 8000"/>
            </a:avLst>
          </a:prstGeom>
          <a:solidFill>
            <a:srgbClr val="1A1035"/>
          </a:solidFill>
          <a:ln w="9525">
            <a:solidFill>
              <a:srgbClr val="A07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a:extLst>
              <a:ext uri="{FF2B5EF4-FFF2-40B4-BE49-F238E27FC236}">
                <a16:creationId xmlns:a16="http://schemas.microsoft.com/office/drawing/2014/main" id="{F76A6BAF-EA4A-49F8-D5FA-0584E923235B}"/>
              </a:ext>
            </a:extLst>
          </p:cNvPr>
          <p:cNvSpPr txBox="1"/>
          <p:nvPr/>
        </p:nvSpPr>
        <p:spPr>
          <a:xfrm>
            <a:off x="9216518" y="4884665"/>
            <a:ext cx="453165" cy="328670"/>
          </a:xfrm>
          <a:prstGeom prst="rect">
            <a:avLst/>
          </a:prstGeom>
          <a:noFill/>
        </p:spPr>
        <p:txBody>
          <a:bodyPr wrap="none">
            <a:spAutoFit/>
          </a:bodyPr>
          <a:lstStyle/>
          <a:p>
            <a:pPr algn="ctr"/>
            <a:r>
              <a:rPr sz="1600">
                <a:solidFill>
                  <a:srgbClr val="A07AEC"/>
                </a:solidFill>
              </a:rPr>
              <a:t>🔍</a:t>
            </a:r>
          </a:p>
        </p:txBody>
      </p:sp>
      <p:sp>
        <p:nvSpPr>
          <p:cNvPr id="87" name="TextBox 86">
            <a:extLst>
              <a:ext uri="{FF2B5EF4-FFF2-40B4-BE49-F238E27FC236}">
                <a16:creationId xmlns:a16="http://schemas.microsoft.com/office/drawing/2014/main" id="{3699F3F2-67AF-DD86-A448-E72FBCAE730B}"/>
              </a:ext>
            </a:extLst>
          </p:cNvPr>
          <p:cNvSpPr txBox="1"/>
          <p:nvPr/>
        </p:nvSpPr>
        <p:spPr>
          <a:xfrm>
            <a:off x="9078017" y="5204239"/>
            <a:ext cx="730170" cy="201684"/>
          </a:xfrm>
          <a:prstGeom prst="rect">
            <a:avLst/>
          </a:prstGeom>
          <a:noFill/>
        </p:spPr>
        <p:txBody>
          <a:bodyPr wrap="none">
            <a:spAutoFit/>
          </a:bodyPr>
          <a:lstStyle/>
          <a:p>
            <a:pPr algn="ctr"/>
            <a:r>
              <a:rPr sz="750" b="1">
                <a:solidFill>
                  <a:srgbClr val="C8B0F8"/>
                </a:solidFill>
              </a:rPr>
              <a:t>App Insights</a:t>
            </a:r>
          </a:p>
        </p:txBody>
      </p:sp>
      <p:sp>
        <p:nvSpPr>
          <p:cNvPr id="88" name="TextBox 87">
            <a:extLst>
              <a:ext uri="{FF2B5EF4-FFF2-40B4-BE49-F238E27FC236}">
                <a16:creationId xmlns:a16="http://schemas.microsoft.com/office/drawing/2014/main" id="{9604C4D3-47F4-398B-0644-4F5D81EDC34C}"/>
              </a:ext>
            </a:extLst>
          </p:cNvPr>
          <p:cNvSpPr txBox="1"/>
          <p:nvPr/>
        </p:nvSpPr>
        <p:spPr>
          <a:xfrm>
            <a:off x="9190063" y="5417287"/>
            <a:ext cx="506077" cy="179275"/>
          </a:xfrm>
          <a:prstGeom prst="rect">
            <a:avLst/>
          </a:prstGeom>
          <a:noFill/>
        </p:spPr>
        <p:txBody>
          <a:bodyPr wrap="none">
            <a:spAutoFit/>
          </a:bodyPr>
          <a:lstStyle/>
          <a:p>
            <a:pPr algn="ctr"/>
            <a:r>
              <a:rPr sz="600">
                <a:solidFill>
                  <a:srgbClr val="685098"/>
                </a:solidFill>
              </a:rPr>
              <a:t>Telemetry</a:t>
            </a:r>
          </a:p>
        </p:txBody>
      </p:sp>
      <p:sp>
        <p:nvSpPr>
          <p:cNvPr id="89" name="Rectangle 80">
            <a:extLst>
              <a:ext uri="{FF2B5EF4-FFF2-40B4-BE49-F238E27FC236}">
                <a16:creationId xmlns:a16="http://schemas.microsoft.com/office/drawing/2014/main" id="{1B7579E9-C369-ECCE-6B58-F155BCDFBE44}"/>
              </a:ext>
            </a:extLst>
          </p:cNvPr>
          <p:cNvSpPr/>
          <p:nvPr/>
        </p:nvSpPr>
        <p:spPr>
          <a:xfrm>
            <a:off x="10308611" y="3775036"/>
            <a:ext cx="1020858" cy="843318"/>
          </a:xfrm>
          <a:prstGeom prst="roundRect">
            <a:avLst>
              <a:gd name="adj" fmla="val 8000"/>
            </a:avLst>
          </a:prstGeom>
          <a:solidFill>
            <a:srgbClr val="0A1E35"/>
          </a:solidFill>
          <a:ln w="9525">
            <a:solidFill>
              <a:srgbClr val="38A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a:extLst>
              <a:ext uri="{FF2B5EF4-FFF2-40B4-BE49-F238E27FC236}">
                <a16:creationId xmlns:a16="http://schemas.microsoft.com/office/drawing/2014/main" id="{FA471733-E32F-B0F9-D2BE-0E5FCFDEC8D5}"/>
              </a:ext>
            </a:extLst>
          </p:cNvPr>
          <p:cNvSpPr txBox="1"/>
          <p:nvPr/>
        </p:nvSpPr>
        <p:spPr>
          <a:xfrm>
            <a:off x="10629807" y="3846052"/>
            <a:ext cx="378468" cy="328670"/>
          </a:xfrm>
          <a:prstGeom prst="rect">
            <a:avLst/>
          </a:prstGeom>
          <a:noFill/>
        </p:spPr>
        <p:txBody>
          <a:bodyPr wrap="none">
            <a:spAutoFit/>
          </a:bodyPr>
          <a:lstStyle/>
          <a:p>
            <a:pPr algn="ctr"/>
            <a:r>
              <a:rPr sz="1600">
                <a:solidFill>
                  <a:srgbClr val="38A8F0"/>
                </a:solidFill>
              </a:rPr>
              <a:t>⛓</a:t>
            </a:r>
          </a:p>
        </p:txBody>
      </p:sp>
      <p:sp>
        <p:nvSpPr>
          <p:cNvPr id="91" name="TextBox 90">
            <a:extLst>
              <a:ext uri="{FF2B5EF4-FFF2-40B4-BE49-F238E27FC236}">
                <a16:creationId xmlns:a16="http://schemas.microsoft.com/office/drawing/2014/main" id="{963B1231-6694-E724-049A-175D57E0F186}"/>
              </a:ext>
            </a:extLst>
          </p:cNvPr>
          <p:cNvSpPr txBox="1"/>
          <p:nvPr/>
        </p:nvSpPr>
        <p:spPr>
          <a:xfrm>
            <a:off x="10488969" y="4165626"/>
            <a:ext cx="660140" cy="201684"/>
          </a:xfrm>
          <a:prstGeom prst="rect">
            <a:avLst/>
          </a:prstGeom>
          <a:noFill/>
        </p:spPr>
        <p:txBody>
          <a:bodyPr wrap="none">
            <a:spAutoFit/>
          </a:bodyPr>
          <a:lstStyle/>
          <a:p>
            <a:pPr algn="ctr"/>
            <a:r>
              <a:rPr sz="750" b="1">
                <a:solidFill>
                  <a:srgbClr val="90D0F8"/>
                </a:solidFill>
              </a:rPr>
              <a:t>Logic Apps</a:t>
            </a:r>
          </a:p>
        </p:txBody>
      </p:sp>
      <p:sp>
        <p:nvSpPr>
          <p:cNvPr id="92" name="TextBox 91">
            <a:extLst>
              <a:ext uri="{FF2B5EF4-FFF2-40B4-BE49-F238E27FC236}">
                <a16:creationId xmlns:a16="http://schemas.microsoft.com/office/drawing/2014/main" id="{3A9239FB-92D0-BF65-F6CE-7AE5F1BCD346}"/>
              </a:ext>
            </a:extLst>
          </p:cNvPr>
          <p:cNvSpPr txBox="1"/>
          <p:nvPr/>
        </p:nvSpPr>
        <p:spPr>
          <a:xfrm>
            <a:off x="10501419" y="4378674"/>
            <a:ext cx="635241" cy="179275"/>
          </a:xfrm>
          <a:prstGeom prst="rect">
            <a:avLst/>
          </a:prstGeom>
          <a:noFill/>
        </p:spPr>
        <p:txBody>
          <a:bodyPr wrap="none">
            <a:spAutoFit/>
          </a:bodyPr>
          <a:lstStyle/>
          <a:p>
            <a:pPr algn="ctr"/>
            <a:r>
              <a:rPr sz="600">
                <a:solidFill>
                  <a:srgbClr val="3878A8"/>
                </a:solidFill>
              </a:rPr>
              <a:t>Orchestration</a:t>
            </a:r>
          </a:p>
        </p:txBody>
      </p:sp>
      <p:cxnSp>
        <p:nvCxnSpPr>
          <p:cNvPr id="93" name="Connector">
            <a:extLst>
              <a:ext uri="{FF2B5EF4-FFF2-40B4-BE49-F238E27FC236}">
                <a16:creationId xmlns:a16="http://schemas.microsoft.com/office/drawing/2014/main" id="{136FE59B-23F4-ECF0-5FAC-1274183496DA}"/>
              </a:ext>
            </a:extLst>
          </p:cNvPr>
          <p:cNvCxnSpPr/>
          <p:nvPr/>
        </p:nvCxnSpPr>
        <p:spPr>
          <a:xfrm>
            <a:off x="1697892" y="2119469"/>
            <a:ext cx="1420325" cy="888"/>
          </a:xfrm>
          <a:prstGeom prst="line">
            <a:avLst/>
          </a:prstGeom>
          <a:ln w="9144">
            <a:solidFill>
              <a:srgbClr val="00C9A7"/>
            </a:solidFill>
            <a:prstDash val="solid"/>
            <a:tailEnd type="arrow" w="sm" len="sm"/>
          </a:ln>
        </p:spPr>
      </p:cxnSp>
      <p:cxnSp>
        <p:nvCxnSpPr>
          <p:cNvPr id="94" name="Connector">
            <a:extLst>
              <a:ext uri="{FF2B5EF4-FFF2-40B4-BE49-F238E27FC236}">
                <a16:creationId xmlns:a16="http://schemas.microsoft.com/office/drawing/2014/main" id="{8D178D07-8CA1-5F8A-A279-65FD207E0229}"/>
              </a:ext>
            </a:extLst>
          </p:cNvPr>
          <p:cNvCxnSpPr/>
          <p:nvPr/>
        </p:nvCxnSpPr>
        <p:spPr>
          <a:xfrm>
            <a:off x="1697892" y="3158081"/>
            <a:ext cx="1420325" cy="888"/>
          </a:xfrm>
          <a:prstGeom prst="line">
            <a:avLst/>
          </a:prstGeom>
          <a:ln w="9144">
            <a:solidFill>
              <a:srgbClr val="27C878"/>
            </a:solidFill>
            <a:prstDash val="solid"/>
            <a:tailEnd type="arrow" w="sm" len="sm"/>
          </a:ln>
        </p:spPr>
      </p:cxnSp>
      <p:cxnSp>
        <p:nvCxnSpPr>
          <p:cNvPr id="95" name="Connector">
            <a:extLst>
              <a:ext uri="{FF2B5EF4-FFF2-40B4-BE49-F238E27FC236}">
                <a16:creationId xmlns:a16="http://schemas.microsoft.com/office/drawing/2014/main" id="{9AD6F689-68CA-5C4E-9423-0677C345FD2F}"/>
              </a:ext>
            </a:extLst>
          </p:cNvPr>
          <p:cNvCxnSpPr/>
          <p:nvPr/>
        </p:nvCxnSpPr>
        <p:spPr>
          <a:xfrm>
            <a:off x="1697892" y="4196695"/>
            <a:ext cx="1420325" cy="888"/>
          </a:xfrm>
          <a:prstGeom prst="line">
            <a:avLst/>
          </a:prstGeom>
          <a:ln w="9144">
            <a:solidFill>
              <a:srgbClr val="27C878"/>
            </a:solidFill>
            <a:prstDash val="solid"/>
            <a:tailEnd type="arrow" w="sm" len="sm"/>
          </a:ln>
        </p:spPr>
      </p:cxnSp>
      <p:cxnSp>
        <p:nvCxnSpPr>
          <p:cNvPr id="96" name="Connector">
            <a:extLst>
              <a:ext uri="{FF2B5EF4-FFF2-40B4-BE49-F238E27FC236}">
                <a16:creationId xmlns:a16="http://schemas.microsoft.com/office/drawing/2014/main" id="{BE92D1DC-B447-C324-1E26-1C6756A6BBA2}"/>
              </a:ext>
            </a:extLst>
          </p:cNvPr>
          <p:cNvCxnSpPr/>
          <p:nvPr/>
        </p:nvCxnSpPr>
        <p:spPr>
          <a:xfrm>
            <a:off x="1697892" y="5235306"/>
            <a:ext cx="1420325" cy="888"/>
          </a:xfrm>
          <a:prstGeom prst="line">
            <a:avLst/>
          </a:prstGeom>
          <a:ln w="9144">
            <a:solidFill>
              <a:srgbClr val="DDB040"/>
            </a:solidFill>
            <a:prstDash val="solid"/>
            <a:tailEnd type="arrow" w="sm" len="sm"/>
          </a:ln>
        </p:spPr>
      </p:cxnSp>
      <p:cxnSp>
        <p:nvCxnSpPr>
          <p:cNvPr id="97" name="Connector">
            <a:extLst>
              <a:ext uri="{FF2B5EF4-FFF2-40B4-BE49-F238E27FC236}">
                <a16:creationId xmlns:a16="http://schemas.microsoft.com/office/drawing/2014/main" id="{3C25C66B-14FE-6051-E3BB-3D75CB92FB90}"/>
              </a:ext>
            </a:extLst>
          </p:cNvPr>
          <p:cNvCxnSpPr/>
          <p:nvPr/>
        </p:nvCxnSpPr>
        <p:spPr>
          <a:xfrm>
            <a:off x="4139076" y="2119469"/>
            <a:ext cx="177540" cy="888"/>
          </a:xfrm>
          <a:prstGeom prst="line">
            <a:avLst/>
          </a:prstGeom>
          <a:ln w="9144">
            <a:solidFill>
              <a:srgbClr val="38A8F0"/>
            </a:solidFill>
            <a:prstDash val="solid"/>
            <a:tailEnd type="arrow" w="sm" len="sm"/>
          </a:ln>
        </p:spPr>
      </p:cxnSp>
      <p:cxnSp>
        <p:nvCxnSpPr>
          <p:cNvPr id="98" name="Connector">
            <a:extLst>
              <a:ext uri="{FF2B5EF4-FFF2-40B4-BE49-F238E27FC236}">
                <a16:creationId xmlns:a16="http://schemas.microsoft.com/office/drawing/2014/main" id="{8FCE5FC4-DD51-AC5E-65C3-9064842EC2A7}"/>
              </a:ext>
            </a:extLst>
          </p:cNvPr>
          <p:cNvCxnSpPr/>
          <p:nvPr/>
        </p:nvCxnSpPr>
        <p:spPr>
          <a:xfrm>
            <a:off x="5337474" y="2119469"/>
            <a:ext cx="177540" cy="888"/>
          </a:xfrm>
          <a:prstGeom prst="line">
            <a:avLst/>
          </a:prstGeom>
          <a:ln w="9144">
            <a:solidFill>
              <a:srgbClr val="00C9A7"/>
            </a:solidFill>
            <a:prstDash val="solid"/>
            <a:tailEnd type="arrow" w="sm" len="sm"/>
          </a:ln>
        </p:spPr>
      </p:cxnSp>
      <p:cxnSp>
        <p:nvCxnSpPr>
          <p:cNvPr id="100" name="Connector">
            <a:extLst>
              <a:ext uri="{FF2B5EF4-FFF2-40B4-BE49-F238E27FC236}">
                <a16:creationId xmlns:a16="http://schemas.microsoft.com/office/drawing/2014/main" id="{9C593B3A-75F3-5BFF-B424-B7E8D3503440}"/>
              </a:ext>
            </a:extLst>
          </p:cNvPr>
          <p:cNvCxnSpPr/>
          <p:nvPr/>
        </p:nvCxnSpPr>
        <p:spPr>
          <a:xfrm>
            <a:off x="5337474" y="3158081"/>
            <a:ext cx="177540" cy="888"/>
          </a:xfrm>
          <a:prstGeom prst="line">
            <a:avLst/>
          </a:prstGeom>
          <a:ln w="9144">
            <a:solidFill>
              <a:srgbClr val="38A8F0"/>
            </a:solidFill>
            <a:prstDash val="solid"/>
            <a:tailEnd type="arrow" w="sm" len="sm"/>
          </a:ln>
        </p:spPr>
      </p:cxnSp>
      <p:cxnSp>
        <p:nvCxnSpPr>
          <p:cNvPr id="103" name="Connector">
            <a:extLst>
              <a:ext uri="{FF2B5EF4-FFF2-40B4-BE49-F238E27FC236}">
                <a16:creationId xmlns:a16="http://schemas.microsoft.com/office/drawing/2014/main" id="{A71CBE83-37E7-AC4F-3732-E1EB38D80DF0}"/>
              </a:ext>
            </a:extLst>
          </p:cNvPr>
          <p:cNvCxnSpPr/>
          <p:nvPr/>
        </p:nvCxnSpPr>
        <p:spPr>
          <a:xfrm>
            <a:off x="4139076" y="4196695"/>
            <a:ext cx="177540" cy="888"/>
          </a:xfrm>
          <a:prstGeom prst="line">
            <a:avLst/>
          </a:prstGeom>
          <a:ln w="9144">
            <a:solidFill>
              <a:srgbClr val="A07AEC"/>
            </a:solidFill>
            <a:prstDash val="solid"/>
            <a:tailEnd type="arrow" w="sm" len="sm"/>
          </a:ln>
        </p:spPr>
      </p:cxnSp>
      <p:cxnSp>
        <p:nvCxnSpPr>
          <p:cNvPr id="106" name="Connector">
            <a:extLst>
              <a:ext uri="{FF2B5EF4-FFF2-40B4-BE49-F238E27FC236}">
                <a16:creationId xmlns:a16="http://schemas.microsoft.com/office/drawing/2014/main" id="{8D270087-D10B-A208-0A2C-76102876A741}"/>
              </a:ext>
            </a:extLst>
          </p:cNvPr>
          <p:cNvCxnSpPr/>
          <p:nvPr/>
        </p:nvCxnSpPr>
        <p:spPr>
          <a:xfrm>
            <a:off x="9443101" y="4618354"/>
            <a:ext cx="888" cy="195294"/>
          </a:xfrm>
          <a:prstGeom prst="line">
            <a:avLst/>
          </a:prstGeom>
          <a:ln w="9144">
            <a:solidFill>
              <a:srgbClr val="00C9A7"/>
            </a:solidFill>
            <a:prstDash val="dash"/>
            <a:tailEnd type="arrow" w="sm" len="sm"/>
          </a:ln>
        </p:spPr>
      </p:cxnSp>
      <p:cxnSp>
        <p:nvCxnSpPr>
          <p:cNvPr id="107" name="Connector">
            <a:extLst>
              <a:ext uri="{FF2B5EF4-FFF2-40B4-BE49-F238E27FC236}">
                <a16:creationId xmlns:a16="http://schemas.microsoft.com/office/drawing/2014/main" id="{A2012000-61B5-3C40-6B09-18D427AEE58F}"/>
              </a:ext>
            </a:extLst>
          </p:cNvPr>
          <p:cNvCxnSpPr/>
          <p:nvPr/>
        </p:nvCxnSpPr>
        <p:spPr>
          <a:xfrm>
            <a:off x="9953532" y="4196695"/>
            <a:ext cx="355080" cy="888"/>
          </a:xfrm>
          <a:prstGeom prst="line">
            <a:avLst/>
          </a:prstGeom>
          <a:ln w="9144">
            <a:solidFill>
              <a:srgbClr val="38A8F0"/>
            </a:solidFill>
            <a:prstDash val="dash"/>
            <a:tailEnd type="arrow" w="sm" len="sm"/>
          </a:ln>
        </p:spPr>
      </p:cxnSp>
      <p:cxnSp>
        <p:nvCxnSpPr>
          <p:cNvPr id="120" name="Connector: Elbow 119">
            <a:extLst>
              <a:ext uri="{FF2B5EF4-FFF2-40B4-BE49-F238E27FC236}">
                <a16:creationId xmlns:a16="http://schemas.microsoft.com/office/drawing/2014/main" id="{B20F688F-1C24-EC3C-BC8A-F39E458EF4C4}"/>
              </a:ext>
            </a:extLst>
          </p:cNvPr>
          <p:cNvCxnSpPr>
            <a:cxnSpLocks/>
            <a:stCxn id="61" idx="2"/>
            <a:endCxn id="77" idx="1"/>
          </p:cNvCxnSpPr>
          <p:nvPr/>
        </p:nvCxnSpPr>
        <p:spPr>
          <a:xfrm rot="5400000" flipH="1" flipV="1">
            <a:off x="6149722" y="1835405"/>
            <a:ext cx="1460272" cy="4105628"/>
          </a:xfrm>
          <a:prstGeom prst="bentConnector4">
            <a:avLst>
              <a:gd name="adj1" fmla="val -4402"/>
              <a:gd name="adj2" fmla="val 56216"/>
            </a:avLst>
          </a:prstGeom>
          <a:ln>
            <a:tailEnd type="triangle"/>
          </a:ln>
        </p:spPr>
        <p:style>
          <a:lnRef idx="2">
            <a:schemeClr val="accent1"/>
          </a:lnRef>
          <a:fillRef idx="0">
            <a:schemeClr val="accent1"/>
          </a:fillRef>
          <a:effectRef idx="1">
            <a:schemeClr val="accent1"/>
          </a:effectRef>
          <a:fontRef idx="minor">
            <a:schemeClr val="tx1"/>
          </a:fontRef>
        </p:style>
      </p:cxnSp>
      <p:pic>
        <p:nvPicPr>
          <p:cNvPr id="123" name="Graphic 122">
            <a:extLst>
              <a:ext uri="{FF2B5EF4-FFF2-40B4-BE49-F238E27FC236}">
                <a16:creationId xmlns:a16="http://schemas.microsoft.com/office/drawing/2014/main" id="{BAA4AE30-62A6-6507-1256-33C2541A54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16961" y="2791621"/>
            <a:ext cx="355829" cy="355829"/>
          </a:xfrm>
          <a:prstGeom prst="rect">
            <a:avLst/>
          </a:prstGeom>
        </p:spPr>
      </p:pic>
      <p:pic>
        <p:nvPicPr>
          <p:cNvPr id="125" name="Graphic 124">
            <a:extLst>
              <a:ext uri="{FF2B5EF4-FFF2-40B4-BE49-F238E27FC236}">
                <a16:creationId xmlns:a16="http://schemas.microsoft.com/office/drawing/2014/main" id="{45243AEE-B350-CAFA-BE61-0CC1ED6E51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7232" y="2818944"/>
            <a:ext cx="325820" cy="325820"/>
          </a:xfrm>
          <a:prstGeom prst="rect">
            <a:avLst/>
          </a:prstGeom>
        </p:spPr>
      </p:pic>
      <p:pic>
        <p:nvPicPr>
          <p:cNvPr id="130" name="Graphic 129">
            <a:extLst>
              <a:ext uri="{FF2B5EF4-FFF2-40B4-BE49-F238E27FC236}">
                <a16:creationId xmlns:a16="http://schemas.microsoft.com/office/drawing/2014/main" id="{4B532AA0-A2DD-743C-AB79-DC1CCC8639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46408" y="1759027"/>
            <a:ext cx="347126" cy="347126"/>
          </a:xfrm>
          <a:prstGeom prst="rect">
            <a:avLst/>
          </a:prstGeom>
        </p:spPr>
      </p:pic>
      <p:pic>
        <p:nvPicPr>
          <p:cNvPr id="131" name="Picture 130">
            <a:extLst>
              <a:ext uri="{FF2B5EF4-FFF2-40B4-BE49-F238E27FC236}">
                <a16:creationId xmlns:a16="http://schemas.microsoft.com/office/drawing/2014/main" id="{79916FD9-059C-1991-0574-823001D7DA31}"/>
              </a:ext>
            </a:extLst>
          </p:cNvPr>
          <p:cNvPicPr>
            <a:picLocks noChangeAspect="1"/>
          </p:cNvPicPr>
          <p:nvPr/>
        </p:nvPicPr>
        <p:blipFill>
          <a:blip r:embed="rId5"/>
          <a:stretch>
            <a:fillRect/>
          </a:stretch>
        </p:blipFill>
        <p:spPr>
          <a:xfrm>
            <a:off x="5865723" y="3846052"/>
            <a:ext cx="268240" cy="268240"/>
          </a:xfrm>
          <a:prstGeom prst="rect">
            <a:avLst/>
          </a:prstGeom>
        </p:spPr>
      </p:pic>
      <p:cxnSp>
        <p:nvCxnSpPr>
          <p:cNvPr id="133" name="Connector: Elbow 132">
            <a:extLst>
              <a:ext uri="{FF2B5EF4-FFF2-40B4-BE49-F238E27FC236}">
                <a16:creationId xmlns:a16="http://schemas.microsoft.com/office/drawing/2014/main" id="{1DD5E85D-D96C-1545-9F42-CCBBD471EAA6}"/>
              </a:ext>
            </a:extLst>
          </p:cNvPr>
          <p:cNvCxnSpPr>
            <a:cxnSpLocks/>
            <a:stCxn id="61" idx="2"/>
            <a:endCxn id="81" idx="1"/>
          </p:cNvCxnSpPr>
          <p:nvPr/>
        </p:nvCxnSpPr>
        <p:spPr>
          <a:xfrm rot="5400000" flipH="1" flipV="1">
            <a:off x="6669028" y="2354711"/>
            <a:ext cx="421659" cy="4105628"/>
          </a:xfrm>
          <a:prstGeom prst="bentConnector4">
            <a:avLst>
              <a:gd name="adj1" fmla="val -14334"/>
              <a:gd name="adj2" fmla="val 71448"/>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026" name="Picture 2">
            <a:extLst>
              <a:ext uri="{FF2B5EF4-FFF2-40B4-BE49-F238E27FC236}">
                <a16:creationId xmlns:a16="http://schemas.microsoft.com/office/drawing/2014/main" id="{6DA1C6AA-9802-C8BA-6775-428CCA7E8A1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63141" y="2827991"/>
            <a:ext cx="524605" cy="275418"/>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140">
            <a:extLst>
              <a:ext uri="{FF2B5EF4-FFF2-40B4-BE49-F238E27FC236}">
                <a16:creationId xmlns:a16="http://schemas.microsoft.com/office/drawing/2014/main" id="{76D78C03-5BCD-481D-7D3E-88E3F29A1178}"/>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3385331" y="4847790"/>
            <a:ext cx="451746" cy="451746"/>
          </a:xfrm>
          <a:prstGeom prst="rect">
            <a:avLst/>
          </a:prstGeom>
        </p:spPr>
      </p:pic>
      <p:pic>
        <p:nvPicPr>
          <p:cNvPr id="143" name="Graphic 142">
            <a:extLst>
              <a:ext uri="{FF2B5EF4-FFF2-40B4-BE49-F238E27FC236}">
                <a16:creationId xmlns:a16="http://schemas.microsoft.com/office/drawing/2014/main" id="{14ADC83B-7D39-7187-699B-9555DCA5FE6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07642" y="3870199"/>
            <a:ext cx="235022" cy="235022"/>
          </a:xfrm>
          <a:prstGeom prst="rect">
            <a:avLst/>
          </a:prstGeom>
        </p:spPr>
      </p:pic>
      <p:sp>
        <p:nvSpPr>
          <p:cNvPr id="148" name="Rectangle 32">
            <a:extLst>
              <a:ext uri="{FF2B5EF4-FFF2-40B4-BE49-F238E27FC236}">
                <a16:creationId xmlns:a16="http://schemas.microsoft.com/office/drawing/2014/main" id="{1408379D-C5D9-5DF3-E981-4FD81CA1AB36}"/>
              </a:ext>
            </a:extLst>
          </p:cNvPr>
          <p:cNvSpPr/>
          <p:nvPr/>
        </p:nvSpPr>
        <p:spPr>
          <a:xfrm>
            <a:off x="4316615" y="4813438"/>
            <a:ext cx="1020858" cy="843318"/>
          </a:xfrm>
          <a:prstGeom prst="roundRect">
            <a:avLst>
              <a:gd name="adj" fmla="val 8000"/>
            </a:avLst>
          </a:prstGeom>
          <a:solidFill>
            <a:srgbClr val="0A2E2A"/>
          </a:solidFill>
          <a:ln w="9525">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a:extLst>
              <a:ext uri="{FF2B5EF4-FFF2-40B4-BE49-F238E27FC236}">
                <a16:creationId xmlns:a16="http://schemas.microsoft.com/office/drawing/2014/main" id="{CFA91C02-DE71-4352-081E-89CF9A764F05}"/>
              </a:ext>
            </a:extLst>
          </p:cNvPr>
          <p:cNvSpPr txBox="1"/>
          <p:nvPr/>
        </p:nvSpPr>
        <p:spPr>
          <a:xfrm>
            <a:off x="4386058" y="5204240"/>
            <a:ext cx="881973" cy="207749"/>
          </a:xfrm>
          <a:prstGeom prst="rect">
            <a:avLst/>
          </a:prstGeom>
          <a:noFill/>
        </p:spPr>
        <p:txBody>
          <a:bodyPr wrap="none">
            <a:spAutoFit/>
          </a:bodyPr>
          <a:lstStyle/>
          <a:p>
            <a:pPr algn="ctr"/>
            <a:r>
              <a:rPr sz="750" b="1">
                <a:solidFill>
                  <a:srgbClr val="A0EDE5"/>
                </a:solidFill>
              </a:rPr>
              <a:t>Dataverse</a:t>
            </a:r>
            <a:r>
              <a:rPr lang="en-US" sz="750" b="1">
                <a:solidFill>
                  <a:srgbClr val="A0EDE5"/>
                </a:solidFill>
              </a:rPr>
              <a:t> MCP</a:t>
            </a:r>
            <a:endParaRPr sz="750" b="1">
              <a:solidFill>
                <a:srgbClr val="A0EDE5"/>
              </a:solidFill>
            </a:endParaRPr>
          </a:p>
        </p:txBody>
      </p:sp>
      <p:sp>
        <p:nvSpPr>
          <p:cNvPr id="150" name="TextBox 149">
            <a:extLst>
              <a:ext uri="{FF2B5EF4-FFF2-40B4-BE49-F238E27FC236}">
                <a16:creationId xmlns:a16="http://schemas.microsoft.com/office/drawing/2014/main" id="{877D7C5B-5E3E-4584-ABFF-C591A0776A87}"/>
              </a:ext>
            </a:extLst>
          </p:cNvPr>
          <p:cNvSpPr txBox="1"/>
          <p:nvPr/>
        </p:nvSpPr>
        <p:spPr>
          <a:xfrm>
            <a:off x="4434726" y="5417287"/>
            <a:ext cx="784638" cy="179275"/>
          </a:xfrm>
          <a:prstGeom prst="rect">
            <a:avLst/>
          </a:prstGeom>
          <a:noFill/>
        </p:spPr>
        <p:txBody>
          <a:bodyPr wrap="none">
            <a:spAutoFit/>
          </a:bodyPr>
          <a:lstStyle/>
          <a:p>
            <a:pPr algn="ctr"/>
            <a:r>
              <a:rPr sz="600">
                <a:solidFill>
                  <a:srgbClr val="509A90"/>
                </a:solidFill>
              </a:rPr>
              <a:t>Central Data Store</a:t>
            </a:r>
          </a:p>
        </p:txBody>
      </p:sp>
      <p:pic>
        <p:nvPicPr>
          <p:cNvPr id="151" name="Graphic 150">
            <a:extLst>
              <a:ext uri="{FF2B5EF4-FFF2-40B4-BE49-F238E27FC236}">
                <a16:creationId xmlns:a16="http://schemas.microsoft.com/office/drawing/2014/main" id="{837DFFC6-64AA-0070-684A-EBDF7795F7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8008" y="4874866"/>
            <a:ext cx="347126" cy="347126"/>
          </a:xfrm>
          <a:prstGeom prst="rect">
            <a:avLst/>
          </a:prstGeom>
        </p:spPr>
      </p:pic>
      <p:sp>
        <p:nvSpPr>
          <p:cNvPr id="152" name="Rectangle 32">
            <a:extLst>
              <a:ext uri="{FF2B5EF4-FFF2-40B4-BE49-F238E27FC236}">
                <a16:creationId xmlns:a16="http://schemas.microsoft.com/office/drawing/2014/main" id="{915809B5-0260-5033-879E-8EFA30065FB3}"/>
              </a:ext>
            </a:extLst>
          </p:cNvPr>
          <p:cNvSpPr/>
          <p:nvPr/>
        </p:nvSpPr>
        <p:spPr>
          <a:xfrm>
            <a:off x="6895611" y="1697720"/>
            <a:ext cx="1020858" cy="843318"/>
          </a:xfrm>
          <a:prstGeom prst="roundRect">
            <a:avLst>
              <a:gd name="adj" fmla="val 8000"/>
            </a:avLst>
          </a:prstGeom>
          <a:solidFill>
            <a:srgbClr val="0A2E2A"/>
          </a:solidFill>
          <a:ln w="9525">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a:extLst>
              <a:ext uri="{FF2B5EF4-FFF2-40B4-BE49-F238E27FC236}">
                <a16:creationId xmlns:a16="http://schemas.microsoft.com/office/drawing/2014/main" id="{DE9459F9-DF96-CF74-EEFC-ABF7869D095E}"/>
              </a:ext>
            </a:extLst>
          </p:cNvPr>
          <p:cNvSpPr txBox="1"/>
          <p:nvPr/>
        </p:nvSpPr>
        <p:spPr>
          <a:xfrm>
            <a:off x="7065243" y="2088401"/>
            <a:ext cx="681598" cy="207749"/>
          </a:xfrm>
          <a:prstGeom prst="rect">
            <a:avLst/>
          </a:prstGeom>
          <a:noFill/>
        </p:spPr>
        <p:txBody>
          <a:bodyPr wrap="none">
            <a:spAutoFit/>
          </a:bodyPr>
          <a:lstStyle/>
          <a:p>
            <a:pPr algn="ctr"/>
            <a:r>
              <a:rPr lang="en-US" sz="750" b="1">
                <a:solidFill>
                  <a:srgbClr val="A0EDE5"/>
                </a:solidFill>
              </a:rPr>
              <a:t>SQL Server</a:t>
            </a:r>
            <a:endParaRPr sz="750" b="1">
              <a:solidFill>
                <a:srgbClr val="A0EDE5"/>
              </a:solidFill>
            </a:endParaRPr>
          </a:p>
        </p:txBody>
      </p:sp>
      <p:sp>
        <p:nvSpPr>
          <p:cNvPr id="154" name="TextBox 153">
            <a:extLst>
              <a:ext uri="{FF2B5EF4-FFF2-40B4-BE49-F238E27FC236}">
                <a16:creationId xmlns:a16="http://schemas.microsoft.com/office/drawing/2014/main" id="{4243EC81-B387-CBC7-8BC6-2F4FA93F42CE}"/>
              </a:ext>
            </a:extLst>
          </p:cNvPr>
          <p:cNvSpPr txBox="1"/>
          <p:nvPr/>
        </p:nvSpPr>
        <p:spPr>
          <a:xfrm>
            <a:off x="6901743" y="2301448"/>
            <a:ext cx="1008610" cy="184666"/>
          </a:xfrm>
          <a:prstGeom prst="rect">
            <a:avLst/>
          </a:prstGeom>
          <a:noFill/>
        </p:spPr>
        <p:txBody>
          <a:bodyPr wrap="none">
            <a:spAutoFit/>
          </a:bodyPr>
          <a:lstStyle/>
          <a:p>
            <a:pPr algn="ctr"/>
            <a:r>
              <a:rPr lang="en-US" sz="600">
                <a:solidFill>
                  <a:srgbClr val="509A90"/>
                </a:solidFill>
              </a:rPr>
              <a:t>Reporting / Analytics DB</a:t>
            </a:r>
            <a:endParaRPr sz="600">
              <a:solidFill>
                <a:srgbClr val="509A90"/>
              </a:solidFill>
            </a:endParaRPr>
          </a:p>
        </p:txBody>
      </p:sp>
      <p:cxnSp>
        <p:nvCxnSpPr>
          <p:cNvPr id="158" name="Connector: Elbow 157">
            <a:extLst>
              <a:ext uri="{FF2B5EF4-FFF2-40B4-BE49-F238E27FC236}">
                <a16:creationId xmlns:a16="http://schemas.microsoft.com/office/drawing/2014/main" id="{04B2B5D1-CF1F-EFFF-BF71-1FA8F2CB22EF}"/>
              </a:ext>
            </a:extLst>
          </p:cNvPr>
          <p:cNvCxnSpPr>
            <a:cxnSpLocks/>
            <a:endCxn id="73" idx="1"/>
          </p:cNvCxnSpPr>
          <p:nvPr/>
        </p:nvCxnSpPr>
        <p:spPr>
          <a:xfrm flipV="1">
            <a:off x="6534479" y="2119469"/>
            <a:ext cx="2398193" cy="860461"/>
          </a:xfrm>
          <a:prstGeom prst="bentConnector3">
            <a:avLst>
              <a:gd name="adj1" fmla="val 86376"/>
            </a:avLst>
          </a:prstGeom>
          <a:ln>
            <a:solidFill>
              <a:schemeClr val="bg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69" name="Connector: Elbow 168">
            <a:extLst>
              <a:ext uri="{FF2B5EF4-FFF2-40B4-BE49-F238E27FC236}">
                <a16:creationId xmlns:a16="http://schemas.microsoft.com/office/drawing/2014/main" id="{1ADC1106-BA8C-2383-25D3-5BBDDC58AA85}"/>
              </a:ext>
            </a:extLst>
          </p:cNvPr>
          <p:cNvCxnSpPr>
            <a:cxnSpLocks/>
            <a:stCxn id="65" idx="3"/>
            <a:endCxn id="152" idx="2"/>
          </p:cNvCxnSpPr>
          <p:nvPr/>
        </p:nvCxnSpPr>
        <p:spPr>
          <a:xfrm flipV="1">
            <a:off x="6535873" y="2541038"/>
            <a:ext cx="870167" cy="1655657"/>
          </a:xfrm>
          <a:prstGeom prst="bentConnector2">
            <a:avLst/>
          </a:prstGeom>
          <a:ln>
            <a:solidFill>
              <a:schemeClr val="accent5">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72" name="Connector: Elbow 171">
            <a:extLst>
              <a:ext uri="{FF2B5EF4-FFF2-40B4-BE49-F238E27FC236}">
                <a16:creationId xmlns:a16="http://schemas.microsoft.com/office/drawing/2014/main" id="{C3021B2D-841A-6AD6-508A-EAE4E02E9E1C}"/>
              </a:ext>
            </a:extLst>
          </p:cNvPr>
          <p:cNvCxnSpPr>
            <a:cxnSpLocks/>
            <a:stCxn id="49" idx="0"/>
            <a:endCxn id="41" idx="2"/>
          </p:cNvCxnSpPr>
          <p:nvPr/>
        </p:nvCxnSpPr>
        <p:spPr>
          <a:xfrm rot="5400000" flipH="1" flipV="1">
            <a:off x="5328597" y="2039575"/>
            <a:ext cx="195294" cy="1198400"/>
          </a:xfrm>
          <a:prstGeom prst="bentConnector3">
            <a:avLst>
              <a:gd name="adj1" fmla="val 38295"/>
            </a:avLst>
          </a:prstGeom>
          <a:ln>
            <a:solidFill>
              <a:srgbClr val="00C9A7"/>
            </a:solidFill>
            <a:tailEnd type="triangle"/>
          </a:ln>
        </p:spPr>
        <p:style>
          <a:lnRef idx="2">
            <a:schemeClr val="accent1"/>
          </a:lnRef>
          <a:fillRef idx="0">
            <a:schemeClr val="accent1"/>
          </a:fillRef>
          <a:effectRef idx="1">
            <a:schemeClr val="accent1"/>
          </a:effectRef>
          <a:fontRef idx="minor">
            <a:schemeClr val="tx1"/>
          </a:fontRef>
        </p:style>
      </p:cxnSp>
      <p:cxnSp>
        <p:nvCxnSpPr>
          <p:cNvPr id="176" name="Connector: Elbow 175">
            <a:extLst>
              <a:ext uri="{FF2B5EF4-FFF2-40B4-BE49-F238E27FC236}">
                <a16:creationId xmlns:a16="http://schemas.microsoft.com/office/drawing/2014/main" id="{01B5EC75-58C5-3273-6F4A-674082514152}"/>
              </a:ext>
            </a:extLst>
          </p:cNvPr>
          <p:cNvCxnSpPr>
            <a:cxnSpLocks/>
            <a:stCxn id="41" idx="3"/>
            <a:endCxn id="152" idx="1"/>
          </p:cNvCxnSpPr>
          <p:nvPr/>
        </p:nvCxnSpPr>
        <p:spPr>
          <a:xfrm flipV="1">
            <a:off x="6535873" y="2119379"/>
            <a:ext cx="359738" cy="90"/>
          </a:xfrm>
          <a:prstGeom prst="bentConnector3">
            <a:avLst>
              <a:gd name="adj1" fmla="val 50000"/>
            </a:avLst>
          </a:prstGeom>
          <a:ln>
            <a:solidFill>
              <a:schemeClr val="accent5">
                <a:lumMod val="75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182" name="Graphic 181">
            <a:extLst>
              <a:ext uri="{FF2B5EF4-FFF2-40B4-BE49-F238E27FC236}">
                <a16:creationId xmlns:a16="http://schemas.microsoft.com/office/drawing/2014/main" id="{7BAEA630-8F5E-F481-5FEB-F9681C5F6F7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19086" y="1806675"/>
            <a:ext cx="252971" cy="252971"/>
          </a:xfrm>
          <a:prstGeom prst="rect">
            <a:avLst/>
          </a:prstGeom>
        </p:spPr>
      </p:pic>
      <p:cxnSp>
        <p:nvCxnSpPr>
          <p:cNvPr id="183" name="Connector: Elbow 182">
            <a:extLst>
              <a:ext uri="{FF2B5EF4-FFF2-40B4-BE49-F238E27FC236}">
                <a16:creationId xmlns:a16="http://schemas.microsoft.com/office/drawing/2014/main" id="{115DFB5E-8245-71D2-85C2-A1254F0A106D}"/>
              </a:ext>
            </a:extLst>
          </p:cNvPr>
          <p:cNvCxnSpPr>
            <a:cxnSpLocks/>
            <a:stCxn id="148" idx="1"/>
            <a:endCxn id="69" idx="3"/>
          </p:cNvCxnSpPr>
          <p:nvPr/>
        </p:nvCxnSpPr>
        <p:spPr>
          <a:xfrm rot="10800000" flipV="1">
            <a:off x="4139075" y="5235096"/>
            <a:ext cx="177540" cy="211"/>
          </a:xfrm>
          <a:prstGeom prst="bentConnector3">
            <a:avLst>
              <a:gd name="adj1" fmla="val 50000"/>
            </a:avLst>
          </a:prstGeom>
          <a:ln>
            <a:solidFill>
              <a:srgbClr val="00C9A7"/>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90C3D-03D6-57CF-FA9C-42021B7618FB}"/>
            </a:ext>
          </a:extLst>
        </p:cNvPr>
        <p:cNvGrpSpPr/>
        <p:nvPr/>
      </p:nvGrpSpPr>
      <p:grpSpPr>
        <a:xfrm>
          <a:off x="0" y="0"/>
          <a:ext cx="0" cy="0"/>
          <a:chOff x="0" y="0"/>
          <a:chExt cx="0" cy="0"/>
        </a:xfrm>
      </p:grpSpPr>
      <p:sp>
        <p:nvSpPr>
          <p:cNvPr id="166" name="Rectangle 165">
            <a:extLst>
              <a:ext uri="{FF2B5EF4-FFF2-40B4-BE49-F238E27FC236}">
                <a16:creationId xmlns:a16="http://schemas.microsoft.com/office/drawing/2014/main" id="{68FD4CA7-680D-01F7-6EA7-0BF1CE123BCB}"/>
              </a:ext>
            </a:extLst>
          </p:cNvPr>
          <p:cNvSpPr/>
          <p:nvPr/>
        </p:nvSpPr>
        <p:spPr>
          <a:xfrm>
            <a:off x="4716799" y="1114157"/>
            <a:ext cx="2266156" cy="2367231"/>
          </a:xfrm>
          <a:prstGeom prst="rect">
            <a:avLst/>
          </a:prstGeom>
          <a:solidFill>
            <a:srgbClr val="0A201C"/>
          </a:solidFill>
          <a:ln w="6350">
            <a:solidFill>
              <a:srgbClr val="008068"/>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Rectangle 161">
            <a:extLst>
              <a:ext uri="{FF2B5EF4-FFF2-40B4-BE49-F238E27FC236}">
                <a16:creationId xmlns:a16="http://schemas.microsoft.com/office/drawing/2014/main" id="{45D674C5-20B6-C675-4A06-70FEB1F58233}"/>
              </a:ext>
            </a:extLst>
          </p:cNvPr>
          <p:cNvSpPr/>
          <p:nvPr/>
        </p:nvSpPr>
        <p:spPr>
          <a:xfrm>
            <a:off x="1048555" y="1850959"/>
            <a:ext cx="2266156" cy="4292917"/>
          </a:xfrm>
          <a:prstGeom prst="rect">
            <a:avLst/>
          </a:prstGeom>
          <a:solidFill>
            <a:srgbClr val="0A201C"/>
          </a:solidFill>
          <a:ln w="6350">
            <a:solidFill>
              <a:srgbClr val="008068"/>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a:extLst>
              <a:ext uri="{FF2B5EF4-FFF2-40B4-BE49-F238E27FC236}">
                <a16:creationId xmlns:a16="http://schemas.microsoft.com/office/drawing/2014/main" id="{E800898C-B96A-BB60-13E8-2496D77DC237}"/>
              </a:ext>
            </a:extLst>
          </p:cNvPr>
          <p:cNvSpPr>
            <a:spLocks noGrp="1"/>
          </p:cNvSpPr>
          <p:nvPr>
            <p:ph type="title"/>
          </p:nvPr>
        </p:nvSpPr>
        <p:spPr>
          <a:xfrm>
            <a:off x="588263" y="457200"/>
            <a:ext cx="11018520" cy="553998"/>
          </a:xfrm>
        </p:spPr>
        <p:txBody>
          <a:bodyPr/>
          <a:lstStyle/>
          <a:p>
            <a:r>
              <a:rPr lang="en-US" b="1"/>
              <a:t>Agents that enhance claims processing</a:t>
            </a:r>
            <a:endParaRPr lang="en-US"/>
          </a:p>
        </p:txBody>
      </p:sp>
      <p:sp>
        <p:nvSpPr>
          <p:cNvPr id="119" name="TextBox 118">
            <a:extLst>
              <a:ext uri="{FF2B5EF4-FFF2-40B4-BE49-F238E27FC236}">
                <a16:creationId xmlns:a16="http://schemas.microsoft.com/office/drawing/2014/main" id="{2D9790FD-1BD9-A55E-5041-2448F7D4F131}"/>
              </a:ext>
            </a:extLst>
          </p:cNvPr>
          <p:cNvSpPr txBox="1"/>
          <p:nvPr/>
        </p:nvSpPr>
        <p:spPr>
          <a:xfrm>
            <a:off x="10173308" y="6793222"/>
            <a:ext cx="526761" cy="157536"/>
          </a:xfrm>
          <a:prstGeom prst="rect">
            <a:avLst/>
          </a:prstGeom>
          <a:noFill/>
        </p:spPr>
        <p:txBody>
          <a:bodyPr wrap="none">
            <a:spAutoFit/>
          </a:bodyPr>
          <a:lstStyle/>
          <a:p>
            <a:pPr algn="r"/>
            <a:r>
              <a:rPr sz="600">
                <a:solidFill>
                  <a:srgbClr val="1A3A35"/>
                </a:solidFill>
              </a:rPr>
              <a:t>signetic.com</a:t>
            </a:r>
          </a:p>
        </p:txBody>
      </p:sp>
      <p:sp>
        <p:nvSpPr>
          <p:cNvPr id="12" name="TextBox 11">
            <a:extLst>
              <a:ext uri="{FF2B5EF4-FFF2-40B4-BE49-F238E27FC236}">
                <a16:creationId xmlns:a16="http://schemas.microsoft.com/office/drawing/2014/main" id="{569CB374-F18F-52A1-33EB-A8724CDF8733}"/>
              </a:ext>
            </a:extLst>
          </p:cNvPr>
          <p:cNvSpPr txBox="1"/>
          <p:nvPr/>
        </p:nvSpPr>
        <p:spPr>
          <a:xfrm>
            <a:off x="1082667" y="1900115"/>
            <a:ext cx="605674" cy="179275"/>
          </a:xfrm>
          <a:prstGeom prst="rect">
            <a:avLst/>
          </a:prstGeom>
          <a:noFill/>
        </p:spPr>
        <p:txBody>
          <a:bodyPr wrap="none">
            <a:spAutoFit/>
          </a:bodyPr>
          <a:lstStyle/>
          <a:p>
            <a:r>
              <a:rPr sz="600" b="1">
                <a:solidFill>
                  <a:srgbClr val="00A080"/>
                </a:solidFill>
              </a:rPr>
              <a:t>USER LAYER</a:t>
            </a:r>
          </a:p>
        </p:txBody>
      </p:sp>
      <p:sp>
        <p:nvSpPr>
          <p:cNvPr id="15" name="Rectangle 14">
            <a:extLst>
              <a:ext uri="{FF2B5EF4-FFF2-40B4-BE49-F238E27FC236}">
                <a16:creationId xmlns:a16="http://schemas.microsoft.com/office/drawing/2014/main" id="{54E6443D-BFFD-EF42-B7DC-7D8698623F3E}"/>
              </a:ext>
            </a:extLst>
          </p:cNvPr>
          <p:cNvSpPr/>
          <p:nvPr/>
        </p:nvSpPr>
        <p:spPr>
          <a:xfrm>
            <a:off x="7523642" y="1850959"/>
            <a:ext cx="3841588" cy="4292917"/>
          </a:xfrm>
          <a:prstGeom prst="rect">
            <a:avLst/>
          </a:prstGeom>
          <a:solidFill>
            <a:srgbClr val="0A201C"/>
          </a:solidFill>
          <a:ln w="6350">
            <a:solidFill>
              <a:srgbClr val="008068"/>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3D332A39-208A-F32C-D96F-8BA3CADDA3B8}"/>
              </a:ext>
            </a:extLst>
          </p:cNvPr>
          <p:cNvSpPr txBox="1"/>
          <p:nvPr/>
        </p:nvSpPr>
        <p:spPr>
          <a:xfrm>
            <a:off x="7608737" y="1883986"/>
            <a:ext cx="1026243" cy="184666"/>
          </a:xfrm>
          <a:prstGeom prst="rect">
            <a:avLst/>
          </a:prstGeom>
          <a:noFill/>
        </p:spPr>
        <p:txBody>
          <a:bodyPr wrap="none">
            <a:spAutoFit/>
          </a:bodyPr>
          <a:lstStyle/>
          <a:p>
            <a:r>
              <a:rPr lang="en-US" sz="600" b="1">
                <a:solidFill>
                  <a:srgbClr val="00A080"/>
                </a:solidFill>
              </a:rPr>
              <a:t>KNOWLEDGE SOURCES</a:t>
            </a:r>
            <a:endParaRPr sz="600" b="1">
              <a:solidFill>
                <a:srgbClr val="00A080"/>
              </a:solidFill>
            </a:endParaRPr>
          </a:p>
        </p:txBody>
      </p:sp>
      <p:grpSp>
        <p:nvGrpSpPr>
          <p:cNvPr id="159" name="Group 158">
            <a:extLst>
              <a:ext uri="{FF2B5EF4-FFF2-40B4-BE49-F238E27FC236}">
                <a16:creationId xmlns:a16="http://schemas.microsoft.com/office/drawing/2014/main" id="{0601089A-36DC-044D-B0B2-A1676348D85E}"/>
              </a:ext>
            </a:extLst>
          </p:cNvPr>
          <p:cNvGrpSpPr/>
          <p:nvPr/>
        </p:nvGrpSpPr>
        <p:grpSpPr>
          <a:xfrm>
            <a:off x="1507203" y="2438923"/>
            <a:ext cx="1109599" cy="843318"/>
            <a:chOff x="471057" y="1697810"/>
            <a:chExt cx="1109599" cy="843318"/>
          </a:xfrm>
        </p:grpSpPr>
        <p:sp>
          <p:nvSpPr>
            <p:cNvPr id="17" name="Rectangle 8">
              <a:extLst>
                <a:ext uri="{FF2B5EF4-FFF2-40B4-BE49-F238E27FC236}">
                  <a16:creationId xmlns:a16="http://schemas.microsoft.com/office/drawing/2014/main" id="{22B50B8F-DC97-B5E1-3420-AC8BFFE9EBEF}"/>
                </a:ext>
              </a:extLst>
            </p:cNvPr>
            <p:cNvSpPr/>
            <p:nvPr/>
          </p:nvSpPr>
          <p:spPr>
            <a:xfrm>
              <a:off x="515425" y="1697810"/>
              <a:ext cx="1020858" cy="843318"/>
            </a:xfrm>
            <a:prstGeom prst="roundRect">
              <a:avLst>
                <a:gd name="adj" fmla="val 8000"/>
              </a:avLst>
            </a:prstGeom>
            <a:solidFill>
              <a:srgbClr val="0A2E2A"/>
            </a:solidFill>
            <a:ln w="9525">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1681D01D-DACA-C810-2A28-C38B927E20B1}"/>
                </a:ext>
              </a:extLst>
            </p:cNvPr>
            <p:cNvSpPr txBox="1"/>
            <p:nvPr/>
          </p:nvSpPr>
          <p:spPr>
            <a:xfrm>
              <a:off x="799272" y="1768826"/>
              <a:ext cx="453165" cy="328670"/>
            </a:xfrm>
            <a:prstGeom prst="rect">
              <a:avLst/>
            </a:prstGeom>
            <a:noFill/>
          </p:spPr>
          <p:txBody>
            <a:bodyPr wrap="none">
              <a:spAutoFit/>
            </a:bodyPr>
            <a:lstStyle/>
            <a:p>
              <a:pPr algn="ctr"/>
              <a:r>
                <a:rPr sz="1600">
                  <a:solidFill>
                    <a:srgbClr val="00C9A7"/>
                  </a:solidFill>
                </a:rPr>
                <a:t>👤</a:t>
              </a:r>
            </a:p>
          </p:txBody>
        </p:sp>
        <p:sp>
          <p:nvSpPr>
            <p:cNvPr id="19" name="TextBox 18">
              <a:extLst>
                <a:ext uri="{FF2B5EF4-FFF2-40B4-BE49-F238E27FC236}">
                  <a16:creationId xmlns:a16="http://schemas.microsoft.com/office/drawing/2014/main" id="{13CB35BE-ABE3-EBE2-C35D-D8179D53D263}"/>
                </a:ext>
              </a:extLst>
            </p:cNvPr>
            <p:cNvSpPr txBox="1"/>
            <p:nvPr/>
          </p:nvSpPr>
          <p:spPr>
            <a:xfrm>
              <a:off x="471057" y="2088401"/>
              <a:ext cx="1109599" cy="207749"/>
            </a:xfrm>
            <a:prstGeom prst="rect">
              <a:avLst/>
            </a:prstGeom>
            <a:noFill/>
          </p:spPr>
          <p:txBody>
            <a:bodyPr wrap="none">
              <a:spAutoFit/>
            </a:bodyPr>
            <a:lstStyle/>
            <a:p>
              <a:pPr algn="ctr"/>
              <a:r>
                <a:rPr lang="en-US" sz="750" b="1">
                  <a:solidFill>
                    <a:srgbClr val="A0EDE5"/>
                  </a:solidFill>
                </a:rPr>
                <a:t>Pharmacy/Providers</a:t>
              </a:r>
              <a:endParaRPr sz="750" b="1">
                <a:solidFill>
                  <a:srgbClr val="A0EDE5"/>
                </a:solidFill>
              </a:endParaRPr>
            </a:p>
          </p:txBody>
        </p:sp>
      </p:grpSp>
      <p:grpSp>
        <p:nvGrpSpPr>
          <p:cNvPr id="156" name="Group 155">
            <a:extLst>
              <a:ext uri="{FF2B5EF4-FFF2-40B4-BE49-F238E27FC236}">
                <a16:creationId xmlns:a16="http://schemas.microsoft.com/office/drawing/2014/main" id="{76E9B94A-00B0-5DCC-509D-D337D80A8244}"/>
              </a:ext>
            </a:extLst>
          </p:cNvPr>
          <p:cNvGrpSpPr/>
          <p:nvPr/>
        </p:nvGrpSpPr>
        <p:grpSpPr>
          <a:xfrm>
            <a:off x="1507203" y="4838474"/>
            <a:ext cx="1020858" cy="843318"/>
            <a:chOff x="515425" y="4813649"/>
            <a:chExt cx="1020858" cy="843318"/>
          </a:xfrm>
        </p:grpSpPr>
        <p:sp>
          <p:nvSpPr>
            <p:cNvPr id="29" name="Rectangle 20">
              <a:extLst>
                <a:ext uri="{FF2B5EF4-FFF2-40B4-BE49-F238E27FC236}">
                  <a16:creationId xmlns:a16="http://schemas.microsoft.com/office/drawing/2014/main" id="{C5B01491-5A13-D818-FCB0-A8EE46EA6220}"/>
                </a:ext>
              </a:extLst>
            </p:cNvPr>
            <p:cNvSpPr/>
            <p:nvPr/>
          </p:nvSpPr>
          <p:spPr>
            <a:xfrm>
              <a:off x="515425" y="4813649"/>
              <a:ext cx="1020858" cy="843318"/>
            </a:xfrm>
            <a:prstGeom prst="roundRect">
              <a:avLst>
                <a:gd name="adj" fmla="val 8000"/>
              </a:avLst>
            </a:prstGeom>
            <a:solidFill>
              <a:srgbClr val="2A1E08"/>
            </a:solidFill>
            <a:ln w="9525">
              <a:solidFill>
                <a:srgbClr val="DDB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F10A9C23-48AC-0F11-C5F6-E197578A5390}"/>
                </a:ext>
              </a:extLst>
            </p:cNvPr>
            <p:cNvSpPr txBox="1"/>
            <p:nvPr/>
          </p:nvSpPr>
          <p:spPr>
            <a:xfrm>
              <a:off x="799272" y="4884665"/>
              <a:ext cx="453165" cy="328670"/>
            </a:xfrm>
            <a:prstGeom prst="rect">
              <a:avLst/>
            </a:prstGeom>
            <a:noFill/>
          </p:spPr>
          <p:txBody>
            <a:bodyPr wrap="none">
              <a:spAutoFit/>
            </a:bodyPr>
            <a:lstStyle/>
            <a:p>
              <a:pPr algn="ctr"/>
              <a:r>
                <a:rPr sz="1600">
                  <a:solidFill>
                    <a:srgbClr val="DDB040"/>
                  </a:solidFill>
                </a:rPr>
                <a:t>💳</a:t>
              </a:r>
            </a:p>
          </p:txBody>
        </p:sp>
        <p:sp>
          <p:nvSpPr>
            <p:cNvPr id="31" name="TextBox 30">
              <a:extLst>
                <a:ext uri="{FF2B5EF4-FFF2-40B4-BE49-F238E27FC236}">
                  <a16:creationId xmlns:a16="http://schemas.microsoft.com/office/drawing/2014/main" id="{141BB5D8-E73A-6AFB-566F-359E8CCA5779}"/>
                </a:ext>
              </a:extLst>
            </p:cNvPr>
            <p:cNvSpPr txBox="1"/>
            <p:nvPr/>
          </p:nvSpPr>
          <p:spPr>
            <a:xfrm>
              <a:off x="702787" y="5204239"/>
              <a:ext cx="646135" cy="201684"/>
            </a:xfrm>
            <a:prstGeom prst="rect">
              <a:avLst/>
            </a:prstGeom>
            <a:noFill/>
          </p:spPr>
          <p:txBody>
            <a:bodyPr wrap="none">
              <a:spAutoFit/>
            </a:bodyPr>
            <a:lstStyle/>
            <a:p>
              <a:pPr algn="ctr"/>
              <a:r>
                <a:rPr sz="750" b="1">
                  <a:solidFill>
                    <a:srgbClr val="F0D090"/>
                  </a:solidFill>
                </a:rPr>
                <a:t>Billing Ops</a:t>
              </a:r>
            </a:p>
          </p:txBody>
        </p:sp>
        <p:sp>
          <p:nvSpPr>
            <p:cNvPr id="32" name="TextBox 31">
              <a:extLst>
                <a:ext uri="{FF2B5EF4-FFF2-40B4-BE49-F238E27FC236}">
                  <a16:creationId xmlns:a16="http://schemas.microsoft.com/office/drawing/2014/main" id="{A3CC1EA1-31C7-BEBC-036D-050A4CD26259}"/>
                </a:ext>
              </a:extLst>
            </p:cNvPr>
            <p:cNvSpPr txBox="1"/>
            <p:nvPr/>
          </p:nvSpPr>
          <p:spPr>
            <a:xfrm>
              <a:off x="696563" y="5417287"/>
              <a:ext cx="658585" cy="179275"/>
            </a:xfrm>
            <a:prstGeom prst="rect">
              <a:avLst/>
            </a:prstGeom>
            <a:noFill/>
          </p:spPr>
          <p:txBody>
            <a:bodyPr wrap="none">
              <a:spAutoFit/>
            </a:bodyPr>
            <a:lstStyle/>
            <a:p>
              <a:pPr algn="ctr"/>
              <a:r>
                <a:rPr sz="600">
                  <a:solidFill>
                    <a:srgbClr val="886820"/>
                  </a:solidFill>
                </a:rPr>
                <a:t>Manage Billing</a:t>
              </a:r>
            </a:p>
          </p:txBody>
        </p:sp>
      </p:grpSp>
      <p:sp>
        <p:nvSpPr>
          <p:cNvPr id="45" name="Rectangle 36">
            <a:extLst>
              <a:ext uri="{FF2B5EF4-FFF2-40B4-BE49-F238E27FC236}">
                <a16:creationId xmlns:a16="http://schemas.microsoft.com/office/drawing/2014/main" id="{D8A59012-4145-25C0-E952-F41D2ED310C2}"/>
              </a:ext>
            </a:extLst>
          </p:cNvPr>
          <p:cNvSpPr/>
          <p:nvPr/>
        </p:nvSpPr>
        <p:spPr>
          <a:xfrm>
            <a:off x="7683631" y="2197981"/>
            <a:ext cx="1020858" cy="843318"/>
          </a:xfrm>
          <a:prstGeom prst="roundRect">
            <a:avLst>
              <a:gd name="adj" fmla="val 8000"/>
            </a:avLst>
          </a:prstGeom>
          <a:solidFill>
            <a:srgbClr val="1A1035"/>
          </a:solidFill>
          <a:ln w="9525">
            <a:solidFill>
              <a:srgbClr val="A07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7A2A5D85-F7EE-7FFD-7BD5-53EE2010E0EC}"/>
              </a:ext>
            </a:extLst>
          </p:cNvPr>
          <p:cNvSpPr txBox="1"/>
          <p:nvPr/>
        </p:nvSpPr>
        <p:spPr>
          <a:xfrm>
            <a:off x="7873299" y="2684453"/>
            <a:ext cx="641522" cy="207749"/>
          </a:xfrm>
          <a:prstGeom prst="rect">
            <a:avLst/>
          </a:prstGeom>
          <a:noFill/>
        </p:spPr>
        <p:txBody>
          <a:bodyPr wrap="none">
            <a:spAutoFit/>
          </a:bodyPr>
          <a:lstStyle/>
          <a:p>
            <a:pPr algn="ctr"/>
            <a:r>
              <a:rPr lang="en-US" sz="750" b="1">
                <a:solidFill>
                  <a:srgbClr val="C8B0F8"/>
                </a:solidFill>
              </a:rPr>
              <a:t>Dataverse</a:t>
            </a:r>
            <a:endParaRPr sz="750" b="1">
              <a:solidFill>
                <a:srgbClr val="C8B0F8"/>
              </a:solidFill>
            </a:endParaRPr>
          </a:p>
        </p:txBody>
      </p:sp>
      <p:sp>
        <p:nvSpPr>
          <p:cNvPr id="49" name="Rectangle 40">
            <a:extLst>
              <a:ext uri="{FF2B5EF4-FFF2-40B4-BE49-F238E27FC236}">
                <a16:creationId xmlns:a16="http://schemas.microsoft.com/office/drawing/2014/main" id="{F5ED9531-1623-39A6-C40D-50829F8DDFCB}"/>
              </a:ext>
            </a:extLst>
          </p:cNvPr>
          <p:cNvSpPr/>
          <p:nvPr/>
        </p:nvSpPr>
        <p:spPr>
          <a:xfrm>
            <a:off x="7785094" y="5089048"/>
            <a:ext cx="1020858" cy="843318"/>
          </a:xfrm>
          <a:prstGeom prst="roundRect">
            <a:avLst>
              <a:gd name="adj" fmla="val 8000"/>
            </a:avLst>
          </a:prstGeom>
          <a:solidFill>
            <a:srgbClr val="0A1E35"/>
          </a:solidFill>
          <a:ln w="9525">
            <a:solidFill>
              <a:srgbClr val="38A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72549846-A187-FC93-45A5-2BCC806A39E9}"/>
              </a:ext>
            </a:extLst>
          </p:cNvPr>
          <p:cNvSpPr txBox="1"/>
          <p:nvPr/>
        </p:nvSpPr>
        <p:spPr>
          <a:xfrm>
            <a:off x="7766372" y="5479639"/>
            <a:ext cx="1058303" cy="207749"/>
          </a:xfrm>
          <a:prstGeom prst="rect">
            <a:avLst/>
          </a:prstGeom>
          <a:noFill/>
        </p:spPr>
        <p:txBody>
          <a:bodyPr wrap="none">
            <a:spAutoFit/>
          </a:bodyPr>
          <a:lstStyle/>
          <a:p>
            <a:pPr algn="ctr"/>
            <a:r>
              <a:rPr lang="en-US" sz="750" b="1">
                <a:solidFill>
                  <a:srgbClr val="90D0F8"/>
                </a:solidFill>
              </a:rPr>
              <a:t>Outlook Connector</a:t>
            </a:r>
            <a:endParaRPr sz="750" b="1">
              <a:solidFill>
                <a:srgbClr val="90D0F8"/>
              </a:solidFill>
            </a:endParaRPr>
          </a:p>
        </p:txBody>
      </p:sp>
      <p:sp>
        <p:nvSpPr>
          <p:cNvPr id="52" name="TextBox 51">
            <a:extLst>
              <a:ext uri="{FF2B5EF4-FFF2-40B4-BE49-F238E27FC236}">
                <a16:creationId xmlns:a16="http://schemas.microsoft.com/office/drawing/2014/main" id="{13FBED66-DDE8-2E32-C9C6-29199C32D317}"/>
              </a:ext>
            </a:extLst>
          </p:cNvPr>
          <p:cNvSpPr txBox="1"/>
          <p:nvPr/>
        </p:nvSpPr>
        <p:spPr>
          <a:xfrm>
            <a:off x="7750349" y="5645056"/>
            <a:ext cx="1090363" cy="276999"/>
          </a:xfrm>
          <a:prstGeom prst="rect">
            <a:avLst/>
          </a:prstGeom>
          <a:noFill/>
        </p:spPr>
        <p:txBody>
          <a:bodyPr wrap="none">
            <a:spAutoFit/>
          </a:bodyPr>
          <a:lstStyle/>
          <a:p>
            <a:pPr algn="ctr"/>
            <a:r>
              <a:rPr lang="en-US" sz="600">
                <a:solidFill>
                  <a:srgbClr val="3878A8"/>
                </a:solidFill>
              </a:rPr>
              <a:t>Interaction between agent </a:t>
            </a:r>
          </a:p>
          <a:p>
            <a:pPr algn="ctr"/>
            <a:r>
              <a:rPr lang="en-US" sz="600">
                <a:solidFill>
                  <a:srgbClr val="3878A8"/>
                </a:solidFill>
              </a:rPr>
              <a:t>and user</a:t>
            </a:r>
            <a:endParaRPr sz="600">
              <a:solidFill>
                <a:srgbClr val="3878A8"/>
              </a:solidFill>
            </a:endParaRPr>
          </a:p>
        </p:txBody>
      </p:sp>
      <p:sp>
        <p:nvSpPr>
          <p:cNvPr id="61" name="Rectangle 52">
            <a:extLst>
              <a:ext uri="{FF2B5EF4-FFF2-40B4-BE49-F238E27FC236}">
                <a16:creationId xmlns:a16="http://schemas.microsoft.com/office/drawing/2014/main" id="{C93D7EB6-738D-D2CB-2EE4-70A201BE5121}"/>
              </a:ext>
            </a:extLst>
          </p:cNvPr>
          <p:cNvSpPr/>
          <p:nvPr/>
        </p:nvSpPr>
        <p:spPr>
          <a:xfrm>
            <a:off x="8980333" y="5070472"/>
            <a:ext cx="1020858" cy="843318"/>
          </a:xfrm>
          <a:prstGeom prst="roundRect">
            <a:avLst>
              <a:gd name="adj" fmla="val 8000"/>
            </a:avLst>
          </a:prstGeom>
          <a:solidFill>
            <a:srgbClr val="0A1E35"/>
          </a:solidFill>
          <a:ln w="9525">
            <a:solidFill>
              <a:srgbClr val="38A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597DB52F-6375-0971-7B0D-B1A6B6AF1AAA}"/>
              </a:ext>
            </a:extLst>
          </p:cNvPr>
          <p:cNvSpPr txBox="1"/>
          <p:nvPr/>
        </p:nvSpPr>
        <p:spPr>
          <a:xfrm>
            <a:off x="9093774" y="5461062"/>
            <a:ext cx="793974" cy="201684"/>
          </a:xfrm>
          <a:prstGeom prst="rect">
            <a:avLst/>
          </a:prstGeom>
          <a:noFill/>
        </p:spPr>
        <p:txBody>
          <a:bodyPr wrap="none">
            <a:spAutoFit/>
          </a:bodyPr>
          <a:lstStyle/>
          <a:p>
            <a:pPr algn="ctr"/>
            <a:r>
              <a:rPr sz="750" b="1">
                <a:solidFill>
                  <a:srgbClr val="90D0F8"/>
                </a:solidFill>
              </a:rPr>
              <a:t>Azure Svc Bus</a:t>
            </a:r>
          </a:p>
        </p:txBody>
      </p:sp>
      <p:sp>
        <p:nvSpPr>
          <p:cNvPr id="64" name="TextBox 63">
            <a:extLst>
              <a:ext uri="{FF2B5EF4-FFF2-40B4-BE49-F238E27FC236}">
                <a16:creationId xmlns:a16="http://schemas.microsoft.com/office/drawing/2014/main" id="{FC37EED5-9ECD-0D6C-A409-6D8D69C70918}"/>
              </a:ext>
            </a:extLst>
          </p:cNvPr>
          <p:cNvSpPr txBox="1"/>
          <p:nvPr/>
        </p:nvSpPr>
        <p:spPr>
          <a:xfrm>
            <a:off x="9222162" y="5674110"/>
            <a:ext cx="537201" cy="179275"/>
          </a:xfrm>
          <a:prstGeom prst="rect">
            <a:avLst/>
          </a:prstGeom>
          <a:noFill/>
        </p:spPr>
        <p:txBody>
          <a:bodyPr wrap="none">
            <a:spAutoFit/>
          </a:bodyPr>
          <a:lstStyle/>
          <a:p>
            <a:pPr algn="ctr"/>
            <a:r>
              <a:rPr sz="600">
                <a:solidFill>
                  <a:srgbClr val="3878A8"/>
                </a:solidFill>
              </a:rPr>
              <a:t>Messaging</a:t>
            </a:r>
          </a:p>
        </p:txBody>
      </p:sp>
      <p:cxnSp>
        <p:nvCxnSpPr>
          <p:cNvPr id="93" name="Connector">
            <a:extLst>
              <a:ext uri="{FF2B5EF4-FFF2-40B4-BE49-F238E27FC236}">
                <a16:creationId xmlns:a16="http://schemas.microsoft.com/office/drawing/2014/main" id="{F2A496DB-3ECA-12E7-CD98-DA2DDDFC6739}"/>
              </a:ext>
            </a:extLst>
          </p:cNvPr>
          <p:cNvCxnSpPr>
            <a:cxnSpLocks/>
            <a:stCxn id="17" idx="3"/>
            <a:endCxn id="10" idx="1"/>
          </p:cNvCxnSpPr>
          <p:nvPr/>
        </p:nvCxnSpPr>
        <p:spPr>
          <a:xfrm>
            <a:off x="2572429" y="2860582"/>
            <a:ext cx="2765068" cy="0"/>
          </a:xfrm>
          <a:prstGeom prst="line">
            <a:avLst/>
          </a:prstGeom>
          <a:ln w="9144">
            <a:solidFill>
              <a:srgbClr val="00C9A7"/>
            </a:solidFill>
            <a:prstDash val="solid"/>
            <a:tailEnd type="arrow" w="sm" len="sm"/>
          </a:ln>
        </p:spPr>
      </p:cxnSp>
      <p:cxnSp>
        <p:nvCxnSpPr>
          <p:cNvPr id="96" name="Connector">
            <a:extLst>
              <a:ext uri="{FF2B5EF4-FFF2-40B4-BE49-F238E27FC236}">
                <a16:creationId xmlns:a16="http://schemas.microsoft.com/office/drawing/2014/main" id="{3FF651BF-3EF3-C6C1-DFAB-A17D4537E89F}"/>
              </a:ext>
            </a:extLst>
          </p:cNvPr>
          <p:cNvCxnSpPr>
            <a:cxnSpLocks/>
            <a:stCxn id="29" idx="3"/>
            <a:endCxn id="66" idx="1"/>
          </p:cNvCxnSpPr>
          <p:nvPr/>
        </p:nvCxnSpPr>
        <p:spPr>
          <a:xfrm flipV="1">
            <a:off x="2528061" y="5237963"/>
            <a:ext cx="2753419" cy="22170"/>
          </a:xfrm>
          <a:prstGeom prst="line">
            <a:avLst/>
          </a:prstGeom>
          <a:ln w="9144">
            <a:solidFill>
              <a:srgbClr val="DDB040"/>
            </a:solidFill>
            <a:prstDash val="solid"/>
            <a:tailEnd type="arrow" w="sm" len="sm"/>
          </a:ln>
        </p:spPr>
      </p:cxnSp>
      <p:sp>
        <p:nvSpPr>
          <p:cNvPr id="148" name="Rectangle 32">
            <a:extLst>
              <a:ext uri="{FF2B5EF4-FFF2-40B4-BE49-F238E27FC236}">
                <a16:creationId xmlns:a16="http://schemas.microsoft.com/office/drawing/2014/main" id="{860ED5C6-C851-D08B-6D57-17A5C21BBD64}"/>
              </a:ext>
            </a:extLst>
          </p:cNvPr>
          <p:cNvSpPr/>
          <p:nvPr/>
        </p:nvSpPr>
        <p:spPr>
          <a:xfrm>
            <a:off x="10174368" y="5069908"/>
            <a:ext cx="1020858" cy="843318"/>
          </a:xfrm>
          <a:prstGeom prst="roundRect">
            <a:avLst>
              <a:gd name="adj" fmla="val 8000"/>
            </a:avLst>
          </a:prstGeom>
          <a:solidFill>
            <a:srgbClr val="0A2E2A"/>
          </a:solidFill>
          <a:ln w="9525">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a:extLst>
              <a:ext uri="{FF2B5EF4-FFF2-40B4-BE49-F238E27FC236}">
                <a16:creationId xmlns:a16="http://schemas.microsoft.com/office/drawing/2014/main" id="{58BBFF0A-8124-DE0C-07E1-21CDBE58C9E8}"/>
              </a:ext>
            </a:extLst>
          </p:cNvPr>
          <p:cNvSpPr txBox="1"/>
          <p:nvPr/>
        </p:nvSpPr>
        <p:spPr>
          <a:xfrm>
            <a:off x="10342115" y="5469539"/>
            <a:ext cx="881973" cy="207749"/>
          </a:xfrm>
          <a:prstGeom prst="rect">
            <a:avLst/>
          </a:prstGeom>
          <a:noFill/>
        </p:spPr>
        <p:txBody>
          <a:bodyPr wrap="none">
            <a:spAutoFit/>
          </a:bodyPr>
          <a:lstStyle/>
          <a:p>
            <a:pPr algn="ctr"/>
            <a:r>
              <a:rPr sz="750" b="1">
                <a:solidFill>
                  <a:srgbClr val="A0EDE5"/>
                </a:solidFill>
              </a:rPr>
              <a:t>Dataverse</a:t>
            </a:r>
            <a:r>
              <a:rPr lang="en-US" sz="750" b="1">
                <a:solidFill>
                  <a:srgbClr val="A0EDE5"/>
                </a:solidFill>
              </a:rPr>
              <a:t> MCP</a:t>
            </a:r>
            <a:endParaRPr sz="750" b="1">
              <a:solidFill>
                <a:srgbClr val="A0EDE5"/>
              </a:solidFill>
            </a:endParaRPr>
          </a:p>
        </p:txBody>
      </p:sp>
      <p:sp>
        <p:nvSpPr>
          <p:cNvPr id="150" name="TextBox 149">
            <a:extLst>
              <a:ext uri="{FF2B5EF4-FFF2-40B4-BE49-F238E27FC236}">
                <a16:creationId xmlns:a16="http://schemas.microsoft.com/office/drawing/2014/main" id="{8C6FD1F3-5862-89B1-2DCD-EBA3541A010E}"/>
              </a:ext>
            </a:extLst>
          </p:cNvPr>
          <p:cNvSpPr txBox="1"/>
          <p:nvPr/>
        </p:nvSpPr>
        <p:spPr>
          <a:xfrm>
            <a:off x="10390783" y="5682586"/>
            <a:ext cx="784638" cy="179275"/>
          </a:xfrm>
          <a:prstGeom prst="rect">
            <a:avLst/>
          </a:prstGeom>
          <a:noFill/>
        </p:spPr>
        <p:txBody>
          <a:bodyPr wrap="none">
            <a:spAutoFit/>
          </a:bodyPr>
          <a:lstStyle/>
          <a:p>
            <a:pPr algn="ctr"/>
            <a:r>
              <a:rPr sz="600">
                <a:solidFill>
                  <a:srgbClr val="509A90"/>
                </a:solidFill>
              </a:rPr>
              <a:t>Central Data Store</a:t>
            </a:r>
          </a:p>
        </p:txBody>
      </p:sp>
      <p:pic>
        <p:nvPicPr>
          <p:cNvPr id="2052" name="Picture 4">
            <a:extLst>
              <a:ext uri="{FF2B5EF4-FFF2-40B4-BE49-F238E27FC236}">
                <a16:creationId xmlns:a16="http://schemas.microsoft.com/office/drawing/2014/main" id="{8BDD0684-C193-CE9E-36C4-BC465726821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40752" y="5046027"/>
            <a:ext cx="695325" cy="695325"/>
          </a:xfrm>
          <a:prstGeom prst="rect">
            <a:avLst/>
          </a:prstGeom>
          <a:noFill/>
          <a:extLst>
            <a:ext uri="{909E8E84-426E-40DD-AFC4-6F175D3DCCD1}">
              <a14:hiddenFill xmlns:a14="http://schemas.microsoft.com/office/drawing/2010/main">
                <a:solidFill>
                  <a:srgbClr val="FFFFFF"/>
                </a:solidFill>
              </a14:hiddenFill>
            </a:ext>
          </a:extLst>
        </p:spPr>
      </p:pic>
      <p:grpSp>
        <p:nvGrpSpPr>
          <p:cNvPr id="138" name="Group 137">
            <a:extLst>
              <a:ext uri="{FF2B5EF4-FFF2-40B4-BE49-F238E27FC236}">
                <a16:creationId xmlns:a16="http://schemas.microsoft.com/office/drawing/2014/main" id="{1406F4AF-1402-36A2-240F-E5627FFFF1B2}"/>
              </a:ext>
            </a:extLst>
          </p:cNvPr>
          <p:cNvGrpSpPr/>
          <p:nvPr/>
        </p:nvGrpSpPr>
        <p:grpSpPr>
          <a:xfrm>
            <a:off x="8922328" y="3574833"/>
            <a:ext cx="1020858" cy="843318"/>
            <a:chOff x="2956609" y="4813649"/>
            <a:chExt cx="1020858" cy="843318"/>
          </a:xfrm>
        </p:grpSpPr>
        <p:sp>
          <p:nvSpPr>
            <p:cNvPr id="69" name="Rectangle 60">
              <a:extLst>
                <a:ext uri="{FF2B5EF4-FFF2-40B4-BE49-F238E27FC236}">
                  <a16:creationId xmlns:a16="http://schemas.microsoft.com/office/drawing/2014/main" id="{01146352-63BD-56C4-2DB5-CDF6EE57C57A}"/>
                </a:ext>
              </a:extLst>
            </p:cNvPr>
            <p:cNvSpPr/>
            <p:nvPr/>
          </p:nvSpPr>
          <p:spPr>
            <a:xfrm>
              <a:off x="2956609" y="4813649"/>
              <a:ext cx="1020858" cy="843318"/>
            </a:xfrm>
            <a:prstGeom prst="roundRect">
              <a:avLst>
                <a:gd name="adj" fmla="val 8000"/>
              </a:avLst>
            </a:prstGeom>
            <a:solidFill>
              <a:srgbClr val="1A1035"/>
            </a:solidFill>
            <a:ln w="9525">
              <a:solidFill>
                <a:srgbClr val="A07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a:extLst>
                <a:ext uri="{FF2B5EF4-FFF2-40B4-BE49-F238E27FC236}">
                  <a16:creationId xmlns:a16="http://schemas.microsoft.com/office/drawing/2014/main" id="{8206DCF5-6904-AFAB-3ED6-818800164429}"/>
                </a:ext>
              </a:extLst>
            </p:cNvPr>
            <p:cNvSpPr txBox="1"/>
            <p:nvPr/>
          </p:nvSpPr>
          <p:spPr>
            <a:xfrm>
              <a:off x="3059158" y="5204239"/>
              <a:ext cx="815762" cy="201684"/>
            </a:xfrm>
            <a:prstGeom prst="rect">
              <a:avLst/>
            </a:prstGeom>
            <a:noFill/>
          </p:spPr>
          <p:txBody>
            <a:bodyPr wrap="none">
              <a:spAutoFit/>
            </a:bodyPr>
            <a:lstStyle/>
            <a:p>
              <a:pPr algn="ctr"/>
              <a:r>
                <a:rPr sz="750" b="1">
                  <a:solidFill>
                    <a:srgbClr val="C8B0F8"/>
                  </a:solidFill>
                </a:rPr>
                <a:t>Copilot Studio</a:t>
              </a:r>
            </a:p>
          </p:txBody>
        </p:sp>
        <p:sp>
          <p:nvSpPr>
            <p:cNvPr id="72" name="TextBox 71">
              <a:extLst>
                <a:ext uri="{FF2B5EF4-FFF2-40B4-BE49-F238E27FC236}">
                  <a16:creationId xmlns:a16="http://schemas.microsoft.com/office/drawing/2014/main" id="{FCC31137-A48C-70C0-EE7C-AFF90984FDED}"/>
                </a:ext>
              </a:extLst>
            </p:cNvPr>
            <p:cNvSpPr txBox="1"/>
            <p:nvPr/>
          </p:nvSpPr>
          <p:spPr>
            <a:xfrm>
              <a:off x="3185211" y="5417287"/>
              <a:ext cx="563656" cy="179275"/>
            </a:xfrm>
            <a:prstGeom prst="rect">
              <a:avLst/>
            </a:prstGeom>
            <a:noFill/>
          </p:spPr>
          <p:txBody>
            <a:bodyPr wrap="none">
              <a:spAutoFit/>
            </a:bodyPr>
            <a:lstStyle/>
            <a:p>
              <a:pPr algn="ctr"/>
              <a:r>
                <a:rPr sz="600">
                  <a:solidFill>
                    <a:srgbClr val="685098"/>
                  </a:solidFill>
                </a:rPr>
                <a:t>AI Assistant</a:t>
              </a:r>
            </a:p>
          </p:txBody>
        </p:sp>
        <p:pic>
          <p:nvPicPr>
            <p:cNvPr id="2056" name="Picture 8" descr="Microsoft Copilot Studio - Connectors | Microsoft Learn">
              <a:extLst>
                <a:ext uri="{FF2B5EF4-FFF2-40B4-BE49-F238E27FC236}">
                  <a16:creationId xmlns:a16="http://schemas.microsoft.com/office/drawing/2014/main" id="{24502D46-7407-E593-98E7-2A669B69C2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93986" y="4875948"/>
              <a:ext cx="346103" cy="34610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4" name="Group 53">
            <a:extLst>
              <a:ext uri="{FF2B5EF4-FFF2-40B4-BE49-F238E27FC236}">
                <a16:creationId xmlns:a16="http://schemas.microsoft.com/office/drawing/2014/main" id="{C5CA8B5E-47C5-A6E9-029E-942E1CECBEBA}"/>
              </a:ext>
            </a:extLst>
          </p:cNvPr>
          <p:cNvGrpSpPr/>
          <p:nvPr/>
        </p:nvGrpSpPr>
        <p:grpSpPr>
          <a:xfrm>
            <a:off x="5337497" y="2438923"/>
            <a:ext cx="1020858" cy="843318"/>
            <a:chOff x="655596" y="3046858"/>
            <a:chExt cx="1020858" cy="843318"/>
          </a:xfrm>
        </p:grpSpPr>
        <p:sp>
          <p:nvSpPr>
            <p:cNvPr id="10" name="Rectangle 36">
              <a:extLst>
                <a:ext uri="{FF2B5EF4-FFF2-40B4-BE49-F238E27FC236}">
                  <a16:creationId xmlns:a16="http://schemas.microsoft.com/office/drawing/2014/main" id="{3882DB64-896B-18E7-C1BA-AF7D7382E2DB}"/>
                </a:ext>
              </a:extLst>
            </p:cNvPr>
            <p:cNvSpPr/>
            <p:nvPr/>
          </p:nvSpPr>
          <p:spPr>
            <a:xfrm>
              <a:off x="655596" y="3046858"/>
              <a:ext cx="1020858" cy="843318"/>
            </a:xfrm>
            <a:prstGeom prst="roundRect">
              <a:avLst>
                <a:gd name="adj" fmla="val 8000"/>
              </a:avLst>
            </a:prstGeom>
            <a:solidFill>
              <a:srgbClr val="1A1035"/>
            </a:solidFill>
            <a:ln w="9525">
              <a:solidFill>
                <a:srgbClr val="A07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0346546A-7F17-8FB2-C79A-A5747443429E}"/>
                </a:ext>
              </a:extLst>
            </p:cNvPr>
            <p:cNvSpPr txBox="1"/>
            <p:nvPr/>
          </p:nvSpPr>
          <p:spPr>
            <a:xfrm>
              <a:off x="676345" y="3557978"/>
              <a:ext cx="965329" cy="207749"/>
            </a:xfrm>
            <a:prstGeom prst="rect">
              <a:avLst/>
            </a:prstGeom>
            <a:noFill/>
          </p:spPr>
          <p:txBody>
            <a:bodyPr wrap="none">
              <a:spAutoFit/>
            </a:bodyPr>
            <a:lstStyle/>
            <a:p>
              <a:pPr algn="ctr"/>
              <a:r>
                <a:rPr lang="en-US" sz="750" b="1">
                  <a:solidFill>
                    <a:srgbClr val="C8B0F8"/>
                  </a:solidFill>
                </a:rPr>
                <a:t>Billing Ops Agent</a:t>
              </a:r>
              <a:endParaRPr sz="750" b="1">
                <a:solidFill>
                  <a:srgbClr val="C8B0F8"/>
                </a:solidFill>
              </a:endParaRPr>
            </a:p>
          </p:txBody>
        </p:sp>
        <p:pic>
          <p:nvPicPr>
            <p:cNvPr id="2050" name="Picture 2">
              <a:extLst>
                <a:ext uri="{FF2B5EF4-FFF2-40B4-BE49-F238E27FC236}">
                  <a16:creationId xmlns:a16="http://schemas.microsoft.com/office/drawing/2014/main" id="{5946CD7D-C608-AD5A-9009-3564A8F54F4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1686" y="3144764"/>
              <a:ext cx="344311" cy="34673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2" name="Group 61">
            <a:extLst>
              <a:ext uri="{FF2B5EF4-FFF2-40B4-BE49-F238E27FC236}">
                <a16:creationId xmlns:a16="http://schemas.microsoft.com/office/drawing/2014/main" id="{837FEB58-D656-AB2B-4191-B7EE52984416}"/>
              </a:ext>
            </a:extLst>
          </p:cNvPr>
          <p:cNvGrpSpPr/>
          <p:nvPr/>
        </p:nvGrpSpPr>
        <p:grpSpPr>
          <a:xfrm>
            <a:off x="5281480" y="4816304"/>
            <a:ext cx="1020858" cy="843318"/>
            <a:chOff x="655596" y="3046858"/>
            <a:chExt cx="1020858" cy="843318"/>
          </a:xfrm>
        </p:grpSpPr>
        <p:sp>
          <p:nvSpPr>
            <p:cNvPr id="66" name="Rectangle 36">
              <a:extLst>
                <a:ext uri="{FF2B5EF4-FFF2-40B4-BE49-F238E27FC236}">
                  <a16:creationId xmlns:a16="http://schemas.microsoft.com/office/drawing/2014/main" id="{64E2614E-756A-C6FF-C3E8-744941AC7ADD}"/>
                </a:ext>
              </a:extLst>
            </p:cNvPr>
            <p:cNvSpPr/>
            <p:nvPr/>
          </p:nvSpPr>
          <p:spPr>
            <a:xfrm>
              <a:off x="655596" y="3046858"/>
              <a:ext cx="1020858" cy="843318"/>
            </a:xfrm>
            <a:prstGeom prst="roundRect">
              <a:avLst>
                <a:gd name="adj" fmla="val 8000"/>
              </a:avLst>
            </a:prstGeom>
            <a:solidFill>
              <a:srgbClr val="1A1035"/>
            </a:solidFill>
            <a:ln w="9525">
              <a:solidFill>
                <a:srgbClr val="A07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a:extLst>
                <a:ext uri="{FF2B5EF4-FFF2-40B4-BE49-F238E27FC236}">
                  <a16:creationId xmlns:a16="http://schemas.microsoft.com/office/drawing/2014/main" id="{09D13D0D-A892-6DA2-A2E3-B65EC773114D}"/>
                </a:ext>
              </a:extLst>
            </p:cNvPr>
            <p:cNvSpPr txBox="1"/>
            <p:nvPr/>
          </p:nvSpPr>
          <p:spPr>
            <a:xfrm>
              <a:off x="683561" y="3557978"/>
              <a:ext cx="950901" cy="207749"/>
            </a:xfrm>
            <a:prstGeom prst="rect">
              <a:avLst/>
            </a:prstGeom>
            <a:noFill/>
          </p:spPr>
          <p:txBody>
            <a:bodyPr wrap="none">
              <a:spAutoFit/>
            </a:bodyPr>
            <a:lstStyle/>
            <a:p>
              <a:pPr algn="ctr"/>
              <a:r>
                <a:rPr lang="en-US" sz="750" b="1">
                  <a:solidFill>
                    <a:srgbClr val="C8B0F8"/>
                  </a:solidFill>
                </a:rPr>
                <a:t>Prior Auth Agent</a:t>
              </a:r>
              <a:endParaRPr sz="750" b="1">
                <a:solidFill>
                  <a:srgbClr val="C8B0F8"/>
                </a:solidFill>
              </a:endParaRPr>
            </a:p>
          </p:txBody>
        </p:sp>
        <p:pic>
          <p:nvPicPr>
            <p:cNvPr id="99" name="Picture 2">
              <a:extLst>
                <a:ext uri="{FF2B5EF4-FFF2-40B4-BE49-F238E27FC236}">
                  <a16:creationId xmlns:a16="http://schemas.microsoft.com/office/drawing/2014/main" id="{56A2EDEF-77B5-A847-DBE7-3646DB83DC4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1686" y="3144764"/>
              <a:ext cx="344311" cy="346735"/>
            </a:xfrm>
            <a:prstGeom prst="rect">
              <a:avLst/>
            </a:prstGeom>
            <a:noFill/>
            <a:extLst>
              <a:ext uri="{909E8E84-426E-40DD-AFC4-6F175D3DCCD1}">
                <a14:hiddenFill xmlns:a14="http://schemas.microsoft.com/office/drawing/2010/main">
                  <a:solidFill>
                    <a:srgbClr val="FFFFFF"/>
                  </a:solidFill>
                </a14:hiddenFill>
              </a:ext>
            </a:extLst>
          </p:spPr>
        </p:pic>
      </p:grpSp>
      <p:pic>
        <p:nvPicPr>
          <p:cNvPr id="101" name="Picture 4">
            <a:extLst>
              <a:ext uri="{FF2B5EF4-FFF2-40B4-BE49-F238E27FC236}">
                <a16:creationId xmlns:a16="http://schemas.microsoft.com/office/drawing/2014/main" id="{A3B8977F-CA04-4A5A-A793-677ECC0F58B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9949" y="3769703"/>
            <a:ext cx="695325" cy="695325"/>
          </a:xfrm>
          <a:prstGeom prst="rect">
            <a:avLst/>
          </a:prstGeom>
          <a:noFill/>
          <a:extLst>
            <a:ext uri="{909E8E84-426E-40DD-AFC4-6F175D3DCCD1}">
              <a14:hiddenFill xmlns:a14="http://schemas.microsoft.com/office/drawing/2010/main">
                <a:solidFill>
                  <a:srgbClr val="FFFFFF"/>
                </a:solidFill>
              </a14:hiddenFill>
            </a:ext>
          </a:extLst>
        </p:spPr>
      </p:pic>
      <p:sp>
        <p:nvSpPr>
          <p:cNvPr id="102" name="Rectangle 36">
            <a:extLst>
              <a:ext uri="{FF2B5EF4-FFF2-40B4-BE49-F238E27FC236}">
                <a16:creationId xmlns:a16="http://schemas.microsoft.com/office/drawing/2014/main" id="{4F4003A8-C6A5-47BD-C979-2EA9259B5F8A}"/>
              </a:ext>
            </a:extLst>
          </p:cNvPr>
          <p:cNvSpPr/>
          <p:nvPr/>
        </p:nvSpPr>
        <p:spPr>
          <a:xfrm>
            <a:off x="8922328" y="2199526"/>
            <a:ext cx="1020858" cy="843318"/>
          </a:xfrm>
          <a:prstGeom prst="roundRect">
            <a:avLst>
              <a:gd name="adj" fmla="val 8000"/>
            </a:avLst>
          </a:prstGeom>
          <a:solidFill>
            <a:srgbClr val="1A1035"/>
          </a:solidFill>
          <a:ln w="9525">
            <a:solidFill>
              <a:srgbClr val="A07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a:extLst>
              <a:ext uri="{FF2B5EF4-FFF2-40B4-BE49-F238E27FC236}">
                <a16:creationId xmlns:a16="http://schemas.microsoft.com/office/drawing/2014/main" id="{E5F32720-B54B-0749-2140-43351AF564B2}"/>
              </a:ext>
            </a:extLst>
          </p:cNvPr>
          <p:cNvSpPr txBox="1"/>
          <p:nvPr/>
        </p:nvSpPr>
        <p:spPr>
          <a:xfrm>
            <a:off x="9067111" y="2710196"/>
            <a:ext cx="731290" cy="207749"/>
          </a:xfrm>
          <a:prstGeom prst="rect">
            <a:avLst/>
          </a:prstGeom>
          <a:noFill/>
        </p:spPr>
        <p:txBody>
          <a:bodyPr wrap="none">
            <a:spAutoFit/>
          </a:bodyPr>
          <a:lstStyle/>
          <a:p>
            <a:pPr algn="ctr"/>
            <a:r>
              <a:rPr lang="en-US" sz="750" b="1">
                <a:solidFill>
                  <a:srgbClr val="C8B0F8"/>
                </a:solidFill>
              </a:rPr>
              <a:t>Power Point</a:t>
            </a:r>
            <a:endParaRPr sz="750" b="1">
              <a:solidFill>
                <a:srgbClr val="C8B0F8"/>
              </a:solidFill>
            </a:endParaRPr>
          </a:p>
        </p:txBody>
      </p:sp>
      <p:sp>
        <p:nvSpPr>
          <p:cNvPr id="108" name="Rectangle 36">
            <a:extLst>
              <a:ext uri="{FF2B5EF4-FFF2-40B4-BE49-F238E27FC236}">
                <a16:creationId xmlns:a16="http://schemas.microsoft.com/office/drawing/2014/main" id="{A18F6620-659B-D5F2-522C-CDD3247BF8D8}"/>
              </a:ext>
            </a:extLst>
          </p:cNvPr>
          <p:cNvSpPr/>
          <p:nvPr/>
        </p:nvSpPr>
        <p:spPr>
          <a:xfrm>
            <a:off x="10160705" y="2169785"/>
            <a:ext cx="1020858" cy="843318"/>
          </a:xfrm>
          <a:prstGeom prst="roundRect">
            <a:avLst>
              <a:gd name="adj" fmla="val 8000"/>
            </a:avLst>
          </a:prstGeom>
          <a:solidFill>
            <a:srgbClr val="1A1035"/>
          </a:solidFill>
          <a:ln w="9525">
            <a:solidFill>
              <a:srgbClr val="A07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a:extLst>
              <a:ext uri="{FF2B5EF4-FFF2-40B4-BE49-F238E27FC236}">
                <a16:creationId xmlns:a16="http://schemas.microsoft.com/office/drawing/2014/main" id="{1E5E6D2E-D6BE-98E6-8683-633EEBDD760D}"/>
              </a:ext>
            </a:extLst>
          </p:cNvPr>
          <p:cNvSpPr txBox="1"/>
          <p:nvPr/>
        </p:nvSpPr>
        <p:spPr>
          <a:xfrm>
            <a:off x="10503497" y="2689503"/>
            <a:ext cx="362600" cy="207749"/>
          </a:xfrm>
          <a:prstGeom prst="rect">
            <a:avLst/>
          </a:prstGeom>
          <a:noFill/>
        </p:spPr>
        <p:txBody>
          <a:bodyPr wrap="none">
            <a:spAutoFit/>
          </a:bodyPr>
          <a:lstStyle/>
          <a:p>
            <a:pPr algn="ctr"/>
            <a:r>
              <a:rPr lang="en-US" sz="750" b="1">
                <a:solidFill>
                  <a:srgbClr val="C8B0F8"/>
                </a:solidFill>
              </a:rPr>
              <a:t>PDF</a:t>
            </a:r>
            <a:endParaRPr sz="750" b="1">
              <a:solidFill>
                <a:srgbClr val="C8B0F8"/>
              </a:solidFill>
            </a:endParaRPr>
          </a:p>
        </p:txBody>
      </p:sp>
      <p:cxnSp>
        <p:nvCxnSpPr>
          <p:cNvPr id="136" name="Connector: Elbow 135">
            <a:extLst>
              <a:ext uri="{FF2B5EF4-FFF2-40B4-BE49-F238E27FC236}">
                <a16:creationId xmlns:a16="http://schemas.microsoft.com/office/drawing/2014/main" id="{7D876CA1-0499-41AA-DE71-E26EEADA6705}"/>
              </a:ext>
            </a:extLst>
          </p:cNvPr>
          <p:cNvCxnSpPr>
            <a:stCxn id="29" idx="0"/>
            <a:endCxn id="101" idx="1"/>
          </p:cNvCxnSpPr>
          <p:nvPr/>
        </p:nvCxnSpPr>
        <p:spPr>
          <a:xfrm rot="5400000" flipH="1" flipV="1">
            <a:off x="2828236" y="3306762"/>
            <a:ext cx="721108" cy="2342317"/>
          </a:xfrm>
          <a:prstGeom prst="bentConnector2">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9" name="Connector: Elbow 138">
            <a:extLst>
              <a:ext uri="{FF2B5EF4-FFF2-40B4-BE49-F238E27FC236}">
                <a16:creationId xmlns:a16="http://schemas.microsoft.com/office/drawing/2014/main" id="{C3670132-6990-46A6-3D5D-A78D1A99F4A0}"/>
              </a:ext>
            </a:extLst>
          </p:cNvPr>
          <p:cNvCxnSpPr>
            <a:cxnSpLocks/>
            <a:stCxn id="101" idx="3"/>
            <a:endCxn id="66" idx="0"/>
          </p:cNvCxnSpPr>
          <p:nvPr/>
        </p:nvCxnSpPr>
        <p:spPr>
          <a:xfrm>
            <a:off x="5055274" y="4117366"/>
            <a:ext cx="736635" cy="698938"/>
          </a:xfrm>
          <a:prstGeom prst="bentConnector2">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63" name="Rectangle 36">
            <a:extLst>
              <a:ext uri="{FF2B5EF4-FFF2-40B4-BE49-F238E27FC236}">
                <a16:creationId xmlns:a16="http://schemas.microsoft.com/office/drawing/2014/main" id="{3F547AE9-B162-BE8B-A9B7-66773166B802}"/>
              </a:ext>
            </a:extLst>
          </p:cNvPr>
          <p:cNvSpPr/>
          <p:nvPr/>
        </p:nvSpPr>
        <p:spPr>
          <a:xfrm>
            <a:off x="5337497" y="1322827"/>
            <a:ext cx="1020858" cy="843318"/>
          </a:xfrm>
          <a:prstGeom prst="roundRect">
            <a:avLst>
              <a:gd name="adj" fmla="val 8000"/>
            </a:avLst>
          </a:prstGeom>
          <a:solidFill>
            <a:srgbClr val="1A1035"/>
          </a:solidFill>
          <a:ln w="9525">
            <a:solidFill>
              <a:srgbClr val="A07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a:extLst>
              <a:ext uri="{FF2B5EF4-FFF2-40B4-BE49-F238E27FC236}">
                <a16:creationId xmlns:a16="http://schemas.microsoft.com/office/drawing/2014/main" id="{FBB58672-9514-8830-24B8-F0777435FE9D}"/>
              </a:ext>
            </a:extLst>
          </p:cNvPr>
          <p:cNvSpPr txBox="1"/>
          <p:nvPr/>
        </p:nvSpPr>
        <p:spPr>
          <a:xfrm>
            <a:off x="5489831" y="1786928"/>
            <a:ext cx="702158" cy="201684"/>
          </a:xfrm>
          <a:prstGeom prst="rect">
            <a:avLst/>
          </a:prstGeom>
          <a:noFill/>
        </p:spPr>
        <p:txBody>
          <a:bodyPr wrap="none">
            <a:spAutoFit/>
          </a:bodyPr>
          <a:lstStyle/>
          <a:p>
            <a:pPr algn="ctr"/>
            <a:r>
              <a:rPr sz="750" b="1">
                <a:solidFill>
                  <a:srgbClr val="C8B0F8"/>
                </a:solidFill>
              </a:rPr>
              <a:t>Power Apps</a:t>
            </a:r>
          </a:p>
        </p:txBody>
      </p:sp>
      <p:pic>
        <p:nvPicPr>
          <p:cNvPr id="165" name="Graphic 164">
            <a:extLst>
              <a:ext uri="{FF2B5EF4-FFF2-40B4-BE49-F238E27FC236}">
                <a16:creationId xmlns:a16="http://schemas.microsoft.com/office/drawing/2014/main" id="{F92A5E0B-295E-326F-F7C5-C66ED833A1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42673" y="1422400"/>
            <a:ext cx="355829" cy="355829"/>
          </a:xfrm>
          <a:prstGeom prst="rect">
            <a:avLst/>
          </a:prstGeom>
        </p:spPr>
      </p:pic>
      <p:cxnSp>
        <p:nvCxnSpPr>
          <p:cNvPr id="175" name="Straight Connector 174">
            <a:extLst>
              <a:ext uri="{FF2B5EF4-FFF2-40B4-BE49-F238E27FC236}">
                <a16:creationId xmlns:a16="http://schemas.microsoft.com/office/drawing/2014/main" id="{FCEF6CDE-656F-5767-4234-CA32D8BEC19A}"/>
              </a:ext>
            </a:extLst>
          </p:cNvPr>
          <p:cNvCxnSpPr>
            <a:cxnSpLocks/>
          </p:cNvCxnSpPr>
          <p:nvPr/>
        </p:nvCxnSpPr>
        <p:spPr>
          <a:xfrm>
            <a:off x="7523643" y="3282241"/>
            <a:ext cx="3841587" cy="0"/>
          </a:xfrm>
          <a:prstGeom prst="line">
            <a:avLst/>
          </a:prstGeom>
          <a:ln w="6350">
            <a:solidFill>
              <a:srgbClr val="00C9A7"/>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45BEFB8E-58F2-CE1F-2AC8-14082A601109}"/>
              </a:ext>
            </a:extLst>
          </p:cNvPr>
          <p:cNvCxnSpPr>
            <a:cxnSpLocks/>
          </p:cNvCxnSpPr>
          <p:nvPr/>
        </p:nvCxnSpPr>
        <p:spPr>
          <a:xfrm>
            <a:off x="7523642" y="4699561"/>
            <a:ext cx="3841588" cy="0"/>
          </a:xfrm>
          <a:prstGeom prst="line">
            <a:avLst/>
          </a:prstGeom>
          <a:ln w="6350">
            <a:solidFill>
              <a:srgbClr val="00C9A7"/>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5" name="Connector">
            <a:extLst>
              <a:ext uri="{FF2B5EF4-FFF2-40B4-BE49-F238E27FC236}">
                <a16:creationId xmlns:a16="http://schemas.microsoft.com/office/drawing/2014/main" id="{4F619251-97CD-8EA5-5D34-917916A26126}"/>
              </a:ext>
            </a:extLst>
          </p:cNvPr>
          <p:cNvCxnSpPr>
            <a:cxnSpLocks/>
            <a:stCxn id="10" idx="3"/>
            <a:endCxn id="15" idx="1"/>
          </p:cNvCxnSpPr>
          <p:nvPr/>
        </p:nvCxnSpPr>
        <p:spPr>
          <a:xfrm>
            <a:off x="6358355" y="2860582"/>
            <a:ext cx="1165287" cy="1136836"/>
          </a:xfrm>
          <a:prstGeom prst="line">
            <a:avLst/>
          </a:prstGeom>
          <a:ln w="9144">
            <a:solidFill>
              <a:srgbClr val="00C9A7"/>
            </a:solidFill>
            <a:prstDash val="solid"/>
            <a:tailEnd type="arrow" w="sm" len="sm"/>
          </a:ln>
        </p:spPr>
      </p:cxnSp>
      <p:cxnSp>
        <p:nvCxnSpPr>
          <p:cNvPr id="188" name="Connector">
            <a:extLst>
              <a:ext uri="{FF2B5EF4-FFF2-40B4-BE49-F238E27FC236}">
                <a16:creationId xmlns:a16="http://schemas.microsoft.com/office/drawing/2014/main" id="{68FB5E79-472C-73CE-F2C3-9DA08E529617}"/>
              </a:ext>
            </a:extLst>
          </p:cNvPr>
          <p:cNvCxnSpPr>
            <a:cxnSpLocks/>
            <a:stCxn id="66" idx="3"/>
            <a:endCxn id="15" idx="1"/>
          </p:cNvCxnSpPr>
          <p:nvPr/>
        </p:nvCxnSpPr>
        <p:spPr>
          <a:xfrm flipV="1">
            <a:off x="6302338" y="3997418"/>
            <a:ext cx="1221304" cy="1240545"/>
          </a:xfrm>
          <a:prstGeom prst="line">
            <a:avLst/>
          </a:prstGeom>
          <a:ln w="9144">
            <a:solidFill>
              <a:srgbClr val="00C9A7"/>
            </a:solidFill>
            <a:prstDash val="solid"/>
            <a:tailEnd type="arrow" w="sm" len="sm"/>
          </a:ln>
        </p:spPr>
      </p:cxnSp>
      <p:pic>
        <p:nvPicPr>
          <p:cNvPr id="1025" name="Graphic 1024">
            <a:extLst>
              <a:ext uri="{FF2B5EF4-FFF2-40B4-BE49-F238E27FC236}">
                <a16:creationId xmlns:a16="http://schemas.microsoft.com/office/drawing/2014/main" id="{4FAB501E-A41E-3785-91B5-BA03A979854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20657" y="2299380"/>
            <a:ext cx="347126" cy="347126"/>
          </a:xfrm>
          <a:prstGeom prst="rect">
            <a:avLst/>
          </a:prstGeom>
        </p:spPr>
      </p:pic>
      <p:pic>
        <p:nvPicPr>
          <p:cNvPr id="2058" name="Picture 10">
            <a:extLst>
              <a:ext uri="{FF2B5EF4-FFF2-40B4-BE49-F238E27FC236}">
                <a16:creationId xmlns:a16="http://schemas.microsoft.com/office/drawing/2014/main" id="{646CCD5F-67F0-CB1F-96C9-AD208E5EF07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150930" y="2212304"/>
            <a:ext cx="561119" cy="561119"/>
          </a:xfrm>
          <a:prstGeom prst="rect">
            <a:avLst/>
          </a:prstGeom>
          <a:noFill/>
          <a:extLst>
            <a:ext uri="{909E8E84-426E-40DD-AFC4-6F175D3DCCD1}">
              <a14:hiddenFill xmlns:a14="http://schemas.microsoft.com/office/drawing/2010/main">
                <a:solidFill>
                  <a:srgbClr val="FFFFFF"/>
                </a:solidFill>
              </a14:hiddenFill>
            </a:ext>
          </a:extLst>
        </p:spPr>
      </p:pic>
      <p:sp>
        <p:nvSpPr>
          <p:cNvPr id="1027" name="TextBox 1026">
            <a:extLst>
              <a:ext uri="{FF2B5EF4-FFF2-40B4-BE49-F238E27FC236}">
                <a16:creationId xmlns:a16="http://schemas.microsoft.com/office/drawing/2014/main" id="{E574AB79-95A3-6E0A-01C4-767DA91FB27A}"/>
              </a:ext>
            </a:extLst>
          </p:cNvPr>
          <p:cNvSpPr txBox="1"/>
          <p:nvPr/>
        </p:nvSpPr>
        <p:spPr>
          <a:xfrm>
            <a:off x="2262123" y="3881599"/>
            <a:ext cx="2046551" cy="184666"/>
          </a:xfrm>
          <a:prstGeom prst="rect">
            <a:avLst/>
          </a:prstGeom>
          <a:noFill/>
        </p:spPr>
        <p:txBody>
          <a:bodyPr wrap="square">
            <a:spAutoFit/>
          </a:bodyPr>
          <a:lstStyle/>
          <a:p>
            <a:pPr algn="ctr"/>
            <a:r>
              <a:rPr lang="en-US" sz="600">
                <a:solidFill>
                  <a:srgbClr val="3878A8"/>
                </a:solidFill>
              </a:rPr>
              <a:t>Initiates Prior Auth Request via email or Chat</a:t>
            </a:r>
            <a:endParaRPr sz="600">
              <a:solidFill>
                <a:srgbClr val="3878A8"/>
              </a:solidFill>
            </a:endParaRPr>
          </a:p>
        </p:txBody>
      </p:sp>
      <p:pic>
        <p:nvPicPr>
          <p:cNvPr id="2060" name="Picture 12">
            <a:extLst>
              <a:ext uri="{FF2B5EF4-FFF2-40B4-BE49-F238E27FC236}">
                <a16:creationId xmlns:a16="http://schemas.microsoft.com/office/drawing/2014/main" id="{47A985E9-441A-CB24-104E-6ABBA9689CE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583462" y="2366692"/>
            <a:ext cx="233213" cy="2864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752479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Agent Deep-Dive: Billing Ops Agent</a:t>
            </a:r>
          </a:p>
        </p:txBody>
      </p:sp>
      <p:sp>
        <p:nvSpPr>
          <p:cNvPr id="3" name="Desc"/>
          <p:cNvSpPr/>
          <p:nvPr/>
        </p:nvSpPr>
        <p:spPr>
          <a:xfrm>
            <a:off x="492034" y="1996685"/>
            <a:ext cx="4200000" cy="4000000"/>
          </a:xfrm>
          <a:prstGeom prst="rect">
            <a:avLst/>
          </a:prstGeom>
          <a:solidFill>
            <a:srgbClr val="0078D4">
              <a:alpha val="15000"/>
            </a:srgbClr>
          </a:solidFill>
          <a:ln w="19050">
            <a:solidFill>
              <a:srgbClr val="0078D4"/>
            </a:solidFill>
          </a:ln>
        </p:spPr>
        <p:txBody>
          <a:bodyPr wrap="square" lIns="182880" tIns="182880" rIns="182880" bIns="182880" anchor="t"/>
          <a:lstStyle/>
          <a:p>
            <a:pPr algn="l"/>
            <a:r>
              <a:rPr lang="en-US" sz="1500" b="1">
                <a:solidFill>
                  <a:srgbClr val="0078D4"/>
                </a:solidFill>
              </a:rPr>
              <a:t>What it does</a:t>
            </a:r>
          </a:p>
          <a:p>
            <a:pPr algn="l">
              <a:lnSpc>
                <a:spcPts val="1800"/>
              </a:lnSpc>
              <a:spcBef>
                <a:spcPts val="300"/>
              </a:spcBef>
            </a:pPr>
            <a:r>
              <a:rPr lang="en-US" sz="1200">
                <a:solidFill>
                  <a:srgbClr val="FFFFFF"/>
                </a:solidFill>
              </a:rPr>
              <a:t>Conversational agent embedded inside our billing model-driven app. Billing operators chat with it in natural language to resolve claim errors — without querying databases directly.</a:t>
            </a:r>
          </a:p>
          <a:p>
            <a:pPr algn="l">
              <a:spcBef>
                <a:spcPts val="500"/>
              </a:spcBef>
            </a:pPr>
            <a:r>
              <a:rPr lang="en-US" sz="1500" b="1">
                <a:solidFill>
                  <a:srgbClr val="0078D4"/>
                </a:solidFill>
              </a:rPr>
              <a:t>What it replaced</a:t>
            </a:r>
          </a:p>
          <a:p>
            <a:pPr algn="l">
              <a:lnSpc>
                <a:spcPts val="1800"/>
              </a:lnSpc>
              <a:spcBef>
                <a:spcPts val="300"/>
              </a:spcBef>
            </a:pPr>
            <a:r>
              <a:rPr lang="en-US" sz="1200">
                <a:solidFill>
                  <a:srgbClr val="FFFFFF"/>
                </a:solidFill>
              </a:rPr>
              <a:t>Manual error lookup — operators used to dig through error codes and documentation. Now they just ask the agent.</a:t>
            </a:r>
          </a:p>
          <a:p>
            <a:pPr algn="l">
              <a:spcBef>
                <a:spcPts val="500"/>
              </a:spcBef>
            </a:pPr>
            <a:r>
              <a:rPr lang="en-US" sz="1500" b="1">
                <a:solidFill>
                  <a:srgbClr val="8DE971"/>
                </a:solidFill>
              </a:rPr>
              <a:t>Result</a:t>
            </a:r>
          </a:p>
          <a:p>
            <a:pPr algn="l">
              <a:lnSpc>
                <a:spcPts val="1800"/>
              </a:lnSpc>
              <a:spcBef>
                <a:spcPts val="300"/>
              </a:spcBef>
            </a:pPr>
            <a:r>
              <a:rPr lang="en-US" sz="1200">
                <a:solidFill>
                  <a:srgbClr val="FFFFFF"/>
                </a:solidFill>
              </a:rPr>
              <a:t>Claims processed faster, errors fixed efficiently, operators focus on high-value tasks</a:t>
            </a:r>
          </a:p>
        </p:txBody>
      </p:sp>
      <p:sp>
        <p:nvSpPr>
          <p:cNvPr id="4" name="FlowTitle"/>
          <p:cNvSpPr/>
          <p:nvPr/>
        </p:nvSpPr>
        <p:spPr>
          <a:xfrm>
            <a:off x="4934834" y="1996685"/>
            <a:ext cx="6600000" cy="400000"/>
          </a:xfrm>
          <a:prstGeom prst="rect">
            <a:avLst/>
          </a:prstGeom>
          <a:noFill/>
        </p:spPr>
        <p:txBody>
          <a:bodyPr/>
          <a:lstStyle/>
          <a:p>
            <a:pPr algn="ctr"/>
            <a:r>
              <a:rPr lang="en-US" sz="1300" b="1">
                <a:solidFill>
                  <a:srgbClr val="D2D2D2"/>
                </a:solidFill>
              </a:rPr>
              <a:t>HOW IT WORKS</a:t>
            </a:r>
          </a:p>
        </p:txBody>
      </p:sp>
      <p:sp>
        <p:nvSpPr>
          <p:cNvPr id="5" name="Step1"/>
          <p:cNvSpPr/>
          <p:nvPr/>
        </p:nvSpPr>
        <p:spPr>
          <a:xfrm>
            <a:off x="4934834" y="2446685"/>
            <a:ext cx="3000000" cy="650000"/>
          </a:xfrm>
          <a:prstGeom prst="roundRect">
            <a:avLst>
              <a:gd name="adj" fmla="val 16667"/>
            </a:avLst>
          </a:prstGeom>
          <a:solidFill>
            <a:srgbClr val="E91E8C">
              <a:alpha val="30000"/>
            </a:srgbClr>
          </a:solidFill>
          <a:ln w="19050">
            <a:solidFill>
              <a:srgbClr val="E91E8C"/>
            </a:solidFill>
          </a:ln>
        </p:spPr>
        <p:txBody>
          <a:bodyPr anchor="ctr"/>
          <a:lstStyle/>
          <a:p>
            <a:pPr algn="ctr"/>
            <a:r>
              <a:rPr lang="en-US" sz="1100" b="1">
                <a:solidFill>
                  <a:srgbClr val="E91E8C"/>
                </a:solidFill>
              </a:rPr>
              <a:t>1</a:t>
            </a:r>
          </a:p>
          <a:p>
            <a:pPr algn="ctr"/>
            <a:r>
              <a:rPr lang="en-US" sz="1100" b="1">
                <a:solidFill>
                  <a:srgbClr val="E91E8C"/>
                </a:solidFill>
              </a:rPr>
              <a:t> </a:t>
            </a:r>
            <a:r>
              <a:rPr lang="en-US" sz="1100">
                <a:solidFill>
                  <a:srgbClr val="FFFFFF"/>
                </a:solidFill>
              </a:rPr>
              <a:t>Operator opens claim with error</a:t>
            </a:r>
          </a:p>
        </p:txBody>
      </p:sp>
      <p:sp>
        <p:nvSpPr>
          <p:cNvPr id="6" name="A1"/>
          <p:cNvSpPr/>
          <p:nvPr/>
        </p:nvSpPr>
        <p:spPr>
          <a:xfrm>
            <a:off x="5334834" y="3156685"/>
            <a:ext cx="400000" cy="250000"/>
          </a:xfrm>
          <a:prstGeom prst="downArrow">
            <a:avLst>
              <a:gd name="adj1" fmla="val 50000"/>
              <a:gd name="adj2" fmla="val 50000"/>
            </a:avLst>
          </a:prstGeom>
          <a:solidFill>
            <a:srgbClr val="E91E8C"/>
          </a:solidFill>
        </p:spPr>
        <p:txBody>
          <a:bodyPr/>
          <a:lstStyle/>
          <a:p>
            <a:endParaRPr lang="en-US"/>
          </a:p>
        </p:txBody>
      </p:sp>
      <p:sp>
        <p:nvSpPr>
          <p:cNvPr id="7" name="Step2"/>
          <p:cNvSpPr/>
          <p:nvPr/>
        </p:nvSpPr>
        <p:spPr>
          <a:xfrm>
            <a:off x="4934834" y="3456685"/>
            <a:ext cx="3000000" cy="650000"/>
          </a:xfrm>
          <a:prstGeom prst="roundRect">
            <a:avLst>
              <a:gd name="adj" fmla="val 16667"/>
            </a:avLst>
          </a:prstGeom>
          <a:solidFill>
            <a:srgbClr val="0078D4">
              <a:alpha val="30000"/>
            </a:srgbClr>
          </a:solidFill>
          <a:ln w="19050">
            <a:solidFill>
              <a:srgbClr val="0078D4"/>
            </a:solidFill>
          </a:ln>
        </p:spPr>
        <p:txBody>
          <a:bodyPr anchor="ctr"/>
          <a:lstStyle/>
          <a:p>
            <a:pPr algn="ctr"/>
            <a:r>
              <a:rPr lang="en-US" sz="1100" b="1">
                <a:solidFill>
                  <a:srgbClr val="0078D4"/>
                </a:solidFill>
              </a:rPr>
              <a:t>2 </a:t>
            </a:r>
          </a:p>
          <a:p>
            <a:pPr algn="ctr"/>
            <a:r>
              <a:rPr lang="en-US" sz="1100">
                <a:solidFill>
                  <a:srgbClr val="FFFFFF"/>
                </a:solidFill>
              </a:rPr>
              <a:t>Asks agent: “Why was this rejected?”</a:t>
            </a:r>
          </a:p>
        </p:txBody>
      </p:sp>
      <p:sp>
        <p:nvSpPr>
          <p:cNvPr id="8" name="A2"/>
          <p:cNvSpPr/>
          <p:nvPr/>
        </p:nvSpPr>
        <p:spPr>
          <a:xfrm>
            <a:off x="5334834" y="4161685"/>
            <a:ext cx="400000" cy="250000"/>
          </a:xfrm>
          <a:prstGeom prst="downArrow">
            <a:avLst>
              <a:gd name="adj1" fmla="val 50000"/>
              <a:gd name="adj2" fmla="val 50000"/>
            </a:avLst>
          </a:prstGeom>
          <a:solidFill>
            <a:srgbClr val="0078D4"/>
          </a:solidFill>
        </p:spPr>
        <p:txBody>
          <a:bodyPr/>
          <a:lstStyle/>
          <a:p>
            <a:endParaRPr lang="en-US"/>
          </a:p>
        </p:txBody>
      </p:sp>
      <p:sp>
        <p:nvSpPr>
          <p:cNvPr id="9" name="Step3"/>
          <p:cNvSpPr/>
          <p:nvPr/>
        </p:nvSpPr>
        <p:spPr>
          <a:xfrm>
            <a:off x="4934834" y="4461685"/>
            <a:ext cx="3000000" cy="650000"/>
          </a:xfrm>
          <a:prstGeom prst="roundRect">
            <a:avLst>
              <a:gd name="adj" fmla="val 16667"/>
            </a:avLst>
          </a:prstGeom>
          <a:solidFill>
            <a:srgbClr val="8661C5">
              <a:alpha val="30000"/>
            </a:srgbClr>
          </a:solidFill>
          <a:ln w="19050">
            <a:solidFill>
              <a:srgbClr val="8661C5"/>
            </a:solidFill>
          </a:ln>
        </p:spPr>
        <p:txBody>
          <a:bodyPr anchor="ctr"/>
          <a:lstStyle/>
          <a:p>
            <a:pPr algn="ctr"/>
            <a:r>
              <a:rPr lang="en-US" sz="1100" b="1">
                <a:solidFill>
                  <a:srgbClr val="8661C5"/>
                </a:solidFill>
              </a:rPr>
              <a:t>3 </a:t>
            </a:r>
          </a:p>
          <a:p>
            <a:pPr algn="ctr"/>
            <a:r>
              <a:rPr lang="en-US" sz="1100">
                <a:solidFill>
                  <a:srgbClr val="FFFFFF"/>
                </a:solidFill>
              </a:rPr>
              <a:t>Agent queries Dataverse in real-time</a:t>
            </a:r>
          </a:p>
        </p:txBody>
      </p:sp>
      <p:sp>
        <p:nvSpPr>
          <p:cNvPr id="10" name="A3"/>
          <p:cNvSpPr/>
          <p:nvPr/>
        </p:nvSpPr>
        <p:spPr>
          <a:xfrm>
            <a:off x="5334834" y="5161685"/>
            <a:ext cx="400000" cy="250000"/>
          </a:xfrm>
          <a:prstGeom prst="downArrow">
            <a:avLst>
              <a:gd name="adj1" fmla="val 50000"/>
              <a:gd name="adj2" fmla="val 50000"/>
            </a:avLst>
          </a:prstGeom>
          <a:solidFill>
            <a:srgbClr val="8DE971"/>
          </a:solidFill>
        </p:spPr>
        <p:txBody>
          <a:bodyPr/>
          <a:lstStyle/>
          <a:p>
            <a:endParaRPr lang="en-US"/>
          </a:p>
        </p:txBody>
      </p:sp>
      <p:sp>
        <p:nvSpPr>
          <p:cNvPr id="11" name="Step4"/>
          <p:cNvSpPr/>
          <p:nvPr/>
        </p:nvSpPr>
        <p:spPr>
          <a:xfrm>
            <a:off x="4934834" y="5466685"/>
            <a:ext cx="3000000" cy="650000"/>
          </a:xfrm>
          <a:prstGeom prst="roundRect">
            <a:avLst>
              <a:gd name="adj" fmla="val 16667"/>
            </a:avLst>
          </a:prstGeom>
          <a:solidFill>
            <a:srgbClr val="8DE971">
              <a:alpha val="25000"/>
            </a:srgbClr>
          </a:solidFill>
          <a:ln w="19050">
            <a:solidFill>
              <a:srgbClr val="8DE971"/>
            </a:solidFill>
          </a:ln>
        </p:spPr>
        <p:txBody>
          <a:bodyPr anchor="ctr"/>
          <a:lstStyle/>
          <a:p>
            <a:pPr algn="ctr"/>
            <a:r>
              <a:rPr lang="en-US" sz="1100" b="1">
                <a:solidFill>
                  <a:srgbClr val="8DE971"/>
                </a:solidFill>
              </a:rPr>
              <a:t>4 </a:t>
            </a:r>
          </a:p>
          <a:p>
            <a:pPr algn="ctr"/>
            <a:r>
              <a:rPr lang="en-US" sz="1100">
                <a:solidFill>
                  <a:srgbClr val="FFFFFF"/>
                </a:solidFill>
              </a:rPr>
              <a:t>Returns diagnosis + step-by-step fix</a:t>
            </a:r>
          </a:p>
        </p:txBody>
      </p:sp>
      <p:sp>
        <p:nvSpPr>
          <p:cNvPr id="12" name="DataBox"/>
          <p:cNvSpPr/>
          <p:nvPr/>
        </p:nvSpPr>
        <p:spPr>
          <a:xfrm>
            <a:off x="8234834" y="3296685"/>
            <a:ext cx="3000000" cy="2600000"/>
          </a:xfrm>
          <a:prstGeom prst="rect">
            <a:avLst/>
          </a:prstGeom>
          <a:solidFill>
            <a:srgbClr val="8661C5">
              <a:alpha val="15000"/>
            </a:srgbClr>
          </a:solidFill>
          <a:ln w="19050">
            <a:solidFill>
              <a:srgbClr val="8661C5"/>
            </a:solidFill>
          </a:ln>
        </p:spPr>
        <p:txBody>
          <a:bodyPr wrap="square" lIns="182880" tIns="182880" rIns="182880" bIns="182880" anchor="ctr"/>
          <a:lstStyle/>
          <a:p>
            <a:pPr algn="ctr"/>
            <a:r>
              <a:rPr lang="en-US" sz="1300" b="1">
                <a:solidFill>
                  <a:srgbClr val="8661C5"/>
                </a:solidFill>
              </a:rPr>
              <a:t>KNOWLEDGE SOURCES</a:t>
            </a:r>
          </a:p>
          <a:p>
            <a:pPr algn="ctr">
              <a:lnSpc>
                <a:spcPts val="1800"/>
              </a:lnSpc>
              <a:spcBef>
                <a:spcPts val="300"/>
              </a:spcBef>
            </a:pPr>
            <a:r>
              <a:rPr lang="en-US" sz="1100">
                <a:solidFill>
                  <a:srgbClr val="FFFFFF"/>
                </a:solidFill>
              </a:rPr>
              <a:t>Dataverse claim records</a:t>
            </a:r>
          </a:p>
          <a:p>
            <a:pPr algn="ctr">
              <a:lnSpc>
                <a:spcPts val="1800"/>
              </a:lnSpc>
            </a:pPr>
            <a:r>
              <a:rPr lang="en-US" sz="1100">
                <a:solidFill>
                  <a:srgbClr val="FFFFFF"/>
                </a:solidFill>
              </a:rPr>
              <a:t>NCPDP error code docs</a:t>
            </a:r>
          </a:p>
          <a:p>
            <a:pPr algn="ctr">
              <a:lnSpc>
                <a:spcPts val="1800"/>
              </a:lnSpc>
            </a:pPr>
            <a:r>
              <a:rPr lang="en-US" sz="1100">
                <a:solidFill>
                  <a:srgbClr val="FFFFFF"/>
                </a:solidFill>
              </a:rPr>
              <a:t>Billing portal navigation guide</a:t>
            </a:r>
          </a:p>
          <a:p>
            <a:pPr algn="ctr">
              <a:lnSpc>
                <a:spcPts val="1800"/>
              </a:lnSpc>
            </a:pPr>
            <a:r>
              <a:rPr lang="en-US" sz="1100">
                <a:solidFill>
                  <a:srgbClr val="FFFFFF"/>
                </a:solidFill>
              </a:rPr>
              <a:t>Internal SOP documents</a:t>
            </a:r>
          </a:p>
        </p:txBody>
      </p:sp>
      <p:sp>
        <p:nvSpPr>
          <p:cNvPr id="13" name="ConnLine"/>
          <p:cNvSpPr/>
          <p:nvPr/>
        </p:nvSpPr>
        <p:spPr>
          <a:xfrm>
            <a:off x="7994834" y="4396685"/>
            <a:ext cx="250000" cy="19050"/>
          </a:xfrm>
          <a:prstGeom prst="rect">
            <a:avLst/>
          </a:prstGeom>
          <a:solidFill>
            <a:srgbClr val="8661C5"/>
          </a:solid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Agent Deep-Dive: Prior Authorization Agent</a:t>
            </a:r>
          </a:p>
        </p:txBody>
      </p:sp>
      <p:sp>
        <p:nvSpPr>
          <p:cNvPr id="3" name="Desc"/>
          <p:cNvSpPr/>
          <p:nvPr/>
        </p:nvSpPr>
        <p:spPr>
          <a:xfrm>
            <a:off x="457200" y="1918308"/>
            <a:ext cx="4200000" cy="4000000"/>
          </a:xfrm>
          <a:prstGeom prst="rect">
            <a:avLst/>
          </a:prstGeom>
          <a:solidFill>
            <a:srgbClr val="FF6B00">
              <a:alpha val="15000"/>
            </a:srgbClr>
          </a:solidFill>
          <a:ln w="19050">
            <a:solidFill>
              <a:srgbClr val="FF6B00"/>
            </a:solidFill>
          </a:ln>
        </p:spPr>
        <p:txBody>
          <a:bodyPr wrap="square" lIns="182880" tIns="182880" rIns="182880" bIns="182880" anchor="t"/>
          <a:lstStyle/>
          <a:p>
            <a:pPr algn="l"/>
            <a:r>
              <a:rPr lang="en-US" sz="1500" b="1">
                <a:solidFill>
                  <a:srgbClr val="FF6B00"/>
                </a:solidFill>
              </a:rPr>
              <a:t>What it does</a:t>
            </a:r>
          </a:p>
          <a:p>
            <a:pPr algn="l">
              <a:lnSpc>
                <a:spcPts val="1800"/>
              </a:lnSpc>
              <a:spcBef>
                <a:spcPts val="300"/>
              </a:spcBef>
            </a:pPr>
            <a:r>
              <a:rPr lang="en-US" sz="1200">
                <a:solidFill>
                  <a:srgbClr val="FFFFFF"/>
                </a:solidFill>
              </a:rPr>
              <a:t>Fully autonomous agent — triggered by patient email. Verifies identity, retrieves appointment data from Dataverse via MCP, generates a completed prior auth form, and emails the insurer. Zero human touch.</a:t>
            </a:r>
          </a:p>
          <a:p>
            <a:pPr algn="l">
              <a:spcBef>
                <a:spcPts val="500"/>
              </a:spcBef>
            </a:pPr>
            <a:r>
              <a:rPr lang="en-US" sz="1500" b="1">
                <a:solidFill>
                  <a:srgbClr val="FF6B00"/>
                </a:solidFill>
              </a:rPr>
              <a:t>What it replaced</a:t>
            </a:r>
          </a:p>
          <a:p>
            <a:pPr algn="l">
              <a:lnSpc>
                <a:spcPts val="1800"/>
              </a:lnSpc>
              <a:spcBef>
                <a:spcPts val="300"/>
              </a:spcBef>
            </a:pPr>
            <a:r>
              <a:rPr lang="en-US" sz="1200">
                <a:solidFill>
                  <a:srgbClr val="FFFFFF"/>
                </a:solidFill>
              </a:rPr>
              <a:t>Staff manually collecting patient info, filling forms, and chasing insurance companies — days of back-and-forth.</a:t>
            </a:r>
          </a:p>
          <a:p>
            <a:pPr algn="l">
              <a:spcBef>
                <a:spcPts val="500"/>
              </a:spcBef>
            </a:pPr>
            <a:r>
              <a:rPr lang="en-US" sz="1500" b="1">
                <a:solidFill>
                  <a:srgbClr val="8DE971"/>
                </a:solidFill>
              </a:rPr>
              <a:t>Key tech</a:t>
            </a:r>
          </a:p>
          <a:p>
            <a:pPr algn="l">
              <a:lnSpc>
                <a:spcPts val="1800"/>
              </a:lnSpc>
              <a:spcBef>
                <a:spcPts val="300"/>
              </a:spcBef>
            </a:pPr>
            <a:r>
              <a:rPr lang="en-US" sz="1200">
                <a:solidFill>
                  <a:srgbClr val="FFFFFF"/>
                </a:solidFill>
              </a:rPr>
              <a:t>Copilot Studio + Dataverse MCP Server for real-time patient lookup without API calls</a:t>
            </a:r>
          </a:p>
        </p:txBody>
      </p:sp>
      <p:sp>
        <p:nvSpPr>
          <p:cNvPr id="4" name="FlowTitle"/>
          <p:cNvSpPr/>
          <p:nvPr/>
        </p:nvSpPr>
        <p:spPr>
          <a:xfrm>
            <a:off x="4900000" y="1918308"/>
            <a:ext cx="6600000" cy="400000"/>
          </a:xfrm>
          <a:prstGeom prst="rect">
            <a:avLst/>
          </a:prstGeom>
          <a:noFill/>
        </p:spPr>
        <p:txBody>
          <a:bodyPr/>
          <a:lstStyle/>
          <a:p>
            <a:pPr algn="ctr"/>
            <a:r>
              <a:rPr lang="en-US" sz="1300" b="1">
                <a:solidFill>
                  <a:srgbClr val="D2D2D2"/>
                </a:solidFill>
              </a:rPr>
              <a:t>AUTONOMOUS WORKFLOW</a:t>
            </a:r>
          </a:p>
        </p:txBody>
      </p:sp>
      <p:sp>
        <p:nvSpPr>
          <p:cNvPr id="5" name="S1"/>
          <p:cNvSpPr/>
          <p:nvPr/>
        </p:nvSpPr>
        <p:spPr>
          <a:xfrm>
            <a:off x="4900000" y="2398308"/>
            <a:ext cx="1900000" cy="800000"/>
          </a:xfrm>
          <a:prstGeom prst="roundRect">
            <a:avLst>
              <a:gd name="adj" fmla="val 16667"/>
            </a:avLst>
          </a:prstGeom>
          <a:solidFill>
            <a:srgbClr val="E91E8C">
              <a:alpha val="30000"/>
            </a:srgbClr>
          </a:solidFill>
          <a:ln w="19050">
            <a:solidFill>
              <a:srgbClr val="E91E8C"/>
            </a:solidFill>
          </a:ln>
        </p:spPr>
        <p:txBody>
          <a:bodyPr wrap="square" lIns="91440" tIns="45720" rIns="91440" bIns="45720" anchor="ctr"/>
          <a:lstStyle/>
          <a:p>
            <a:pPr algn="ctr"/>
            <a:r>
              <a:rPr lang="en-US" sz="1000" b="1">
                <a:solidFill>
                  <a:srgbClr val="E91E8C"/>
                </a:solidFill>
              </a:rPr>
              <a:t>1</a:t>
            </a:r>
          </a:p>
          <a:p>
            <a:pPr algn="ctr"/>
            <a:r>
              <a:rPr lang="en-US" sz="1000">
                <a:solidFill>
                  <a:srgbClr val="FFFFFF"/>
                </a:solidFill>
              </a:rPr>
              <a:t>Users emails prior auth request for a service</a:t>
            </a:r>
          </a:p>
        </p:txBody>
      </p:sp>
      <p:sp>
        <p:nvSpPr>
          <p:cNvPr id="6" name="Arr1"/>
          <p:cNvSpPr/>
          <p:nvPr/>
        </p:nvSpPr>
        <p:spPr>
          <a:xfrm>
            <a:off x="6870000" y="2668308"/>
            <a:ext cx="350000" cy="260000"/>
          </a:xfrm>
          <a:prstGeom prst="rightArrow">
            <a:avLst>
              <a:gd name="adj1" fmla="val 50000"/>
              <a:gd name="adj2" fmla="val 50000"/>
            </a:avLst>
          </a:prstGeom>
          <a:solidFill>
            <a:srgbClr val="FF6B00"/>
          </a:solidFill>
        </p:spPr>
        <p:txBody>
          <a:bodyPr/>
          <a:lstStyle/>
          <a:p>
            <a:endParaRPr lang="en-US"/>
          </a:p>
        </p:txBody>
      </p:sp>
      <p:sp>
        <p:nvSpPr>
          <p:cNvPr id="7" name="S2"/>
          <p:cNvSpPr/>
          <p:nvPr/>
        </p:nvSpPr>
        <p:spPr>
          <a:xfrm>
            <a:off x="7280000" y="2398308"/>
            <a:ext cx="2000000" cy="800000"/>
          </a:xfrm>
          <a:prstGeom prst="roundRect">
            <a:avLst>
              <a:gd name="adj" fmla="val 16667"/>
            </a:avLst>
          </a:prstGeom>
          <a:solidFill>
            <a:srgbClr val="0078D4">
              <a:alpha val="30000"/>
            </a:srgbClr>
          </a:solidFill>
          <a:ln w="19050">
            <a:solidFill>
              <a:srgbClr val="0078D4"/>
            </a:solidFill>
          </a:ln>
        </p:spPr>
        <p:txBody>
          <a:bodyPr wrap="square" lIns="91440" tIns="45720" rIns="91440" bIns="45720" anchor="ctr"/>
          <a:lstStyle/>
          <a:p>
            <a:pPr algn="ctr"/>
            <a:r>
              <a:rPr lang="en-US" sz="1000" b="1">
                <a:solidFill>
                  <a:srgbClr val="0078D4"/>
                </a:solidFill>
              </a:rPr>
              <a:t>2</a:t>
            </a:r>
          </a:p>
          <a:p>
            <a:pPr algn="ctr"/>
            <a:r>
              <a:rPr lang="en-US" sz="1000">
                <a:solidFill>
                  <a:srgbClr val="FFFFFF"/>
                </a:solidFill>
              </a:rPr>
              <a:t>Agent verifies name + DOB (requests if missing)</a:t>
            </a:r>
          </a:p>
        </p:txBody>
      </p:sp>
      <p:sp>
        <p:nvSpPr>
          <p:cNvPr id="8" name="ArrDown"/>
          <p:cNvSpPr/>
          <p:nvPr/>
        </p:nvSpPr>
        <p:spPr>
          <a:xfrm>
            <a:off x="8080000" y="3258308"/>
            <a:ext cx="260000" cy="350000"/>
          </a:xfrm>
          <a:prstGeom prst="downArrow">
            <a:avLst>
              <a:gd name="adj1" fmla="val 50000"/>
              <a:gd name="adj2" fmla="val 50000"/>
            </a:avLst>
          </a:prstGeom>
          <a:solidFill>
            <a:srgbClr val="FF6B00"/>
          </a:solidFill>
        </p:spPr>
        <p:txBody>
          <a:bodyPr/>
          <a:lstStyle/>
          <a:p>
            <a:endParaRPr lang="en-US"/>
          </a:p>
        </p:txBody>
      </p:sp>
      <p:sp>
        <p:nvSpPr>
          <p:cNvPr id="9" name="S3"/>
          <p:cNvSpPr/>
          <p:nvPr/>
        </p:nvSpPr>
        <p:spPr>
          <a:xfrm>
            <a:off x="7280000" y="3668308"/>
            <a:ext cx="2000000" cy="800000"/>
          </a:xfrm>
          <a:prstGeom prst="roundRect">
            <a:avLst>
              <a:gd name="adj" fmla="val 16667"/>
            </a:avLst>
          </a:prstGeom>
          <a:solidFill>
            <a:srgbClr val="8661C5">
              <a:alpha val="30000"/>
            </a:srgbClr>
          </a:solidFill>
          <a:ln w="19050">
            <a:solidFill>
              <a:srgbClr val="8661C5"/>
            </a:solidFill>
          </a:ln>
        </p:spPr>
        <p:txBody>
          <a:bodyPr wrap="square" lIns="91440" tIns="45720" rIns="91440" bIns="45720" anchor="ctr"/>
          <a:lstStyle/>
          <a:p>
            <a:pPr algn="ctr"/>
            <a:r>
              <a:rPr lang="en-US" sz="1000" b="1">
                <a:solidFill>
                  <a:srgbClr val="8661C5"/>
                </a:solidFill>
              </a:rPr>
              <a:t>3</a:t>
            </a:r>
          </a:p>
          <a:p>
            <a:pPr algn="ctr"/>
            <a:r>
              <a:rPr lang="en-US" sz="1000">
                <a:solidFill>
                  <a:srgbClr val="FFFFFF"/>
                </a:solidFill>
              </a:rPr>
              <a:t>Queries Dataverse MCP for patient + appointment</a:t>
            </a:r>
          </a:p>
        </p:txBody>
      </p:sp>
      <p:sp>
        <p:nvSpPr>
          <p:cNvPr id="10" name="ArrLeft"/>
          <p:cNvSpPr/>
          <p:nvPr/>
        </p:nvSpPr>
        <p:spPr>
          <a:xfrm>
            <a:off x="6870000" y="3938308"/>
            <a:ext cx="350000" cy="260000"/>
          </a:xfrm>
          <a:prstGeom prst="leftArrow">
            <a:avLst>
              <a:gd name="adj1" fmla="val 50000"/>
              <a:gd name="adj2" fmla="val 50000"/>
            </a:avLst>
          </a:prstGeom>
          <a:solidFill>
            <a:srgbClr val="FF6B00"/>
          </a:solidFill>
        </p:spPr>
        <p:txBody>
          <a:bodyPr/>
          <a:lstStyle/>
          <a:p>
            <a:endParaRPr lang="en-US"/>
          </a:p>
        </p:txBody>
      </p:sp>
      <p:sp>
        <p:nvSpPr>
          <p:cNvPr id="11" name="S4"/>
          <p:cNvSpPr/>
          <p:nvPr/>
        </p:nvSpPr>
        <p:spPr>
          <a:xfrm>
            <a:off x="4900000" y="3668308"/>
            <a:ext cx="1900000" cy="800000"/>
          </a:xfrm>
          <a:prstGeom prst="roundRect">
            <a:avLst>
              <a:gd name="adj" fmla="val 16667"/>
            </a:avLst>
          </a:prstGeom>
          <a:solidFill>
            <a:srgbClr val="FF6B00">
              <a:alpha val="30000"/>
            </a:srgbClr>
          </a:solidFill>
          <a:ln w="19050">
            <a:solidFill>
              <a:srgbClr val="FF6B00"/>
            </a:solidFill>
          </a:ln>
        </p:spPr>
        <p:txBody>
          <a:bodyPr wrap="square" lIns="91440" tIns="45720" rIns="91440" bIns="45720" anchor="ctr"/>
          <a:lstStyle/>
          <a:p>
            <a:pPr algn="ctr"/>
            <a:r>
              <a:rPr lang="en-US" sz="1000" b="1">
                <a:solidFill>
                  <a:srgbClr val="FF6B00"/>
                </a:solidFill>
              </a:rPr>
              <a:t>4</a:t>
            </a:r>
          </a:p>
          <a:p>
            <a:pPr algn="ctr"/>
            <a:r>
              <a:rPr lang="en-US" sz="1000">
                <a:solidFill>
                  <a:srgbClr val="FFFFFF"/>
                </a:solidFill>
              </a:rPr>
              <a:t>Generates completed prior auth form</a:t>
            </a:r>
          </a:p>
        </p:txBody>
      </p:sp>
      <p:sp>
        <p:nvSpPr>
          <p:cNvPr id="12" name="ArrD2"/>
          <p:cNvSpPr/>
          <p:nvPr/>
        </p:nvSpPr>
        <p:spPr>
          <a:xfrm>
            <a:off x="5750000" y="4528308"/>
            <a:ext cx="260000" cy="350000"/>
          </a:xfrm>
          <a:prstGeom prst="downArrow">
            <a:avLst>
              <a:gd name="adj1" fmla="val 50000"/>
              <a:gd name="adj2" fmla="val 50000"/>
            </a:avLst>
          </a:prstGeom>
          <a:solidFill>
            <a:srgbClr val="FF6B00"/>
          </a:solidFill>
        </p:spPr>
        <p:txBody>
          <a:bodyPr/>
          <a:lstStyle/>
          <a:p>
            <a:endParaRPr lang="en-US"/>
          </a:p>
        </p:txBody>
      </p:sp>
      <p:sp>
        <p:nvSpPr>
          <p:cNvPr id="13" name="S5"/>
          <p:cNvSpPr/>
          <p:nvPr/>
        </p:nvSpPr>
        <p:spPr>
          <a:xfrm>
            <a:off x="4900000" y="4938308"/>
            <a:ext cx="4380000" cy="850000"/>
          </a:xfrm>
          <a:prstGeom prst="roundRect">
            <a:avLst>
              <a:gd name="adj" fmla="val 16667"/>
            </a:avLst>
          </a:prstGeom>
          <a:solidFill>
            <a:srgbClr val="8DE971">
              <a:alpha val="25000"/>
            </a:srgbClr>
          </a:solidFill>
          <a:ln w="25400">
            <a:solidFill>
              <a:srgbClr val="8DE971"/>
            </a:solidFill>
          </a:ln>
        </p:spPr>
        <p:txBody>
          <a:bodyPr wrap="square" lIns="91440" tIns="45720" rIns="91440" bIns="45720" anchor="ctr"/>
          <a:lstStyle/>
          <a:p>
            <a:pPr algn="ctr"/>
            <a:r>
              <a:rPr lang="en-US" sz="1100" b="1">
                <a:solidFill>
                  <a:srgbClr val="8DE971"/>
                </a:solidFill>
              </a:rPr>
              <a:t>5 </a:t>
            </a:r>
            <a:br>
              <a:rPr lang="en-US" sz="1100" b="1">
                <a:solidFill>
                  <a:srgbClr val="8DE971"/>
                </a:solidFill>
              </a:rPr>
            </a:br>
            <a:r>
              <a:rPr lang="en-US" sz="1100">
                <a:solidFill>
                  <a:srgbClr val="FFFFFF"/>
                </a:solidFill>
              </a:rPr>
              <a:t>Emails completed form to insurance</a:t>
            </a:r>
          </a:p>
          <a:p>
            <a:pPr algn="ctr"/>
            <a:r>
              <a:rPr lang="en-US" sz="1100">
                <a:solidFill>
                  <a:srgbClr val="FFFFFF"/>
                </a:solidFill>
              </a:rPr>
              <a:t> fully autonomous, end-to-end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inal_vid">
            <a:hlinkClick r:id="" action="ppaction://media"/>
            <a:extLst>
              <a:ext uri="{FF2B5EF4-FFF2-40B4-BE49-F238E27FC236}">
                <a16:creationId xmlns:a16="http://schemas.microsoft.com/office/drawing/2014/main" id="{72D72674-7A6B-6B30-5080-1D511D5E239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191" y="1191"/>
            <a:ext cx="12212240" cy="6867524"/>
          </a:xfrm>
          <a:prstGeom prst="rect">
            <a:avLst/>
          </a:prstGeom>
        </p:spPr>
      </p:pic>
    </p:spTree>
    <p:extLst>
      <p:ext uri="{BB962C8B-B14F-4D97-AF65-F5344CB8AC3E}">
        <p14:creationId xmlns:p14="http://schemas.microsoft.com/office/powerpoint/2010/main" val="37799219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319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Key Takeaways</a:t>
            </a:r>
          </a:p>
        </p:txBody>
      </p:sp>
      <p:sp>
        <p:nvSpPr>
          <p:cNvPr id="3" name="Sub"/>
          <p:cNvSpPr/>
          <p:nvPr/>
        </p:nvSpPr>
        <p:spPr>
          <a:xfrm>
            <a:off x="457200" y="1080000"/>
            <a:ext cx="11080800" cy="340000"/>
          </a:xfrm>
          <a:prstGeom prst="rect">
            <a:avLst/>
          </a:prstGeom>
          <a:noFill/>
        </p:spPr>
        <p:txBody>
          <a:bodyPr/>
          <a:lstStyle/>
          <a:p>
            <a:pPr algn="l"/>
            <a:r>
              <a:rPr lang="en-US" sz="1200">
                <a:solidFill>
                  <a:srgbClr val="D2D2D2"/>
                </a:solidFill>
              </a:rPr>
              <a:t>Our step-by-step playbook — what worked for us bringing AI to pharmacy and billing operations</a:t>
            </a:r>
          </a:p>
        </p:txBody>
      </p:sp>
      <p:sp>
        <p:nvSpPr>
          <p:cNvPr id="4" name="Num1"/>
          <p:cNvSpPr/>
          <p:nvPr/>
        </p:nvSpPr>
        <p:spPr>
          <a:xfrm>
            <a:off x="457200" y="1860926"/>
            <a:ext cx="600000" cy="600000"/>
          </a:xfrm>
          <a:prstGeom prst="ellipse">
            <a:avLst/>
          </a:prstGeom>
          <a:solidFill>
            <a:srgbClr val="FF6B00"/>
          </a:solidFill>
        </p:spPr>
        <p:txBody>
          <a:bodyPr anchor="ctr"/>
          <a:lstStyle/>
          <a:p>
            <a:pPr algn="ctr"/>
            <a:r>
              <a:rPr lang="en-US" sz="1800" b="1">
                <a:solidFill>
                  <a:srgbClr val="FFFFFF"/>
                </a:solidFill>
              </a:rPr>
              <a:t>1</a:t>
            </a:r>
          </a:p>
        </p:txBody>
      </p:sp>
      <p:sp>
        <p:nvSpPr>
          <p:cNvPr id="5" name="H1"/>
          <p:cNvSpPr/>
          <p:nvPr/>
        </p:nvSpPr>
        <p:spPr>
          <a:xfrm>
            <a:off x="1180000" y="1860926"/>
            <a:ext cx="4800000" cy="600000"/>
          </a:xfrm>
          <a:prstGeom prst="rect">
            <a:avLst/>
          </a:prstGeom>
          <a:noFill/>
        </p:spPr>
        <p:txBody>
          <a:bodyPr anchor="ctr"/>
          <a:lstStyle/>
          <a:p>
            <a:pPr algn="l"/>
            <a:r>
              <a:rPr lang="en-US" sz="1500" b="1">
                <a:solidFill>
                  <a:srgbClr val="FF6B00"/>
                </a:solidFill>
              </a:rPr>
              <a:t>Audit where time is actually going</a:t>
            </a:r>
          </a:p>
        </p:txBody>
      </p:sp>
      <p:sp>
        <p:nvSpPr>
          <p:cNvPr id="6" name="B1"/>
          <p:cNvSpPr/>
          <p:nvPr/>
        </p:nvSpPr>
        <p:spPr>
          <a:xfrm>
            <a:off x="1180000" y="2480926"/>
            <a:ext cx="4800000" cy="500000"/>
          </a:xfrm>
          <a:prstGeom prst="rect">
            <a:avLst/>
          </a:prstGeom>
          <a:noFill/>
        </p:spPr>
        <p:txBody>
          <a:bodyPr wrap="square" lIns="0" tIns="0" rIns="91440" bIns="0"/>
          <a:lstStyle/>
          <a:p>
            <a:pPr algn="l">
              <a:lnSpc>
                <a:spcPts val="1800"/>
              </a:lnSpc>
            </a:pPr>
            <a:r>
              <a:rPr lang="en-US" sz="1150">
                <a:solidFill>
                  <a:srgbClr val="D2D2D2"/>
                </a:solidFill>
              </a:rPr>
              <a:t>We sat with billing ops and pharmacy staff and timed every task. Prior auth took 2 hrs per case. That’s where we started — not where IT told us to.</a:t>
            </a:r>
          </a:p>
        </p:txBody>
      </p:sp>
      <p:sp>
        <p:nvSpPr>
          <p:cNvPr id="7" name="L1"/>
          <p:cNvSpPr/>
          <p:nvPr/>
        </p:nvSpPr>
        <p:spPr>
          <a:xfrm>
            <a:off x="757200" y="2460926"/>
            <a:ext cx="30000" cy="620000"/>
          </a:xfrm>
          <a:prstGeom prst="rect">
            <a:avLst/>
          </a:prstGeom>
          <a:solidFill>
            <a:srgbClr val="FF6B00">
              <a:alpha val="40000"/>
            </a:srgbClr>
          </a:solidFill>
        </p:spPr>
        <p:txBody>
          <a:bodyPr/>
          <a:lstStyle/>
          <a:p>
            <a:endParaRPr lang="en-US"/>
          </a:p>
        </p:txBody>
      </p:sp>
      <p:sp>
        <p:nvSpPr>
          <p:cNvPr id="8" name="C1"/>
          <p:cNvSpPr/>
          <p:nvPr/>
        </p:nvSpPr>
        <p:spPr>
          <a:xfrm>
            <a:off x="6300000" y="1860926"/>
            <a:ext cx="5200000" cy="1120000"/>
          </a:xfrm>
          <a:prstGeom prst="roundRect">
            <a:avLst>
              <a:gd name="adj" fmla="val 8000"/>
            </a:avLst>
          </a:prstGeom>
          <a:solidFill>
            <a:srgbClr val="FF6B00">
              <a:alpha val="15000"/>
            </a:srgbClr>
          </a:solidFill>
          <a:ln w="19050">
            <a:solidFill>
              <a:srgbClr val="FF6B00"/>
            </a:solidFill>
          </a:ln>
        </p:spPr>
        <p:txBody>
          <a:bodyPr wrap="square" lIns="270000" tIns="182880" rIns="182880" bIns="182880" anchor="ctr"/>
          <a:lstStyle/>
          <a:p>
            <a:pPr algn="l"/>
            <a:r>
              <a:rPr lang="en-US" sz="1100" b="1">
                <a:solidFill>
                  <a:srgbClr val="FF6B00"/>
                </a:solidFill>
              </a:rPr>
              <a:t>What to look for:</a:t>
            </a:r>
          </a:p>
          <a:p>
            <a:pPr algn="l">
              <a:lnSpc>
                <a:spcPts val="1700"/>
              </a:lnSpc>
              <a:spcBef>
                <a:spcPts val="150"/>
              </a:spcBef>
            </a:pPr>
            <a:r>
              <a:rPr lang="en-US" sz="1050">
                <a:solidFill>
                  <a:srgbClr val="FFFFFF"/>
                </a:solidFill>
              </a:rPr>
              <a:t>Tasks done the same way every day • Manual copy-paste between systems • “That’s just how we do it here” workflows</a:t>
            </a:r>
          </a:p>
        </p:txBody>
      </p:sp>
      <p:pic>
        <p:nvPicPr>
          <p:cNvPr id="9" name="Ico1"/>
          <p:cNvPicPr>
            <a:picLocks noChangeAspect="1"/>
          </p:cNvPicPr>
          <p:nvPr/>
        </p:nvPicPr>
        <p:blipFill>
          <a:blip r:embed="rId2"/>
          <a:stretch>
            <a:fillRect/>
          </a:stretch>
        </p:blipFill>
        <p:spPr>
          <a:xfrm>
            <a:off x="6350000" y="1930926"/>
            <a:ext cx="280000" cy="280000"/>
          </a:xfrm>
          <a:prstGeom prst="rect">
            <a:avLst/>
          </a:prstGeom>
        </p:spPr>
      </p:pic>
      <p:sp>
        <p:nvSpPr>
          <p:cNvPr id="10" name="Num2"/>
          <p:cNvSpPr/>
          <p:nvPr/>
        </p:nvSpPr>
        <p:spPr>
          <a:xfrm>
            <a:off x="457200" y="3130926"/>
            <a:ext cx="600000" cy="600000"/>
          </a:xfrm>
          <a:prstGeom prst="ellipse">
            <a:avLst/>
          </a:prstGeom>
          <a:solidFill>
            <a:srgbClr val="E91E8C"/>
          </a:solidFill>
        </p:spPr>
        <p:txBody>
          <a:bodyPr anchor="ctr"/>
          <a:lstStyle/>
          <a:p>
            <a:pPr algn="ctr"/>
            <a:r>
              <a:rPr lang="en-US" sz="1800" b="1">
                <a:solidFill>
                  <a:srgbClr val="FFFFFF"/>
                </a:solidFill>
              </a:rPr>
              <a:t>2</a:t>
            </a:r>
          </a:p>
        </p:txBody>
      </p:sp>
      <p:sp>
        <p:nvSpPr>
          <p:cNvPr id="11" name="H2"/>
          <p:cNvSpPr/>
          <p:nvPr/>
        </p:nvSpPr>
        <p:spPr>
          <a:xfrm>
            <a:off x="1180000" y="3130926"/>
            <a:ext cx="4800000" cy="600000"/>
          </a:xfrm>
          <a:prstGeom prst="rect">
            <a:avLst/>
          </a:prstGeom>
          <a:noFill/>
        </p:spPr>
        <p:txBody>
          <a:bodyPr anchor="ctr"/>
          <a:lstStyle/>
          <a:p>
            <a:pPr algn="l"/>
            <a:r>
              <a:rPr lang="en-US" sz="1500" b="1">
                <a:solidFill>
                  <a:srgbClr val="E91E8C"/>
                </a:solidFill>
              </a:rPr>
              <a:t>Engage frontline users before you build</a:t>
            </a:r>
          </a:p>
        </p:txBody>
      </p:sp>
      <p:sp>
        <p:nvSpPr>
          <p:cNvPr id="12" name="B2"/>
          <p:cNvSpPr/>
          <p:nvPr/>
        </p:nvSpPr>
        <p:spPr>
          <a:xfrm>
            <a:off x="1180000" y="3750926"/>
            <a:ext cx="4800000" cy="500000"/>
          </a:xfrm>
          <a:prstGeom prst="rect">
            <a:avLst/>
          </a:prstGeom>
          <a:noFill/>
        </p:spPr>
        <p:txBody>
          <a:bodyPr wrap="square" lIns="0" tIns="0" rIns="91440" bIns="0"/>
          <a:lstStyle/>
          <a:p>
            <a:pPr algn="l">
              <a:lnSpc>
                <a:spcPts val="1800"/>
              </a:lnSpc>
            </a:pPr>
            <a:r>
              <a:rPr lang="en-US" sz="1150">
                <a:solidFill>
                  <a:srgbClr val="D2D2D2"/>
                </a:solidFill>
              </a:rPr>
              <a:t>Billing operators told us what a good answer looks like. Pharmacy staff flagged edge cases we’d never catch in testing. Their input shaped every prompt.</a:t>
            </a:r>
          </a:p>
        </p:txBody>
      </p:sp>
      <p:sp>
        <p:nvSpPr>
          <p:cNvPr id="13" name="L2"/>
          <p:cNvSpPr/>
          <p:nvPr/>
        </p:nvSpPr>
        <p:spPr>
          <a:xfrm>
            <a:off x="757200" y="3730926"/>
            <a:ext cx="30000" cy="620000"/>
          </a:xfrm>
          <a:prstGeom prst="rect">
            <a:avLst/>
          </a:prstGeom>
          <a:solidFill>
            <a:srgbClr val="E91E8C">
              <a:alpha val="40000"/>
            </a:srgbClr>
          </a:solidFill>
        </p:spPr>
        <p:txBody>
          <a:bodyPr/>
          <a:lstStyle/>
          <a:p>
            <a:endParaRPr lang="en-US"/>
          </a:p>
        </p:txBody>
      </p:sp>
      <p:sp>
        <p:nvSpPr>
          <p:cNvPr id="14" name="C2"/>
          <p:cNvSpPr/>
          <p:nvPr/>
        </p:nvSpPr>
        <p:spPr>
          <a:xfrm>
            <a:off x="6300000" y="3130926"/>
            <a:ext cx="5200000" cy="1120000"/>
          </a:xfrm>
          <a:prstGeom prst="roundRect">
            <a:avLst>
              <a:gd name="adj" fmla="val 8000"/>
            </a:avLst>
          </a:prstGeom>
          <a:solidFill>
            <a:srgbClr val="E91E8C">
              <a:alpha val="15000"/>
            </a:srgbClr>
          </a:solidFill>
          <a:ln w="19050">
            <a:solidFill>
              <a:srgbClr val="E91E8C"/>
            </a:solidFill>
          </a:ln>
        </p:spPr>
        <p:txBody>
          <a:bodyPr wrap="square" lIns="270000" tIns="182880" rIns="182880" bIns="182880" anchor="ctr"/>
          <a:lstStyle/>
          <a:p>
            <a:pPr algn="l"/>
            <a:r>
              <a:rPr lang="en-US" sz="1100" b="1">
                <a:solidFill>
                  <a:srgbClr val="E91E8C"/>
                </a:solidFill>
              </a:rPr>
              <a:t>How we did it:</a:t>
            </a:r>
          </a:p>
          <a:p>
            <a:pPr algn="l">
              <a:lnSpc>
                <a:spcPts val="1700"/>
              </a:lnSpc>
              <a:spcBef>
                <a:spcPts val="150"/>
              </a:spcBef>
            </a:pPr>
            <a:r>
              <a:rPr lang="en-US" sz="1050">
                <a:solidFill>
                  <a:srgbClr val="FFFFFF"/>
                </a:solidFill>
              </a:rPr>
              <a:t>Job-shadow sessions with billing team • Prototype review with pharmacy leads • Named internal champions who co-owned rollout</a:t>
            </a:r>
          </a:p>
        </p:txBody>
      </p:sp>
      <p:pic>
        <p:nvPicPr>
          <p:cNvPr id="15" name="Ico2"/>
          <p:cNvPicPr>
            <a:picLocks noChangeAspect="1"/>
          </p:cNvPicPr>
          <p:nvPr/>
        </p:nvPicPr>
        <p:blipFill>
          <a:blip r:embed="rId3"/>
          <a:stretch>
            <a:fillRect/>
          </a:stretch>
        </p:blipFill>
        <p:spPr>
          <a:xfrm>
            <a:off x="6350000" y="3200926"/>
            <a:ext cx="280000" cy="280000"/>
          </a:xfrm>
          <a:prstGeom prst="rect">
            <a:avLst/>
          </a:prstGeom>
        </p:spPr>
      </p:pic>
      <p:sp>
        <p:nvSpPr>
          <p:cNvPr id="16" name="Num3"/>
          <p:cNvSpPr/>
          <p:nvPr/>
        </p:nvSpPr>
        <p:spPr>
          <a:xfrm>
            <a:off x="457200" y="4400926"/>
            <a:ext cx="600000" cy="600000"/>
          </a:xfrm>
          <a:prstGeom prst="ellipse">
            <a:avLst/>
          </a:prstGeom>
          <a:solidFill>
            <a:srgbClr val="0078D4"/>
          </a:solidFill>
        </p:spPr>
        <p:txBody>
          <a:bodyPr anchor="ctr"/>
          <a:lstStyle/>
          <a:p>
            <a:pPr algn="ctr"/>
            <a:r>
              <a:rPr lang="en-US" sz="1800" b="1">
                <a:solidFill>
                  <a:srgbClr val="FFFFFF"/>
                </a:solidFill>
              </a:rPr>
              <a:t>3</a:t>
            </a:r>
          </a:p>
        </p:txBody>
      </p:sp>
      <p:sp>
        <p:nvSpPr>
          <p:cNvPr id="17" name="H3"/>
          <p:cNvSpPr/>
          <p:nvPr/>
        </p:nvSpPr>
        <p:spPr>
          <a:xfrm>
            <a:off x="1180000" y="4400926"/>
            <a:ext cx="4800000" cy="600000"/>
          </a:xfrm>
          <a:prstGeom prst="rect">
            <a:avLst/>
          </a:prstGeom>
          <a:noFill/>
        </p:spPr>
        <p:txBody>
          <a:bodyPr anchor="ctr"/>
          <a:lstStyle/>
          <a:p>
            <a:pPr algn="l"/>
            <a:r>
              <a:rPr lang="en-US" sz="1500" b="1">
                <a:solidFill>
                  <a:srgbClr val="0078D4"/>
                </a:solidFill>
              </a:rPr>
              <a:t>Build role-specific tools — not one size fits all</a:t>
            </a:r>
          </a:p>
        </p:txBody>
      </p:sp>
      <p:sp>
        <p:nvSpPr>
          <p:cNvPr id="18" name="B3"/>
          <p:cNvSpPr/>
          <p:nvPr/>
        </p:nvSpPr>
        <p:spPr>
          <a:xfrm>
            <a:off x="1180000" y="5020926"/>
            <a:ext cx="4800000" cy="480000"/>
          </a:xfrm>
          <a:prstGeom prst="rect">
            <a:avLst/>
          </a:prstGeom>
          <a:noFill/>
        </p:spPr>
        <p:txBody>
          <a:bodyPr wrap="square" lIns="0" tIns="0" rIns="91440" bIns="0"/>
          <a:lstStyle/>
          <a:p>
            <a:pPr algn="l">
              <a:lnSpc>
                <a:spcPts val="1800"/>
              </a:lnSpc>
            </a:pPr>
            <a:r>
              <a:rPr lang="en-US" sz="1150">
                <a:solidFill>
                  <a:srgbClr val="D2D2D2"/>
                </a:solidFill>
              </a:rPr>
              <a:t>Billing operators got the model-driven app + AI agent. Pharmacy staff got the canvas app. Different tools, same platform.</a:t>
            </a:r>
          </a:p>
        </p:txBody>
      </p:sp>
      <p:sp>
        <p:nvSpPr>
          <p:cNvPr id="19" name="C3"/>
          <p:cNvSpPr/>
          <p:nvPr/>
        </p:nvSpPr>
        <p:spPr>
          <a:xfrm>
            <a:off x="6300000" y="4400926"/>
            <a:ext cx="5200000" cy="1100000"/>
          </a:xfrm>
          <a:prstGeom prst="roundRect">
            <a:avLst>
              <a:gd name="adj" fmla="val 8000"/>
            </a:avLst>
          </a:prstGeom>
          <a:solidFill>
            <a:srgbClr val="0078D4">
              <a:alpha val="15000"/>
            </a:srgbClr>
          </a:solidFill>
          <a:ln w="19050">
            <a:solidFill>
              <a:srgbClr val="0078D4"/>
            </a:solidFill>
          </a:ln>
        </p:spPr>
        <p:txBody>
          <a:bodyPr wrap="square" lIns="270000" tIns="182880" rIns="182880" bIns="182880" anchor="ctr"/>
          <a:lstStyle/>
          <a:p>
            <a:pPr algn="l"/>
            <a:r>
              <a:rPr lang="en-US" sz="1100" b="1">
                <a:solidFill>
                  <a:srgbClr val="0078D4"/>
                </a:solidFill>
              </a:rPr>
              <a:t>Adoption tip:</a:t>
            </a:r>
          </a:p>
          <a:p>
            <a:pPr algn="l">
              <a:lnSpc>
                <a:spcPts val="1700"/>
              </a:lnSpc>
              <a:spcBef>
                <a:spcPts val="150"/>
              </a:spcBef>
            </a:pPr>
            <a:r>
              <a:rPr lang="en-US" sz="1050">
                <a:solidFill>
                  <a:srgbClr val="FFFFFF"/>
                </a:solidFill>
              </a:rPr>
              <a:t>Embed the agent inside the app they already use — don’t ask users to switch tabs or learn a new tool. Resistance drops to near zero.</a:t>
            </a:r>
          </a:p>
        </p:txBody>
      </p:sp>
      <p:pic>
        <p:nvPicPr>
          <p:cNvPr id="20" name="Ico3"/>
          <p:cNvPicPr>
            <a:picLocks noChangeAspect="1"/>
          </p:cNvPicPr>
          <p:nvPr/>
        </p:nvPicPr>
        <p:blipFill>
          <a:blip r:embed="rId4"/>
          <a:stretch>
            <a:fillRect/>
          </a:stretch>
        </p:blipFill>
        <p:spPr>
          <a:xfrm>
            <a:off x="6350000" y="4470926"/>
            <a:ext cx="280000" cy="28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Key Takeaways (continued)</a:t>
            </a:r>
          </a:p>
        </p:txBody>
      </p:sp>
      <p:sp>
        <p:nvSpPr>
          <p:cNvPr id="3" name="Sub"/>
          <p:cNvSpPr/>
          <p:nvPr/>
        </p:nvSpPr>
        <p:spPr>
          <a:xfrm>
            <a:off x="457200" y="1080000"/>
            <a:ext cx="11080800" cy="340000"/>
          </a:xfrm>
          <a:prstGeom prst="rect">
            <a:avLst/>
          </a:prstGeom>
          <a:noFill/>
        </p:spPr>
        <p:txBody>
          <a:bodyPr/>
          <a:lstStyle/>
          <a:p>
            <a:pPr algn="l"/>
            <a:r>
              <a:rPr lang="en-US" sz="1200">
                <a:solidFill>
                  <a:srgbClr val="D2D2D2"/>
                </a:solidFill>
              </a:rPr>
              <a:t>Steps 4 &amp; 5 — making AI stick and scaling what works</a:t>
            </a:r>
          </a:p>
        </p:txBody>
      </p:sp>
      <p:sp>
        <p:nvSpPr>
          <p:cNvPr id="4" name="Num4"/>
          <p:cNvSpPr/>
          <p:nvPr/>
        </p:nvSpPr>
        <p:spPr>
          <a:xfrm>
            <a:off x="457200" y="1858000"/>
            <a:ext cx="600000" cy="600000"/>
          </a:xfrm>
          <a:prstGeom prst="ellipse">
            <a:avLst/>
          </a:prstGeom>
          <a:solidFill>
            <a:srgbClr val="8661C5"/>
          </a:solidFill>
        </p:spPr>
        <p:txBody>
          <a:bodyPr anchor="ctr"/>
          <a:lstStyle/>
          <a:p>
            <a:pPr algn="ctr"/>
            <a:r>
              <a:rPr lang="en-US" sz="1800" b="1">
                <a:solidFill>
                  <a:srgbClr val="FFFFFF"/>
                </a:solidFill>
              </a:rPr>
              <a:t>4</a:t>
            </a:r>
          </a:p>
        </p:txBody>
      </p:sp>
      <p:sp>
        <p:nvSpPr>
          <p:cNvPr id="5" name="H4"/>
          <p:cNvSpPr/>
          <p:nvPr/>
        </p:nvSpPr>
        <p:spPr>
          <a:xfrm>
            <a:off x="1180000" y="1858000"/>
            <a:ext cx="4800000" cy="600000"/>
          </a:xfrm>
          <a:prstGeom prst="rect">
            <a:avLst/>
          </a:prstGeom>
          <a:noFill/>
        </p:spPr>
        <p:txBody>
          <a:bodyPr anchor="ctr"/>
          <a:lstStyle/>
          <a:p>
            <a:pPr algn="l"/>
            <a:r>
              <a:rPr lang="en-US" sz="1500" b="1">
                <a:solidFill>
                  <a:srgbClr val="8661C5"/>
                </a:solidFill>
              </a:rPr>
              <a:t>Make adoption a structured process, not an afterthought</a:t>
            </a:r>
          </a:p>
        </p:txBody>
      </p:sp>
      <p:sp>
        <p:nvSpPr>
          <p:cNvPr id="6" name="B4"/>
          <p:cNvSpPr/>
          <p:nvPr/>
        </p:nvSpPr>
        <p:spPr>
          <a:xfrm>
            <a:off x="1180000" y="2478000"/>
            <a:ext cx="4800000" cy="600000"/>
          </a:xfrm>
          <a:prstGeom prst="rect">
            <a:avLst/>
          </a:prstGeom>
          <a:noFill/>
        </p:spPr>
        <p:txBody>
          <a:bodyPr wrap="square" lIns="0" tIns="0" rIns="91440" bIns="0"/>
          <a:lstStyle/>
          <a:p>
            <a:pPr algn="l">
              <a:lnSpc>
                <a:spcPts val="1800"/>
              </a:lnSpc>
            </a:pPr>
            <a:r>
              <a:rPr lang="en-US" sz="1150">
                <a:solidFill>
                  <a:srgbClr val="D2D2D2"/>
                </a:solidFill>
              </a:rPr>
              <a:t>We ran demo sessions, did side-by-side walkthroughs, and measured usage weekly. Adoption didn’t happen by itself — we treated it like a project with milestones.</a:t>
            </a:r>
          </a:p>
        </p:txBody>
      </p:sp>
      <p:sp>
        <p:nvSpPr>
          <p:cNvPr id="7" name="L4"/>
          <p:cNvSpPr/>
          <p:nvPr/>
        </p:nvSpPr>
        <p:spPr>
          <a:xfrm>
            <a:off x="757200" y="2458000"/>
            <a:ext cx="30000" cy="700000"/>
          </a:xfrm>
          <a:prstGeom prst="rect">
            <a:avLst/>
          </a:prstGeom>
          <a:solidFill>
            <a:srgbClr val="8661C5">
              <a:alpha val="40000"/>
            </a:srgbClr>
          </a:solidFill>
        </p:spPr>
        <p:txBody>
          <a:bodyPr/>
          <a:lstStyle/>
          <a:p>
            <a:endParaRPr lang="en-US"/>
          </a:p>
        </p:txBody>
      </p:sp>
      <p:sp>
        <p:nvSpPr>
          <p:cNvPr id="8" name="C4"/>
          <p:cNvSpPr/>
          <p:nvPr/>
        </p:nvSpPr>
        <p:spPr>
          <a:xfrm>
            <a:off x="6300000" y="1858000"/>
            <a:ext cx="5200000" cy="1220000"/>
          </a:xfrm>
          <a:prstGeom prst="roundRect">
            <a:avLst>
              <a:gd name="adj" fmla="val 8000"/>
            </a:avLst>
          </a:prstGeom>
          <a:solidFill>
            <a:srgbClr val="8661C5">
              <a:alpha val="15000"/>
            </a:srgbClr>
          </a:solidFill>
          <a:ln w="19050">
            <a:solidFill>
              <a:srgbClr val="8661C5"/>
            </a:solidFill>
          </a:ln>
        </p:spPr>
        <p:txBody>
          <a:bodyPr wrap="square" lIns="270000" tIns="182880" rIns="182880" bIns="182880" anchor="ctr"/>
          <a:lstStyle/>
          <a:p>
            <a:pPr algn="l"/>
            <a:r>
              <a:rPr lang="en-US" sz="1100" b="1">
                <a:solidFill>
                  <a:srgbClr val="8661C5"/>
                </a:solidFill>
              </a:rPr>
              <a:t>Our adoption milestones:</a:t>
            </a:r>
          </a:p>
          <a:p>
            <a:pPr algn="l">
              <a:lnSpc>
                <a:spcPts val="1700"/>
              </a:lnSpc>
              <a:spcBef>
                <a:spcPts val="150"/>
              </a:spcBef>
            </a:pPr>
            <a:r>
              <a:rPr lang="en-US" sz="1050">
                <a:solidFill>
                  <a:srgbClr val="FFFFFF"/>
                </a:solidFill>
              </a:rPr>
              <a:t>Week 1: Live demo with real claims • Week 2–3: Guided use alongside trainer • Week 4+: Independent use • Month 2: Users request next agent</a:t>
            </a:r>
          </a:p>
        </p:txBody>
      </p:sp>
      <p:pic>
        <p:nvPicPr>
          <p:cNvPr id="9" name="Ico4"/>
          <p:cNvPicPr>
            <a:picLocks noChangeAspect="1"/>
          </p:cNvPicPr>
          <p:nvPr/>
        </p:nvPicPr>
        <p:blipFill>
          <a:blip r:embed="rId2"/>
          <a:stretch>
            <a:fillRect/>
          </a:stretch>
        </p:blipFill>
        <p:spPr>
          <a:xfrm>
            <a:off x="6350000" y="1928000"/>
            <a:ext cx="280000" cy="280000"/>
          </a:xfrm>
          <a:prstGeom prst="rect">
            <a:avLst/>
          </a:prstGeom>
        </p:spPr>
      </p:pic>
      <p:sp>
        <p:nvSpPr>
          <p:cNvPr id="10" name="Num5"/>
          <p:cNvSpPr/>
          <p:nvPr/>
        </p:nvSpPr>
        <p:spPr>
          <a:xfrm>
            <a:off x="457200" y="3428000"/>
            <a:ext cx="600000" cy="600000"/>
          </a:xfrm>
          <a:prstGeom prst="ellipse">
            <a:avLst/>
          </a:prstGeom>
          <a:solidFill>
            <a:srgbClr val="8DE971"/>
          </a:solidFill>
        </p:spPr>
        <p:txBody>
          <a:bodyPr anchor="ctr"/>
          <a:lstStyle/>
          <a:p>
            <a:pPr algn="ctr"/>
            <a:r>
              <a:rPr lang="en-US" sz="1800" b="1">
                <a:solidFill>
                  <a:srgbClr val="091F2C"/>
                </a:solidFill>
              </a:rPr>
              <a:t>5</a:t>
            </a:r>
          </a:p>
        </p:txBody>
      </p:sp>
      <p:sp>
        <p:nvSpPr>
          <p:cNvPr id="11" name="H5"/>
          <p:cNvSpPr/>
          <p:nvPr/>
        </p:nvSpPr>
        <p:spPr>
          <a:xfrm>
            <a:off x="1180000" y="3428000"/>
            <a:ext cx="4800000" cy="600000"/>
          </a:xfrm>
          <a:prstGeom prst="rect">
            <a:avLst/>
          </a:prstGeom>
          <a:noFill/>
        </p:spPr>
        <p:txBody>
          <a:bodyPr anchor="ctr"/>
          <a:lstStyle/>
          <a:p>
            <a:pPr algn="l"/>
            <a:r>
              <a:rPr lang="en-US" sz="1500" b="1">
                <a:solidFill>
                  <a:srgbClr val="8DE971"/>
                </a:solidFill>
              </a:rPr>
              <a:t>Let success pull adoption — show, don’t mandate</a:t>
            </a:r>
          </a:p>
        </p:txBody>
      </p:sp>
      <p:sp>
        <p:nvSpPr>
          <p:cNvPr id="12" name="B5"/>
          <p:cNvSpPr/>
          <p:nvPr/>
        </p:nvSpPr>
        <p:spPr>
          <a:xfrm>
            <a:off x="1180000" y="4048000"/>
            <a:ext cx="4800000" cy="580000"/>
          </a:xfrm>
          <a:prstGeom prst="rect">
            <a:avLst/>
          </a:prstGeom>
          <a:noFill/>
        </p:spPr>
        <p:txBody>
          <a:bodyPr wrap="square" lIns="0" tIns="0" rIns="91440" bIns="0"/>
          <a:lstStyle/>
          <a:p>
            <a:pPr algn="l">
              <a:lnSpc>
                <a:spcPts val="1800"/>
              </a:lnSpc>
            </a:pPr>
            <a:r>
              <a:rPr lang="en-US" sz="1150">
                <a:solidFill>
                  <a:srgbClr val="D2D2D2"/>
                </a:solidFill>
              </a:rPr>
              <a:t>After prior auth went live, pharmacy staff asked ‘can it do eligibility checks too?’ We never had to sell the next agent. Word spread. Build something undeniably useful and adoption follows.</a:t>
            </a:r>
          </a:p>
        </p:txBody>
      </p:sp>
      <p:sp>
        <p:nvSpPr>
          <p:cNvPr id="13" name="C5"/>
          <p:cNvSpPr/>
          <p:nvPr/>
        </p:nvSpPr>
        <p:spPr>
          <a:xfrm>
            <a:off x="6300000" y="3428000"/>
            <a:ext cx="5200000" cy="1200000"/>
          </a:xfrm>
          <a:prstGeom prst="roundRect">
            <a:avLst>
              <a:gd name="adj" fmla="val 8000"/>
            </a:avLst>
          </a:prstGeom>
          <a:solidFill>
            <a:srgbClr val="8DE971">
              <a:alpha val="15000"/>
            </a:srgbClr>
          </a:solidFill>
          <a:ln w="19050">
            <a:solidFill>
              <a:srgbClr val="8DE971"/>
            </a:solidFill>
          </a:ln>
        </p:spPr>
        <p:txBody>
          <a:bodyPr wrap="square" lIns="270000" tIns="182880" rIns="182880" bIns="182880" anchor="ctr"/>
          <a:lstStyle/>
          <a:p>
            <a:pPr algn="l"/>
            <a:r>
              <a:rPr lang="en-US" sz="1100" b="1">
                <a:solidFill>
                  <a:srgbClr val="8DE971"/>
                </a:solidFill>
              </a:rPr>
              <a:t>The AI team’s ongoing job:</a:t>
            </a:r>
          </a:p>
          <a:p>
            <a:pPr algn="l">
              <a:lnSpc>
                <a:spcPts val="1700"/>
              </a:lnSpc>
              <a:spcBef>
                <a:spcPts val="150"/>
              </a:spcBef>
            </a:pPr>
            <a:r>
              <a:rPr lang="en-US" sz="1050">
                <a:solidFill>
                  <a:srgbClr val="FFFFFF"/>
                </a:solidFill>
              </a:rPr>
              <a:t>Monthly prompt reviews with users • Track agent usage + error rates • Discover next automation target • Never stop asking “what’s still painful?”</a:t>
            </a:r>
          </a:p>
        </p:txBody>
      </p:sp>
      <p:pic>
        <p:nvPicPr>
          <p:cNvPr id="14" name="Ico5"/>
          <p:cNvPicPr>
            <a:picLocks noChangeAspect="1"/>
          </p:cNvPicPr>
          <p:nvPr/>
        </p:nvPicPr>
        <p:blipFill>
          <a:blip r:embed="rId3"/>
          <a:stretch>
            <a:fillRect/>
          </a:stretch>
        </p:blipFill>
        <p:spPr>
          <a:xfrm>
            <a:off x="6350000" y="3498000"/>
            <a:ext cx="280000" cy="280000"/>
          </a:xfrm>
          <a:prstGeom prst="rect">
            <a:avLst/>
          </a:prstGeom>
        </p:spPr>
      </p:pic>
      <p:sp>
        <p:nvSpPr>
          <p:cNvPr id="15" name="Summary"/>
          <p:cNvSpPr/>
          <p:nvPr/>
        </p:nvSpPr>
        <p:spPr>
          <a:xfrm>
            <a:off x="457200" y="5228000"/>
            <a:ext cx="11080800" cy="550000"/>
          </a:xfrm>
          <a:prstGeom prst="roundRect">
            <a:avLst>
              <a:gd name="adj" fmla="val 6000"/>
            </a:avLst>
          </a:prstGeom>
          <a:solidFill>
            <a:srgbClr val="FF6B00">
              <a:alpha val="20000"/>
            </a:srgbClr>
          </a:solidFill>
          <a:ln w="19050">
            <a:solidFill>
              <a:srgbClr val="FF6B00"/>
            </a:solidFill>
          </a:ln>
        </p:spPr>
        <p:txBody>
          <a:bodyPr anchor="ctr"/>
          <a:lstStyle/>
          <a:p>
            <a:pPr algn="ctr"/>
            <a:r>
              <a:rPr lang="en-US" sz="1200" b="1">
                <a:solidFill>
                  <a:srgbClr val="FFFFFF"/>
                </a:solidFill>
              </a:rPr>
              <a:t>Audit → Engage Users → Build Role-Specific Tools → Drive Adoption → Let Results Pull the Next Wave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A2E7B-ECAC-BB5D-D0A5-6776FECB9C8F}"/>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DBBC1E48-B825-AE07-E4BF-E94C07E51E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8544" y="4687472"/>
            <a:ext cx="1454909" cy="1454909"/>
          </a:xfrm>
          <a:prstGeom prst="rect">
            <a:avLst/>
          </a:prstGeom>
        </p:spPr>
      </p:pic>
      <p:pic>
        <p:nvPicPr>
          <p:cNvPr id="14" name="Picture Placeholder 13">
            <a:extLst>
              <a:ext uri="{FF2B5EF4-FFF2-40B4-BE49-F238E27FC236}">
                <a16:creationId xmlns:a16="http://schemas.microsoft.com/office/drawing/2014/main" id="{C75540B2-B6F4-2FFE-30A5-2CF6A92D0D21}"/>
              </a:ext>
            </a:extLst>
          </p:cNvPr>
          <p:cNvPicPr>
            <a:picLocks noGrp="1" noChangeAspect="1"/>
          </p:cNvPicPr>
          <p:nvPr>
            <p:ph type="pic" sz="quarter" idx="11"/>
          </p:nvPr>
        </p:nvPicPr>
        <p:blipFill>
          <a:blip r:embed="rId3"/>
          <a:srcRect l="409" r="409"/>
          <a:stretch>
            <a:fillRect/>
          </a:stretch>
        </p:blipFill>
        <p:spPr>
          <a:prstGeom prst="rect">
            <a:avLst/>
          </a:prstGeom>
        </p:spPr>
      </p:pic>
      <p:sp>
        <p:nvSpPr>
          <p:cNvPr id="10" name="Text Placeholder 9">
            <a:extLst>
              <a:ext uri="{FF2B5EF4-FFF2-40B4-BE49-F238E27FC236}">
                <a16:creationId xmlns:a16="http://schemas.microsoft.com/office/drawing/2014/main" id="{6E87D406-36C9-5B6C-9B68-0B5793F8F414}"/>
              </a:ext>
            </a:extLst>
          </p:cNvPr>
          <p:cNvSpPr>
            <a:spLocks noGrp="1"/>
          </p:cNvSpPr>
          <p:nvPr>
            <p:ph type="body" sz="quarter" idx="14"/>
          </p:nvPr>
        </p:nvSpPr>
        <p:spPr>
          <a:xfrm>
            <a:off x="4151836" y="4162918"/>
            <a:ext cx="3888328" cy="369332"/>
          </a:xfrm>
        </p:spPr>
        <p:txBody>
          <a:bodyPr/>
          <a:lstStyle/>
          <a:p>
            <a:r>
              <a:rPr lang="en-US" b="0" spc="-50">
                <a:ln w="3175">
                  <a:noFill/>
                </a:ln>
                <a:solidFill>
                  <a:srgbClr val="FFFFFF"/>
                </a:solidFill>
                <a:latin typeface="Segoe Sans Display Semibold"/>
                <a:cs typeface="Segoe Sans Display Semibold"/>
              </a:rPr>
              <a:t>Kaushik S</a:t>
            </a:r>
            <a:endParaRPr lang="en-US" b="0" spc="-50">
              <a:ln w="3175">
                <a:noFill/>
              </a:ln>
              <a:solidFill>
                <a:srgbClr val="FFFFFF"/>
              </a:solidFill>
              <a:latin typeface="Segoe Sans Display Semibold"/>
            </a:endParaRPr>
          </a:p>
        </p:txBody>
      </p:sp>
      <p:sp>
        <p:nvSpPr>
          <p:cNvPr id="11" name="Text Placeholder 10">
            <a:extLst>
              <a:ext uri="{FF2B5EF4-FFF2-40B4-BE49-F238E27FC236}">
                <a16:creationId xmlns:a16="http://schemas.microsoft.com/office/drawing/2014/main" id="{3C8A6D29-2A10-4187-5B74-FF4E4ACF8A27}"/>
              </a:ext>
            </a:extLst>
          </p:cNvPr>
          <p:cNvSpPr>
            <a:spLocks noGrp="1"/>
          </p:cNvSpPr>
          <p:nvPr>
            <p:ph type="body" sz="quarter" idx="15"/>
          </p:nvPr>
        </p:nvSpPr>
        <p:spPr>
          <a:xfrm>
            <a:off x="4151836" y="4564362"/>
            <a:ext cx="3888328" cy="246221"/>
          </a:xfrm>
        </p:spPr>
        <p:txBody>
          <a:bodyPr/>
          <a:lstStyle/>
          <a:p>
            <a:r>
              <a:rPr lang="en-US">
                <a:solidFill>
                  <a:srgbClr val="091F2C">
                    <a:lumMod val="10000"/>
                    <a:lumOff val="90000"/>
                  </a:srgbClr>
                </a:solidFill>
                <a:latin typeface="Segoe UI" panose="020B0502040204020203" pitchFamily="34" charset="0"/>
              </a:rPr>
              <a:t>Manager, Intelligent Automation</a:t>
            </a:r>
          </a:p>
        </p:txBody>
      </p:sp>
      <p:sp>
        <p:nvSpPr>
          <p:cNvPr id="12" name="Title 1">
            <a:extLst>
              <a:ext uri="{FF2B5EF4-FFF2-40B4-BE49-F238E27FC236}">
                <a16:creationId xmlns:a16="http://schemas.microsoft.com/office/drawing/2014/main" id="{2145C770-1D0B-CC67-67E6-2068071AE026}"/>
              </a:ext>
            </a:extLst>
          </p:cNvPr>
          <p:cNvSpPr txBox="1">
            <a:spLocks/>
          </p:cNvSpPr>
          <p:nvPr/>
        </p:nvSpPr>
        <p:spPr>
          <a:xfrm>
            <a:off x="810706" y="390956"/>
            <a:ext cx="5384800" cy="55403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r>
              <a:rPr lang="en-US">
                <a:cs typeface="Segoe Sans Display Semibold"/>
              </a:rPr>
              <a:t>Speakers</a:t>
            </a:r>
            <a:endParaRPr lang="en-US"/>
          </a:p>
        </p:txBody>
      </p:sp>
    </p:spTree>
    <p:extLst>
      <p:ext uri="{BB962C8B-B14F-4D97-AF65-F5344CB8AC3E}">
        <p14:creationId xmlns:p14="http://schemas.microsoft.com/office/powerpoint/2010/main" val="358254739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pic>
        <p:nvPicPr>
          <p:cNvPr id="12" name="Graphic 11">
            <a:extLst>
              <a:ext uri="{FF2B5EF4-FFF2-40B4-BE49-F238E27FC236}">
                <a16:creationId xmlns:a16="http://schemas.microsoft.com/office/drawing/2014/main" id="{7A2452D6-09F4-D2D3-FCD9-92BE427C754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5400000" flipH="1" flipV="1">
            <a:off x="10364516" y="5030450"/>
            <a:ext cx="1720757" cy="1934212"/>
          </a:xfrm>
          <a:prstGeom prst="rect">
            <a:avLst/>
          </a:prstGeom>
        </p:spPr>
      </p:pic>
      <p:sp>
        <p:nvSpPr>
          <p:cNvPr id="3" name="Rectangle 2">
            <a:extLst>
              <a:ext uri="{FF2B5EF4-FFF2-40B4-BE49-F238E27FC236}">
                <a16:creationId xmlns:a16="http://schemas.microsoft.com/office/drawing/2014/main" id="{6B826A8B-D445-F886-7223-4BA9142140DD}"/>
              </a:ext>
            </a:extLst>
          </p:cNvPr>
          <p:cNvSpPr/>
          <p:nvPr/>
        </p:nvSpPr>
        <p:spPr>
          <a:xfrm>
            <a:off x="4156535" y="2002595"/>
            <a:ext cx="3874688" cy="2636619"/>
          </a:xfrm>
          <a:prstGeom prst="rect">
            <a:avLst/>
          </a:prstGeom>
          <a:solidFill>
            <a:srgbClr val="E3EE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91906238-0DA0-A558-5A34-2B76928D96D0}"/>
              </a:ext>
            </a:extLst>
          </p:cNvPr>
          <p:cNvGrpSpPr/>
          <p:nvPr/>
        </p:nvGrpSpPr>
        <p:grpSpPr>
          <a:xfrm>
            <a:off x="4290185" y="214354"/>
            <a:ext cx="3732893" cy="4212169"/>
            <a:chOff x="523823" y="820162"/>
            <a:chExt cx="3732893" cy="4212169"/>
          </a:xfrm>
        </p:grpSpPr>
        <p:pic>
          <p:nvPicPr>
            <p:cNvPr id="8" name="Picture 7">
              <a:extLst>
                <a:ext uri="{FF2B5EF4-FFF2-40B4-BE49-F238E27FC236}">
                  <a16:creationId xmlns:a16="http://schemas.microsoft.com/office/drawing/2014/main" id="{CE53D5D9-E201-FD2D-1342-54A141B714D0}"/>
                </a:ext>
              </a:extLst>
            </p:cNvPr>
            <p:cNvPicPr>
              <a:picLocks noChangeAspect="1"/>
            </p:cNvPicPr>
            <p:nvPr/>
          </p:nvPicPr>
          <p:blipFill>
            <a:blip r:embed="rId3"/>
            <a:stretch>
              <a:fillRect/>
            </a:stretch>
          </p:blipFill>
          <p:spPr>
            <a:xfrm>
              <a:off x="1545112" y="820162"/>
              <a:ext cx="1493714" cy="1202787"/>
            </a:xfrm>
            <a:prstGeom prst="rect">
              <a:avLst/>
            </a:prstGeom>
          </p:spPr>
        </p:pic>
        <p:sp>
          <p:nvSpPr>
            <p:cNvPr id="9" name="TextBox 8">
              <a:extLst>
                <a:ext uri="{FF2B5EF4-FFF2-40B4-BE49-F238E27FC236}">
                  <a16:creationId xmlns:a16="http://schemas.microsoft.com/office/drawing/2014/main" id="{280C8893-44B1-F7CE-0983-2F283754ED07}"/>
                </a:ext>
              </a:extLst>
            </p:cNvPr>
            <p:cNvSpPr txBox="1"/>
            <p:nvPr/>
          </p:nvSpPr>
          <p:spPr>
            <a:xfrm>
              <a:off x="765936" y="1917809"/>
              <a:ext cx="3052066" cy="646331"/>
            </a:xfrm>
            <a:prstGeom prst="rect">
              <a:avLst/>
            </a:prstGeom>
            <a:noFill/>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all" spc="0" normalizeH="0" baseline="0" noProof="0">
                  <a:ln>
                    <a:noFill/>
                  </a:ln>
                  <a:solidFill>
                    <a:srgbClr val="003896"/>
                  </a:solidFill>
                  <a:effectLst/>
                  <a:uLnTx/>
                  <a:uFillTx/>
                  <a:latin typeface="Poppins" panose="00000500000000000000" pitchFamily="2" charset="0"/>
                  <a:ea typeface="+mn-ea"/>
                  <a:cs typeface="Poppins" panose="00000500000000000000" pitchFamily="2" charset="0"/>
                </a:rPr>
                <a:t>Working together for </a:t>
              </a:r>
              <a:r>
                <a:rPr kumimoji="0" lang="en-US" sz="1800" b="1" i="0" u="none" strike="noStrike" kern="1200" cap="all" spc="51" normalizeH="0" baseline="0" noProof="0">
                  <a:ln>
                    <a:noFill/>
                  </a:ln>
                  <a:solidFill>
                    <a:srgbClr val="DD751E"/>
                  </a:solidFill>
                  <a:effectLst/>
                  <a:uLnTx/>
                  <a:uFillTx/>
                  <a:latin typeface="Poppins" panose="00000500000000000000" pitchFamily="2" charset="0"/>
                  <a:ea typeface="+mn-ea"/>
                  <a:cs typeface="Poppins" panose="00000500000000000000" pitchFamily="2" charset="0"/>
                </a:rPr>
                <a:t>better outcomes</a:t>
              </a:r>
            </a:p>
          </p:txBody>
        </p:sp>
        <p:sp>
          <p:nvSpPr>
            <p:cNvPr id="10" name="TextBox 9">
              <a:extLst>
                <a:ext uri="{FF2B5EF4-FFF2-40B4-BE49-F238E27FC236}">
                  <a16:creationId xmlns:a16="http://schemas.microsoft.com/office/drawing/2014/main" id="{6D9C5FB4-00BC-E2AA-25CD-D874732A1D76}"/>
                </a:ext>
              </a:extLst>
            </p:cNvPr>
            <p:cNvSpPr txBox="1"/>
            <p:nvPr/>
          </p:nvSpPr>
          <p:spPr>
            <a:xfrm>
              <a:off x="523823" y="2766261"/>
              <a:ext cx="3732893" cy="2266070"/>
            </a:xfrm>
            <a:prstGeom prst="rect">
              <a:avLst/>
            </a:prstGeom>
            <a:noFill/>
          </p:spPr>
          <p:txBody>
            <a:bodyPr wrap="square">
              <a:spAutoFit/>
            </a:bodyPr>
            <a:lstStyle/>
            <a:p>
              <a:pPr marL="0" marR="0" lvl="0" indent="0" algn="l" defTabSz="914400" rtl="0" eaLnBrk="1" fontAlgn="base" latinLnBrk="0" hangingPunct="1">
                <a:lnSpc>
                  <a:spcPts val="1800"/>
                </a:lnSpc>
                <a:spcBef>
                  <a:spcPts val="0"/>
                </a:spcBef>
                <a:spcAft>
                  <a:spcPts val="0"/>
                </a:spcAft>
                <a:buClrTx/>
                <a:buSzTx/>
                <a:buFontTx/>
                <a:buNone/>
                <a:tabLst/>
                <a:defRPr/>
              </a:pPr>
              <a:r>
                <a:rPr kumimoji="0" lang="en-US" sz="1300" b="0" i="0" u="none" strike="noStrike" kern="1200" cap="none" spc="0" normalizeH="0" baseline="0" noProof="0">
                  <a:ln>
                    <a:noFill/>
                  </a:ln>
                  <a:solidFill>
                    <a:srgbClr val="44546A"/>
                  </a:solidFill>
                  <a:effectLst/>
                  <a:uLnTx/>
                  <a:uFillTx/>
                  <a:latin typeface="Poppins" panose="00000500000000000000" pitchFamily="2" charset="0"/>
                  <a:ea typeface="+mn-ea"/>
                  <a:cs typeface="Poppins" panose="00000500000000000000" pitchFamily="2" charset="0"/>
                </a:rPr>
                <a:t>Afni is a privately-held customer engagement company established in 1936, committed to building long-term partnerships rooted in trust and results.</a:t>
              </a:r>
              <a:r>
                <a:rPr kumimoji="0" lang="en-US" sz="1300" b="0" i="0" u="none" strike="noStrike" kern="1200" cap="none" spc="0" normalizeH="0" baseline="0" noProof="0">
                  <a:ln>
                    <a:noFill/>
                  </a:ln>
                  <a:solidFill>
                    <a:srgbClr val="404040"/>
                  </a:solidFill>
                  <a:effectLst/>
                  <a:uLnTx/>
                  <a:uFillTx/>
                  <a:latin typeface="Poppins" panose="00000500000000000000" pitchFamily="2" charset="0"/>
                  <a:ea typeface="+mn-ea"/>
                  <a:cs typeface="Poppins" panose="00000500000000000000" pitchFamily="2" charset="0"/>
                </a:rPr>
                <a:t> </a:t>
              </a:r>
              <a:r>
                <a:rPr kumimoji="0" lang="en-US" sz="1300"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rPr>
                <a:t>​</a:t>
              </a:r>
            </a:p>
            <a:p>
              <a:pPr marL="0" marR="0" lvl="0" indent="0" algn="l" defTabSz="914400" rtl="0" eaLnBrk="1" fontAlgn="base" latinLnBrk="0" hangingPunct="1">
                <a:lnSpc>
                  <a:spcPts val="18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rPr>
                <a:t>​</a:t>
              </a:r>
            </a:p>
            <a:p>
              <a:pPr marL="0" marR="0" lvl="0" indent="0" algn="l" defTabSz="914400" rtl="0" eaLnBrk="1" fontAlgn="base" latinLnBrk="0" hangingPunct="1">
                <a:lnSpc>
                  <a:spcPts val="1575"/>
                </a:lnSpc>
                <a:spcBef>
                  <a:spcPts val="0"/>
                </a:spcBef>
                <a:spcAft>
                  <a:spcPts val="0"/>
                </a:spcAft>
                <a:buClrTx/>
                <a:buSzTx/>
                <a:buFontTx/>
                <a:buNone/>
                <a:tabLst/>
                <a:defRPr/>
              </a:pPr>
              <a:r>
                <a:rPr kumimoji="0" lang="en-US" sz="1300" b="0" i="0" u="none" strike="noStrike" kern="1200" cap="none" spc="0" normalizeH="0" baseline="0" noProof="0">
                  <a:ln>
                    <a:noFill/>
                  </a:ln>
                  <a:solidFill>
                    <a:srgbClr val="44546A"/>
                  </a:solidFill>
                  <a:effectLst/>
                  <a:uLnTx/>
                  <a:uFillTx/>
                  <a:latin typeface="Poppins" panose="00000500000000000000" pitchFamily="2" charset="0"/>
                  <a:ea typeface="+mn-ea"/>
                  <a:cs typeface="Poppins" panose="00000500000000000000" pitchFamily="2" charset="0"/>
                </a:rPr>
                <a:t>Our performance, innovation, relationship-based partnership combined with stability of our leadership, position us as a recognized leader among customer experience contact center partners. </a:t>
              </a:r>
              <a:r>
                <a:rPr kumimoji="0" lang="en-US" sz="1300"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rPr>
                <a:t>​</a:t>
              </a:r>
            </a:p>
          </p:txBody>
        </p:sp>
      </p:grpSp>
      <p:sp>
        <p:nvSpPr>
          <p:cNvPr id="11" name="TextBox 10">
            <a:extLst>
              <a:ext uri="{FF2B5EF4-FFF2-40B4-BE49-F238E27FC236}">
                <a16:creationId xmlns:a16="http://schemas.microsoft.com/office/drawing/2014/main" id="{638C68DD-4DE2-7790-DF86-BC7AD66CFFA0}"/>
              </a:ext>
            </a:extLst>
          </p:cNvPr>
          <p:cNvSpPr txBox="1"/>
          <p:nvPr/>
        </p:nvSpPr>
        <p:spPr>
          <a:xfrm>
            <a:off x="8555308" y="1027555"/>
            <a:ext cx="1828800" cy="338554"/>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3896"/>
                </a:solidFill>
                <a:effectLst/>
                <a:uLnTx/>
                <a:uFillTx/>
                <a:latin typeface="Poppins" panose="00000500000000000000" pitchFamily="2" charset="0"/>
                <a:ea typeface="+mn-ea"/>
                <a:cs typeface="Poppins" panose="00000500000000000000" pitchFamily="2" charset="0"/>
              </a:rPr>
              <a:t>LEADER TENURE</a:t>
            </a:r>
          </a:p>
        </p:txBody>
      </p:sp>
      <p:sp>
        <p:nvSpPr>
          <p:cNvPr id="13" name="Rectangle 12">
            <a:extLst>
              <a:ext uri="{FF2B5EF4-FFF2-40B4-BE49-F238E27FC236}">
                <a16:creationId xmlns:a16="http://schemas.microsoft.com/office/drawing/2014/main" id="{D5473C05-0EAA-E92B-5310-36757AD2FE2B}"/>
              </a:ext>
            </a:extLst>
          </p:cNvPr>
          <p:cNvSpPr/>
          <p:nvPr/>
        </p:nvSpPr>
        <p:spPr>
          <a:xfrm>
            <a:off x="10302474" y="1027555"/>
            <a:ext cx="1350629" cy="269063"/>
          </a:xfrm>
          <a:prstGeom prst="rect">
            <a:avLst/>
          </a:prstGeom>
          <a:solidFill>
            <a:srgbClr val="007C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F5072805-2C10-E8A6-FD7F-FAA77B066E9B}"/>
              </a:ext>
            </a:extLst>
          </p:cNvPr>
          <p:cNvSpPr txBox="1"/>
          <p:nvPr/>
        </p:nvSpPr>
        <p:spPr>
          <a:xfrm>
            <a:off x="8555308" y="3609519"/>
            <a:ext cx="1828800" cy="338554"/>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3896"/>
                </a:solidFill>
                <a:effectLst/>
                <a:uLnTx/>
                <a:uFillTx/>
                <a:latin typeface="Poppins" panose="00000500000000000000" pitchFamily="2" charset="0"/>
                <a:ea typeface="+mn-ea"/>
                <a:cs typeface="Poppins" panose="00000500000000000000" pitchFamily="2" charset="0"/>
              </a:rPr>
              <a:t>SECURITY</a:t>
            </a:r>
          </a:p>
        </p:txBody>
      </p:sp>
      <p:sp>
        <p:nvSpPr>
          <p:cNvPr id="15" name="Rectangle 14">
            <a:extLst>
              <a:ext uri="{FF2B5EF4-FFF2-40B4-BE49-F238E27FC236}">
                <a16:creationId xmlns:a16="http://schemas.microsoft.com/office/drawing/2014/main" id="{C8B14217-FB7E-B581-3381-F5E25160E3B8}"/>
              </a:ext>
            </a:extLst>
          </p:cNvPr>
          <p:cNvSpPr/>
          <p:nvPr/>
        </p:nvSpPr>
        <p:spPr>
          <a:xfrm>
            <a:off x="9747980" y="3599995"/>
            <a:ext cx="1350629" cy="269063"/>
          </a:xfrm>
          <a:prstGeom prst="rect">
            <a:avLst/>
          </a:prstGeom>
          <a:solidFill>
            <a:srgbClr val="007C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C80DBF62-A1D1-6392-53B6-844D52DD1AB7}"/>
              </a:ext>
            </a:extLst>
          </p:cNvPr>
          <p:cNvSpPr txBox="1"/>
          <p:nvPr/>
        </p:nvSpPr>
        <p:spPr>
          <a:xfrm>
            <a:off x="153781" y="1012434"/>
            <a:ext cx="1937092" cy="338554"/>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3896"/>
                </a:solidFill>
                <a:effectLst/>
                <a:uLnTx/>
                <a:uFillTx/>
                <a:latin typeface="Poppins" panose="00000500000000000000" pitchFamily="2" charset="0"/>
                <a:ea typeface="+mn-ea"/>
                <a:cs typeface="Poppins" panose="00000500000000000000" pitchFamily="2" charset="0"/>
              </a:rPr>
              <a:t>OUR SOLUTIONS</a:t>
            </a:r>
          </a:p>
        </p:txBody>
      </p:sp>
      <p:sp>
        <p:nvSpPr>
          <p:cNvPr id="17" name="TextBox 16">
            <a:extLst>
              <a:ext uri="{FF2B5EF4-FFF2-40B4-BE49-F238E27FC236}">
                <a16:creationId xmlns:a16="http://schemas.microsoft.com/office/drawing/2014/main" id="{2163AA4C-A7DE-C476-390B-E35E0159420A}"/>
              </a:ext>
            </a:extLst>
          </p:cNvPr>
          <p:cNvSpPr txBox="1"/>
          <p:nvPr/>
        </p:nvSpPr>
        <p:spPr>
          <a:xfrm>
            <a:off x="153782" y="1387133"/>
            <a:ext cx="3271788" cy="430887"/>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lumMod val="75000"/>
                    <a:lumOff val="25000"/>
                  </a:prstClr>
                </a:solidFill>
                <a:effectLst/>
                <a:uLnTx/>
                <a:uFillTx/>
                <a:latin typeface="Poppins" panose="00000500000000000000" pitchFamily="2" charset="0"/>
                <a:ea typeface="+mn-ea"/>
                <a:cs typeface="Poppins" panose="00000500000000000000" pitchFamily="2" charset="0"/>
              </a:rPr>
              <a:t>We deliver comprehensive customer lifecycle engagement solutions.</a:t>
            </a:r>
          </a:p>
        </p:txBody>
      </p:sp>
      <p:sp>
        <p:nvSpPr>
          <p:cNvPr id="18" name="Rectangle 17">
            <a:extLst>
              <a:ext uri="{FF2B5EF4-FFF2-40B4-BE49-F238E27FC236}">
                <a16:creationId xmlns:a16="http://schemas.microsoft.com/office/drawing/2014/main" id="{B9BDB2D0-48F8-605D-A6BF-C374BB98EBD1}"/>
              </a:ext>
            </a:extLst>
          </p:cNvPr>
          <p:cNvSpPr/>
          <p:nvPr/>
        </p:nvSpPr>
        <p:spPr>
          <a:xfrm>
            <a:off x="1994962" y="994618"/>
            <a:ext cx="1430607" cy="283661"/>
          </a:xfrm>
          <a:prstGeom prst="rect">
            <a:avLst/>
          </a:prstGeom>
          <a:solidFill>
            <a:srgbClr val="007C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57410FA5-6C6A-229F-EBFF-9015131EEA2B}"/>
              </a:ext>
            </a:extLst>
          </p:cNvPr>
          <p:cNvSpPr txBox="1"/>
          <p:nvPr/>
        </p:nvSpPr>
        <p:spPr>
          <a:xfrm>
            <a:off x="155944" y="5309029"/>
            <a:ext cx="2961315" cy="338554"/>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3896"/>
                </a:solidFill>
                <a:effectLst/>
                <a:uLnTx/>
                <a:uFillTx/>
                <a:latin typeface="Poppins" panose="00000500000000000000" pitchFamily="2" charset="0"/>
                <a:ea typeface="+mn-ea"/>
                <a:cs typeface="Poppins" panose="00000500000000000000" pitchFamily="2" charset="0"/>
              </a:rPr>
              <a:t>GLOBAL DELIVERY</a:t>
            </a:r>
          </a:p>
        </p:txBody>
      </p:sp>
      <p:sp>
        <p:nvSpPr>
          <p:cNvPr id="20" name="Rectangle 19">
            <a:extLst>
              <a:ext uri="{FF2B5EF4-FFF2-40B4-BE49-F238E27FC236}">
                <a16:creationId xmlns:a16="http://schemas.microsoft.com/office/drawing/2014/main" id="{3F787669-536D-AC4D-B2D8-715E4E47A100}"/>
              </a:ext>
            </a:extLst>
          </p:cNvPr>
          <p:cNvSpPr/>
          <p:nvPr/>
        </p:nvSpPr>
        <p:spPr>
          <a:xfrm>
            <a:off x="2126604" y="5291413"/>
            <a:ext cx="1263616" cy="271754"/>
          </a:xfrm>
          <a:prstGeom prst="rect">
            <a:avLst/>
          </a:prstGeom>
          <a:solidFill>
            <a:srgbClr val="007C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11857457-01EF-B285-40E9-74D394D53B6E}"/>
              </a:ext>
            </a:extLst>
          </p:cNvPr>
          <p:cNvSpPr txBox="1"/>
          <p:nvPr/>
        </p:nvSpPr>
        <p:spPr>
          <a:xfrm>
            <a:off x="150426" y="5744118"/>
            <a:ext cx="3234443" cy="600164"/>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lumMod val="75000"/>
                    <a:lumOff val="25000"/>
                  </a:prstClr>
                </a:solidFill>
                <a:effectLst/>
                <a:uLnTx/>
                <a:uFillTx/>
                <a:latin typeface="Poppins" panose="00000500000000000000" pitchFamily="2" charset="0"/>
                <a:ea typeface="Calibri" panose="020F0502020204030204" pitchFamily="34" charset="0"/>
                <a:cs typeface="Poppins" panose="00000500000000000000" pitchFamily="2" charset="0"/>
              </a:rPr>
              <a:t>Our global operating model results in consistent foundational processes and strategies.</a:t>
            </a:r>
          </a:p>
        </p:txBody>
      </p:sp>
      <p:sp>
        <p:nvSpPr>
          <p:cNvPr id="23" name="TextBox 22">
            <a:extLst>
              <a:ext uri="{FF2B5EF4-FFF2-40B4-BE49-F238E27FC236}">
                <a16:creationId xmlns:a16="http://schemas.microsoft.com/office/drawing/2014/main" id="{B1F882B8-D34F-E8DA-D4BA-C2594E6B3ACA}"/>
              </a:ext>
            </a:extLst>
          </p:cNvPr>
          <p:cNvSpPr txBox="1"/>
          <p:nvPr/>
        </p:nvSpPr>
        <p:spPr>
          <a:xfrm>
            <a:off x="8604737" y="1337278"/>
            <a:ext cx="796060" cy="70788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DD751E"/>
                </a:solidFill>
                <a:effectLst/>
                <a:uLnTx/>
                <a:uFillTx/>
                <a:latin typeface="Poppins" panose="00000500000000000000" pitchFamily="2" charset="0"/>
                <a:ea typeface="+mn-ea"/>
                <a:cs typeface="Poppins" panose="00000500000000000000" pitchFamily="2" charset="0"/>
              </a:rPr>
              <a:t>23</a:t>
            </a:r>
          </a:p>
        </p:txBody>
      </p:sp>
      <p:sp>
        <p:nvSpPr>
          <p:cNvPr id="24" name="TextBox 23">
            <a:extLst>
              <a:ext uri="{FF2B5EF4-FFF2-40B4-BE49-F238E27FC236}">
                <a16:creationId xmlns:a16="http://schemas.microsoft.com/office/drawing/2014/main" id="{F0D7783B-E45B-E56C-A7EE-9742C242FBEB}"/>
              </a:ext>
            </a:extLst>
          </p:cNvPr>
          <p:cNvSpPr txBox="1"/>
          <p:nvPr/>
        </p:nvSpPr>
        <p:spPr>
          <a:xfrm>
            <a:off x="9242161" y="1644089"/>
            <a:ext cx="664417" cy="276999"/>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C3"/>
                </a:solidFill>
                <a:effectLst/>
                <a:uLnTx/>
                <a:uFillTx/>
                <a:latin typeface="Poppins" panose="00000500000000000000" pitchFamily="2" charset="0"/>
                <a:ea typeface="+mn-ea"/>
                <a:cs typeface="Poppins" panose="00000500000000000000" pitchFamily="2" charset="0"/>
              </a:rPr>
              <a:t>years</a:t>
            </a:r>
          </a:p>
        </p:txBody>
      </p:sp>
      <p:sp>
        <p:nvSpPr>
          <p:cNvPr id="25" name="TextBox 24">
            <a:extLst>
              <a:ext uri="{FF2B5EF4-FFF2-40B4-BE49-F238E27FC236}">
                <a16:creationId xmlns:a16="http://schemas.microsoft.com/office/drawing/2014/main" id="{5922038B-AB6F-BC83-508C-5F23CA2CF5A2}"/>
              </a:ext>
            </a:extLst>
          </p:cNvPr>
          <p:cNvSpPr txBox="1"/>
          <p:nvPr/>
        </p:nvSpPr>
        <p:spPr>
          <a:xfrm>
            <a:off x="8620610" y="1869459"/>
            <a:ext cx="1403607" cy="402290"/>
          </a:xfrm>
          <a:prstGeom prst="rect">
            <a:avLst/>
          </a:prstGeom>
          <a:noFill/>
        </p:spPr>
        <p:txBody>
          <a:bodyPr wrap="square" rtlCol="0">
            <a:spAutoFit/>
          </a:bodyPr>
          <a:lstStyle/>
          <a:p>
            <a:pPr marL="0" marR="0" lvl="0" indent="0" algn="l" defTabSz="914377" rtl="0" eaLnBrk="1" fontAlgn="auto" latinLnBrk="0" hangingPunct="1">
              <a:lnSpc>
                <a:spcPts val="1200"/>
              </a:lnSpc>
              <a:spcBef>
                <a:spcPts val="0"/>
              </a:spcBef>
              <a:spcAft>
                <a:spcPts val="0"/>
              </a:spcAft>
              <a:buClrTx/>
              <a:buSzTx/>
              <a:buFontTx/>
              <a:buNone/>
              <a:tabLst/>
              <a:defRPr/>
            </a:pPr>
            <a:r>
              <a:rPr kumimoji="0" lang="en-US" sz="1200" b="0" i="1"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t>Industry experience in senior leadership</a:t>
            </a:r>
          </a:p>
        </p:txBody>
      </p:sp>
      <p:sp>
        <p:nvSpPr>
          <p:cNvPr id="26" name="TextBox 25">
            <a:extLst>
              <a:ext uri="{FF2B5EF4-FFF2-40B4-BE49-F238E27FC236}">
                <a16:creationId xmlns:a16="http://schemas.microsoft.com/office/drawing/2014/main" id="{27B3D7EF-F434-1419-5A7E-4DC18441657C}"/>
              </a:ext>
            </a:extLst>
          </p:cNvPr>
          <p:cNvSpPr txBox="1"/>
          <p:nvPr/>
        </p:nvSpPr>
        <p:spPr>
          <a:xfrm>
            <a:off x="10174222" y="1319662"/>
            <a:ext cx="796060" cy="70788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DD751E"/>
                </a:solidFill>
                <a:effectLst/>
                <a:uLnTx/>
                <a:uFillTx/>
                <a:latin typeface="Poppins" panose="00000500000000000000" pitchFamily="2" charset="0"/>
                <a:ea typeface="+mn-ea"/>
                <a:cs typeface="Poppins" panose="00000500000000000000" pitchFamily="2" charset="0"/>
              </a:rPr>
              <a:t>12</a:t>
            </a:r>
          </a:p>
        </p:txBody>
      </p:sp>
      <p:sp>
        <p:nvSpPr>
          <p:cNvPr id="27" name="TextBox 26">
            <a:extLst>
              <a:ext uri="{FF2B5EF4-FFF2-40B4-BE49-F238E27FC236}">
                <a16:creationId xmlns:a16="http://schemas.microsoft.com/office/drawing/2014/main" id="{1A20D006-1904-B4AF-CB83-B3DE34F13662}"/>
              </a:ext>
            </a:extLst>
          </p:cNvPr>
          <p:cNvSpPr txBox="1"/>
          <p:nvPr/>
        </p:nvSpPr>
        <p:spPr>
          <a:xfrm>
            <a:off x="10804927" y="1650537"/>
            <a:ext cx="664417" cy="276999"/>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CC3"/>
                </a:solidFill>
                <a:effectLst/>
                <a:uLnTx/>
                <a:uFillTx/>
                <a:latin typeface="Poppins" panose="00000500000000000000" pitchFamily="2" charset="0"/>
                <a:ea typeface="+mn-ea"/>
                <a:cs typeface="Poppins" panose="00000500000000000000" pitchFamily="2" charset="0"/>
              </a:rPr>
              <a:t>years</a:t>
            </a:r>
          </a:p>
        </p:txBody>
      </p:sp>
      <p:sp>
        <p:nvSpPr>
          <p:cNvPr id="28" name="TextBox 27">
            <a:extLst>
              <a:ext uri="{FF2B5EF4-FFF2-40B4-BE49-F238E27FC236}">
                <a16:creationId xmlns:a16="http://schemas.microsoft.com/office/drawing/2014/main" id="{6E471EFF-9BAA-1920-555F-46729A8D72C5}"/>
              </a:ext>
            </a:extLst>
          </p:cNvPr>
          <p:cNvSpPr txBox="1"/>
          <p:nvPr/>
        </p:nvSpPr>
        <p:spPr>
          <a:xfrm>
            <a:off x="10211370" y="1857619"/>
            <a:ext cx="1789505" cy="402290"/>
          </a:xfrm>
          <a:prstGeom prst="rect">
            <a:avLst/>
          </a:prstGeom>
          <a:noFill/>
        </p:spPr>
        <p:txBody>
          <a:bodyPr wrap="square" rtlCol="0">
            <a:spAutoFit/>
          </a:bodyPr>
          <a:lstStyle/>
          <a:p>
            <a:pPr marL="0" marR="0" lvl="0" indent="0" algn="l" defTabSz="914377" rtl="0" eaLnBrk="1" fontAlgn="auto" latinLnBrk="0" hangingPunct="1">
              <a:lnSpc>
                <a:spcPts val="1200"/>
              </a:lnSpc>
              <a:spcBef>
                <a:spcPts val="0"/>
              </a:spcBef>
              <a:spcAft>
                <a:spcPts val="0"/>
              </a:spcAft>
              <a:buClrTx/>
              <a:buSzTx/>
              <a:buFontTx/>
              <a:buNone/>
              <a:tabLst/>
              <a:defRPr/>
            </a:pPr>
            <a:r>
              <a:rPr kumimoji="0" lang="en-US" sz="1200" b="0" i="1"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t>Average tenure with Afni </a:t>
            </a:r>
          </a:p>
          <a:p>
            <a:pPr marL="0" marR="0" lvl="0" indent="0" algn="l" defTabSz="914377" rtl="0" eaLnBrk="1" fontAlgn="auto" latinLnBrk="0" hangingPunct="1">
              <a:lnSpc>
                <a:spcPts val="1200"/>
              </a:lnSpc>
              <a:spcBef>
                <a:spcPts val="0"/>
              </a:spcBef>
              <a:spcAft>
                <a:spcPts val="0"/>
              </a:spcAft>
              <a:buClrTx/>
              <a:buSzTx/>
              <a:buFontTx/>
              <a:buNone/>
              <a:tabLst/>
              <a:defRPr/>
            </a:pPr>
            <a:r>
              <a:rPr kumimoji="0" lang="en-US" sz="1200" b="0" i="1"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t>in senior leadership</a:t>
            </a:r>
          </a:p>
        </p:txBody>
      </p:sp>
      <p:sp>
        <p:nvSpPr>
          <p:cNvPr id="29" name="TextBox 28">
            <a:extLst>
              <a:ext uri="{FF2B5EF4-FFF2-40B4-BE49-F238E27FC236}">
                <a16:creationId xmlns:a16="http://schemas.microsoft.com/office/drawing/2014/main" id="{BF06D2DC-1607-FD79-F150-ED191C6F7196}"/>
              </a:ext>
            </a:extLst>
          </p:cNvPr>
          <p:cNvSpPr txBox="1"/>
          <p:nvPr/>
        </p:nvSpPr>
        <p:spPr>
          <a:xfrm>
            <a:off x="8523733" y="2259760"/>
            <a:ext cx="1037906" cy="70788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DD751E"/>
                </a:solidFill>
                <a:effectLst/>
                <a:uLnTx/>
                <a:uFillTx/>
                <a:latin typeface="Poppins" panose="00000500000000000000" pitchFamily="2" charset="0"/>
                <a:ea typeface="+mn-ea"/>
                <a:cs typeface="Poppins" panose="00000500000000000000" pitchFamily="2" charset="0"/>
              </a:rPr>
              <a:t>50</a:t>
            </a:r>
          </a:p>
        </p:txBody>
      </p:sp>
      <p:sp>
        <p:nvSpPr>
          <p:cNvPr id="30" name="TextBox 29">
            <a:extLst>
              <a:ext uri="{FF2B5EF4-FFF2-40B4-BE49-F238E27FC236}">
                <a16:creationId xmlns:a16="http://schemas.microsoft.com/office/drawing/2014/main" id="{C4754C44-5D63-AF59-FA5A-7F46DA57D3BF}"/>
              </a:ext>
            </a:extLst>
          </p:cNvPr>
          <p:cNvSpPr txBox="1"/>
          <p:nvPr/>
        </p:nvSpPr>
        <p:spPr>
          <a:xfrm>
            <a:off x="9316786" y="2487837"/>
            <a:ext cx="664417" cy="461665"/>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7CC3"/>
                </a:solidFill>
                <a:effectLst/>
                <a:uLnTx/>
                <a:uFillTx/>
                <a:latin typeface="Poppins" panose="00000500000000000000" pitchFamily="2" charset="0"/>
                <a:ea typeface="+mn-ea"/>
                <a:cs typeface="Poppins" panose="00000500000000000000" pitchFamily="2" charset="0"/>
              </a:rPr>
              <a:t>%</a:t>
            </a:r>
          </a:p>
        </p:txBody>
      </p:sp>
      <p:sp>
        <p:nvSpPr>
          <p:cNvPr id="31" name="TextBox 30">
            <a:extLst>
              <a:ext uri="{FF2B5EF4-FFF2-40B4-BE49-F238E27FC236}">
                <a16:creationId xmlns:a16="http://schemas.microsoft.com/office/drawing/2014/main" id="{E0A406FD-EAD6-AD9B-A150-16749874704F}"/>
              </a:ext>
            </a:extLst>
          </p:cNvPr>
          <p:cNvSpPr txBox="1"/>
          <p:nvPr/>
        </p:nvSpPr>
        <p:spPr>
          <a:xfrm>
            <a:off x="8639253" y="2848747"/>
            <a:ext cx="1461875" cy="402290"/>
          </a:xfrm>
          <a:prstGeom prst="rect">
            <a:avLst/>
          </a:prstGeom>
          <a:noFill/>
        </p:spPr>
        <p:txBody>
          <a:bodyPr wrap="square" rtlCol="0">
            <a:spAutoFit/>
          </a:bodyPr>
          <a:lstStyle/>
          <a:p>
            <a:pPr marL="0" marR="0" lvl="0" indent="0" algn="l" defTabSz="914377" rtl="0" eaLnBrk="1" fontAlgn="auto" latinLnBrk="0" hangingPunct="1">
              <a:lnSpc>
                <a:spcPts val="1200"/>
              </a:lnSpc>
              <a:spcBef>
                <a:spcPts val="0"/>
              </a:spcBef>
              <a:spcAft>
                <a:spcPts val="0"/>
              </a:spcAft>
              <a:buClrTx/>
              <a:buSzTx/>
              <a:buFontTx/>
              <a:buNone/>
              <a:tabLst/>
              <a:defRPr/>
            </a:pPr>
            <a:r>
              <a:rPr kumimoji="0" lang="en-US" sz="1200" b="0" i="1"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t>Women in senior leadership positions</a:t>
            </a:r>
          </a:p>
        </p:txBody>
      </p:sp>
      <p:sp>
        <p:nvSpPr>
          <p:cNvPr id="32" name="TextBox 31">
            <a:extLst>
              <a:ext uri="{FF2B5EF4-FFF2-40B4-BE49-F238E27FC236}">
                <a16:creationId xmlns:a16="http://schemas.microsoft.com/office/drawing/2014/main" id="{4E1F4E90-EF7F-CC49-3ABB-051655A45147}"/>
              </a:ext>
            </a:extLst>
          </p:cNvPr>
          <p:cNvSpPr txBox="1"/>
          <p:nvPr/>
        </p:nvSpPr>
        <p:spPr>
          <a:xfrm>
            <a:off x="10175406" y="2282968"/>
            <a:ext cx="934841" cy="70788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DD751E"/>
                </a:solidFill>
                <a:effectLst/>
                <a:uLnTx/>
                <a:uFillTx/>
                <a:latin typeface="Poppins" panose="00000500000000000000" pitchFamily="2" charset="0"/>
                <a:ea typeface="+mn-ea"/>
                <a:cs typeface="Poppins" panose="00000500000000000000" pitchFamily="2" charset="0"/>
              </a:rPr>
              <a:t>56</a:t>
            </a:r>
          </a:p>
        </p:txBody>
      </p:sp>
      <p:sp>
        <p:nvSpPr>
          <p:cNvPr id="33" name="TextBox 32">
            <a:extLst>
              <a:ext uri="{FF2B5EF4-FFF2-40B4-BE49-F238E27FC236}">
                <a16:creationId xmlns:a16="http://schemas.microsoft.com/office/drawing/2014/main" id="{303CE0F0-24D0-4A4E-14AF-8B7DC61967E8}"/>
              </a:ext>
            </a:extLst>
          </p:cNvPr>
          <p:cNvSpPr txBox="1"/>
          <p:nvPr/>
        </p:nvSpPr>
        <p:spPr>
          <a:xfrm>
            <a:off x="10926210" y="2485738"/>
            <a:ext cx="664417" cy="461665"/>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7CC3"/>
                </a:solidFill>
                <a:effectLst/>
                <a:uLnTx/>
                <a:uFillTx/>
                <a:latin typeface="Poppins" panose="00000500000000000000" pitchFamily="2" charset="0"/>
                <a:ea typeface="+mn-ea"/>
                <a:cs typeface="Poppins" panose="00000500000000000000" pitchFamily="2" charset="0"/>
              </a:rPr>
              <a:t>%</a:t>
            </a:r>
          </a:p>
        </p:txBody>
      </p:sp>
      <p:sp>
        <p:nvSpPr>
          <p:cNvPr id="34" name="TextBox 33">
            <a:extLst>
              <a:ext uri="{FF2B5EF4-FFF2-40B4-BE49-F238E27FC236}">
                <a16:creationId xmlns:a16="http://schemas.microsoft.com/office/drawing/2014/main" id="{2A6EAECB-D6C8-8DE8-736B-03940001BCCF}"/>
              </a:ext>
            </a:extLst>
          </p:cNvPr>
          <p:cNvSpPr txBox="1"/>
          <p:nvPr/>
        </p:nvSpPr>
        <p:spPr>
          <a:xfrm>
            <a:off x="10230014" y="2846649"/>
            <a:ext cx="1372660" cy="402290"/>
          </a:xfrm>
          <a:prstGeom prst="rect">
            <a:avLst/>
          </a:prstGeom>
          <a:noFill/>
        </p:spPr>
        <p:txBody>
          <a:bodyPr wrap="square" rtlCol="0">
            <a:spAutoFit/>
          </a:bodyPr>
          <a:lstStyle/>
          <a:p>
            <a:pPr marL="0" marR="0" lvl="0" indent="0" algn="l" defTabSz="914377" rtl="0" eaLnBrk="1" fontAlgn="auto" latinLnBrk="0" hangingPunct="1">
              <a:lnSpc>
                <a:spcPts val="1200"/>
              </a:lnSpc>
              <a:spcBef>
                <a:spcPts val="0"/>
              </a:spcBef>
              <a:spcAft>
                <a:spcPts val="0"/>
              </a:spcAft>
              <a:buClrTx/>
              <a:buSzTx/>
              <a:buFontTx/>
              <a:buNone/>
              <a:tabLst/>
              <a:defRPr/>
            </a:pPr>
            <a:r>
              <a:rPr kumimoji="0" lang="en-US" sz="1200" b="0" i="1"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t>Frontline leaders with Afni &gt;3 years</a:t>
            </a:r>
          </a:p>
        </p:txBody>
      </p:sp>
      <p:sp>
        <p:nvSpPr>
          <p:cNvPr id="35" name="TextBox 34">
            <a:extLst>
              <a:ext uri="{FF2B5EF4-FFF2-40B4-BE49-F238E27FC236}">
                <a16:creationId xmlns:a16="http://schemas.microsoft.com/office/drawing/2014/main" id="{514DDA1C-D2E4-B09D-8B2E-E846A6D3D60F}"/>
              </a:ext>
            </a:extLst>
          </p:cNvPr>
          <p:cNvSpPr txBox="1"/>
          <p:nvPr/>
        </p:nvSpPr>
        <p:spPr>
          <a:xfrm>
            <a:off x="8689379" y="3990970"/>
            <a:ext cx="3311496" cy="1246495"/>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31" normalizeH="0" baseline="0" noProof="0">
                <a:ln>
                  <a:noFill/>
                </a:ln>
                <a:solidFill>
                  <a:prstClr val="black">
                    <a:lumMod val="75000"/>
                    <a:lumOff val="25000"/>
                  </a:prstClr>
                </a:solidFill>
                <a:effectLst/>
                <a:uLnTx/>
                <a:uFillTx/>
                <a:latin typeface="Poppins" panose="00000500000000000000" pitchFamily="2" charset="0"/>
                <a:ea typeface="+mn-ea"/>
                <a:cs typeface="Poppins" panose="00000500000000000000" pitchFamily="2" charset="0"/>
              </a:rPr>
              <a:t>PCI-DSS &amp; SSAE 18 Type II compliant operations</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prstClr val="black">
                    <a:lumMod val="75000"/>
                    <a:lumOff val="25000"/>
                  </a:prstClr>
                </a:solidFill>
                <a:effectLst/>
                <a:uLnTx/>
                <a:uFillTx/>
                <a:latin typeface="Poppins" panose="00000500000000000000" pitchFamily="2" charset="0"/>
                <a:ea typeface="+mn-ea"/>
                <a:cs typeface="Poppins" panose="00000500000000000000" pitchFamily="2" charset="0"/>
              </a:rPr>
              <a:t>100% MFA Coverage</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prstClr val="black">
                    <a:lumMod val="75000"/>
                    <a:lumOff val="25000"/>
                  </a:prstClr>
                </a:solidFill>
                <a:effectLst/>
                <a:uLnTx/>
                <a:uFillTx/>
                <a:latin typeface="Poppins" panose="00000500000000000000" pitchFamily="2" charset="0"/>
                <a:ea typeface="+mn-ea"/>
                <a:cs typeface="Poppins" panose="00000500000000000000" pitchFamily="2" charset="0"/>
              </a:rPr>
              <a:t>100% External Vulnerability Remediation</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prstClr val="black">
                    <a:lumMod val="75000"/>
                    <a:lumOff val="25000"/>
                  </a:prstClr>
                </a:solidFill>
                <a:effectLst/>
                <a:uLnTx/>
                <a:uFillTx/>
                <a:latin typeface="Poppins" panose="00000500000000000000" pitchFamily="2" charset="0"/>
                <a:ea typeface="+mn-ea"/>
                <a:cs typeface="Poppins" panose="00000500000000000000" pitchFamily="2" charset="0"/>
              </a:rPr>
              <a:t>100% EDR Coverage with 24/7 Monitoring</a:t>
            </a:r>
          </a:p>
          <a:p>
            <a:pPr marL="0" marR="0" lvl="0" indent="0" algn="l" defTabSz="914377"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a:ln>
                <a:noFill/>
              </a:ln>
              <a:solidFill>
                <a:prstClr val="black">
                  <a:lumMod val="75000"/>
                  <a:lumOff val="25000"/>
                </a:prstClr>
              </a:solidFill>
              <a:effectLst/>
              <a:uLnTx/>
              <a:uFillTx/>
              <a:latin typeface="Poppins" panose="00000500000000000000" pitchFamily="2" charset="0"/>
              <a:ea typeface="+mn-ea"/>
              <a:cs typeface="Poppins" panose="00000500000000000000" pitchFamily="2" charset="0"/>
            </a:endParaRPr>
          </a:p>
        </p:txBody>
      </p:sp>
      <p:pic>
        <p:nvPicPr>
          <p:cNvPr id="36" name="Picture 2" descr="C:\Users\loriboyce\Downloads\1495846939_Check_circle.png">
            <a:extLst>
              <a:ext uri="{FF2B5EF4-FFF2-40B4-BE49-F238E27FC236}">
                <a16:creationId xmlns:a16="http://schemas.microsoft.com/office/drawing/2014/main" id="{C2704D04-07C8-1267-D050-6F809FAAE7A0}"/>
              </a:ext>
            </a:extLst>
          </p:cNvPr>
          <p:cNvPicPr>
            <a:picLocks noChangeAspect="1" noChangeArrowheads="1"/>
          </p:cNvPicPr>
          <p:nvPr/>
        </p:nvPicPr>
        <p:blipFill>
          <a:blip r:embed="rId4" cstate="screen">
            <a:duotone>
              <a:schemeClr val="accent2">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8549640" y="4054293"/>
            <a:ext cx="137160" cy="137160"/>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C:\Users\loriboyce\Downloads\1495846939_Check_circle.png">
            <a:extLst>
              <a:ext uri="{FF2B5EF4-FFF2-40B4-BE49-F238E27FC236}">
                <a16:creationId xmlns:a16="http://schemas.microsoft.com/office/drawing/2014/main" id="{22BB526C-FF64-9D8E-3879-6D56A8E1AA94}"/>
              </a:ext>
            </a:extLst>
          </p:cNvPr>
          <p:cNvPicPr>
            <a:picLocks noChangeAspect="1" noChangeArrowheads="1"/>
          </p:cNvPicPr>
          <p:nvPr/>
        </p:nvPicPr>
        <p:blipFill>
          <a:blip r:embed="rId4" cstate="screen">
            <a:duotone>
              <a:schemeClr val="accent2">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8547623" y="4293402"/>
            <a:ext cx="137160" cy="13716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C:\Users\loriboyce\Downloads\1495846939_Check_circle.png">
            <a:extLst>
              <a:ext uri="{FF2B5EF4-FFF2-40B4-BE49-F238E27FC236}">
                <a16:creationId xmlns:a16="http://schemas.microsoft.com/office/drawing/2014/main" id="{057B8DA1-C323-676F-F04B-88A7B3DA4944}"/>
              </a:ext>
            </a:extLst>
          </p:cNvPr>
          <p:cNvPicPr>
            <a:picLocks noChangeAspect="1" noChangeArrowheads="1"/>
          </p:cNvPicPr>
          <p:nvPr/>
        </p:nvPicPr>
        <p:blipFill>
          <a:blip r:embed="rId4" cstate="screen">
            <a:duotone>
              <a:schemeClr val="accent2">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8547623" y="4535290"/>
            <a:ext cx="137160" cy="13716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C:\Users\loriboyce\Downloads\1495846939_Check_circle.png">
            <a:extLst>
              <a:ext uri="{FF2B5EF4-FFF2-40B4-BE49-F238E27FC236}">
                <a16:creationId xmlns:a16="http://schemas.microsoft.com/office/drawing/2014/main" id="{84650195-4F76-82AE-2420-2A0A374E83DC}"/>
              </a:ext>
            </a:extLst>
          </p:cNvPr>
          <p:cNvPicPr>
            <a:picLocks noChangeAspect="1" noChangeArrowheads="1"/>
          </p:cNvPicPr>
          <p:nvPr/>
        </p:nvPicPr>
        <p:blipFill>
          <a:blip r:embed="rId4" cstate="screen">
            <a:duotone>
              <a:schemeClr val="accent2">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8547623" y="4780567"/>
            <a:ext cx="137160" cy="137160"/>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DF6EE87B-BCB3-82A4-84A1-A6D55E3CBCDC}"/>
              </a:ext>
            </a:extLst>
          </p:cNvPr>
          <p:cNvSpPr txBox="1"/>
          <p:nvPr/>
        </p:nvSpPr>
        <p:spPr>
          <a:xfrm>
            <a:off x="156608" y="1911772"/>
            <a:ext cx="1244080" cy="70788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DD751E"/>
                </a:solidFill>
                <a:effectLst/>
                <a:uLnTx/>
                <a:uFillTx/>
                <a:latin typeface="Poppins" panose="00000500000000000000" pitchFamily="2" charset="0"/>
                <a:ea typeface="+mn-ea"/>
                <a:cs typeface="Poppins" panose="00000500000000000000" pitchFamily="2" charset="0"/>
              </a:rPr>
              <a:t>12k</a:t>
            </a:r>
          </a:p>
        </p:txBody>
      </p:sp>
      <p:sp>
        <p:nvSpPr>
          <p:cNvPr id="41" name="TextBox 40">
            <a:extLst>
              <a:ext uri="{FF2B5EF4-FFF2-40B4-BE49-F238E27FC236}">
                <a16:creationId xmlns:a16="http://schemas.microsoft.com/office/drawing/2014/main" id="{32F38F60-1F0E-B370-34AD-61D1521C87C1}"/>
              </a:ext>
            </a:extLst>
          </p:cNvPr>
          <p:cNvSpPr txBox="1"/>
          <p:nvPr/>
        </p:nvSpPr>
        <p:spPr>
          <a:xfrm>
            <a:off x="1170349" y="2087440"/>
            <a:ext cx="664417" cy="461665"/>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7CC3"/>
                </a:solidFill>
                <a:effectLst/>
                <a:uLnTx/>
                <a:uFillTx/>
                <a:latin typeface="Poppins" panose="00000500000000000000" pitchFamily="2" charset="0"/>
                <a:ea typeface="+mn-ea"/>
                <a:cs typeface="Poppins" panose="00000500000000000000" pitchFamily="2" charset="0"/>
              </a:rPr>
              <a:t>+</a:t>
            </a:r>
          </a:p>
        </p:txBody>
      </p:sp>
      <p:sp>
        <p:nvSpPr>
          <p:cNvPr id="42" name="TextBox 41">
            <a:extLst>
              <a:ext uri="{FF2B5EF4-FFF2-40B4-BE49-F238E27FC236}">
                <a16:creationId xmlns:a16="http://schemas.microsoft.com/office/drawing/2014/main" id="{CFC39D5B-9BA7-04D4-EF8C-D22BF526B606}"/>
              </a:ext>
            </a:extLst>
          </p:cNvPr>
          <p:cNvSpPr txBox="1"/>
          <p:nvPr/>
        </p:nvSpPr>
        <p:spPr>
          <a:xfrm>
            <a:off x="172481" y="2425664"/>
            <a:ext cx="1659192" cy="402290"/>
          </a:xfrm>
          <a:prstGeom prst="rect">
            <a:avLst/>
          </a:prstGeom>
          <a:noFill/>
        </p:spPr>
        <p:txBody>
          <a:bodyPr wrap="square" rtlCol="0">
            <a:spAutoFit/>
          </a:bodyPr>
          <a:lstStyle/>
          <a:p>
            <a:pPr marL="0" marR="0" lvl="0" indent="0" algn="l" defTabSz="914377" rtl="0" eaLnBrk="1" fontAlgn="auto" latinLnBrk="0" hangingPunct="1">
              <a:lnSpc>
                <a:spcPts val="1200"/>
              </a:lnSpc>
              <a:spcBef>
                <a:spcPts val="0"/>
              </a:spcBef>
              <a:spcAft>
                <a:spcPts val="0"/>
              </a:spcAft>
              <a:buClrTx/>
              <a:buSzTx/>
              <a:buFontTx/>
              <a:buNone/>
              <a:tabLst/>
              <a:defRPr/>
            </a:pPr>
            <a:r>
              <a:rPr kumimoji="0" lang="en-US" sz="1200" b="0" i="1"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t>Supporting voice, digital &amp; back office</a:t>
            </a:r>
          </a:p>
        </p:txBody>
      </p:sp>
      <p:sp>
        <p:nvSpPr>
          <p:cNvPr id="43" name="TextBox 42">
            <a:extLst>
              <a:ext uri="{FF2B5EF4-FFF2-40B4-BE49-F238E27FC236}">
                <a16:creationId xmlns:a16="http://schemas.microsoft.com/office/drawing/2014/main" id="{FD6F32CD-FDF8-7DFF-579A-4C977571EAE6}"/>
              </a:ext>
            </a:extLst>
          </p:cNvPr>
          <p:cNvSpPr txBox="1"/>
          <p:nvPr/>
        </p:nvSpPr>
        <p:spPr>
          <a:xfrm>
            <a:off x="1828734" y="1894156"/>
            <a:ext cx="998017" cy="70788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DD751E"/>
                </a:solidFill>
                <a:effectLst/>
                <a:uLnTx/>
                <a:uFillTx/>
                <a:latin typeface="Poppins" panose="00000500000000000000" pitchFamily="2" charset="0"/>
                <a:ea typeface="+mn-ea"/>
                <a:cs typeface="Poppins" panose="00000500000000000000" pitchFamily="2" charset="0"/>
              </a:rPr>
              <a:t>30</a:t>
            </a:r>
          </a:p>
        </p:txBody>
      </p:sp>
      <p:sp>
        <p:nvSpPr>
          <p:cNvPr id="44" name="TextBox 43">
            <a:extLst>
              <a:ext uri="{FF2B5EF4-FFF2-40B4-BE49-F238E27FC236}">
                <a16:creationId xmlns:a16="http://schemas.microsoft.com/office/drawing/2014/main" id="{E094F8E9-C89F-1BDD-29A1-EAAFDC680836}"/>
              </a:ext>
            </a:extLst>
          </p:cNvPr>
          <p:cNvSpPr txBox="1"/>
          <p:nvPr/>
        </p:nvSpPr>
        <p:spPr>
          <a:xfrm>
            <a:off x="1837889" y="2432112"/>
            <a:ext cx="1766783" cy="402290"/>
          </a:xfrm>
          <a:prstGeom prst="rect">
            <a:avLst/>
          </a:prstGeom>
          <a:noFill/>
        </p:spPr>
        <p:txBody>
          <a:bodyPr wrap="square" rtlCol="0">
            <a:spAutoFit/>
          </a:bodyPr>
          <a:lstStyle/>
          <a:p>
            <a:pPr marL="0" marR="0" lvl="0" indent="0" algn="l" defTabSz="914377" rtl="0" eaLnBrk="1" fontAlgn="auto" latinLnBrk="0" hangingPunct="1">
              <a:lnSpc>
                <a:spcPts val="1200"/>
              </a:lnSpc>
              <a:spcBef>
                <a:spcPts val="0"/>
              </a:spcBef>
              <a:spcAft>
                <a:spcPts val="0"/>
              </a:spcAft>
              <a:buClrTx/>
              <a:buSzTx/>
              <a:buFontTx/>
              <a:buNone/>
              <a:tabLst/>
              <a:defRPr/>
            </a:pPr>
            <a:r>
              <a:rPr kumimoji="0" lang="en-US" sz="1200" b="0" i="1"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t>Unique programs across multiple industries</a:t>
            </a:r>
          </a:p>
        </p:txBody>
      </p:sp>
      <p:sp>
        <p:nvSpPr>
          <p:cNvPr id="45" name="TextBox 44">
            <a:extLst>
              <a:ext uri="{FF2B5EF4-FFF2-40B4-BE49-F238E27FC236}">
                <a16:creationId xmlns:a16="http://schemas.microsoft.com/office/drawing/2014/main" id="{1942FF39-9ABA-B0A2-C435-D22035D63C29}"/>
              </a:ext>
            </a:extLst>
          </p:cNvPr>
          <p:cNvSpPr txBox="1"/>
          <p:nvPr/>
        </p:nvSpPr>
        <p:spPr>
          <a:xfrm>
            <a:off x="156591" y="2861408"/>
            <a:ext cx="1519938" cy="70788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DD751E"/>
                </a:solidFill>
                <a:effectLst/>
                <a:uLnTx/>
                <a:uFillTx/>
                <a:latin typeface="Poppins" panose="00000500000000000000" pitchFamily="2" charset="0"/>
                <a:ea typeface="+mn-ea"/>
                <a:cs typeface="Poppins" panose="00000500000000000000" pitchFamily="2" charset="0"/>
              </a:rPr>
              <a:t>36m</a:t>
            </a:r>
          </a:p>
        </p:txBody>
      </p:sp>
      <p:sp>
        <p:nvSpPr>
          <p:cNvPr id="46" name="TextBox 45">
            <a:extLst>
              <a:ext uri="{FF2B5EF4-FFF2-40B4-BE49-F238E27FC236}">
                <a16:creationId xmlns:a16="http://schemas.microsoft.com/office/drawing/2014/main" id="{E7594AF8-C953-9B39-D439-B096A969C00B}"/>
              </a:ext>
            </a:extLst>
          </p:cNvPr>
          <p:cNvSpPr txBox="1"/>
          <p:nvPr/>
        </p:nvSpPr>
        <p:spPr>
          <a:xfrm>
            <a:off x="1462187" y="3037103"/>
            <a:ext cx="664417" cy="461665"/>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7CC3"/>
                </a:solidFill>
                <a:effectLst/>
                <a:uLnTx/>
                <a:uFillTx/>
                <a:latin typeface="Poppins" panose="00000500000000000000" pitchFamily="2" charset="0"/>
                <a:ea typeface="+mn-ea"/>
                <a:cs typeface="Poppins" panose="00000500000000000000" pitchFamily="2" charset="0"/>
              </a:rPr>
              <a:t>+</a:t>
            </a:r>
          </a:p>
        </p:txBody>
      </p:sp>
      <p:sp>
        <p:nvSpPr>
          <p:cNvPr id="47" name="TextBox 46">
            <a:extLst>
              <a:ext uri="{FF2B5EF4-FFF2-40B4-BE49-F238E27FC236}">
                <a16:creationId xmlns:a16="http://schemas.microsoft.com/office/drawing/2014/main" id="{9C4607D4-44CF-9B6D-97E5-51DF12BB8271}"/>
              </a:ext>
            </a:extLst>
          </p:cNvPr>
          <p:cNvSpPr txBox="1"/>
          <p:nvPr/>
        </p:nvSpPr>
        <p:spPr>
          <a:xfrm>
            <a:off x="191126" y="3423240"/>
            <a:ext cx="1695791" cy="402290"/>
          </a:xfrm>
          <a:prstGeom prst="rect">
            <a:avLst/>
          </a:prstGeom>
          <a:noFill/>
        </p:spPr>
        <p:txBody>
          <a:bodyPr wrap="square" rtlCol="0">
            <a:spAutoFit/>
          </a:bodyPr>
          <a:lstStyle/>
          <a:p>
            <a:pPr marL="0" marR="0" lvl="0" indent="0" algn="l" defTabSz="914377" rtl="0" eaLnBrk="1" fontAlgn="auto" latinLnBrk="0" hangingPunct="1">
              <a:lnSpc>
                <a:spcPts val="1200"/>
              </a:lnSpc>
              <a:spcBef>
                <a:spcPts val="0"/>
              </a:spcBef>
              <a:spcAft>
                <a:spcPts val="0"/>
              </a:spcAft>
              <a:buClrTx/>
              <a:buSzTx/>
              <a:buFontTx/>
              <a:buNone/>
              <a:tabLst/>
              <a:defRPr/>
            </a:pPr>
            <a:r>
              <a:rPr kumimoji="0" lang="en-US" sz="1200" b="0" i="1"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t>Customer, agent, &amp; 3P interactions annually</a:t>
            </a:r>
          </a:p>
        </p:txBody>
      </p:sp>
      <p:sp>
        <p:nvSpPr>
          <p:cNvPr id="48" name="TextBox 47">
            <a:extLst>
              <a:ext uri="{FF2B5EF4-FFF2-40B4-BE49-F238E27FC236}">
                <a16:creationId xmlns:a16="http://schemas.microsoft.com/office/drawing/2014/main" id="{B4A2BD57-6459-1E1E-E4AF-C5CDB8E5C4B9}"/>
              </a:ext>
            </a:extLst>
          </p:cNvPr>
          <p:cNvSpPr txBox="1"/>
          <p:nvPr/>
        </p:nvSpPr>
        <p:spPr>
          <a:xfrm>
            <a:off x="1828312" y="2857460"/>
            <a:ext cx="1040384" cy="70788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DD751E"/>
                </a:solidFill>
                <a:effectLst/>
                <a:uLnTx/>
                <a:uFillTx/>
                <a:latin typeface="Poppins" panose="00000500000000000000" pitchFamily="2" charset="0"/>
                <a:ea typeface="+mn-ea"/>
                <a:cs typeface="Poppins" panose="00000500000000000000" pitchFamily="2" charset="0"/>
              </a:rPr>
              <a:t>125</a:t>
            </a:r>
          </a:p>
        </p:txBody>
      </p:sp>
      <p:sp>
        <p:nvSpPr>
          <p:cNvPr id="49" name="TextBox 48">
            <a:extLst>
              <a:ext uri="{FF2B5EF4-FFF2-40B4-BE49-F238E27FC236}">
                <a16:creationId xmlns:a16="http://schemas.microsoft.com/office/drawing/2014/main" id="{309F0F81-EDB2-32B2-FE2A-950700535B61}"/>
              </a:ext>
            </a:extLst>
          </p:cNvPr>
          <p:cNvSpPr txBox="1"/>
          <p:nvPr/>
        </p:nvSpPr>
        <p:spPr>
          <a:xfrm>
            <a:off x="2697540" y="3060232"/>
            <a:ext cx="664417" cy="461665"/>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7CC3"/>
                </a:solidFill>
                <a:effectLst/>
                <a:uLnTx/>
                <a:uFillTx/>
                <a:latin typeface="Poppins" panose="00000500000000000000" pitchFamily="2" charset="0"/>
                <a:ea typeface="+mn-ea"/>
                <a:cs typeface="Poppins" panose="00000500000000000000" pitchFamily="2" charset="0"/>
              </a:rPr>
              <a:t>+</a:t>
            </a:r>
          </a:p>
        </p:txBody>
      </p:sp>
      <p:sp>
        <p:nvSpPr>
          <p:cNvPr id="50" name="TextBox 49">
            <a:extLst>
              <a:ext uri="{FF2B5EF4-FFF2-40B4-BE49-F238E27FC236}">
                <a16:creationId xmlns:a16="http://schemas.microsoft.com/office/drawing/2014/main" id="{5751EB61-64BE-C101-5A02-B92DE7C1637F}"/>
              </a:ext>
            </a:extLst>
          </p:cNvPr>
          <p:cNvSpPr txBox="1"/>
          <p:nvPr/>
        </p:nvSpPr>
        <p:spPr>
          <a:xfrm>
            <a:off x="1856532" y="3421141"/>
            <a:ext cx="1608336" cy="402290"/>
          </a:xfrm>
          <a:prstGeom prst="rect">
            <a:avLst/>
          </a:prstGeom>
          <a:noFill/>
        </p:spPr>
        <p:txBody>
          <a:bodyPr wrap="square" rtlCol="0">
            <a:spAutoFit/>
          </a:bodyPr>
          <a:lstStyle/>
          <a:p>
            <a:pPr marL="0" marR="0" lvl="0" indent="0" algn="l" defTabSz="914377" rtl="0" eaLnBrk="1" fontAlgn="auto" latinLnBrk="0" hangingPunct="1">
              <a:lnSpc>
                <a:spcPts val="1200"/>
              </a:lnSpc>
              <a:spcBef>
                <a:spcPts val="0"/>
              </a:spcBef>
              <a:spcAft>
                <a:spcPts val="0"/>
              </a:spcAft>
              <a:buClrTx/>
              <a:buSzTx/>
              <a:buFontTx/>
              <a:buNone/>
              <a:tabLst/>
              <a:defRPr/>
            </a:pPr>
            <a:r>
              <a:rPr kumimoji="0" lang="en-US" sz="1200" b="0" i="1"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t>Back office processing work types</a:t>
            </a:r>
          </a:p>
        </p:txBody>
      </p:sp>
      <p:sp>
        <p:nvSpPr>
          <p:cNvPr id="51" name="TextBox 50">
            <a:extLst>
              <a:ext uri="{FF2B5EF4-FFF2-40B4-BE49-F238E27FC236}">
                <a16:creationId xmlns:a16="http://schemas.microsoft.com/office/drawing/2014/main" id="{A4CCF26F-0F00-B82D-CAFE-E23142E790A6}"/>
              </a:ext>
            </a:extLst>
          </p:cNvPr>
          <p:cNvSpPr txBox="1"/>
          <p:nvPr/>
        </p:nvSpPr>
        <p:spPr>
          <a:xfrm>
            <a:off x="2672993" y="2085602"/>
            <a:ext cx="664417" cy="461665"/>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7CC3"/>
                </a:solidFill>
                <a:effectLst/>
                <a:uLnTx/>
                <a:uFillTx/>
                <a:latin typeface="Poppins" panose="00000500000000000000" pitchFamily="2" charset="0"/>
                <a:ea typeface="+mn-ea"/>
                <a:cs typeface="Poppins" panose="00000500000000000000" pitchFamily="2" charset="0"/>
              </a:rPr>
              <a:t>+</a:t>
            </a:r>
          </a:p>
        </p:txBody>
      </p:sp>
      <p:sp>
        <p:nvSpPr>
          <p:cNvPr id="52" name="TextBox 51">
            <a:extLst>
              <a:ext uri="{FF2B5EF4-FFF2-40B4-BE49-F238E27FC236}">
                <a16:creationId xmlns:a16="http://schemas.microsoft.com/office/drawing/2014/main" id="{EB5AF5C5-83C4-8A36-59DB-460602234819}"/>
              </a:ext>
            </a:extLst>
          </p:cNvPr>
          <p:cNvSpPr txBox="1"/>
          <p:nvPr/>
        </p:nvSpPr>
        <p:spPr>
          <a:xfrm>
            <a:off x="191125" y="4107816"/>
            <a:ext cx="3234443" cy="561692"/>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007CC3"/>
                </a:solidFill>
                <a:effectLst/>
                <a:uLnTx/>
                <a:uFillTx/>
                <a:latin typeface="Poppins" panose="00000500000000000000" pitchFamily="2" charset="0"/>
                <a:ea typeface="+mn-ea"/>
                <a:cs typeface="Poppins" panose="00000500000000000000" pitchFamily="2" charset="0"/>
              </a:rPr>
              <a:t>SALES | SERVICE | BACK OFFICE</a:t>
            </a:r>
          </a:p>
          <a:p>
            <a:pPr marL="0" marR="0" lvl="0" indent="0" algn="ctr" defTabSz="914377"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007CC3"/>
                </a:solidFill>
                <a:effectLst/>
                <a:uLnTx/>
                <a:uFillTx/>
                <a:latin typeface="Poppins" panose="00000500000000000000" pitchFamily="2" charset="0"/>
                <a:ea typeface="+mn-ea"/>
                <a:cs typeface="Poppins" panose="00000500000000000000" pitchFamily="2" charset="0"/>
              </a:rPr>
              <a:t>SUBROGATION SOLUTIONS </a:t>
            </a:r>
          </a:p>
        </p:txBody>
      </p:sp>
      <p:pic>
        <p:nvPicPr>
          <p:cNvPr id="53" name="Graphic 52">
            <a:extLst>
              <a:ext uri="{FF2B5EF4-FFF2-40B4-BE49-F238E27FC236}">
                <a16:creationId xmlns:a16="http://schemas.microsoft.com/office/drawing/2014/main" id="{6E3640B5-F31D-33BD-C55E-98C221F5D10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6200000" flipH="1" flipV="1">
            <a:off x="59858" y="-61691"/>
            <a:ext cx="994620" cy="1118000"/>
          </a:xfrm>
          <a:prstGeom prst="rect">
            <a:avLst/>
          </a:prstGeom>
        </p:spPr>
      </p:pic>
      <p:pic>
        <p:nvPicPr>
          <p:cNvPr id="4" name="Picture 3">
            <a:extLst>
              <a:ext uri="{FF2B5EF4-FFF2-40B4-BE49-F238E27FC236}">
                <a16:creationId xmlns:a16="http://schemas.microsoft.com/office/drawing/2014/main" id="{0D4515CB-843A-5358-CD4F-EE5BD50E719E}"/>
              </a:ext>
            </a:extLst>
          </p:cNvPr>
          <p:cNvPicPr>
            <a:picLocks noChangeAspect="1"/>
          </p:cNvPicPr>
          <p:nvPr/>
        </p:nvPicPr>
        <p:blipFill>
          <a:blip r:embed="rId6"/>
          <a:srcRect l="4229" t="6532" r="3968" b="10807"/>
          <a:stretch/>
        </p:blipFill>
        <p:spPr>
          <a:xfrm>
            <a:off x="3696102" y="5147305"/>
            <a:ext cx="6287642" cy="1639018"/>
          </a:xfrm>
          <a:prstGeom prst="rect">
            <a:avLst/>
          </a:prstGeom>
        </p:spPr>
      </p:pic>
      <p:pic>
        <p:nvPicPr>
          <p:cNvPr id="6" name="Image 2" descr="preencoded.png">
            <a:extLst>
              <a:ext uri="{FF2B5EF4-FFF2-40B4-BE49-F238E27FC236}">
                <a16:creationId xmlns:a16="http://schemas.microsoft.com/office/drawing/2014/main" id="{F33D1F9D-768F-82D9-55FB-48A78131ED9D}"/>
              </a:ext>
            </a:extLst>
          </p:cNvPr>
          <p:cNvPicPr>
            <a:picLocks noChangeAspect="1"/>
          </p:cNvPicPr>
          <p:nvPr/>
        </p:nvPicPr>
        <p:blipFill>
          <a:blip r:embed="rId7"/>
          <a:stretch>
            <a:fillRect/>
          </a:stretch>
        </p:blipFill>
        <p:spPr>
          <a:xfrm>
            <a:off x="11826141" y="6585812"/>
            <a:ext cx="322729" cy="234712"/>
          </a:xfrm>
          <a:prstGeom prst="rect">
            <a:avLst/>
          </a:prstGeom>
        </p:spPr>
      </p:pic>
    </p:spTree>
    <p:extLst>
      <p:ext uri="{BB962C8B-B14F-4D97-AF65-F5344CB8AC3E}">
        <p14:creationId xmlns:p14="http://schemas.microsoft.com/office/powerpoint/2010/main" val="1740674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731520" y="-731520"/>
            <a:ext cx="1828800" cy="1828800"/>
          </a:xfrm>
          <a:prstGeom prst="ellipse">
            <a:avLst/>
          </a:prstGeom>
          <a:solidFill>
            <a:srgbClr val="0066B3">
              <a:alpha val="15000"/>
            </a:srgbClr>
          </a:solidFill>
          <a:ln/>
        </p:spPr>
        <p:txBody>
          <a:bodyPr/>
          <a:lstStyle/>
          <a:p>
            <a:pPr defTabSz="1219170"/>
            <a:endParaRPr lang="en-US" sz="2400">
              <a:solidFill>
                <a:prstClr val="black"/>
              </a:solidFill>
              <a:latin typeface="Calibri" panose="020F0502020204030204"/>
            </a:endParaRPr>
          </a:p>
        </p:txBody>
      </p:sp>
      <p:sp>
        <p:nvSpPr>
          <p:cNvPr id="3" name="Shape 1"/>
          <p:cNvSpPr/>
          <p:nvPr/>
        </p:nvSpPr>
        <p:spPr>
          <a:xfrm>
            <a:off x="10363200" y="5120640"/>
            <a:ext cx="2438400" cy="2438400"/>
          </a:xfrm>
          <a:prstGeom prst="ellipse">
            <a:avLst/>
          </a:prstGeom>
          <a:solidFill>
            <a:srgbClr val="00A3B5">
              <a:alpha val="15000"/>
            </a:srgbClr>
          </a:solidFill>
          <a:ln/>
        </p:spPr>
        <p:txBody>
          <a:bodyPr/>
          <a:lstStyle/>
          <a:p>
            <a:pPr defTabSz="1219170"/>
            <a:endParaRPr lang="en-US" sz="2400">
              <a:solidFill>
                <a:prstClr val="black"/>
              </a:solidFill>
              <a:latin typeface="Calibri" panose="020F0502020204030204"/>
            </a:endParaRPr>
          </a:p>
        </p:txBody>
      </p:sp>
      <p:sp>
        <p:nvSpPr>
          <p:cNvPr id="4" name="Text 2"/>
          <p:cNvSpPr/>
          <p:nvPr/>
        </p:nvSpPr>
        <p:spPr>
          <a:xfrm>
            <a:off x="731520" y="426720"/>
            <a:ext cx="4876800" cy="341376"/>
          </a:xfrm>
          <a:prstGeom prst="rect">
            <a:avLst/>
          </a:prstGeom>
          <a:noFill/>
          <a:ln/>
        </p:spPr>
        <p:txBody>
          <a:bodyPr wrap="square" lIns="0" tIns="0" rIns="0" bIns="0" rtlCol="0" anchor="ctr"/>
          <a:lstStyle/>
          <a:p>
            <a:pPr defTabSz="1219170"/>
            <a:r>
              <a:rPr lang="en-US" sz="1333" b="1" kern="0" spc="533">
                <a:solidFill>
                  <a:srgbClr val="E87722"/>
                </a:solidFill>
                <a:latin typeface="Calibri" pitchFamily="34" charset="0"/>
                <a:ea typeface="Calibri" pitchFamily="34" charset="-122"/>
                <a:cs typeface="Calibri" pitchFamily="34" charset="-120"/>
              </a:rPr>
              <a:t>THE JOURNEY</a:t>
            </a:r>
            <a:endParaRPr lang="en-US" sz="1333">
              <a:solidFill>
                <a:prstClr val="black"/>
              </a:solidFill>
              <a:latin typeface="Calibri" panose="020F0502020204030204"/>
            </a:endParaRPr>
          </a:p>
        </p:txBody>
      </p:sp>
      <p:sp>
        <p:nvSpPr>
          <p:cNvPr id="5" name="Text 3"/>
          <p:cNvSpPr/>
          <p:nvPr/>
        </p:nvSpPr>
        <p:spPr>
          <a:xfrm>
            <a:off x="731520" y="731520"/>
            <a:ext cx="9753600" cy="853440"/>
          </a:xfrm>
          <a:prstGeom prst="rect">
            <a:avLst/>
          </a:prstGeom>
          <a:noFill/>
          <a:ln/>
        </p:spPr>
        <p:txBody>
          <a:bodyPr wrap="square" lIns="0" tIns="0" rIns="0" bIns="0" rtlCol="0" anchor="ctr"/>
          <a:lstStyle/>
          <a:p>
            <a:pPr defTabSz="1219170"/>
            <a:r>
              <a:rPr lang="en-US" sz="4000" b="1">
                <a:solidFill>
                  <a:srgbClr val="FFFFFF"/>
                </a:solidFill>
                <a:latin typeface="Calibri" pitchFamily="34" charset="0"/>
                <a:ea typeface="Calibri" pitchFamily="34" charset="-122"/>
                <a:cs typeface="Calibri" pitchFamily="34" charset="-120"/>
              </a:rPr>
              <a:t>Our AI Adoption Timeline</a:t>
            </a:r>
            <a:endParaRPr lang="en-US" sz="4000">
              <a:solidFill>
                <a:prstClr val="black"/>
              </a:solidFill>
              <a:latin typeface="Calibri" panose="020F0502020204030204"/>
            </a:endParaRPr>
          </a:p>
        </p:txBody>
      </p:sp>
      <p:sp>
        <p:nvSpPr>
          <p:cNvPr id="6" name="Text 4"/>
          <p:cNvSpPr/>
          <p:nvPr/>
        </p:nvSpPr>
        <p:spPr>
          <a:xfrm>
            <a:off x="731520" y="1767840"/>
            <a:ext cx="2194560" cy="341376"/>
          </a:xfrm>
          <a:prstGeom prst="rect">
            <a:avLst/>
          </a:prstGeom>
          <a:noFill/>
          <a:ln/>
        </p:spPr>
        <p:txBody>
          <a:bodyPr wrap="square" lIns="0" tIns="0" rIns="0" bIns="0" rtlCol="0" anchor="ctr"/>
          <a:lstStyle/>
          <a:p>
            <a:pPr algn="ctr" defTabSz="1219170"/>
            <a:r>
              <a:rPr lang="en-US" sz="1467" b="1">
                <a:solidFill>
                  <a:srgbClr val="4A90D9"/>
                </a:solidFill>
                <a:latin typeface="Calibri" pitchFamily="34" charset="0"/>
                <a:ea typeface="Calibri" pitchFamily="34" charset="-122"/>
                <a:cs typeface="Calibri" pitchFamily="34" charset="-120"/>
              </a:rPr>
              <a:t>Q3 2024</a:t>
            </a:r>
            <a:endParaRPr lang="en-US" sz="1467">
              <a:solidFill>
                <a:prstClr val="black"/>
              </a:solidFill>
              <a:latin typeface="Calibri" panose="020F0502020204030204"/>
            </a:endParaRPr>
          </a:p>
        </p:txBody>
      </p:sp>
      <p:sp>
        <p:nvSpPr>
          <p:cNvPr id="7" name="Text 5"/>
          <p:cNvSpPr/>
          <p:nvPr/>
        </p:nvSpPr>
        <p:spPr>
          <a:xfrm>
            <a:off x="3596640" y="1767840"/>
            <a:ext cx="2194560" cy="341376"/>
          </a:xfrm>
          <a:prstGeom prst="rect">
            <a:avLst/>
          </a:prstGeom>
          <a:noFill/>
          <a:ln/>
        </p:spPr>
        <p:txBody>
          <a:bodyPr wrap="square" lIns="0" tIns="0" rIns="0" bIns="0" rtlCol="0" anchor="ctr"/>
          <a:lstStyle/>
          <a:p>
            <a:pPr algn="ctr" defTabSz="1219170"/>
            <a:r>
              <a:rPr lang="en-US" sz="1467" b="1">
                <a:solidFill>
                  <a:srgbClr val="00A3B5"/>
                </a:solidFill>
                <a:latin typeface="Calibri" pitchFamily="34" charset="0"/>
                <a:ea typeface="Calibri" pitchFamily="34" charset="-122"/>
                <a:cs typeface="Calibri" pitchFamily="34" charset="-120"/>
              </a:rPr>
              <a:t>Q1 2025</a:t>
            </a:r>
            <a:endParaRPr lang="en-US" sz="1467">
              <a:solidFill>
                <a:prstClr val="black"/>
              </a:solidFill>
              <a:latin typeface="Calibri" panose="020F0502020204030204"/>
            </a:endParaRPr>
          </a:p>
        </p:txBody>
      </p:sp>
      <p:sp>
        <p:nvSpPr>
          <p:cNvPr id="8" name="Text 6"/>
          <p:cNvSpPr/>
          <p:nvPr/>
        </p:nvSpPr>
        <p:spPr>
          <a:xfrm>
            <a:off x="6400800" y="1767840"/>
            <a:ext cx="2194560" cy="341376"/>
          </a:xfrm>
          <a:prstGeom prst="rect">
            <a:avLst/>
          </a:prstGeom>
          <a:noFill/>
          <a:ln/>
        </p:spPr>
        <p:txBody>
          <a:bodyPr wrap="square" lIns="0" tIns="0" rIns="0" bIns="0" rtlCol="0" anchor="ctr"/>
          <a:lstStyle/>
          <a:p>
            <a:pPr algn="ctr" defTabSz="1219170"/>
            <a:r>
              <a:rPr lang="en-US" sz="1467" b="1">
                <a:solidFill>
                  <a:srgbClr val="E87722"/>
                </a:solidFill>
                <a:latin typeface="Calibri" pitchFamily="34" charset="0"/>
                <a:ea typeface="Calibri" pitchFamily="34" charset="-122"/>
                <a:cs typeface="Calibri" pitchFamily="34" charset="-120"/>
              </a:rPr>
              <a:t>Q2 2025</a:t>
            </a:r>
            <a:endParaRPr lang="en-US" sz="1467">
              <a:solidFill>
                <a:prstClr val="black"/>
              </a:solidFill>
              <a:latin typeface="Calibri" panose="020F0502020204030204"/>
            </a:endParaRPr>
          </a:p>
        </p:txBody>
      </p:sp>
      <p:sp>
        <p:nvSpPr>
          <p:cNvPr id="9" name="Text 7"/>
          <p:cNvSpPr/>
          <p:nvPr/>
        </p:nvSpPr>
        <p:spPr>
          <a:xfrm>
            <a:off x="9326880" y="1767840"/>
            <a:ext cx="2194560" cy="341376"/>
          </a:xfrm>
          <a:prstGeom prst="rect">
            <a:avLst/>
          </a:prstGeom>
          <a:noFill/>
          <a:ln/>
        </p:spPr>
        <p:txBody>
          <a:bodyPr wrap="square" lIns="0" tIns="0" rIns="0" bIns="0" rtlCol="0" anchor="ctr"/>
          <a:lstStyle/>
          <a:p>
            <a:pPr algn="ctr" defTabSz="1219170"/>
            <a:r>
              <a:rPr lang="en-US" sz="1467" b="1">
                <a:solidFill>
                  <a:srgbClr val="10B981"/>
                </a:solidFill>
                <a:latin typeface="Calibri" pitchFamily="34" charset="0"/>
                <a:ea typeface="Calibri" pitchFamily="34" charset="-122"/>
                <a:cs typeface="Calibri" pitchFamily="34" charset="-120"/>
              </a:rPr>
              <a:t>2026+</a:t>
            </a:r>
            <a:endParaRPr lang="en-US" sz="1467">
              <a:solidFill>
                <a:prstClr val="black"/>
              </a:solidFill>
              <a:latin typeface="Calibri" panose="020F0502020204030204"/>
            </a:endParaRPr>
          </a:p>
        </p:txBody>
      </p:sp>
      <p:sp>
        <p:nvSpPr>
          <p:cNvPr id="10" name="Shape 8"/>
          <p:cNvSpPr/>
          <p:nvPr/>
        </p:nvSpPr>
        <p:spPr>
          <a:xfrm>
            <a:off x="853440" y="2389632"/>
            <a:ext cx="10485120" cy="0"/>
          </a:xfrm>
          <a:prstGeom prst="line">
            <a:avLst/>
          </a:prstGeom>
          <a:noFill/>
          <a:ln w="31750">
            <a:solidFill>
              <a:srgbClr val="3A5678"/>
            </a:solidFill>
            <a:prstDash val="lgDash"/>
          </a:ln>
        </p:spPr>
        <p:txBody>
          <a:bodyPr/>
          <a:lstStyle/>
          <a:p>
            <a:pPr defTabSz="1219170"/>
            <a:endParaRPr lang="en-US" sz="2400">
              <a:solidFill>
                <a:prstClr val="black"/>
              </a:solidFill>
              <a:latin typeface="Calibri" panose="020F0502020204030204"/>
            </a:endParaRPr>
          </a:p>
        </p:txBody>
      </p:sp>
      <p:sp>
        <p:nvSpPr>
          <p:cNvPr id="11" name="Shape 9"/>
          <p:cNvSpPr/>
          <p:nvPr/>
        </p:nvSpPr>
        <p:spPr>
          <a:xfrm>
            <a:off x="1584960" y="2157984"/>
            <a:ext cx="487680" cy="487680"/>
          </a:xfrm>
          <a:prstGeom prst="ellipse">
            <a:avLst/>
          </a:prstGeom>
          <a:solidFill>
            <a:srgbClr val="4A90D9"/>
          </a:solidFill>
          <a:ln/>
        </p:spPr>
        <p:txBody>
          <a:bodyPr/>
          <a:lstStyle/>
          <a:p>
            <a:pPr defTabSz="1219170"/>
            <a:endParaRPr lang="en-US" sz="2400">
              <a:solidFill>
                <a:prstClr val="black"/>
              </a:solidFill>
              <a:latin typeface="Calibri" panose="020F0502020204030204"/>
            </a:endParaRPr>
          </a:p>
        </p:txBody>
      </p:sp>
      <p:sp>
        <p:nvSpPr>
          <p:cNvPr id="12" name="Shape 10"/>
          <p:cNvSpPr/>
          <p:nvPr/>
        </p:nvSpPr>
        <p:spPr>
          <a:xfrm>
            <a:off x="4450080" y="2157984"/>
            <a:ext cx="487680" cy="487680"/>
          </a:xfrm>
          <a:prstGeom prst="ellipse">
            <a:avLst/>
          </a:prstGeom>
          <a:solidFill>
            <a:srgbClr val="00A3B5"/>
          </a:solidFill>
          <a:ln/>
        </p:spPr>
        <p:txBody>
          <a:bodyPr/>
          <a:lstStyle/>
          <a:p>
            <a:pPr defTabSz="1219170"/>
            <a:endParaRPr lang="en-US" sz="2400">
              <a:solidFill>
                <a:prstClr val="black"/>
              </a:solidFill>
              <a:latin typeface="Calibri" panose="020F0502020204030204"/>
            </a:endParaRPr>
          </a:p>
        </p:txBody>
      </p:sp>
      <p:sp>
        <p:nvSpPr>
          <p:cNvPr id="13" name="Shape 11"/>
          <p:cNvSpPr/>
          <p:nvPr/>
        </p:nvSpPr>
        <p:spPr>
          <a:xfrm>
            <a:off x="7315200" y="2157984"/>
            <a:ext cx="487680" cy="487680"/>
          </a:xfrm>
          <a:prstGeom prst="ellipse">
            <a:avLst/>
          </a:prstGeom>
          <a:solidFill>
            <a:srgbClr val="E87722"/>
          </a:solidFill>
          <a:ln/>
        </p:spPr>
        <p:txBody>
          <a:bodyPr/>
          <a:lstStyle/>
          <a:p>
            <a:pPr defTabSz="1219170"/>
            <a:endParaRPr lang="en-US" sz="2400">
              <a:solidFill>
                <a:prstClr val="black"/>
              </a:solidFill>
              <a:latin typeface="Calibri" panose="020F0502020204030204"/>
            </a:endParaRPr>
          </a:p>
        </p:txBody>
      </p:sp>
      <p:sp>
        <p:nvSpPr>
          <p:cNvPr id="14" name="Shape 12"/>
          <p:cNvSpPr/>
          <p:nvPr/>
        </p:nvSpPr>
        <p:spPr>
          <a:xfrm>
            <a:off x="10180320" y="2157984"/>
            <a:ext cx="487680" cy="487680"/>
          </a:xfrm>
          <a:prstGeom prst="ellipse">
            <a:avLst/>
          </a:prstGeom>
          <a:solidFill>
            <a:srgbClr val="10B981"/>
          </a:solidFill>
          <a:ln/>
        </p:spPr>
        <p:txBody>
          <a:bodyPr/>
          <a:lstStyle/>
          <a:p>
            <a:pPr defTabSz="1219170"/>
            <a:endParaRPr lang="en-US" sz="2400">
              <a:solidFill>
                <a:prstClr val="black"/>
              </a:solidFill>
              <a:latin typeface="Calibri" panose="020F0502020204030204"/>
            </a:endParaRPr>
          </a:p>
        </p:txBody>
      </p:sp>
      <p:sp>
        <p:nvSpPr>
          <p:cNvPr id="15" name="Shape 13"/>
          <p:cNvSpPr/>
          <p:nvPr/>
        </p:nvSpPr>
        <p:spPr>
          <a:xfrm>
            <a:off x="548640" y="2926080"/>
            <a:ext cx="2621280" cy="3413760"/>
          </a:xfrm>
          <a:prstGeom prst="roundRect">
            <a:avLst>
              <a:gd name="adj" fmla="val 5581"/>
            </a:avLst>
          </a:prstGeom>
          <a:solidFill>
            <a:srgbClr val="111F35"/>
          </a:solidFill>
          <a:ln w="9525">
            <a:solidFill>
              <a:srgbClr val="1C3150"/>
            </a:solidFill>
            <a:prstDash val="solid"/>
          </a:ln>
          <a:effectLst>
            <a:outerShdw blurRad="152400" dist="50800" dir="8100000" algn="bl" rotWithShape="0">
              <a:srgbClr val="000000">
                <a:alpha val="35000"/>
              </a:srgbClr>
            </a:outerShdw>
          </a:effectLst>
        </p:spPr>
        <p:txBody>
          <a:bodyPr/>
          <a:lstStyle/>
          <a:p>
            <a:pPr defTabSz="1219170"/>
            <a:endParaRPr lang="en-US" sz="2400">
              <a:solidFill>
                <a:prstClr val="black"/>
              </a:solidFill>
              <a:latin typeface="Calibri" panose="020F0502020204030204"/>
            </a:endParaRPr>
          </a:p>
        </p:txBody>
      </p:sp>
      <p:sp>
        <p:nvSpPr>
          <p:cNvPr id="16" name="Shape 14"/>
          <p:cNvSpPr/>
          <p:nvPr/>
        </p:nvSpPr>
        <p:spPr>
          <a:xfrm>
            <a:off x="1280160" y="3108960"/>
            <a:ext cx="1097280" cy="1097280"/>
          </a:xfrm>
          <a:prstGeom prst="ellipse">
            <a:avLst/>
          </a:prstGeom>
          <a:solidFill>
            <a:srgbClr val="4A90D9">
              <a:alpha val="35000"/>
            </a:srgbClr>
          </a:solidFill>
          <a:ln/>
        </p:spPr>
        <p:txBody>
          <a:bodyPr/>
          <a:lstStyle/>
          <a:p>
            <a:pPr defTabSz="1219170"/>
            <a:endParaRPr lang="en-US" sz="2400">
              <a:solidFill>
                <a:prstClr val="black"/>
              </a:solidFill>
              <a:latin typeface="Calibri" panose="020F0502020204030204"/>
            </a:endParaRPr>
          </a:p>
        </p:txBody>
      </p:sp>
      <p:sp>
        <p:nvSpPr>
          <p:cNvPr id="17" name="Shape 15"/>
          <p:cNvSpPr/>
          <p:nvPr/>
        </p:nvSpPr>
        <p:spPr>
          <a:xfrm>
            <a:off x="1402080" y="3230880"/>
            <a:ext cx="853440" cy="853440"/>
          </a:xfrm>
          <a:prstGeom prst="ellipse">
            <a:avLst/>
          </a:prstGeom>
          <a:solidFill>
            <a:srgbClr val="4A90D9">
              <a:alpha val="70000"/>
            </a:srgbClr>
          </a:solidFill>
          <a:ln/>
        </p:spPr>
        <p:txBody>
          <a:bodyPr/>
          <a:lstStyle/>
          <a:p>
            <a:pPr defTabSz="1219170"/>
            <a:endParaRPr lang="en-US" sz="2400">
              <a:solidFill>
                <a:prstClr val="black"/>
              </a:solidFill>
              <a:latin typeface="Calibri" panose="020F0502020204030204"/>
            </a:endParaRPr>
          </a:p>
        </p:txBody>
      </p:sp>
      <p:pic>
        <p:nvPicPr>
          <p:cNvPr id="18" name="Image 0" descr="preencoded.png"/>
          <p:cNvPicPr>
            <a:picLocks noChangeAspect="1"/>
          </p:cNvPicPr>
          <p:nvPr/>
        </p:nvPicPr>
        <p:blipFill>
          <a:blip r:embed="rId2"/>
          <a:stretch>
            <a:fillRect/>
          </a:stretch>
        </p:blipFill>
        <p:spPr>
          <a:xfrm>
            <a:off x="1548384" y="3377184"/>
            <a:ext cx="548640" cy="548640"/>
          </a:xfrm>
          <a:prstGeom prst="rect">
            <a:avLst/>
          </a:prstGeom>
        </p:spPr>
      </p:pic>
      <p:sp>
        <p:nvSpPr>
          <p:cNvPr id="19" name="Text 16"/>
          <p:cNvSpPr/>
          <p:nvPr/>
        </p:nvSpPr>
        <p:spPr>
          <a:xfrm>
            <a:off x="670560" y="4267200"/>
            <a:ext cx="2377440" cy="365760"/>
          </a:xfrm>
          <a:prstGeom prst="rect">
            <a:avLst/>
          </a:prstGeom>
          <a:noFill/>
          <a:ln/>
        </p:spPr>
        <p:txBody>
          <a:bodyPr wrap="square" lIns="0" tIns="0" rIns="0" bIns="0" rtlCol="0" anchor="ctr"/>
          <a:lstStyle/>
          <a:p>
            <a:pPr algn="ctr" defTabSz="1219170"/>
            <a:r>
              <a:rPr lang="en-US" sz="1600" b="1">
                <a:solidFill>
                  <a:srgbClr val="FFFFFF"/>
                </a:solidFill>
                <a:latin typeface="Calibri" pitchFamily="34" charset="0"/>
                <a:ea typeface="Calibri" pitchFamily="34" charset="-122"/>
                <a:cs typeface="Calibri" pitchFamily="34" charset="-120"/>
              </a:rPr>
              <a:t>Exploration</a:t>
            </a:r>
            <a:endParaRPr lang="en-US" sz="1600">
              <a:solidFill>
                <a:prstClr val="black"/>
              </a:solidFill>
              <a:latin typeface="Calibri" panose="020F0502020204030204"/>
            </a:endParaRPr>
          </a:p>
        </p:txBody>
      </p:sp>
      <p:sp>
        <p:nvSpPr>
          <p:cNvPr id="20" name="Text 17"/>
          <p:cNvSpPr/>
          <p:nvPr/>
        </p:nvSpPr>
        <p:spPr>
          <a:xfrm>
            <a:off x="670560" y="4754880"/>
            <a:ext cx="2377440" cy="487680"/>
          </a:xfrm>
          <a:prstGeom prst="rect">
            <a:avLst/>
          </a:prstGeom>
          <a:noFill/>
          <a:ln/>
        </p:spPr>
        <p:txBody>
          <a:bodyPr wrap="square" lIns="0" tIns="0" rIns="0" bIns="0" rtlCol="0" anchor="ctr"/>
          <a:lstStyle/>
          <a:p>
            <a:pPr algn="ctr" defTabSz="1219170"/>
            <a:r>
              <a:rPr lang="en-US" sz="1133">
                <a:solidFill>
                  <a:srgbClr val="B0BEC5"/>
                </a:solidFill>
                <a:latin typeface="Calibri" pitchFamily="34" charset="0"/>
                <a:ea typeface="Calibri" pitchFamily="34" charset="-122"/>
                <a:cs typeface="Calibri" pitchFamily="34" charset="-120"/>
              </a:rPr>
              <a:t>Market research &amp;</a:t>
            </a:r>
            <a:endParaRPr lang="en-US" sz="1133">
              <a:solidFill>
                <a:prstClr val="black"/>
              </a:solidFill>
              <a:latin typeface="Calibri" panose="020F0502020204030204"/>
            </a:endParaRPr>
          </a:p>
          <a:p>
            <a:pPr algn="ctr" defTabSz="1219170"/>
            <a:r>
              <a:rPr lang="en-US" sz="1133">
                <a:solidFill>
                  <a:srgbClr val="B0BEC5"/>
                </a:solidFill>
                <a:latin typeface="Calibri" pitchFamily="34" charset="0"/>
                <a:ea typeface="Calibri" pitchFamily="34" charset="-122"/>
                <a:cs typeface="Calibri" pitchFamily="34" charset="-120"/>
              </a:rPr>
              <a:t>tool evaluation</a:t>
            </a:r>
            <a:endParaRPr lang="en-US" sz="1133">
              <a:solidFill>
                <a:prstClr val="black"/>
              </a:solidFill>
              <a:latin typeface="Calibri" panose="020F0502020204030204"/>
            </a:endParaRPr>
          </a:p>
        </p:txBody>
      </p:sp>
      <p:sp>
        <p:nvSpPr>
          <p:cNvPr id="21" name="Text 18"/>
          <p:cNvSpPr/>
          <p:nvPr/>
        </p:nvSpPr>
        <p:spPr>
          <a:xfrm>
            <a:off x="670560" y="5266944"/>
            <a:ext cx="2377440" cy="487680"/>
          </a:xfrm>
          <a:prstGeom prst="rect">
            <a:avLst/>
          </a:prstGeom>
          <a:noFill/>
          <a:ln/>
        </p:spPr>
        <p:txBody>
          <a:bodyPr wrap="square" lIns="0" tIns="0" rIns="0" bIns="0" rtlCol="0" anchor="ctr"/>
          <a:lstStyle/>
          <a:p>
            <a:pPr algn="ctr" defTabSz="1219170"/>
            <a:r>
              <a:rPr lang="en-US" sz="1133">
                <a:solidFill>
                  <a:srgbClr val="B0BEC5"/>
                </a:solidFill>
                <a:latin typeface="Calibri" pitchFamily="34" charset="0"/>
                <a:ea typeface="Calibri" pitchFamily="34" charset="-122"/>
                <a:cs typeface="Calibri" pitchFamily="34" charset="-120"/>
              </a:rPr>
              <a:t>Upskilling teams</a:t>
            </a:r>
            <a:endParaRPr lang="en-US" sz="1133">
              <a:solidFill>
                <a:prstClr val="black"/>
              </a:solidFill>
              <a:latin typeface="Calibri" panose="020F0502020204030204"/>
            </a:endParaRPr>
          </a:p>
          <a:p>
            <a:pPr algn="ctr" defTabSz="1219170"/>
            <a:r>
              <a:rPr lang="en-US" sz="1133">
                <a:solidFill>
                  <a:srgbClr val="B0BEC5"/>
                </a:solidFill>
                <a:latin typeface="Calibri" pitchFamily="34" charset="0"/>
                <a:ea typeface="Calibri" pitchFamily="34" charset="-122"/>
                <a:cs typeface="Calibri" pitchFamily="34" charset="-120"/>
              </a:rPr>
              <a:t>on AI fundamentals</a:t>
            </a:r>
            <a:endParaRPr lang="en-US" sz="1133">
              <a:solidFill>
                <a:prstClr val="black"/>
              </a:solidFill>
              <a:latin typeface="Calibri" panose="020F0502020204030204"/>
            </a:endParaRPr>
          </a:p>
        </p:txBody>
      </p:sp>
      <p:sp>
        <p:nvSpPr>
          <p:cNvPr id="22" name="Text 19"/>
          <p:cNvSpPr/>
          <p:nvPr/>
        </p:nvSpPr>
        <p:spPr>
          <a:xfrm>
            <a:off x="670560" y="5779008"/>
            <a:ext cx="2377440" cy="487680"/>
          </a:xfrm>
          <a:prstGeom prst="rect">
            <a:avLst/>
          </a:prstGeom>
          <a:noFill/>
          <a:ln/>
        </p:spPr>
        <p:txBody>
          <a:bodyPr wrap="square" lIns="0" tIns="0" rIns="0" bIns="0" rtlCol="0" anchor="ctr"/>
          <a:lstStyle/>
          <a:p>
            <a:pPr algn="ctr" defTabSz="1219170"/>
            <a:r>
              <a:rPr lang="en-US" sz="1133">
                <a:solidFill>
                  <a:srgbClr val="B0BEC5"/>
                </a:solidFill>
                <a:latin typeface="Calibri" pitchFamily="34" charset="0"/>
                <a:ea typeface="Calibri" pitchFamily="34" charset="-122"/>
                <a:cs typeface="Calibri" pitchFamily="34" charset="-120"/>
              </a:rPr>
              <a:t>Building the case</a:t>
            </a:r>
            <a:endParaRPr lang="en-US" sz="1133">
              <a:solidFill>
                <a:prstClr val="black"/>
              </a:solidFill>
              <a:latin typeface="Calibri" panose="020F0502020204030204"/>
            </a:endParaRPr>
          </a:p>
          <a:p>
            <a:pPr algn="ctr" defTabSz="1219170"/>
            <a:r>
              <a:rPr lang="en-US" sz="1133">
                <a:solidFill>
                  <a:srgbClr val="B0BEC5"/>
                </a:solidFill>
                <a:latin typeface="Calibri" pitchFamily="34" charset="0"/>
                <a:ea typeface="Calibri" pitchFamily="34" charset="-122"/>
                <a:cs typeface="Calibri" pitchFamily="34" charset="-120"/>
              </a:rPr>
              <a:t>for investment</a:t>
            </a:r>
            <a:endParaRPr lang="en-US" sz="1133">
              <a:solidFill>
                <a:prstClr val="black"/>
              </a:solidFill>
              <a:latin typeface="Calibri" panose="020F0502020204030204"/>
            </a:endParaRPr>
          </a:p>
        </p:txBody>
      </p:sp>
      <p:sp>
        <p:nvSpPr>
          <p:cNvPr id="23" name="Shape 20"/>
          <p:cNvSpPr/>
          <p:nvPr/>
        </p:nvSpPr>
        <p:spPr>
          <a:xfrm>
            <a:off x="3413760" y="2926080"/>
            <a:ext cx="2621280" cy="3413760"/>
          </a:xfrm>
          <a:prstGeom prst="roundRect">
            <a:avLst>
              <a:gd name="adj" fmla="val 5581"/>
            </a:avLst>
          </a:prstGeom>
          <a:solidFill>
            <a:srgbClr val="111F35"/>
          </a:solidFill>
          <a:ln w="9525">
            <a:solidFill>
              <a:srgbClr val="1C3150"/>
            </a:solidFill>
            <a:prstDash val="solid"/>
          </a:ln>
          <a:effectLst>
            <a:outerShdw blurRad="152400" dist="50800" dir="8100000" algn="bl" rotWithShape="0">
              <a:srgbClr val="000000">
                <a:alpha val="35000"/>
              </a:srgbClr>
            </a:outerShdw>
          </a:effectLst>
        </p:spPr>
        <p:txBody>
          <a:bodyPr/>
          <a:lstStyle/>
          <a:p>
            <a:pPr defTabSz="1219170"/>
            <a:endParaRPr lang="en-US" sz="2400">
              <a:solidFill>
                <a:prstClr val="black"/>
              </a:solidFill>
              <a:latin typeface="Calibri" panose="020F0502020204030204"/>
            </a:endParaRPr>
          </a:p>
        </p:txBody>
      </p:sp>
      <p:sp>
        <p:nvSpPr>
          <p:cNvPr id="24" name="Shape 21"/>
          <p:cNvSpPr/>
          <p:nvPr/>
        </p:nvSpPr>
        <p:spPr>
          <a:xfrm>
            <a:off x="4145280" y="3108960"/>
            <a:ext cx="1097280" cy="1097280"/>
          </a:xfrm>
          <a:prstGeom prst="ellipse">
            <a:avLst/>
          </a:prstGeom>
          <a:solidFill>
            <a:srgbClr val="00A3B5">
              <a:alpha val="35000"/>
            </a:srgbClr>
          </a:solidFill>
          <a:ln/>
        </p:spPr>
        <p:txBody>
          <a:bodyPr/>
          <a:lstStyle/>
          <a:p>
            <a:pPr defTabSz="1219170"/>
            <a:endParaRPr lang="en-US" sz="2400">
              <a:solidFill>
                <a:prstClr val="black"/>
              </a:solidFill>
              <a:latin typeface="Calibri" panose="020F0502020204030204"/>
            </a:endParaRPr>
          </a:p>
        </p:txBody>
      </p:sp>
      <p:sp>
        <p:nvSpPr>
          <p:cNvPr id="25" name="Shape 22"/>
          <p:cNvSpPr/>
          <p:nvPr/>
        </p:nvSpPr>
        <p:spPr>
          <a:xfrm>
            <a:off x="4267200" y="3230880"/>
            <a:ext cx="853440" cy="853440"/>
          </a:xfrm>
          <a:prstGeom prst="ellipse">
            <a:avLst/>
          </a:prstGeom>
          <a:solidFill>
            <a:srgbClr val="00A3B5">
              <a:alpha val="70000"/>
            </a:srgbClr>
          </a:solidFill>
          <a:ln/>
        </p:spPr>
        <p:txBody>
          <a:bodyPr/>
          <a:lstStyle/>
          <a:p>
            <a:pPr defTabSz="1219170"/>
            <a:endParaRPr lang="en-US" sz="2400">
              <a:solidFill>
                <a:prstClr val="black"/>
              </a:solidFill>
              <a:latin typeface="Calibri" panose="020F0502020204030204"/>
            </a:endParaRPr>
          </a:p>
        </p:txBody>
      </p:sp>
      <p:pic>
        <p:nvPicPr>
          <p:cNvPr id="26" name="Image 1" descr="preencoded.png"/>
          <p:cNvPicPr>
            <a:picLocks noChangeAspect="1"/>
          </p:cNvPicPr>
          <p:nvPr/>
        </p:nvPicPr>
        <p:blipFill>
          <a:blip r:embed="rId3"/>
          <a:stretch>
            <a:fillRect/>
          </a:stretch>
        </p:blipFill>
        <p:spPr>
          <a:xfrm>
            <a:off x="4413504" y="3377184"/>
            <a:ext cx="548640" cy="548640"/>
          </a:xfrm>
          <a:prstGeom prst="rect">
            <a:avLst/>
          </a:prstGeom>
        </p:spPr>
      </p:pic>
      <p:sp>
        <p:nvSpPr>
          <p:cNvPr id="27" name="Text 23"/>
          <p:cNvSpPr/>
          <p:nvPr/>
        </p:nvSpPr>
        <p:spPr>
          <a:xfrm>
            <a:off x="3535680" y="4267200"/>
            <a:ext cx="2377440" cy="365760"/>
          </a:xfrm>
          <a:prstGeom prst="rect">
            <a:avLst/>
          </a:prstGeom>
          <a:noFill/>
          <a:ln/>
        </p:spPr>
        <p:txBody>
          <a:bodyPr wrap="square" lIns="0" tIns="0" rIns="0" bIns="0" rtlCol="0" anchor="ctr"/>
          <a:lstStyle/>
          <a:p>
            <a:pPr algn="ctr" defTabSz="1219170"/>
            <a:r>
              <a:rPr lang="en-US" sz="1600" b="1">
                <a:solidFill>
                  <a:srgbClr val="FFFFFF"/>
                </a:solidFill>
                <a:latin typeface="Calibri" pitchFamily="34" charset="0"/>
                <a:ea typeface="Calibri" pitchFamily="34" charset="-122"/>
                <a:cs typeface="Calibri" pitchFamily="34" charset="-120"/>
              </a:rPr>
              <a:t>Governance</a:t>
            </a:r>
            <a:endParaRPr lang="en-US" sz="1600">
              <a:solidFill>
                <a:prstClr val="black"/>
              </a:solidFill>
              <a:latin typeface="Calibri" panose="020F0502020204030204"/>
            </a:endParaRPr>
          </a:p>
        </p:txBody>
      </p:sp>
      <p:sp>
        <p:nvSpPr>
          <p:cNvPr id="28" name="Text 24"/>
          <p:cNvSpPr/>
          <p:nvPr/>
        </p:nvSpPr>
        <p:spPr>
          <a:xfrm>
            <a:off x="3535680" y="4754880"/>
            <a:ext cx="2377440" cy="487680"/>
          </a:xfrm>
          <a:prstGeom prst="rect">
            <a:avLst/>
          </a:prstGeom>
          <a:noFill/>
          <a:ln/>
        </p:spPr>
        <p:txBody>
          <a:bodyPr wrap="square" lIns="0" tIns="0" rIns="0" bIns="0" rtlCol="0" anchor="ctr"/>
          <a:lstStyle/>
          <a:p>
            <a:pPr algn="ctr" defTabSz="1219170"/>
            <a:r>
              <a:rPr lang="en-US" sz="1133">
                <a:solidFill>
                  <a:srgbClr val="B0BEC5"/>
                </a:solidFill>
                <a:latin typeface="Calibri" pitchFamily="34" charset="0"/>
                <a:ea typeface="Calibri" pitchFamily="34" charset="-122"/>
                <a:cs typeface="Calibri" pitchFamily="34" charset="-120"/>
              </a:rPr>
              <a:t>Lean governance</a:t>
            </a:r>
            <a:endParaRPr lang="en-US" sz="1133">
              <a:solidFill>
                <a:prstClr val="black"/>
              </a:solidFill>
              <a:latin typeface="Calibri" panose="020F0502020204030204"/>
            </a:endParaRPr>
          </a:p>
          <a:p>
            <a:pPr algn="ctr" defTabSz="1219170"/>
            <a:r>
              <a:rPr lang="en-US" sz="1133">
                <a:solidFill>
                  <a:srgbClr val="B0BEC5"/>
                </a:solidFill>
                <a:latin typeface="Calibri" pitchFamily="34" charset="0"/>
                <a:ea typeface="Calibri" pitchFamily="34" charset="-122"/>
                <a:cs typeface="Calibri" pitchFamily="34" charset="-120"/>
              </a:rPr>
              <a:t>COE</a:t>
            </a:r>
            <a:endParaRPr lang="en-US" sz="1133">
              <a:solidFill>
                <a:prstClr val="black"/>
              </a:solidFill>
              <a:latin typeface="Calibri" panose="020F0502020204030204"/>
            </a:endParaRPr>
          </a:p>
        </p:txBody>
      </p:sp>
      <p:sp>
        <p:nvSpPr>
          <p:cNvPr id="29" name="Text 25"/>
          <p:cNvSpPr/>
          <p:nvPr/>
        </p:nvSpPr>
        <p:spPr>
          <a:xfrm>
            <a:off x="3535680" y="5266944"/>
            <a:ext cx="2377440" cy="487680"/>
          </a:xfrm>
          <a:prstGeom prst="rect">
            <a:avLst/>
          </a:prstGeom>
          <a:noFill/>
          <a:ln/>
        </p:spPr>
        <p:txBody>
          <a:bodyPr wrap="square" lIns="0" tIns="0" rIns="0" bIns="0" rtlCol="0" anchor="ctr"/>
          <a:lstStyle/>
          <a:p>
            <a:pPr algn="ctr" defTabSz="1219170"/>
            <a:r>
              <a:rPr lang="en-US" sz="1133">
                <a:solidFill>
                  <a:srgbClr val="B0BEC5"/>
                </a:solidFill>
                <a:latin typeface="Calibri" pitchFamily="34" charset="0"/>
                <a:ea typeface="Calibri" pitchFamily="34" charset="-122"/>
                <a:cs typeface="Calibri" pitchFamily="34" charset="-120"/>
              </a:rPr>
              <a:t>Risk classification</a:t>
            </a:r>
            <a:endParaRPr lang="en-US" sz="1133">
              <a:solidFill>
                <a:prstClr val="black"/>
              </a:solidFill>
              <a:latin typeface="Calibri" panose="020F0502020204030204"/>
            </a:endParaRPr>
          </a:p>
          <a:p>
            <a:pPr algn="ctr" defTabSz="1219170"/>
            <a:r>
              <a:rPr lang="en-US" sz="1133">
                <a:solidFill>
                  <a:srgbClr val="B0BEC5"/>
                </a:solidFill>
                <a:latin typeface="Calibri" pitchFamily="34" charset="0"/>
                <a:ea typeface="Calibri" pitchFamily="34" charset="-122"/>
                <a:cs typeface="Calibri" pitchFamily="34" charset="-120"/>
              </a:rPr>
              <a:t>framework</a:t>
            </a:r>
            <a:endParaRPr lang="en-US" sz="1133">
              <a:solidFill>
                <a:prstClr val="black"/>
              </a:solidFill>
              <a:latin typeface="Calibri" panose="020F0502020204030204"/>
            </a:endParaRPr>
          </a:p>
        </p:txBody>
      </p:sp>
      <p:sp>
        <p:nvSpPr>
          <p:cNvPr id="30" name="Text 26"/>
          <p:cNvSpPr/>
          <p:nvPr/>
        </p:nvSpPr>
        <p:spPr>
          <a:xfrm>
            <a:off x="3535680" y="5779008"/>
            <a:ext cx="2377440" cy="487680"/>
          </a:xfrm>
          <a:prstGeom prst="rect">
            <a:avLst/>
          </a:prstGeom>
          <a:noFill/>
          <a:ln/>
        </p:spPr>
        <p:txBody>
          <a:bodyPr wrap="square" lIns="0" tIns="0" rIns="0" bIns="0" rtlCol="0" anchor="ctr"/>
          <a:lstStyle/>
          <a:p>
            <a:pPr algn="ctr" defTabSz="1219170"/>
            <a:r>
              <a:rPr lang="en-US" sz="1133">
                <a:solidFill>
                  <a:srgbClr val="B0BEC5"/>
                </a:solidFill>
                <a:latin typeface="Calibri" pitchFamily="34" charset="0"/>
                <a:ea typeface="Calibri" pitchFamily="34" charset="-122"/>
                <a:cs typeface="Calibri" pitchFamily="34" charset="-120"/>
              </a:rPr>
              <a:t>Experimentation</a:t>
            </a:r>
            <a:endParaRPr lang="en-US" sz="1133">
              <a:solidFill>
                <a:prstClr val="black"/>
              </a:solidFill>
              <a:latin typeface="Calibri" panose="020F0502020204030204"/>
            </a:endParaRPr>
          </a:p>
          <a:p>
            <a:pPr algn="ctr" defTabSz="1219170"/>
            <a:r>
              <a:rPr lang="en-US" sz="1133">
                <a:solidFill>
                  <a:srgbClr val="B0BEC5"/>
                </a:solidFill>
                <a:latin typeface="Calibri" pitchFamily="34" charset="0"/>
                <a:ea typeface="Calibri" pitchFamily="34" charset="-122"/>
                <a:cs typeface="Calibri" pitchFamily="34" charset="-120"/>
              </a:rPr>
              <a:t>sandbox launched</a:t>
            </a:r>
            <a:endParaRPr lang="en-US" sz="1133">
              <a:solidFill>
                <a:prstClr val="black"/>
              </a:solidFill>
              <a:latin typeface="Calibri" panose="020F0502020204030204"/>
            </a:endParaRPr>
          </a:p>
        </p:txBody>
      </p:sp>
      <p:sp>
        <p:nvSpPr>
          <p:cNvPr id="31" name="Shape 27"/>
          <p:cNvSpPr/>
          <p:nvPr/>
        </p:nvSpPr>
        <p:spPr>
          <a:xfrm>
            <a:off x="6278880" y="2926080"/>
            <a:ext cx="2621280" cy="3413760"/>
          </a:xfrm>
          <a:prstGeom prst="roundRect">
            <a:avLst>
              <a:gd name="adj" fmla="val 5581"/>
            </a:avLst>
          </a:prstGeom>
          <a:solidFill>
            <a:srgbClr val="111F35"/>
          </a:solidFill>
          <a:ln w="9525">
            <a:solidFill>
              <a:srgbClr val="1C3150"/>
            </a:solidFill>
            <a:prstDash val="solid"/>
          </a:ln>
          <a:effectLst>
            <a:outerShdw blurRad="152400" dist="50800" dir="8100000" algn="bl" rotWithShape="0">
              <a:srgbClr val="000000">
                <a:alpha val="35000"/>
              </a:srgbClr>
            </a:outerShdw>
          </a:effectLst>
        </p:spPr>
        <p:txBody>
          <a:bodyPr/>
          <a:lstStyle/>
          <a:p>
            <a:pPr defTabSz="1219170"/>
            <a:endParaRPr lang="en-US" sz="2400">
              <a:solidFill>
                <a:prstClr val="black"/>
              </a:solidFill>
              <a:latin typeface="Calibri" panose="020F0502020204030204"/>
            </a:endParaRPr>
          </a:p>
        </p:txBody>
      </p:sp>
      <p:sp>
        <p:nvSpPr>
          <p:cNvPr id="32" name="Shape 28"/>
          <p:cNvSpPr/>
          <p:nvPr/>
        </p:nvSpPr>
        <p:spPr>
          <a:xfrm>
            <a:off x="7010400" y="3108960"/>
            <a:ext cx="1097280" cy="1097280"/>
          </a:xfrm>
          <a:prstGeom prst="ellipse">
            <a:avLst/>
          </a:prstGeom>
          <a:solidFill>
            <a:srgbClr val="E87722">
              <a:alpha val="35000"/>
            </a:srgbClr>
          </a:solidFill>
          <a:ln/>
        </p:spPr>
        <p:txBody>
          <a:bodyPr/>
          <a:lstStyle/>
          <a:p>
            <a:pPr defTabSz="1219170"/>
            <a:endParaRPr lang="en-US" sz="2400">
              <a:solidFill>
                <a:prstClr val="black"/>
              </a:solidFill>
              <a:latin typeface="Calibri" panose="020F0502020204030204"/>
            </a:endParaRPr>
          </a:p>
        </p:txBody>
      </p:sp>
      <p:sp>
        <p:nvSpPr>
          <p:cNvPr id="33" name="Shape 29"/>
          <p:cNvSpPr/>
          <p:nvPr/>
        </p:nvSpPr>
        <p:spPr>
          <a:xfrm>
            <a:off x="7132320" y="3230880"/>
            <a:ext cx="853440" cy="853440"/>
          </a:xfrm>
          <a:prstGeom prst="ellipse">
            <a:avLst/>
          </a:prstGeom>
          <a:solidFill>
            <a:srgbClr val="E87722">
              <a:alpha val="70000"/>
            </a:srgbClr>
          </a:solidFill>
          <a:ln/>
        </p:spPr>
        <p:txBody>
          <a:bodyPr/>
          <a:lstStyle/>
          <a:p>
            <a:pPr defTabSz="1219170"/>
            <a:endParaRPr lang="en-US" sz="2400">
              <a:solidFill>
                <a:prstClr val="black"/>
              </a:solidFill>
              <a:latin typeface="Calibri" panose="020F0502020204030204"/>
            </a:endParaRPr>
          </a:p>
        </p:txBody>
      </p:sp>
      <p:pic>
        <p:nvPicPr>
          <p:cNvPr id="34" name="Image 2" descr="preencoded.png"/>
          <p:cNvPicPr>
            <a:picLocks noChangeAspect="1"/>
          </p:cNvPicPr>
          <p:nvPr/>
        </p:nvPicPr>
        <p:blipFill>
          <a:blip r:embed="rId4"/>
          <a:stretch>
            <a:fillRect/>
          </a:stretch>
        </p:blipFill>
        <p:spPr>
          <a:xfrm>
            <a:off x="7278624" y="3377184"/>
            <a:ext cx="548640" cy="548640"/>
          </a:xfrm>
          <a:prstGeom prst="rect">
            <a:avLst/>
          </a:prstGeom>
        </p:spPr>
      </p:pic>
      <p:sp>
        <p:nvSpPr>
          <p:cNvPr id="35" name="Text 30"/>
          <p:cNvSpPr/>
          <p:nvPr/>
        </p:nvSpPr>
        <p:spPr>
          <a:xfrm>
            <a:off x="6400800" y="4267200"/>
            <a:ext cx="2377440" cy="365760"/>
          </a:xfrm>
          <a:prstGeom prst="rect">
            <a:avLst/>
          </a:prstGeom>
          <a:noFill/>
          <a:ln/>
        </p:spPr>
        <p:txBody>
          <a:bodyPr wrap="square" lIns="0" tIns="0" rIns="0" bIns="0" rtlCol="0" anchor="ctr"/>
          <a:lstStyle/>
          <a:p>
            <a:pPr algn="ctr" defTabSz="1219170"/>
            <a:r>
              <a:rPr lang="en-US" sz="1600" b="1">
                <a:solidFill>
                  <a:srgbClr val="FFFFFF"/>
                </a:solidFill>
                <a:latin typeface="Calibri" pitchFamily="34" charset="0"/>
                <a:ea typeface="Calibri" pitchFamily="34" charset="-122"/>
                <a:cs typeface="Calibri" pitchFamily="34" charset="-120"/>
              </a:rPr>
              <a:t>Copilot Rollout</a:t>
            </a:r>
            <a:endParaRPr lang="en-US" sz="1600">
              <a:solidFill>
                <a:prstClr val="black"/>
              </a:solidFill>
              <a:latin typeface="Calibri" panose="020F0502020204030204"/>
            </a:endParaRPr>
          </a:p>
        </p:txBody>
      </p:sp>
      <p:sp>
        <p:nvSpPr>
          <p:cNvPr id="36" name="Text 31"/>
          <p:cNvSpPr/>
          <p:nvPr/>
        </p:nvSpPr>
        <p:spPr>
          <a:xfrm>
            <a:off x="6400800" y="4754880"/>
            <a:ext cx="2377440" cy="487680"/>
          </a:xfrm>
          <a:prstGeom prst="rect">
            <a:avLst/>
          </a:prstGeom>
          <a:noFill/>
          <a:ln/>
        </p:spPr>
        <p:txBody>
          <a:bodyPr wrap="square" lIns="0" tIns="0" rIns="0" bIns="0" rtlCol="0" anchor="ctr"/>
          <a:lstStyle/>
          <a:p>
            <a:pPr algn="ctr" defTabSz="1219170"/>
            <a:r>
              <a:rPr lang="en-US" sz="1133">
                <a:solidFill>
                  <a:srgbClr val="B0BEC5"/>
                </a:solidFill>
                <a:latin typeface="Calibri" pitchFamily="34" charset="0"/>
                <a:ea typeface="Calibri" pitchFamily="34" charset="-122"/>
                <a:cs typeface="Calibri" pitchFamily="34" charset="-120"/>
              </a:rPr>
              <a:t>M365 Copilot</a:t>
            </a:r>
            <a:endParaRPr lang="en-US" sz="1133">
              <a:solidFill>
                <a:prstClr val="black"/>
              </a:solidFill>
              <a:latin typeface="Calibri" panose="020F0502020204030204"/>
            </a:endParaRPr>
          </a:p>
          <a:p>
            <a:pPr algn="ctr" defTabSz="1219170"/>
            <a:r>
              <a:rPr lang="en-US" sz="1133">
                <a:solidFill>
                  <a:srgbClr val="B0BEC5"/>
                </a:solidFill>
                <a:latin typeface="Calibri" pitchFamily="34" charset="0"/>
                <a:ea typeface="Calibri" pitchFamily="34" charset="-122"/>
                <a:cs typeface="Calibri" pitchFamily="34" charset="-120"/>
              </a:rPr>
              <a:t>deployed to IT</a:t>
            </a:r>
            <a:endParaRPr lang="en-US" sz="1133">
              <a:solidFill>
                <a:prstClr val="black"/>
              </a:solidFill>
              <a:latin typeface="Calibri" panose="020F0502020204030204"/>
            </a:endParaRPr>
          </a:p>
        </p:txBody>
      </p:sp>
      <p:sp>
        <p:nvSpPr>
          <p:cNvPr id="37" name="Text 32"/>
          <p:cNvSpPr/>
          <p:nvPr/>
        </p:nvSpPr>
        <p:spPr>
          <a:xfrm>
            <a:off x="6400800" y="5266944"/>
            <a:ext cx="2377440" cy="487680"/>
          </a:xfrm>
          <a:prstGeom prst="rect">
            <a:avLst/>
          </a:prstGeom>
          <a:noFill/>
          <a:ln/>
        </p:spPr>
        <p:txBody>
          <a:bodyPr wrap="square" lIns="0" tIns="0" rIns="0" bIns="0" rtlCol="0" anchor="ctr"/>
          <a:lstStyle/>
          <a:p>
            <a:pPr algn="ctr" defTabSz="1219170"/>
            <a:r>
              <a:rPr lang="en-US" sz="1133">
                <a:solidFill>
                  <a:srgbClr val="B0BEC5"/>
                </a:solidFill>
                <a:latin typeface="Calibri" pitchFamily="34" charset="0"/>
                <a:ea typeface="Calibri" pitchFamily="34" charset="-122"/>
                <a:cs typeface="Calibri" pitchFamily="34" charset="-120"/>
              </a:rPr>
              <a:t>Champions program</a:t>
            </a:r>
            <a:endParaRPr lang="en-US" sz="1133">
              <a:solidFill>
                <a:prstClr val="black"/>
              </a:solidFill>
              <a:latin typeface="Calibri" panose="020F0502020204030204"/>
            </a:endParaRPr>
          </a:p>
          <a:p>
            <a:pPr algn="ctr" defTabSz="1219170"/>
            <a:r>
              <a:rPr lang="en-US" sz="1133">
                <a:solidFill>
                  <a:srgbClr val="B0BEC5"/>
                </a:solidFill>
                <a:latin typeface="Calibri" pitchFamily="34" charset="0"/>
                <a:ea typeface="Calibri" pitchFamily="34" charset="-122"/>
                <a:cs typeface="Calibri" pitchFamily="34" charset="-120"/>
              </a:rPr>
              <a:t>kickstarted</a:t>
            </a:r>
            <a:endParaRPr lang="en-US" sz="1133">
              <a:solidFill>
                <a:prstClr val="black"/>
              </a:solidFill>
              <a:latin typeface="Calibri" panose="020F0502020204030204"/>
            </a:endParaRPr>
          </a:p>
        </p:txBody>
      </p:sp>
      <p:sp>
        <p:nvSpPr>
          <p:cNvPr id="38" name="Text 33"/>
          <p:cNvSpPr/>
          <p:nvPr/>
        </p:nvSpPr>
        <p:spPr>
          <a:xfrm>
            <a:off x="6400800" y="5779008"/>
            <a:ext cx="2377440" cy="487680"/>
          </a:xfrm>
          <a:prstGeom prst="rect">
            <a:avLst/>
          </a:prstGeom>
          <a:noFill/>
          <a:ln/>
        </p:spPr>
        <p:txBody>
          <a:bodyPr wrap="square" lIns="0" tIns="0" rIns="0" bIns="0" rtlCol="0" anchor="ctr"/>
          <a:lstStyle/>
          <a:p>
            <a:pPr algn="ctr" defTabSz="1219170"/>
            <a:r>
              <a:rPr lang="en-US" sz="1133">
                <a:solidFill>
                  <a:srgbClr val="B0BEC5"/>
                </a:solidFill>
                <a:latin typeface="Calibri" pitchFamily="34" charset="0"/>
                <a:ea typeface="Calibri" pitchFamily="34" charset="-122"/>
                <a:cs typeface="Calibri" pitchFamily="34" charset="-120"/>
              </a:rPr>
              <a:t>Simple governance,</a:t>
            </a:r>
            <a:endParaRPr lang="en-US" sz="1133">
              <a:solidFill>
                <a:prstClr val="black"/>
              </a:solidFill>
              <a:latin typeface="Calibri" panose="020F0502020204030204"/>
            </a:endParaRPr>
          </a:p>
          <a:p>
            <a:pPr algn="ctr" defTabSz="1219170"/>
            <a:r>
              <a:rPr lang="en-US" sz="1133">
                <a:solidFill>
                  <a:srgbClr val="B0BEC5"/>
                </a:solidFill>
                <a:latin typeface="Calibri" pitchFamily="34" charset="0"/>
                <a:ea typeface="Calibri" pitchFamily="34" charset="-122"/>
                <a:cs typeface="Calibri" pitchFamily="34" charset="-120"/>
              </a:rPr>
              <a:t>max creativity</a:t>
            </a:r>
            <a:endParaRPr lang="en-US" sz="1133">
              <a:solidFill>
                <a:prstClr val="black"/>
              </a:solidFill>
              <a:latin typeface="Calibri" panose="020F0502020204030204"/>
            </a:endParaRPr>
          </a:p>
        </p:txBody>
      </p:sp>
      <p:sp>
        <p:nvSpPr>
          <p:cNvPr id="39" name="Shape 34"/>
          <p:cNvSpPr/>
          <p:nvPr/>
        </p:nvSpPr>
        <p:spPr>
          <a:xfrm>
            <a:off x="9144000" y="2926080"/>
            <a:ext cx="2621280" cy="3413760"/>
          </a:xfrm>
          <a:prstGeom prst="roundRect">
            <a:avLst>
              <a:gd name="adj" fmla="val 5581"/>
            </a:avLst>
          </a:prstGeom>
          <a:solidFill>
            <a:srgbClr val="111F35"/>
          </a:solidFill>
          <a:ln w="9525">
            <a:solidFill>
              <a:srgbClr val="1C3150"/>
            </a:solidFill>
            <a:prstDash val="solid"/>
          </a:ln>
          <a:effectLst>
            <a:outerShdw blurRad="152400" dist="50800" dir="8100000" algn="bl" rotWithShape="0">
              <a:srgbClr val="000000">
                <a:alpha val="35000"/>
              </a:srgbClr>
            </a:outerShdw>
          </a:effectLst>
        </p:spPr>
        <p:txBody>
          <a:bodyPr/>
          <a:lstStyle/>
          <a:p>
            <a:pPr defTabSz="1219170"/>
            <a:endParaRPr lang="en-US" sz="2400">
              <a:solidFill>
                <a:prstClr val="black"/>
              </a:solidFill>
              <a:latin typeface="Calibri" panose="020F0502020204030204"/>
            </a:endParaRPr>
          </a:p>
        </p:txBody>
      </p:sp>
      <p:sp>
        <p:nvSpPr>
          <p:cNvPr id="40" name="Shape 35"/>
          <p:cNvSpPr/>
          <p:nvPr/>
        </p:nvSpPr>
        <p:spPr>
          <a:xfrm>
            <a:off x="9875520" y="3108960"/>
            <a:ext cx="1097280" cy="1097280"/>
          </a:xfrm>
          <a:prstGeom prst="ellipse">
            <a:avLst/>
          </a:prstGeom>
          <a:solidFill>
            <a:srgbClr val="10B981">
              <a:alpha val="35000"/>
            </a:srgbClr>
          </a:solidFill>
          <a:ln/>
        </p:spPr>
        <p:txBody>
          <a:bodyPr/>
          <a:lstStyle/>
          <a:p>
            <a:pPr defTabSz="1219170"/>
            <a:endParaRPr lang="en-US" sz="2400">
              <a:solidFill>
                <a:prstClr val="black"/>
              </a:solidFill>
              <a:latin typeface="Calibri" panose="020F0502020204030204"/>
            </a:endParaRPr>
          </a:p>
        </p:txBody>
      </p:sp>
      <p:sp>
        <p:nvSpPr>
          <p:cNvPr id="41" name="Shape 36"/>
          <p:cNvSpPr/>
          <p:nvPr/>
        </p:nvSpPr>
        <p:spPr>
          <a:xfrm>
            <a:off x="9997440" y="3230880"/>
            <a:ext cx="853440" cy="853440"/>
          </a:xfrm>
          <a:prstGeom prst="ellipse">
            <a:avLst/>
          </a:prstGeom>
          <a:solidFill>
            <a:srgbClr val="10B981">
              <a:alpha val="70000"/>
            </a:srgbClr>
          </a:solidFill>
          <a:ln/>
        </p:spPr>
        <p:txBody>
          <a:bodyPr/>
          <a:lstStyle/>
          <a:p>
            <a:pPr defTabSz="1219170"/>
            <a:endParaRPr lang="en-US" sz="2400">
              <a:solidFill>
                <a:prstClr val="black"/>
              </a:solidFill>
              <a:latin typeface="Calibri" panose="020F0502020204030204"/>
            </a:endParaRPr>
          </a:p>
        </p:txBody>
      </p:sp>
      <p:pic>
        <p:nvPicPr>
          <p:cNvPr id="42" name="Image 3" descr="preencoded.png"/>
          <p:cNvPicPr>
            <a:picLocks noChangeAspect="1"/>
          </p:cNvPicPr>
          <p:nvPr/>
        </p:nvPicPr>
        <p:blipFill>
          <a:blip r:embed="rId5"/>
          <a:stretch>
            <a:fillRect/>
          </a:stretch>
        </p:blipFill>
        <p:spPr>
          <a:xfrm>
            <a:off x="10143744" y="3377184"/>
            <a:ext cx="548640" cy="548640"/>
          </a:xfrm>
          <a:prstGeom prst="rect">
            <a:avLst/>
          </a:prstGeom>
        </p:spPr>
      </p:pic>
      <p:sp>
        <p:nvSpPr>
          <p:cNvPr id="43" name="Text 37"/>
          <p:cNvSpPr/>
          <p:nvPr/>
        </p:nvSpPr>
        <p:spPr>
          <a:xfrm>
            <a:off x="9265920" y="4267200"/>
            <a:ext cx="2377440" cy="365760"/>
          </a:xfrm>
          <a:prstGeom prst="rect">
            <a:avLst/>
          </a:prstGeom>
          <a:noFill/>
          <a:ln/>
        </p:spPr>
        <p:txBody>
          <a:bodyPr wrap="square" lIns="0" tIns="0" rIns="0" bIns="0" rtlCol="0" anchor="ctr"/>
          <a:lstStyle/>
          <a:p>
            <a:pPr algn="ctr" defTabSz="1219170"/>
            <a:r>
              <a:rPr lang="en-US" sz="1600" b="1">
                <a:solidFill>
                  <a:srgbClr val="FFFFFF"/>
                </a:solidFill>
                <a:latin typeface="Calibri" pitchFamily="34" charset="0"/>
                <a:ea typeface="Calibri" pitchFamily="34" charset="-122"/>
                <a:cs typeface="Calibri" pitchFamily="34" charset="-120"/>
              </a:rPr>
              <a:t>Scale &amp; Expand</a:t>
            </a:r>
            <a:endParaRPr lang="en-US" sz="1600">
              <a:solidFill>
                <a:prstClr val="black"/>
              </a:solidFill>
              <a:latin typeface="Calibri" panose="020F0502020204030204"/>
            </a:endParaRPr>
          </a:p>
        </p:txBody>
      </p:sp>
      <p:sp>
        <p:nvSpPr>
          <p:cNvPr id="44" name="Text 38"/>
          <p:cNvSpPr/>
          <p:nvPr/>
        </p:nvSpPr>
        <p:spPr>
          <a:xfrm>
            <a:off x="9265920" y="4754880"/>
            <a:ext cx="2377440" cy="487680"/>
          </a:xfrm>
          <a:prstGeom prst="rect">
            <a:avLst/>
          </a:prstGeom>
          <a:noFill/>
          <a:ln/>
        </p:spPr>
        <p:txBody>
          <a:bodyPr wrap="square" lIns="0" tIns="0" rIns="0" bIns="0" rtlCol="0" anchor="ctr"/>
          <a:lstStyle/>
          <a:p>
            <a:pPr algn="ctr" defTabSz="1219170"/>
            <a:r>
              <a:rPr lang="en-US" sz="1133">
                <a:solidFill>
                  <a:srgbClr val="B0BEC5"/>
                </a:solidFill>
                <a:latin typeface="Calibri" pitchFamily="34" charset="0"/>
                <a:ea typeface="Calibri" pitchFamily="34" charset="-122"/>
                <a:cs typeface="Calibri" pitchFamily="34" charset="-120"/>
              </a:rPr>
              <a:t>Copilot adoption across</a:t>
            </a:r>
            <a:endParaRPr lang="en-US" sz="1133">
              <a:solidFill>
                <a:prstClr val="black"/>
              </a:solidFill>
              <a:latin typeface="Calibri" panose="020F0502020204030204"/>
            </a:endParaRPr>
          </a:p>
          <a:p>
            <a:pPr algn="ctr" defTabSz="1219170"/>
            <a:r>
              <a:rPr lang="en-US" sz="1133">
                <a:solidFill>
                  <a:srgbClr val="B0BEC5"/>
                </a:solidFill>
                <a:latin typeface="Calibri" pitchFamily="34" charset="0"/>
                <a:ea typeface="Calibri" pitchFamily="34" charset="-122"/>
                <a:cs typeface="Calibri" pitchFamily="34" charset="-120"/>
              </a:rPr>
              <a:t>business functions</a:t>
            </a:r>
            <a:endParaRPr lang="en-US" sz="1133">
              <a:solidFill>
                <a:prstClr val="black"/>
              </a:solidFill>
              <a:latin typeface="Calibri" panose="020F0502020204030204"/>
            </a:endParaRPr>
          </a:p>
        </p:txBody>
      </p:sp>
      <p:sp>
        <p:nvSpPr>
          <p:cNvPr id="45" name="Text 39"/>
          <p:cNvSpPr/>
          <p:nvPr/>
        </p:nvSpPr>
        <p:spPr>
          <a:xfrm>
            <a:off x="9265920" y="5266944"/>
            <a:ext cx="2377440" cy="487680"/>
          </a:xfrm>
          <a:prstGeom prst="rect">
            <a:avLst/>
          </a:prstGeom>
          <a:noFill/>
          <a:ln/>
        </p:spPr>
        <p:txBody>
          <a:bodyPr wrap="square" lIns="0" tIns="0" rIns="0" bIns="0" rtlCol="0" anchor="ctr"/>
          <a:lstStyle/>
          <a:p>
            <a:pPr algn="ctr" defTabSz="1219170"/>
            <a:r>
              <a:rPr lang="en-US" sz="1133">
                <a:solidFill>
                  <a:srgbClr val="B0BEC5"/>
                </a:solidFill>
                <a:latin typeface="Calibri" pitchFamily="34" charset="0"/>
                <a:ea typeface="Calibri" pitchFamily="34" charset="-122"/>
                <a:cs typeface="Calibri" pitchFamily="34" charset="-120"/>
              </a:rPr>
              <a:t>AI Foundry models for</a:t>
            </a:r>
            <a:endParaRPr lang="en-US" sz="1133">
              <a:solidFill>
                <a:prstClr val="black"/>
              </a:solidFill>
              <a:latin typeface="Calibri" panose="020F0502020204030204"/>
            </a:endParaRPr>
          </a:p>
          <a:p>
            <a:pPr algn="ctr" defTabSz="1219170"/>
            <a:r>
              <a:rPr lang="en-US" sz="1133">
                <a:solidFill>
                  <a:srgbClr val="B0BEC5"/>
                </a:solidFill>
                <a:latin typeface="Calibri" pitchFamily="34" charset="0"/>
                <a:ea typeface="Calibri" pitchFamily="34" charset="-122"/>
                <a:cs typeface="Calibri" pitchFamily="34" charset="-120"/>
              </a:rPr>
              <a:t>document intelligence</a:t>
            </a:r>
            <a:endParaRPr lang="en-US" sz="1133">
              <a:solidFill>
                <a:prstClr val="black"/>
              </a:solidFill>
              <a:latin typeface="Calibri" panose="020F0502020204030204"/>
            </a:endParaRPr>
          </a:p>
        </p:txBody>
      </p:sp>
      <p:sp>
        <p:nvSpPr>
          <p:cNvPr id="46" name="Text 40"/>
          <p:cNvSpPr/>
          <p:nvPr/>
        </p:nvSpPr>
        <p:spPr>
          <a:xfrm>
            <a:off x="9265920" y="5779008"/>
            <a:ext cx="2377440" cy="487680"/>
          </a:xfrm>
          <a:prstGeom prst="rect">
            <a:avLst/>
          </a:prstGeom>
          <a:noFill/>
          <a:ln/>
        </p:spPr>
        <p:txBody>
          <a:bodyPr wrap="square" lIns="0" tIns="0" rIns="0" bIns="0" rtlCol="0" anchor="ctr"/>
          <a:lstStyle/>
          <a:p>
            <a:pPr algn="ctr" defTabSz="1219170"/>
            <a:r>
              <a:rPr lang="en-US" sz="1133">
                <a:solidFill>
                  <a:srgbClr val="B0BEC5"/>
                </a:solidFill>
                <a:latin typeface="Calibri" pitchFamily="34" charset="0"/>
                <a:ea typeface="Calibri" pitchFamily="34" charset="-122"/>
                <a:cs typeface="Calibri" pitchFamily="34" charset="-120"/>
              </a:rPr>
              <a:t>Exploring Semantic Kernel</a:t>
            </a:r>
            <a:endParaRPr lang="en-US" sz="1133">
              <a:solidFill>
                <a:prstClr val="black"/>
              </a:solidFill>
              <a:latin typeface="Calibri" panose="020F0502020204030204"/>
            </a:endParaRPr>
          </a:p>
          <a:p>
            <a:pPr algn="ctr" defTabSz="1219170"/>
            <a:r>
              <a:rPr lang="en-US" sz="1133">
                <a:solidFill>
                  <a:srgbClr val="B0BEC5"/>
                </a:solidFill>
                <a:latin typeface="Calibri" pitchFamily="34" charset="0"/>
                <a:ea typeface="Calibri" pitchFamily="34" charset="-122"/>
                <a:cs typeface="Calibri" pitchFamily="34" charset="-120"/>
              </a:rPr>
              <a:t>for agentic workflows</a:t>
            </a:r>
            <a:endParaRPr lang="en-US" sz="1133">
              <a:solidFill>
                <a:prstClr val="black"/>
              </a:solidFill>
              <a:latin typeface="Calibri" panose="020F0502020204030204"/>
            </a:endParaRPr>
          </a:p>
        </p:txBody>
      </p:sp>
      <p:pic>
        <p:nvPicPr>
          <p:cNvPr id="47" name="Image 2" descr="preencoded.png">
            <a:extLst>
              <a:ext uri="{FF2B5EF4-FFF2-40B4-BE49-F238E27FC236}">
                <a16:creationId xmlns:a16="http://schemas.microsoft.com/office/drawing/2014/main" id="{E6F74BDA-13D1-A916-D706-93D8ECCEC0DA}"/>
              </a:ext>
            </a:extLst>
          </p:cNvPr>
          <p:cNvPicPr>
            <a:picLocks noChangeAspect="1"/>
          </p:cNvPicPr>
          <p:nvPr/>
        </p:nvPicPr>
        <p:blipFill>
          <a:blip r:embed="rId6"/>
          <a:stretch>
            <a:fillRect/>
          </a:stretch>
        </p:blipFill>
        <p:spPr>
          <a:xfrm>
            <a:off x="11839510" y="6585811"/>
            <a:ext cx="322729" cy="23471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609600"/>
            <a:ext cx="1828800" cy="1828800"/>
          </a:xfrm>
          <a:prstGeom prst="ellipse">
            <a:avLst/>
          </a:prstGeom>
          <a:solidFill>
            <a:srgbClr val="0066B3">
              <a:alpha val="10000"/>
            </a:srgbClr>
          </a:solidFill>
          <a:ln/>
        </p:spPr>
        <p:txBody>
          <a:bodyPr/>
          <a:lstStyle/>
          <a:p>
            <a:endParaRPr lang="en-US" sz="2400"/>
          </a:p>
        </p:txBody>
      </p:sp>
      <p:sp>
        <p:nvSpPr>
          <p:cNvPr id="3" name="Shape 1"/>
          <p:cNvSpPr/>
          <p:nvPr/>
        </p:nvSpPr>
        <p:spPr>
          <a:xfrm>
            <a:off x="11216640" y="5852160"/>
            <a:ext cx="1828800" cy="1828800"/>
          </a:xfrm>
          <a:prstGeom prst="ellipse">
            <a:avLst/>
          </a:prstGeom>
          <a:solidFill>
            <a:srgbClr val="00A3B5">
              <a:alpha val="10000"/>
            </a:srgbClr>
          </a:solidFill>
          <a:ln/>
        </p:spPr>
        <p:txBody>
          <a:bodyPr/>
          <a:lstStyle/>
          <a:p>
            <a:endParaRPr lang="en-US" sz="2400"/>
          </a:p>
        </p:txBody>
      </p:sp>
      <p:sp>
        <p:nvSpPr>
          <p:cNvPr id="4" name="Text 2"/>
          <p:cNvSpPr/>
          <p:nvPr/>
        </p:nvSpPr>
        <p:spPr>
          <a:xfrm>
            <a:off x="731520" y="426720"/>
            <a:ext cx="4876800" cy="341376"/>
          </a:xfrm>
          <a:prstGeom prst="rect">
            <a:avLst/>
          </a:prstGeom>
          <a:noFill/>
          <a:ln/>
        </p:spPr>
        <p:txBody>
          <a:bodyPr wrap="square" lIns="0" tIns="0" rIns="0" bIns="0" rtlCol="0" anchor="ctr"/>
          <a:lstStyle/>
          <a:p>
            <a:r>
              <a:rPr lang="en-US" sz="1333" b="1" kern="0" spc="533">
                <a:solidFill>
                  <a:srgbClr val="E87722"/>
                </a:solidFill>
                <a:latin typeface="Calibri" pitchFamily="34" charset="0"/>
                <a:ea typeface="Calibri" pitchFamily="34" charset="-122"/>
                <a:cs typeface="Calibri" pitchFamily="34" charset="-120"/>
              </a:rPr>
              <a:t>USE CASE</a:t>
            </a:r>
            <a:endParaRPr lang="en-US" sz="1333"/>
          </a:p>
        </p:txBody>
      </p:sp>
      <p:sp>
        <p:nvSpPr>
          <p:cNvPr id="5" name="Text 3"/>
          <p:cNvSpPr/>
          <p:nvPr/>
        </p:nvSpPr>
        <p:spPr>
          <a:xfrm>
            <a:off x="731520" y="731520"/>
            <a:ext cx="9753600" cy="792480"/>
          </a:xfrm>
          <a:prstGeom prst="rect">
            <a:avLst/>
          </a:prstGeom>
          <a:noFill/>
          <a:ln/>
        </p:spPr>
        <p:txBody>
          <a:bodyPr wrap="square" lIns="0" tIns="0" rIns="0" bIns="0" rtlCol="0" anchor="ctr"/>
          <a:lstStyle/>
          <a:p>
            <a:r>
              <a:rPr lang="en-US" sz="3733" b="1">
                <a:solidFill>
                  <a:srgbClr val="0F2744"/>
                </a:solidFill>
                <a:latin typeface="Calibri" pitchFamily="34" charset="0"/>
                <a:ea typeface="Calibri" pitchFamily="34" charset="-122"/>
                <a:cs typeface="Calibri" pitchFamily="34" charset="-120"/>
              </a:rPr>
              <a:t>SMART Goal Evaluator Agent</a:t>
            </a:r>
            <a:endParaRPr lang="en-US" sz="3733"/>
          </a:p>
        </p:txBody>
      </p:sp>
      <p:sp>
        <p:nvSpPr>
          <p:cNvPr id="6" name="Text 4"/>
          <p:cNvSpPr/>
          <p:nvPr/>
        </p:nvSpPr>
        <p:spPr>
          <a:xfrm>
            <a:off x="731520" y="1645920"/>
            <a:ext cx="4876800" cy="365760"/>
          </a:xfrm>
          <a:prstGeom prst="rect">
            <a:avLst/>
          </a:prstGeom>
          <a:noFill/>
          <a:ln/>
        </p:spPr>
        <p:txBody>
          <a:bodyPr wrap="square" lIns="0" tIns="0" rIns="0" bIns="0" rtlCol="0" anchor="ctr"/>
          <a:lstStyle/>
          <a:p>
            <a:r>
              <a:rPr lang="en-US" sz="1733" b="1">
                <a:solidFill>
                  <a:srgbClr val="0066B3"/>
                </a:solidFill>
                <a:latin typeface="Calibri" pitchFamily="34" charset="0"/>
                <a:ea typeface="Calibri" pitchFamily="34" charset="-122"/>
                <a:cs typeface="Calibri" pitchFamily="34" charset="-120"/>
              </a:rPr>
              <a:t>How It Works</a:t>
            </a:r>
            <a:endParaRPr lang="en-US" sz="1733"/>
          </a:p>
        </p:txBody>
      </p:sp>
      <p:sp>
        <p:nvSpPr>
          <p:cNvPr id="7" name="Shape 5"/>
          <p:cNvSpPr/>
          <p:nvPr/>
        </p:nvSpPr>
        <p:spPr>
          <a:xfrm>
            <a:off x="731520" y="2194560"/>
            <a:ext cx="5242560" cy="755904"/>
          </a:xfrm>
          <a:prstGeom prst="roundRect">
            <a:avLst>
              <a:gd name="adj" fmla="val 12903"/>
            </a:avLst>
          </a:prstGeom>
          <a:solidFill>
            <a:srgbClr val="F5F7FA"/>
          </a:solidFill>
          <a:ln w="12700">
            <a:solidFill>
              <a:srgbClr val="0066B3"/>
            </a:solidFill>
            <a:prstDash val="solid"/>
          </a:ln>
          <a:effectLst>
            <a:outerShdw blurRad="101600" dist="38100" dir="8100000" algn="bl" rotWithShape="0">
              <a:srgbClr val="000000">
                <a:alpha val="8000"/>
              </a:srgbClr>
            </a:outerShdw>
          </a:effectLst>
        </p:spPr>
        <p:txBody>
          <a:bodyPr/>
          <a:lstStyle/>
          <a:p>
            <a:endParaRPr lang="en-US" sz="2400"/>
          </a:p>
        </p:txBody>
      </p:sp>
      <p:sp>
        <p:nvSpPr>
          <p:cNvPr id="8" name="Shape 6"/>
          <p:cNvSpPr/>
          <p:nvPr/>
        </p:nvSpPr>
        <p:spPr>
          <a:xfrm>
            <a:off x="731520" y="2292096"/>
            <a:ext cx="73152" cy="560832"/>
          </a:xfrm>
          <a:prstGeom prst="rect">
            <a:avLst/>
          </a:prstGeom>
          <a:solidFill>
            <a:srgbClr val="0066B3"/>
          </a:solidFill>
          <a:ln/>
        </p:spPr>
        <p:txBody>
          <a:bodyPr/>
          <a:lstStyle/>
          <a:p>
            <a:endParaRPr lang="en-US" sz="2400"/>
          </a:p>
        </p:txBody>
      </p:sp>
      <p:sp>
        <p:nvSpPr>
          <p:cNvPr id="9" name="Shape 7"/>
          <p:cNvSpPr/>
          <p:nvPr/>
        </p:nvSpPr>
        <p:spPr>
          <a:xfrm>
            <a:off x="950976" y="2292096"/>
            <a:ext cx="560832" cy="560832"/>
          </a:xfrm>
          <a:prstGeom prst="ellipse">
            <a:avLst/>
          </a:prstGeom>
          <a:solidFill>
            <a:srgbClr val="0066B3">
              <a:alpha val="20000"/>
            </a:srgbClr>
          </a:solidFill>
          <a:ln/>
        </p:spPr>
        <p:txBody>
          <a:bodyPr/>
          <a:lstStyle/>
          <a:p>
            <a:endParaRPr lang="en-US" sz="2400"/>
          </a:p>
        </p:txBody>
      </p:sp>
      <p:pic>
        <p:nvPicPr>
          <p:cNvPr id="10" name="Image 0" descr="preencoded.png"/>
          <p:cNvPicPr>
            <a:picLocks noChangeAspect="1"/>
          </p:cNvPicPr>
          <p:nvPr/>
        </p:nvPicPr>
        <p:blipFill>
          <a:blip r:embed="rId2"/>
          <a:stretch>
            <a:fillRect/>
          </a:stretch>
        </p:blipFill>
        <p:spPr>
          <a:xfrm>
            <a:off x="1011936" y="2353056"/>
            <a:ext cx="438912" cy="438912"/>
          </a:xfrm>
          <a:prstGeom prst="rect">
            <a:avLst/>
          </a:prstGeom>
        </p:spPr>
      </p:pic>
      <p:sp>
        <p:nvSpPr>
          <p:cNvPr id="11" name="Text 8"/>
          <p:cNvSpPr/>
          <p:nvPr/>
        </p:nvSpPr>
        <p:spPr>
          <a:xfrm>
            <a:off x="1645920" y="2194560"/>
            <a:ext cx="4145280" cy="755904"/>
          </a:xfrm>
          <a:prstGeom prst="rect">
            <a:avLst/>
          </a:prstGeom>
          <a:noFill/>
          <a:ln/>
        </p:spPr>
        <p:txBody>
          <a:bodyPr wrap="square" lIns="0" tIns="0" rIns="0" bIns="0" rtlCol="0" anchor="ctr"/>
          <a:lstStyle/>
          <a:p>
            <a:r>
              <a:rPr lang="en-US" sz="1333">
                <a:solidFill>
                  <a:srgbClr val="1A202C"/>
                </a:solidFill>
                <a:latin typeface="Calibri" pitchFamily="34" charset="0"/>
                <a:ea typeface="Calibri" pitchFamily="34" charset="-122"/>
                <a:cs typeface="Calibri" pitchFamily="34" charset="-120"/>
              </a:rPr>
              <a:t>User paste’s goal</a:t>
            </a:r>
            <a:endParaRPr lang="en-US" sz="1333"/>
          </a:p>
          <a:p>
            <a:r>
              <a:rPr lang="en-US" sz="1333">
                <a:solidFill>
                  <a:srgbClr val="1A202C"/>
                </a:solidFill>
                <a:latin typeface="Calibri" pitchFamily="34" charset="0"/>
                <a:ea typeface="Calibri" pitchFamily="34" charset="-122"/>
                <a:cs typeface="Calibri" pitchFamily="34" charset="-120"/>
              </a:rPr>
              <a:t>in Teams / SharePoint</a:t>
            </a:r>
            <a:endParaRPr lang="en-US" sz="1333"/>
          </a:p>
        </p:txBody>
      </p:sp>
      <p:sp>
        <p:nvSpPr>
          <p:cNvPr id="12" name="Text 9"/>
          <p:cNvSpPr/>
          <p:nvPr/>
        </p:nvSpPr>
        <p:spPr>
          <a:xfrm>
            <a:off x="3108960" y="2889504"/>
            <a:ext cx="487680" cy="268224"/>
          </a:xfrm>
          <a:prstGeom prst="rect">
            <a:avLst/>
          </a:prstGeom>
          <a:noFill/>
          <a:ln/>
        </p:spPr>
        <p:txBody>
          <a:bodyPr wrap="square" lIns="0" tIns="0" rIns="0" bIns="0" rtlCol="0" anchor="ctr"/>
          <a:lstStyle/>
          <a:p>
            <a:pPr algn="ctr"/>
            <a:r>
              <a:rPr lang="en-US" sz="1333">
                <a:solidFill>
                  <a:srgbClr val="94A3B8"/>
                </a:solidFill>
              </a:rPr>
              <a:t>▼</a:t>
            </a:r>
            <a:endParaRPr lang="en-US" sz="1333"/>
          </a:p>
        </p:txBody>
      </p:sp>
      <p:sp>
        <p:nvSpPr>
          <p:cNvPr id="13" name="Shape 10"/>
          <p:cNvSpPr/>
          <p:nvPr/>
        </p:nvSpPr>
        <p:spPr>
          <a:xfrm>
            <a:off x="731520" y="3145536"/>
            <a:ext cx="5242560" cy="755904"/>
          </a:xfrm>
          <a:prstGeom prst="roundRect">
            <a:avLst>
              <a:gd name="adj" fmla="val 12903"/>
            </a:avLst>
          </a:prstGeom>
          <a:solidFill>
            <a:srgbClr val="F5F7FA"/>
          </a:solidFill>
          <a:ln w="12700">
            <a:solidFill>
              <a:srgbClr val="00A3B5"/>
            </a:solidFill>
            <a:prstDash val="solid"/>
          </a:ln>
          <a:effectLst>
            <a:outerShdw blurRad="101600" dist="38100" dir="8100000" algn="bl" rotWithShape="0">
              <a:srgbClr val="000000">
                <a:alpha val="8000"/>
              </a:srgbClr>
            </a:outerShdw>
          </a:effectLst>
        </p:spPr>
        <p:txBody>
          <a:bodyPr/>
          <a:lstStyle/>
          <a:p>
            <a:endParaRPr lang="en-US" sz="2400"/>
          </a:p>
        </p:txBody>
      </p:sp>
      <p:sp>
        <p:nvSpPr>
          <p:cNvPr id="14" name="Shape 11"/>
          <p:cNvSpPr/>
          <p:nvPr/>
        </p:nvSpPr>
        <p:spPr>
          <a:xfrm>
            <a:off x="731520" y="3243072"/>
            <a:ext cx="73152" cy="560832"/>
          </a:xfrm>
          <a:prstGeom prst="rect">
            <a:avLst/>
          </a:prstGeom>
          <a:solidFill>
            <a:srgbClr val="00A3B5"/>
          </a:solidFill>
          <a:ln/>
        </p:spPr>
        <p:txBody>
          <a:bodyPr/>
          <a:lstStyle/>
          <a:p>
            <a:endParaRPr lang="en-US" sz="2400"/>
          </a:p>
        </p:txBody>
      </p:sp>
      <p:sp>
        <p:nvSpPr>
          <p:cNvPr id="15" name="Shape 12"/>
          <p:cNvSpPr/>
          <p:nvPr/>
        </p:nvSpPr>
        <p:spPr>
          <a:xfrm>
            <a:off x="950976" y="3243072"/>
            <a:ext cx="560832" cy="560832"/>
          </a:xfrm>
          <a:prstGeom prst="ellipse">
            <a:avLst/>
          </a:prstGeom>
          <a:solidFill>
            <a:srgbClr val="00A3B5">
              <a:alpha val="20000"/>
            </a:srgbClr>
          </a:solidFill>
          <a:ln/>
        </p:spPr>
        <p:txBody>
          <a:bodyPr/>
          <a:lstStyle/>
          <a:p>
            <a:endParaRPr lang="en-US" sz="2400"/>
          </a:p>
        </p:txBody>
      </p:sp>
      <p:pic>
        <p:nvPicPr>
          <p:cNvPr id="16" name="Image 1" descr="preencoded.png"/>
          <p:cNvPicPr>
            <a:picLocks noChangeAspect="1"/>
          </p:cNvPicPr>
          <p:nvPr/>
        </p:nvPicPr>
        <p:blipFill>
          <a:blip r:embed="rId3"/>
          <a:stretch>
            <a:fillRect/>
          </a:stretch>
        </p:blipFill>
        <p:spPr>
          <a:xfrm>
            <a:off x="1011936" y="3304032"/>
            <a:ext cx="438912" cy="438912"/>
          </a:xfrm>
          <a:prstGeom prst="rect">
            <a:avLst/>
          </a:prstGeom>
        </p:spPr>
      </p:pic>
      <p:sp>
        <p:nvSpPr>
          <p:cNvPr id="17" name="Text 13"/>
          <p:cNvSpPr/>
          <p:nvPr/>
        </p:nvSpPr>
        <p:spPr>
          <a:xfrm>
            <a:off x="1645920" y="3145536"/>
            <a:ext cx="4145280" cy="755904"/>
          </a:xfrm>
          <a:prstGeom prst="rect">
            <a:avLst/>
          </a:prstGeom>
          <a:noFill/>
          <a:ln/>
        </p:spPr>
        <p:txBody>
          <a:bodyPr wrap="square" lIns="0" tIns="0" rIns="0" bIns="0" rtlCol="0" anchor="ctr"/>
          <a:lstStyle/>
          <a:p>
            <a:r>
              <a:rPr lang="en-US" sz="1333">
                <a:solidFill>
                  <a:srgbClr val="1A202C"/>
                </a:solidFill>
                <a:latin typeface="Calibri" pitchFamily="34" charset="0"/>
                <a:ea typeface="Calibri" pitchFamily="34" charset="-122"/>
                <a:cs typeface="Calibri" pitchFamily="34" charset="-120"/>
              </a:rPr>
              <a:t>Topic trigger</a:t>
            </a:r>
            <a:endParaRPr lang="en-US" sz="1333"/>
          </a:p>
          <a:p>
            <a:r>
              <a:rPr lang="en-US" sz="1333">
                <a:solidFill>
                  <a:srgbClr val="1A202C"/>
                </a:solidFill>
                <a:latin typeface="Calibri" pitchFamily="34" charset="0"/>
                <a:ea typeface="Calibri" pitchFamily="34" charset="-122"/>
                <a:cs typeface="Calibri" pitchFamily="34" charset="-120"/>
              </a:rPr>
              <a:t>catches intent</a:t>
            </a:r>
            <a:endParaRPr lang="en-US" sz="1333"/>
          </a:p>
        </p:txBody>
      </p:sp>
      <p:sp>
        <p:nvSpPr>
          <p:cNvPr id="18" name="Text 14"/>
          <p:cNvSpPr/>
          <p:nvPr/>
        </p:nvSpPr>
        <p:spPr>
          <a:xfrm>
            <a:off x="3108960" y="3840480"/>
            <a:ext cx="487680" cy="268224"/>
          </a:xfrm>
          <a:prstGeom prst="rect">
            <a:avLst/>
          </a:prstGeom>
          <a:noFill/>
          <a:ln/>
        </p:spPr>
        <p:txBody>
          <a:bodyPr wrap="square" lIns="0" tIns="0" rIns="0" bIns="0" rtlCol="0" anchor="ctr"/>
          <a:lstStyle/>
          <a:p>
            <a:pPr algn="ctr"/>
            <a:r>
              <a:rPr lang="en-US" sz="1333">
                <a:solidFill>
                  <a:srgbClr val="94A3B8"/>
                </a:solidFill>
              </a:rPr>
              <a:t>▼</a:t>
            </a:r>
            <a:endParaRPr lang="en-US" sz="1333"/>
          </a:p>
        </p:txBody>
      </p:sp>
      <p:sp>
        <p:nvSpPr>
          <p:cNvPr id="19" name="Shape 15"/>
          <p:cNvSpPr/>
          <p:nvPr/>
        </p:nvSpPr>
        <p:spPr>
          <a:xfrm>
            <a:off x="731520" y="4096512"/>
            <a:ext cx="5242560" cy="755904"/>
          </a:xfrm>
          <a:prstGeom prst="roundRect">
            <a:avLst>
              <a:gd name="adj" fmla="val 12903"/>
            </a:avLst>
          </a:prstGeom>
          <a:solidFill>
            <a:srgbClr val="F5F7FA"/>
          </a:solidFill>
          <a:ln w="12700">
            <a:solidFill>
              <a:srgbClr val="E87722"/>
            </a:solidFill>
            <a:prstDash val="solid"/>
          </a:ln>
          <a:effectLst>
            <a:outerShdw blurRad="101600" dist="38100" dir="8100000" algn="bl" rotWithShape="0">
              <a:srgbClr val="000000">
                <a:alpha val="8000"/>
              </a:srgbClr>
            </a:outerShdw>
          </a:effectLst>
        </p:spPr>
        <p:txBody>
          <a:bodyPr/>
          <a:lstStyle/>
          <a:p>
            <a:endParaRPr lang="en-US" sz="2400"/>
          </a:p>
        </p:txBody>
      </p:sp>
      <p:sp>
        <p:nvSpPr>
          <p:cNvPr id="20" name="Shape 16"/>
          <p:cNvSpPr/>
          <p:nvPr/>
        </p:nvSpPr>
        <p:spPr>
          <a:xfrm>
            <a:off x="731520" y="4194048"/>
            <a:ext cx="73152" cy="560832"/>
          </a:xfrm>
          <a:prstGeom prst="rect">
            <a:avLst/>
          </a:prstGeom>
          <a:solidFill>
            <a:srgbClr val="E87722"/>
          </a:solidFill>
          <a:ln/>
        </p:spPr>
        <p:txBody>
          <a:bodyPr/>
          <a:lstStyle/>
          <a:p>
            <a:endParaRPr lang="en-US" sz="2400"/>
          </a:p>
        </p:txBody>
      </p:sp>
      <p:sp>
        <p:nvSpPr>
          <p:cNvPr id="21" name="Shape 17"/>
          <p:cNvSpPr/>
          <p:nvPr/>
        </p:nvSpPr>
        <p:spPr>
          <a:xfrm>
            <a:off x="950976" y="4194048"/>
            <a:ext cx="560832" cy="560832"/>
          </a:xfrm>
          <a:prstGeom prst="ellipse">
            <a:avLst/>
          </a:prstGeom>
          <a:solidFill>
            <a:srgbClr val="E87722">
              <a:alpha val="20000"/>
            </a:srgbClr>
          </a:solidFill>
          <a:ln/>
        </p:spPr>
        <p:txBody>
          <a:bodyPr/>
          <a:lstStyle/>
          <a:p>
            <a:endParaRPr lang="en-US" sz="2400"/>
          </a:p>
        </p:txBody>
      </p:sp>
      <p:pic>
        <p:nvPicPr>
          <p:cNvPr id="22" name="Image 2" descr="preencoded.png"/>
          <p:cNvPicPr>
            <a:picLocks noChangeAspect="1"/>
          </p:cNvPicPr>
          <p:nvPr/>
        </p:nvPicPr>
        <p:blipFill>
          <a:blip r:embed="rId4"/>
          <a:stretch>
            <a:fillRect/>
          </a:stretch>
        </p:blipFill>
        <p:spPr>
          <a:xfrm>
            <a:off x="1011936" y="4255008"/>
            <a:ext cx="438912" cy="438912"/>
          </a:xfrm>
          <a:prstGeom prst="rect">
            <a:avLst/>
          </a:prstGeom>
        </p:spPr>
      </p:pic>
      <p:sp>
        <p:nvSpPr>
          <p:cNvPr id="23" name="Text 18"/>
          <p:cNvSpPr/>
          <p:nvPr/>
        </p:nvSpPr>
        <p:spPr>
          <a:xfrm>
            <a:off x="1645920" y="4096512"/>
            <a:ext cx="4145280" cy="755904"/>
          </a:xfrm>
          <a:prstGeom prst="rect">
            <a:avLst/>
          </a:prstGeom>
          <a:noFill/>
          <a:ln/>
        </p:spPr>
        <p:txBody>
          <a:bodyPr wrap="square" lIns="0" tIns="0" rIns="0" bIns="0" rtlCol="0" anchor="ctr"/>
          <a:lstStyle/>
          <a:p>
            <a:r>
              <a:rPr lang="en-US" sz="1333">
                <a:solidFill>
                  <a:srgbClr val="1A202C"/>
                </a:solidFill>
                <a:latin typeface="Calibri" pitchFamily="34" charset="0"/>
                <a:ea typeface="Calibri" pitchFamily="34" charset="-122"/>
                <a:cs typeface="Calibri" pitchFamily="34" charset="-120"/>
              </a:rPr>
              <a:t>Generative answer</a:t>
            </a:r>
            <a:endParaRPr lang="en-US" sz="1333"/>
          </a:p>
          <a:p>
            <a:r>
              <a:rPr lang="en-US" sz="1333">
                <a:solidFill>
                  <a:srgbClr val="1A202C"/>
                </a:solidFill>
                <a:latin typeface="Calibri" pitchFamily="34" charset="0"/>
                <a:ea typeface="Calibri" pitchFamily="34" charset="-122"/>
                <a:cs typeface="Calibri" pitchFamily="34" charset="-120"/>
              </a:rPr>
              <a:t>+ custom prompt</a:t>
            </a:r>
            <a:endParaRPr lang="en-US" sz="1333"/>
          </a:p>
        </p:txBody>
      </p:sp>
      <p:sp>
        <p:nvSpPr>
          <p:cNvPr id="24" name="Text 19"/>
          <p:cNvSpPr/>
          <p:nvPr/>
        </p:nvSpPr>
        <p:spPr>
          <a:xfrm>
            <a:off x="3108960" y="4791456"/>
            <a:ext cx="487680" cy="268224"/>
          </a:xfrm>
          <a:prstGeom prst="rect">
            <a:avLst/>
          </a:prstGeom>
          <a:noFill/>
          <a:ln/>
        </p:spPr>
        <p:txBody>
          <a:bodyPr wrap="square" lIns="0" tIns="0" rIns="0" bIns="0" rtlCol="0" anchor="ctr"/>
          <a:lstStyle/>
          <a:p>
            <a:pPr algn="ctr"/>
            <a:r>
              <a:rPr lang="en-US" sz="1333">
                <a:solidFill>
                  <a:srgbClr val="94A3B8"/>
                </a:solidFill>
              </a:rPr>
              <a:t>▼</a:t>
            </a:r>
            <a:endParaRPr lang="en-US" sz="1333"/>
          </a:p>
        </p:txBody>
      </p:sp>
      <p:sp>
        <p:nvSpPr>
          <p:cNvPr id="25" name="Shape 20"/>
          <p:cNvSpPr/>
          <p:nvPr/>
        </p:nvSpPr>
        <p:spPr>
          <a:xfrm>
            <a:off x="731520" y="5047488"/>
            <a:ext cx="5242560" cy="755904"/>
          </a:xfrm>
          <a:prstGeom prst="roundRect">
            <a:avLst>
              <a:gd name="adj" fmla="val 12903"/>
            </a:avLst>
          </a:prstGeom>
          <a:solidFill>
            <a:srgbClr val="F5F7FA"/>
          </a:solidFill>
          <a:ln w="12700">
            <a:solidFill>
              <a:srgbClr val="10B981"/>
            </a:solidFill>
            <a:prstDash val="solid"/>
          </a:ln>
          <a:effectLst>
            <a:outerShdw blurRad="101600" dist="38100" dir="8100000" algn="bl" rotWithShape="0">
              <a:srgbClr val="000000">
                <a:alpha val="8000"/>
              </a:srgbClr>
            </a:outerShdw>
          </a:effectLst>
        </p:spPr>
        <p:txBody>
          <a:bodyPr/>
          <a:lstStyle/>
          <a:p>
            <a:endParaRPr lang="en-US" sz="2400"/>
          </a:p>
        </p:txBody>
      </p:sp>
      <p:sp>
        <p:nvSpPr>
          <p:cNvPr id="26" name="Shape 21"/>
          <p:cNvSpPr/>
          <p:nvPr/>
        </p:nvSpPr>
        <p:spPr>
          <a:xfrm>
            <a:off x="731520" y="5145024"/>
            <a:ext cx="73152" cy="560832"/>
          </a:xfrm>
          <a:prstGeom prst="rect">
            <a:avLst/>
          </a:prstGeom>
          <a:solidFill>
            <a:srgbClr val="10B981"/>
          </a:solidFill>
          <a:ln/>
        </p:spPr>
        <p:txBody>
          <a:bodyPr/>
          <a:lstStyle/>
          <a:p>
            <a:endParaRPr lang="en-US" sz="2400"/>
          </a:p>
        </p:txBody>
      </p:sp>
      <p:sp>
        <p:nvSpPr>
          <p:cNvPr id="27" name="Shape 22"/>
          <p:cNvSpPr/>
          <p:nvPr/>
        </p:nvSpPr>
        <p:spPr>
          <a:xfrm>
            <a:off x="950976" y="5145024"/>
            <a:ext cx="560832" cy="560832"/>
          </a:xfrm>
          <a:prstGeom prst="ellipse">
            <a:avLst/>
          </a:prstGeom>
          <a:solidFill>
            <a:srgbClr val="10B981">
              <a:alpha val="20000"/>
            </a:srgbClr>
          </a:solidFill>
          <a:ln/>
        </p:spPr>
        <p:txBody>
          <a:bodyPr/>
          <a:lstStyle/>
          <a:p>
            <a:endParaRPr lang="en-US" sz="2400"/>
          </a:p>
        </p:txBody>
      </p:sp>
      <p:pic>
        <p:nvPicPr>
          <p:cNvPr id="28" name="Image 3" descr="preencoded.png"/>
          <p:cNvPicPr>
            <a:picLocks noChangeAspect="1"/>
          </p:cNvPicPr>
          <p:nvPr/>
        </p:nvPicPr>
        <p:blipFill>
          <a:blip r:embed="rId5"/>
          <a:stretch>
            <a:fillRect/>
          </a:stretch>
        </p:blipFill>
        <p:spPr>
          <a:xfrm>
            <a:off x="1011936" y="5205984"/>
            <a:ext cx="438912" cy="438912"/>
          </a:xfrm>
          <a:prstGeom prst="rect">
            <a:avLst/>
          </a:prstGeom>
        </p:spPr>
      </p:pic>
      <p:sp>
        <p:nvSpPr>
          <p:cNvPr id="29" name="Text 23"/>
          <p:cNvSpPr/>
          <p:nvPr/>
        </p:nvSpPr>
        <p:spPr>
          <a:xfrm>
            <a:off x="1645920" y="5047488"/>
            <a:ext cx="4145280" cy="755904"/>
          </a:xfrm>
          <a:prstGeom prst="rect">
            <a:avLst/>
          </a:prstGeom>
          <a:noFill/>
          <a:ln/>
        </p:spPr>
        <p:txBody>
          <a:bodyPr wrap="square" lIns="0" tIns="0" rIns="0" bIns="0" rtlCol="0" anchor="ctr"/>
          <a:lstStyle/>
          <a:p>
            <a:r>
              <a:rPr lang="en-US" sz="1333">
                <a:solidFill>
                  <a:srgbClr val="1A202C"/>
                </a:solidFill>
                <a:latin typeface="Calibri" pitchFamily="34" charset="0"/>
                <a:ea typeface="Calibri" pitchFamily="34" charset="-122"/>
                <a:cs typeface="Calibri" pitchFamily="34" charset="-120"/>
              </a:rPr>
              <a:t>SMART score + rewrites</a:t>
            </a:r>
            <a:endParaRPr lang="en-US" sz="1333"/>
          </a:p>
          <a:p>
            <a:r>
              <a:rPr lang="en-US" sz="1333">
                <a:solidFill>
                  <a:srgbClr val="1A202C"/>
                </a:solidFill>
                <a:latin typeface="Calibri" pitchFamily="34" charset="0"/>
                <a:ea typeface="Calibri" pitchFamily="34" charset="-122"/>
                <a:cs typeface="Calibri" pitchFamily="34" charset="-120"/>
              </a:rPr>
              <a:t>+ pillar mapping</a:t>
            </a:r>
            <a:endParaRPr lang="en-US" sz="1333"/>
          </a:p>
        </p:txBody>
      </p:sp>
      <p:sp>
        <p:nvSpPr>
          <p:cNvPr id="30" name="Text 24"/>
          <p:cNvSpPr/>
          <p:nvPr/>
        </p:nvSpPr>
        <p:spPr>
          <a:xfrm>
            <a:off x="6461760" y="1645920"/>
            <a:ext cx="4876800" cy="365760"/>
          </a:xfrm>
          <a:prstGeom prst="rect">
            <a:avLst/>
          </a:prstGeom>
          <a:noFill/>
          <a:ln/>
        </p:spPr>
        <p:txBody>
          <a:bodyPr wrap="square" lIns="0" tIns="0" rIns="0" bIns="0" rtlCol="0" anchor="ctr"/>
          <a:lstStyle/>
          <a:p>
            <a:r>
              <a:rPr lang="en-US" sz="1733" b="1">
                <a:solidFill>
                  <a:srgbClr val="0066B3"/>
                </a:solidFill>
                <a:latin typeface="Calibri" pitchFamily="34" charset="0"/>
                <a:ea typeface="Calibri" pitchFamily="34" charset="-122"/>
                <a:cs typeface="Calibri" pitchFamily="34" charset="-120"/>
              </a:rPr>
              <a:t>Impact &amp; Guardrails</a:t>
            </a:r>
            <a:endParaRPr lang="en-US" sz="1733"/>
          </a:p>
        </p:txBody>
      </p:sp>
      <p:sp>
        <p:nvSpPr>
          <p:cNvPr id="31" name="Shape 25"/>
          <p:cNvSpPr/>
          <p:nvPr/>
        </p:nvSpPr>
        <p:spPr>
          <a:xfrm>
            <a:off x="6461760" y="2194560"/>
            <a:ext cx="1706880" cy="1158240"/>
          </a:xfrm>
          <a:prstGeom prst="roundRect">
            <a:avLst>
              <a:gd name="adj" fmla="val 8421"/>
            </a:avLst>
          </a:prstGeom>
          <a:solidFill>
            <a:srgbClr val="FEE2E2"/>
          </a:solidFill>
          <a:ln w="12700">
            <a:solidFill>
              <a:srgbClr val="EF4444"/>
            </a:solidFill>
            <a:prstDash val="solid"/>
          </a:ln>
          <a:effectLst>
            <a:outerShdw blurRad="101600" dist="38100" dir="8100000" algn="bl" rotWithShape="0">
              <a:srgbClr val="000000">
                <a:alpha val="8000"/>
              </a:srgbClr>
            </a:outerShdw>
          </a:effectLst>
        </p:spPr>
        <p:txBody>
          <a:bodyPr/>
          <a:lstStyle/>
          <a:p>
            <a:endParaRPr lang="en-US" sz="2400"/>
          </a:p>
        </p:txBody>
      </p:sp>
      <p:sp>
        <p:nvSpPr>
          <p:cNvPr id="32" name="Text 26"/>
          <p:cNvSpPr/>
          <p:nvPr/>
        </p:nvSpPr>
        <p:spPr>
          <a:xfrm>
            <a:off x="6461760" y="2255520"/>
            <a:ext cx="1706880" cy="487680"/>
          </a:xfrm>
          <a:prstGeom prst="rect">
            <a:avLst/>
          </a:prstGeom>
          <a:noFill/>
          <a:ln/>
        </p:spPr>
        <p:txBody>
          <a:bodyPr wrap="square" lIns="0" tIns="0" rIns="0" bIns="0" rtlCol="0" anchor="ctr"/>
          <a:lstStyle/>
          <a:p>
            <a:pPr algn="ctr"/>
            <a:r>
              <a:rPr lang="en-US" sz="1867" b="1">
                <a:solidFill>
                  <a:srgbClr val="EF4444"/>
                </a:solidFill>
                <a:latin typeface="Calibri" pitchFamily="34" charset="0"/>
                <a:ea typeface="Calibri" pitchFamily="34" charset="-122"/>
                <a:cs typeface="Calibri" pitchFamily="34" charset="-120"/>
              </a:rPr>
              <a:t>30–45 min</a:t>
            </a:r>
            <a:endParaRPr lang="en-US" sz="1867"/>
          </a:p>
        </p:txBody>
      </p:sp>
      <p:sp>
        <p:nvSpPr>
          <p:cNvPr id="33" name="Text 27"/>
          <p:cNvSpPr/>
          <p:nvPr/>
        </p:nvSpPr>
        <p:spPr>
          <a:xfrm>
            <a:off x="6461760" y="2779776"/>
            <a:ext cx="1706880" cy="487680"/>
          </a:xfrm>
          <a:prstGeom prst="rect">
            <a:avLst/>
          </a:prstGeom>
          <a:noFill/>
          <a:ln/>
        </p:spPr>
        <p:txBody>
          <a:bodyPr wrap="square" lIns="0" tIns="0" rIns="0" bIns="0" rtlCol="0" anchor="ctr"/>
          <a:lstStyle/>
          <a:p>
            <a:pPr algn="ctr"/>
            <a:r>
              <a:rPr lang="en-US" sz="1000">
                <a:solidFill>
                  <a:srgbClr val="4A5568"/>
                </a:solidFill>
                <a:latin typeface="Calibri" pitchFamily="34" charset="0"/>
                <a:ea typeface="Calibri" pitchFamily="34" charset="-122"/>
                <a:cs typeface="Calibri" pitchFamily="34" charset="-120"/>
              </a:rPr>
              <a:t>Manual review</a:t>
            </a:r>
            <a:endParaRPr lang="en-US" sz="1000"/>
          </a:p>
          <a:p>
            <a:pPr algn="ctr"/>
            <a:r>
              <a:rPr lang="en-US" sz="1000">
                <a:solidFill>
                  <a:srgbClr val="4A5568"/>
                </a:solidFill>
                <a:latin typeface="Calibri" pitchFamily="34" charset="0"/>
                <a:ea typeface="Calibri" pitchFamily="34" charset="-122"/>
                <a:cs typeface="Calibri" pitchFamily="34" charset="-120"/>
              </a:rPr>
              <a:t>per employee</a:t>
            </a:r>
            <a:endParaRPr lang="en-US" sz="1000"/>
          </a:p>
        </p:txBody>
      </p:sp>
      <p:sp>
        <p:nvSpPr>
          <p:cNvPr id="34" name="Shape 28"/>
          <p:cNvSpPr/>
          <p:nvPr/>
        </p:nvSpPr>
        <p:spPr>
          <a:xfrm>
            <a:off x="8351520" y="2194560"/>
            <a:ext cx="1706880" cy="1158240"/>
          </a:xfrm>
          <a:prstGeom prst="roundRect">
            <a:avLst>
              <a:gd name="adj" fmla="val 8421"/>
            </a:avLst>
          </a:prstGeom>
          <a:solidFill>
            <a:srgbClr val="D1FAE5"/>
          </a:solidFill>
          <a:ln w="12700">
            <a:solidFill>
              <a:srgbClr val="10B981"/>
            </a:solidFill>
            <a:prstDash val="solid"/>
          </a:ln>
          <a:effectLst>
            <a:outerShdw blurRad="101600" dist="38100" dir="8100000" algn="bl" rotWithShape="0">
              <a:srgbClr val="000000">
                <a:alpha val="8000"/>
              </a:srgbClr>
            </a:outerShdw>
          </a:effectLst>
        </p:spPr>
        <p:txBody>
          <a:bodyPr/>
          <a:lstStyle/>
          <a:p>
            <a:endParaRPr lang="en-US" sz="2400"/>
          </a:p>
        </p:txBody>
      </p:sp>
      <p:sp>
        <p:nvSpPr>
          <p:cNvPr id="35" name="Text 29"/>
          <p:cNvSpPr/>
          <p:nvPr/>
        </p:nvSpPr>
        <p:spPr>
          <a:xfrm>
            <a:off x="8351520" y="2255520"/>
            <a:ext cx="1706880" cy="487680"/>
          </a:xfrm>
          <a:prstGeom prst="rect">
            <a:avLst/>
          </a:prstGeom>
          <a:noFill/>
          <a:ln/>
        </p:spPr>
        <p:txBody>
          <a:bodyPr wrap="square" lIns="0" tIns="0" rIns="0" bIns="0" rtlCol="0" anchor="ctr"/>
          <a:lstStyle/>
          <a:p>
            <a:pPr algn="ctr"/>
            <a:r>
              <a:rPr lang="en-US" sz="1867" b="1">
                <a:solidFill>
                  <a:srgbClr val="10B981"/>
                </a:solidFill>
                <a:latin typeface="Calibri" pitchFamily="34" charset="0"/>
                <a:ea typeface="Calibri" pitchFamily="34" charset="-122"/>
                <a:cs typeface="Calibri" pitchFamily="34" charset="-120"/>
              </a:rPr>
              <a:t>&lt; 5 min</a:t>
            </a:r>
            <a:endParaRPr lang="en-US" sz="1867"/>
          </a:p>
        </p:txBody>
      </p:sp>
      <p:sp>
        <p:nvSpPr>
          <p:cNvPr id="36" name="Text 30"/>
          <p:cNvSpPr/>
          <p:nvPr/>
        </p:nvSpPr>
        <p:spPr>
          <a:xfrm>
            <a:off x="8351520" y="2779776"/>
            <a:ext cx="1706880" cy="487680"/>
          </a:xfrm>
          <a:prstGeom prst="rect">
            <a:avLst/>
          </a:prstGeom>
          <a:noFill/>
          <a:ln/>
        </p:spPr>
        <p:txBody>
          <a:bodyPr wrap="square" lIns="0" tIns="0" rIns="0" bIns="0" rtlCol="0" anchor="ctr"/>
          <a:lstStyle/>
          <a:p>
            <a:pPr algn="ctr"/>
            <a:r>
              <a:rPr lang="en-US" sz="1000">
                <a:solidFill>
                  <a:srgbClr val="4A5568"/>
                </a:solidFill>
                <a:latin typeface="Calibri" pitchFamily="34" charset="0"/>
                <a:ea typeface="Calibri" pitchFamily="34" charset="-122"/>
                <a:cs typeface="Calibri" pitchFamily="34" charset="-120"/>
              </a:rPr>
              <a:t>With AI</a:t>
            </a:r>
            <a:endParaRPr lang="en-US" sz="1000"/>
          </a:p>
          <a:p>
            <a:pPr algn="ctr"/>
            <a:r>
              <a:rPr lang="en-US" sz="1000">
                <a:solidFill>
                  <a:srgbClr val="4A5568"/>
                </a:solidFill>
                <a:latin typeface="Calibri" pitchFamily="34" charset="0"/>
                <a:ea typeface="Calibri" pitchFamily="34" charset="-122"/>
                <a:cs typeface="Calibri" pitchFamily="34" charset="-120"/>
              </a:rPr>
              <a:t>evaluation</a:t>
            </a:r>
            <a:endParaRPr lang="en-US" sz="1000"/>
          </a:p>
        </p:txBody>
      </p:sp>
      <p:sp>
        <p:nvSpPr>
          <p:cNvPr id="37" name="Shape 31"/>
          <p:cNvSpPr/>
          <p:nvPr/>
        </p:nvSpPr>
        <p:spPr>
          <a:xfrm>
            <a:off x="10241280" y="2212848"/>
            <a:ext cx="1706880" cy="1158240"/>
          </a:xfrm>
          <a:prstGeom prst="roundRect">
            <a:avLst>
              <a:gd name="adj" fmla="val 8421"/>
            </a:avLst>
          </a:prstGeom>
          <a:solidFill>
            <a:srgbClr val="E8F2FC"/>
          </a:solidFill>
          <a:ln w="12700">
            <a:solidFill>
              <a:srgbClr val="0066B3"/>
            </a:solidFill>
            <a:prstDash val="solid"/>
          </a:ln>
          <a:effectLst>
            <a:outerShdw blurRad="101600" dist="38100" dir="8100000" algn="bl" rotWithShape="0">
              <a:srgbClr val="000000">
                <a:alpha val="8000"/>
              </a:srgbClr>
            </a:outerShdw>
          </a:effectLst>
        </p:spPr>
        <p:txBody>
          <a:bodyPr/>
          <a:lstStyle/>
          <a:p>
            <a:endParaRPr lang="en-US" sz="2400"/>
          </a:p>
        </p:txBody>
      </p:sp>
      <p:sp>
        <p:nvSpPr>
          <p:cNvPr id="38" name="Text 32"/>
          <p:cNvSpPr/>
          <p:nvPr/>
        </p:nvSpPr>
        <p:spPr>
          <a:xfrm>
            <a:off x="10241280" y="2255520"/>
            <a:ext cx="1706880" cy="487680"/>
          </a:xfrm>
          <a:prstGeom prst="rect">
            <a:avLst/>
          </a:prstGeom>
          <a:noFill/>
          <a:ln/>
        </p:spPr>
        <p:txBody>
          <a:bodyPr wrap="square" lIns="0" tIns="0" rIns="0" bIns="0" rtlCol="0" anchor="ctr"/>
          <a:lstStyle/>
          <a:p>
            <a:pPr algn="ctr"/>
            <a:r>
              <a:rPr lang="en-US" sz="1867" b="1">
                <a:solidFill>
                  <a:srgbClr val="0066B3"/>
                </a:solidFill>
                <a:latin typeface="Calibri" pitchFamily="34" charset="0"/>
                <a:ea typeface="Calibri" pitchFamily="34" charset="-122"/>
                <a:cs typeface="Calibri" pitchFamily="34" charset="-120"/>
              </a:rPr>
              <a:t>3K+ Employees</a:t>
            </a:r>
          </a:p>
        </p:txBody>
      </p:sp>
      <p:sp>
        <p:nvSpPr>
          <p:cNvPr id="39" name="Text 33"/>
          <p:cNvSpPr/>
          <p:nvPr/>
        </p:nvSpPr>
        <p:spPr>
          <a:xfrm>
            <a:off x="10241280" y="2779776"/>
            <a:ext cx="1706880" cy="487680"/>
          </a:xfrm>
          <a:prstGeom prst="rect">
            <a:avLst/>
          </a:prstGeom>
          <a:noFill/>
          <a:ln/>
        </p:spPr>
        <p:txBody>
          <a:bodyPr wrap="square" lIns="0" tIns="0" rIns="0" bIns="0" rtlCol="0" anchor="ctr"/>
          <a:lstStyle/>
          <a:p>
            <a:pPr algn="ctr"/>
            <a:r>
              <a:rPr lang="en-US" sz="1000">
                <a:solidFill>
                  <a:srgbClr val="4A5568"/>
                </a:solidFill>
                <a:latin typeface="Calibri" pitchFamily="34" charset="0"/>
                <a:ea typeface="Calibri" pitchFamily="34" charset="-122"/>
                <a:cs typeface="Calibri" pitchFamily="34" charset="-120"/>
              </a:rPr>
              <a:t>Adopted in </a:t>
            </a:r>
            <a:br>
              <a:rPr lang="en-US" sz="1000">
                <a:solidFill>
                  <a:srgbClr val="4A5568"/>
                </a:solidFill>
                <a:latin typeface="Calibri" pitchFamily="34" charset="0"/>
                <a:ea typeface="Calibri" pitchFamily="34" charset="-122"/>
                <a:cs typeface="Calibri" pitchFamily="34" charset="-120"/>
              </a:rPr>
            </a:br>
            <a:r>
              <a:rPr lang="en-US" sz="1000">
                <a:solidFill>
                  <a:srgbClr val="4A5568"/>
                </a:solidFill>
                <a:latin typeface="Calibri" pitchFamily="34" charset="0"/>
                <a:ea typeface="Calibri" pitchFamily="34" charset="-122"/>
                <a:cs typeface="Calibri" pitchFamily="34" charset="-120"/>
              </a:rPr>
              <a:t>Q1 2026</a:t>
            </a:r>
            <a:endParaRPr lang="en-US" sz="1000"/>
          </a:p>
        </p:txBody>
      </p:sp>
      <p:sp>
        <p:nvSpPr>
          <p:cNvPr id="40" name="Shape 34"/>
          <p:cNvSpPr/>
          <p:nvPr/>
        </p:nvSpPr>
        <p:spPr>
          <a:xfrm>
            <a:off x="6461760" y="3657600"/>
            <a:ext cx="5120640" cy="2560320"/>
          </a:xfrm>
          <a:prstGeom prst="roundRect">
            <a:avLst>
              <a:gd name="adj" fmla="val 4762"/>
            </a:avLst>
          </a:prstGeom>
          <a:solidFill>
            <a:srgbClr val="F5F7FA"/>
          </a:solidFill>
          <a:ln w="12700">
            <a:solidFill>
              <a:srgbClr val="E2E8F0"/>
            </a:solidFill>
            <a:prstDash val="solid"/>
          </a:ln>
          <a:effectLst>
            <a:outerShdw blurRad="101600" dist="38100" dir="8100000" algn="bl" rotWithShape="0">
              <a:srgbClr val="000000">
                <a:alpha val="8000"/>
              </a:srgbClr>
            </a:outerShdw>
          </a:effectLst>
        </p:spPr>
        <p:txBody>
          <a:bodyPr/>
          <a:lstStyle/>
          <a:p>
            <a:endParaRPr lang="en-US" sz="2400"/>
          </a:p>
        </p:txBody>
      </p:sp>
      <p:sp>
        <p:nvSpPr>
          <p:cNvPr id="41" name="Shape 35"/>
          <p:cNvSpPr/>
          <p:nvPr/>
        </p:nvSpPr>
        <p:spPr>
          <a:xfrm>
            <a:off x="6583680" y="3657600"/>
            <a:ext cx="4876800" cy="48768"/>
          </a:xfrm>
          <a:prstGeom prst="rect">
            <a:avLst/>
          </a:prstGeom>
          <a:solidFill>
            <a:srgbClr val="EF4444"/>
          </a:solidFill>
          <a:ln/>
        </p:spPr>
        <p:txBody>
          <a:bodyPr/>
          <a:lstStyle/>
          <a:p>
            <a:endParaRPr lang="en-US" sz="2400"/>
          </a:p>
        </p:txBody>
      </p:sp>
      <p:pic>
        <p:nvPicPr>
          <p:cNvPr id="42" name="Image 4" descr="preencoded.png"/>
          <p:cNvPicPr>
            <a:picLocks noChangeAspect="1"/>
          </p:cNvPicPr>
          <p:nvPr/>
        </p:nvPicPr>
        <p:blipFill>
          <a:blip r:embed="rId6"/>
          <a:stretch>
            <a:fillRect/>
          </a:stretch>
        </p:blipFill>
        <p:spPr>
          <a:xfrm>
            <a:off x="6705600" y="3840480"/>
            <a:ext cx="304800" cy="304800"/>
          </a:xfrm>
          <a:prstGeom prst="rect">
            <a:avLst/>
          </a:prstGeom>
        </p:spPr>
      </p:pic>
      <p:sp>
        <p:nvSpPr>
          <p:cNvPr id="43" name="Text 36"/>
          <p:cNvSpPr/>
          <p:nvPr/>
        </p:nvSpPr>
        <p:spPr>
          <a:xfrm>
            <a:off x="7071360" y="3840480"/>
            <a:ext cx="3657600" cy="304800"/>
          </a:xfrm>
          <a:prstGeom prst="rect">
            <a:avLst/>
          </a:prstGeom>
          <a:noFill/>
          <a:ln/>
        </p:spPr>
        <p:txBody>
          <a:bodyPr wrap="square" lIns="0" tIns="0" rIns="0" bIns="0" rtlCol="0" anchor="ctr"/>
          <a:lstStyle/>
          <a:p>
            <a:r>
              <a:rPr lang="en-US" sz="1333" b="1">
                <a:solidFill>
                  <a:srgbClr val="EF4444"/>
                </a:solidFill>
                <a:latin typeface="Calibri" pitchFamily="34" charset="0"/>
                <a:ea typeface="Calibri" pitchFamily="34" charset="-122"/>
                <a:cs typeface="Calibri" pitchFamily="34" charset="-120"/>
              </a:rPr>
              <a:t>GUARDRAILS</a:t>
            </a:r>
            <a:endParaRPr lang="en-US" sz="1333"/>
          </a:p>
        </p:txBody>
      </p:sp>
      <p:sp>
        <p:nvSpPr>
          <p:cNvPr id="44" name="Text 37"/>
          <p:cNvSpPr/>
          <p:nvPr/>
        </p:nvSpPr>
        <p:spPr>
          <a:xfrm>
            <a:off x="6705600" y="4267200"/>
            <a:ext cx="4632960" cy="1828800"/>
          </a:xfrm>
          <a:prstGeom prst="rect">
            <a:avLst/>
          </a:prstGeom>
          <a:noFill/>
          <a:ln/>
        </p:spPr>
        <p:txBody>
          <a:bodyPr wrap="square" lIns="0" tIns="0" rIns="0" bIns="0" rtlCol="0" anchor="ctr"/>
          <a:lstStyle/>
          <a:p>
            <a:pPr marL="457189" indent="-457189">
              <a:spcAft>
                <a:spcPts val="533"/>
              </a:spcAft>
              <a:buSzPct val="100000"/>
              <a:buChar char="•"/>
            </a:pPr>
            <a:r>
              <a:rPr lang="en-US" sz="1200">
                <a:solidFill>
                  <a:srgbClr val="4A5568"/>
                </a:solidFill>
                <a:latin typeface="Calibri" pitchFamily="34" charset="0"/>
                <a:ea typeface="Calibri" pitchFamily="34" charset="-122"/>
                <a:cs typeface="Calibri" pitchFamily="34" charset="-120"/>
              </a:rPr>
              <a:t>Scope-locked: only evaluates performance goals</a:t>
            </a:r>
            <a:endParaRPr lang="en-US" sz="1200"/>
          </a:p>
          <a:p>
            <a:pPr marL="457189" indent="-457189">
              <a:spcAft>
                <a:spcPts val="533"/>
              </a:spcAft>
              <a:buSzPct val="100000"/>
              <a:buChar char="•"/>
            </a:pPr>
            <a:r>
              <a:rPr lang="en-US" sz="1200">
                <a:solidFill>
                  <a:srgbClr val="4A5568"/>
                </a:solidFill>
                <a:latin typeface="Calibri" pitchFamily="34" charset="0"/>
                <a:ea typeface="Calibri" pitchFamily="34" charset="-122"/>
                <a:cs typeface="Calibri" pitchFamily="34" charset="-120"/>
              </a:rPr>
              <a:t>Off-topic queries get consistent redirect</a:t>
            </a:r>
            <a:endParaRPr lang="en-US" sz="1200"/>
          </a:p>
          <a:p>
            <a:pPr marL="457189" indent="-457189">
              <a:spcAft>
                <a:spcPts val="533"/>
              </a:spcAft>
              <a:buSzPct val="100000"/>
              <a:buChar char="•"/>
            </a:pPr>
            <a:r>
              <a:rPr lang="en-US" sz="1200">
                <a:solidFill>
                  <a:srgbClr val="4A5568"/>
                </a:solidFill>
                <a:latin typeface="Calibri" pitchFamily="34" charset="0"/>
                <a:ea typeface="Calibri" pitchFamily="34" charset="-122"/>
                <a:cs typeface="Calibri" pitchFamily="34" charset="-120"/>
              </a:rPr>
              <a:t>Web search disabled — no hallucination risk</a:t>
            </a:r>
            <a:endParaRPr lang="en-US" sz="1200"/>
          </a:p>
          <a:p>
            <a:pPr marL="457189" indent="-457189">
              <a:spcAft>
                <a:spcPts val="533"/>
              </a:spcAft>
              <a:buSzPct val="100000"/>
              <a:buChar char="•"/>
            </a:pPr>
            <a:r>
              <a:rPr lang="en-US" sz="1200">
                <a:solidFill>
                  <a:srgbClr val="4A5568"/>
                </a:solidFill>
                <a:latin typeface="Calibri" pitchFamily="34" charset="0"/>
                <a:ea typeface="Calibri" pitchFamily="34" charset="-122"/>
                <a:cs typeface="Calibri" pitchFamily="34" charset="-120"/>
              </a:rPr>
              <a:t>System instructions enforce strict boundaries</a:t>
            </a:r>
            <a:endParaRPr lang="en-US" sz="1200"/>
          </a:p>
          <a:p>
            <a:pPr marL="457189" indent="-457189">
              <a:spcAft>
                <a:spcPts val="533"/>
              </a:spcAft>
              <a:buSzPct val="100000"/>
              <a:buChar char="•"/>
            </a:pPr>
            <a:r>
              <a:rPr lang="en-US" sz="1200">
                <a:solidFill>
                  <a:srgbClr val="4A5568"/>
                </a:solidFill>
                <a:latin typeface="Calibri" pitchFamily="34" charset="0"/>
                <a:ea typeface="Calibri" pitchFamily="34" charset="-122"/>
                <a:cs typeface="Calibri" pitchFamily="34" charset="-120"/>
              </a:rPr>
              <a:t>Grounded in Afni strategic pillars PPTX only</a:t>
            </a:r>
            <a:endParaRPr lang="en-US" sz="1200"/>
          </a:p>
        </p:txBody>
      </p:sp>
      <p:pic>
        <p:nvPicPr>
          <p:cNvPr id="45" name="Image 2" descr="preencoded.png">
            <a:extLst>
              <a:ext uri="{FF2B5EF4-FFF2-40B4-BE49-F238E27FC236}">
                <a16:creationId xmlns:a16="http://schemas.microsoft.com/office/drawing/2014/main" id="{FBCAB748-EB48-EA46-3C64-ADD3AE530246}"/>
              </a:ext>
            </a:extLst>
          </p:cNvPr>
          <p:cNvPicPr>
            <a:picLocks noChangeAspect="1"/>
          </p:cNvPicPr>
          <p:nvPr/>
        </p:nvPicPr>
        <p:blipFill>
          <a:blip r:embed="rId7"/>
          <a:stretch>
            <a:fillRect/>
          </a:stretch>
        </p:blipFill>
        <p:spPr>
          <a:xfrm>
            <a:off x="11839510" y="6585811"/>
            <a:ext cx="322729" cy="23471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219200" y="-1219200"/>
            <a:ext cx="3657600" cy="3657600"/>
          </a:xfrm>
          <a:prstGeom prst="ellipse">
            <a:avLst/>
          </a:prstGeom>
          <a:solidFill>
            <a:srgbClr val="E87722">
              <a:alpha val="8000"/>
            </a:srgbClr>
          </a:solidFill>
          <a:ln/>
        </p:spPr>
        <p:txBody>
          <a:bodyPr/>
          <a:lstStyle/>
          <a:p>
            <a:endParaRPr lang="en-US" sz="2400"/>
          </a:p>
        </p:txBody>
      </p:sp>
      <p:sp>
        <p:nvSpPr>
          <p:cNvPr id="3" name="Shape 1"/>
          <p:cNvSpPr/>
          <p:nvPr/>
        </p:nvSpPr>
        <p:spPr>
          <a:xfrm>
            <a:off x="9753600" y="4267200"/>
            <a:ext cx="3657600" cy="3657600"/>
          </a:xfrm>
          <a:prstGeom prst="ellipse">
            <a:avLst/>
          </a:prstGeom>
          <a:solidFill>
            <a:srgbClr val="00A3B5">
              <a:alpha val="8000"/>
            </a:srgbClr>
          </a:solidFill>
          <a:ln/>
        </p:spPr>
        <p:txBody>
          <a:bodyPr/>
          <a:lstStyle/>
          <a:p>
            <a:endParaRPr lang="en-US" sz="2400"/>
          </a:p>
        </p:txBody>
      </p:sp>
      <p:sp>
        <p:nvSpPr>
          <p:cNvPr id="8" name="Text 5"/>
          <p:cNvSpPr/>
          <p:nvPr/>
        </p:nvSpPr>
        <p:spPr>
          <a:xfrm>
            <a:off x="2243667" y="5852160"/>
            <a:ext cx="7315200" cy="487680"/>
          </a:xfrm>
          <a:prstGeom prst="rect">
            <a:avLst/>
          </a:prstGeom>
          <a:noFill/>
          <a:ln/>
        </p:spPr>
        <p:txBody>
          <a:bodyPr wrap="square" lIns="0" tIns="0" rIns="0" bIns="0" rtlCol="0" anchor="ctr"/>
          <a:lstStyle/>
          <a:p>
            <a:pPr algn="ctr"/>
            <a:r>
              <a:rPr lang="en-US" sz="2133">
                <a:solidFill>
                  <a:srgbClr val="E87722"/>
                </a:solidFill>
                <a:latin typeface="Calibri" pitchFamily="34" charset="0"/>
                <a:ea typeface="Calibri" pitchFamily="34" charset="-122"/>
                <a:cs typeface="Calibri" pitchFamily="34" charset="-120"/>
              </a:rPr>
              <a:t>SMART Goal Evaluator Agent in Action</a:t>
            </a:r>
            <a:endParaRPr lang="en-US" sz="2133"/>
          </a:p>
        </p:txBody>
      </p:sp>
      <p:pic>
        <p:nvPicPr>
          <p:cNvPr id="9" name="Image 2" descr="preencoded.png">
            <a:extLst>
              <a:ext uri="{FF2B5EF4-FFF2-40B4-BE49-F238E27FC236}">
                <a16:creationId xmlns:a16="http://schemas.microsoft.com/office/drawing/2014/main" id="{57DC406D-E93B-5C66-9B58-509930FC0235}"/>
              </a:ext>
            </a:extLst>
          </p:cNvPr>
          <p:cNvPicPr>
            <a:picLocks noChangeAspect="1"/>
          </p:cNvPicPr>
          <p:nvPr/>
        </p:nvPicPr>
        <p:blipFill>
          <a:blip r:embed="rId4"/>
          <a:stretch>
            <a:fillRect/>
          </a:stretch>
        </p:blipFill>
        <p:spPr>
          <a:xfrm>
            <a:off x="11839510" y="6585811"/>
            <a:ext cx="322729" cy="234712"/>
          </a:xfrm>
          <a:prstGeom prst="rect">
            <a:avLst/>
          </a:prstGeom>
        </p:spPr>
      </p:pic>
      <p:pic>
        <p:nvPicPr>
          <p:cNvPr id="10" name="SMARTGoals">
            <a:hlinkClick r:id="" action="ppaction://media"/>
            <a:extLst>
              <a:ext uri="{FF2B5EF4-FFF2-40B4-BE49-F238E27FC236}">
                <a16:creationId xmlns:a16="http://schemas.microsoft.com/office/drawing/2014/main" id="{1B30BB74-316D-53F0-A8BD-9BED5C30B09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578703" y="797506"/>
            <a:ext cx="8645127" cy="48628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6776"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975360" y="-975360"/>
            <a:ext cx="2438400" cy="2438400"/>
          </a:xfrm>
          <a:prstGeom prst="ellipse">
            <a:avLst/>
          </a:prstGeom>
          <a:solidFill>
            <a:srgbClr val="E87722">
              <a:alpha val="12000"/>
            </a:srgbClr>
          </a:solidFill>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731520" y="426720"/>
            <a:ext cx="4876800" cy="341376"/>
          </a:xfrm>
          <a:prstGeom prst="rect">
            <a:avLst/>
          </a:prstGeom>
          <a:noFill/>
          <a:ln/>
        </p:spPr>
        <p:txBody>
          <a:bodyPr wrap="square" lIns="0" tIns="0" rIns="0" bIns="0" rtlCol="0" anchor="ctr"/>
          <a:lstStyle/>
          <a:p>
            <a:pPr defTabSz="1219170"/>
            <a:r>
              <a:rPr lang="en-US" sz="1333" b="1" kern="0" spc="533">
                <a:solidFill>
                  <a:srgbClr val="E87722"/>
                </a:solidFill>
                <a:latin typeface="Calibri" pitchFamily="34" charset="0"/>
                <a:ea typeface="Calibri" pitchFamily="34" charset="-122"/>
                <a:cs typeface="Calibri" pitchFamily="34" charset="-120"/>
              </a:rPr>
              <a:t>CRITICAL INSIGHT</a:t>
            </a:r>
            <a:endParaRPr lang="en-US" sz="1333">
              <a:solidFill>
                <a:prstClr val="black"/>
              </a:solidFill>
              <a:latin typeface="Calibri" panose="020F0502020204030204"/>
            </a:endParaRPr>
          </a:p>
        </p:txBody>
      </p:sp>
      <p:sp>
        <p:nvSpPr>
          <p:cNvPr id="4" name="Text 2"/>
          <p:cNvSpPr/>
          <p:nvPr/>
        </p:nvSpPr>
        <p:spPr>
          <a:xfrm>
            <a:off x="731520" y="731520"/>
            <a:ext cx="9753600" cy="853440"/>
          </a:xfrm>
          <a:prstGeom prst="rect">
            <a:avLst/>
          </a:prstGeom>
          <a:noFill/>
          <a:ln/>
        </p:spPr>
        <p:txBody>
          <a:bodyPr wrap="square" lIns="0" tIns="0" rIns="0" bIns="0" rtlCol="0" anchor="ctr"/>
          <a:lstStyle/>
          <a:p>
            <a:pPr defTabSz="1219170"/>
            <a:r>
              <a:rPr lang="en-US" sz="4000" b="1">
                <a:solidFill>
                  <a:srgbClr val="FFFFFF"/>
                </a:solidFill>
                <a:latin typeface="Calibri" pitchFamily="34" charset="0"/>
                <a:ea typeface="Calibri" pitchFamily="34" charset="-122"/>
                <a:cs typeface="Calibri" pitchFamily="34" charset="-120"/>
              </a:rPr>
              <a:t>The Turning Point</a:t>
            </a:r>
            <a:endParaRPr lang="en-US" sz="4000">
              <a:solidFill>
                <a:prstClr val="black"/>
              </a:solidFill>
              <a:latin typeface="Calibri" panose="020F0502020204030204"/>
            </a:endParaRPr>
          </a:p>
        </p:txBody>
      </p:sp>
      <p:sp>
        <p:nvSpPr>
          <p:cNvPr id="5" name="Shape 3"/>
          <p:cNvSpPr/>
          <p:nvPr/>
        </p:nvSpPr>
        <p:spPr>
          <a:xfrm>
            <a:off x="731520" y="1950720"/>
            <a:ext cx="4998720" cy="2438400"/>
          </a:xfrm>
          <a:prstGeom prst="roundRect">
            <a:avLst>
              <a:gd name="adj" fmla="val 5000"/>
            </a:avLst>
          </a:prstGeom>
          <a:solidFill>
            <a:srgbClr val="111F35"/>
          </a:solidFill>
          <a:ln w="9525">
            <a:solidFill>
              <a:srgbClr val="1C3150"/>
            </a:solidFill>
            <a:prstDash val="solid"/>
          </a:ln>
        </p:spPr>
        <p:txBody>
          <a:bodyPr/>
          <a:lstStyle/>
          <a:p>
            <a:pPr defTabSz="1219170"/>
            <a:endParaRPr lang="en-US" sz="2400">
              <a:solidFill>
                <a:prstClr val="black"/>
              </a:solidFill>
              <a:latin typeface="Calibri" panose="020F0502020204030204"/>
            </a:endParaRPr>
          </a:p>
        </p:txBody>
      </p:sp>
      <p:sp>
        <p:nvSpPr>
          <p:cNvPr id="6" name="Shape 4"/>
          <p:cNvSpPr/>
          <p:nvPr/>
        </p:nvSpPr>
        <p:spPr>
          <a:xfrm>
            <a:off x="731520" y="2072640"/>
            <a:ext cx="73152" cy="2194560"/>
          </a:xfrm>
          <a:prstGeom prst="rect">
            <a:avLst/>
          </a:prstGeom>
          <a:solidFill>
            <a:srgbClr val="EF4444"/>
          </a:solidFill>
          <a:ln/>
        </p:spPr>
        <p:txBody>
          <a:bodyPr/>
          <a:lstStyle/>
          <a:p>
            <a:pPr defTabSz="1219170"/>
            <a:endParaRPr lang="en-US" sz="2400">
              <a:solidFill>
                <a:prstClr val="black"/>
              </a:solidFill>
              <a:latin typeface="Calibri" panose="020F0502020204030204"/>
            </a:endParaRPr>
          </a:p>
        </p:txBody>
      </p:sp>
      <p:sp>
        <p:nvSpPr>
          <p:cNvPr id="7" name="Text 5"/>
          <p:cNvSpPr/>
          <p:nvPr/>
        </p:nvSpPr>
        <p:spPr>
          <a:xfrm>
            <a:off x="1036320" y="2072640"/>
            <a:ext cx="4389120" cy="365760"/>
          </a:xfrm>
          <a:prstGeom prst="rect">
            <a:avLst/>
          </a:prstGeom>
          <a:noFill/>
          <a:ln/>
        </p:spPr>
        <p:txBody>
          <a:bodyPr wrap="square" lIns="0" tIns="0" rIns="0" bIns="0" rtlCol="0" anchor="ctr"/>
          <a:lstStyle/>
          <a:p>
            <a:pPr defTabSz="1219170"/>
            <a:r>
              <a:rPr lang="en-US" sz="1867" b="1">
                <a:solidFill>
                  <a:srgbClr val="EF4444"/>
                </a:solidFill>
                <a:latin typeface="Calibri" pitchFamily="34" charset="0"/>
                <a:ea typeface="Calibri" pitchFamily="34" charset="-122"/>
                <a:cs typeface="Calibri" pitchFamily="34" charset="-120"/>
              </a:rPr>
              <a:t>What We Tried First</a:t>
            </a:r>
            <a:endParaRPr lang="en-US" sz="1867">
              <a:solidFill>
                <a:prstClr val="black"/>
              </a:solidFill>
              <a:latin typeface="Calibri" panose="020F0502020204030204"/>
            </a:endParaRPr>
          </a:p>
        </p:txBody>
      </p:sp>
      <p:sp>
        <p:nvSpPr>
          <p:cNvPr id="8" name="Text 6"/>
          <p:cNvSpPr/>
          <p:nvPr/>
        </p:nvSpPr>
        <p:spPr>
          <a:xfrm>
            <a:off x="1036320" y="2621280"/>
            <a:ext cx="4389120" cy="1463040"/>
          </a:xfrm>
          <a:prstGeom prst="rect">
            <a:avLst/>
          </a:prstGeom>
          <a:noFill/>
          <a:ln/>
        </p:spPr>
        <p:txBody>
          <a:bodyPr wrap="square" lIns="0" tIns="0" rIns="0" bIns="0" rtlCol="0" anchor="ctr"/>
          <a:lstStyle/>
          <a:p>
            <a:pPr marL="457189" indent="-457189" defTabSz="1219170">
              <a:spcAft>
                <a:spcPts val="1067"/>
              </a:spcAft>
              <a:buSzPct val="100000"/>
              <a:buFontTx/>
              <a:buChar char="•"/>
            </a:pPr>
            <a:r>
              <a:rPr lang="en-US" sz="1600">
                <a:solidFill>
                  <a:srgbClr val="B0BEC5"/>
                </a:solidFill>
                <a:latin typeface="Calibri" pitchFamily="34" charset="0"/>
                <a:ea typeface="Calibri" pitchFamily="34" charset="-122"/>
                <a:cs typeface="Calibri" pitchFamily="34" charset="-120"/>
              </a:rPr>
              <a:t>Complex enterprise use cases</a:t>
            </a:r>
            <a:endParaRPr lang="en-US" sz="1600">
              <a:solidFill>
                <a:prstClr val="black"/>
              </a:solidFill>
              <a:latin typeface="Calibri" panose="020F0502020204030204"/>
            </a:endParaRPr>
          </a:p>
          <a:p>
            <a:pPr marL="457189" indent="-457189" defTabSz="1219170">
              <a:spcAft>
                <a:spcPts val="1067"/>
              </a:spcAft>
              <a:buSzPct val="100000"/>
              <a:buFontTx/>
              <a:buChar char="•"/>
            </a:pPr>
            <a:r>
              <a:rPr lang="en-US" sz="1600">
                <a:solidFill>
                  <a:srgbClr val="B0BEC5"/>
                </a:solidFill>
                <a:latin typeface="Calibri" pitchFamily="34" charset="0"/>
                <a:ea typeface="Calibri" pitchFamily="34" charset="-122"/>
                <a:cs typeface="Calibri" pitchFamily="34" charset="-120"/>
              </a:rPr>
              <a:t>Heavy integration requirements</a:t>
            </a:r>
            <a:endParaRPr lang="en-US" sz="1600">
              <a:solidFill>
                <a:prstClr val="black"/>
              </a:solidFill>
              <a:latin typeface="Calibri" panose="020F0502020204030204"/>
            </a:endParaRPr>
          </a:p>
          <a:p>
            <a:pPr marL="457189" indent="-457189" defTabSz="1219170">
              <a:spcAft>
                <a:spcPts val="1067"/>
              </a:spcAft>
              <a:buSzPct val="100000"/>
              <a:buFontTx/>
              <a:buChar char="•"/>
            </a:pPr>
            <a:r>
              <a:rPr lang="en-US" sz="1600" b="1">
                <a:solidFill>
                  <a:srgbClr val="B0BEC5"/>
                </a:solidFill>
                <a:latin typeface="Calibri" pitchFamily="34" charset="0"/>
                <a:ea typeface="Calibri" pitchFamily="34" charset="-122"/>
                <a:cs typeface="Calibri" pitchFamily="34" charset="-120"/>
              </a:rPr>
              <a:t>Result: Low traction, high friction</a:t>
            </a:r>
            <a:endParaRPr lang="en-US" sz="1600">
              <a:solidFill>
                <a:prstClr val="black"/>
              </a:solidFill>
              <a:latin typeface="Calibri" panose="020F0502020204030204"/>
            </a:endParaRPr>
          </a:p>
        </p:txBody>
      </p:sp>
      <p:sp>
        <p:nvSpPr>
          <p:cNvPr id="9" name="Shape 7"/>
          <p:cNvSpPr/>
          <p:nvPr/>
        </p:nvSpPr>
        <p:spPr>
          <a:xfrm>
            <a:off x="6339840" y="1950720"/>
            <a:ext cx="5120640" cy="2438400"/>
          </a:xfrm>
          <a:prstGeom prst="roundRect">
            <a:avLst>
              <a:gd name="adj" fmla="val 5000"/>
            </a:avLst>
          </a:prstGeom>
          <a:solidFill>
            <a:srgbClr val="111F35"/>
          </a:solidFill>
          <a:ln w="9525">
            <a:solidFill>
              <a:srgbClr val="1C3150"/>
            </a:solidFill>
            <a:prstDash val="solid"/>
          </a:ln>
        </p:spPr>
        <p:txBody>
          <a:bodyPr/>
          <a:lstStyle/>
          <a:p>
            <a:pPr defTabSz="1219170"/>
            <a:endParaRPr lang="en-US" sz="2400">
              <a:solidFill>
                <a:prstClr val="black"/>
              </a:solidFill>
              <a:latin typeface="Calibri" panose="020F0502020204030204"/>
            </a:endParaRPr>
          </a:p>
        </p:txBody>
      </p:sp>
      <p:sp>
        <p:nvSpPr>
          <p:cNvPr id="10" name="Shape 8"/>
          <p:cNvSpPr/>
          <p:nvPr/>
        </p:nvSpPr>
        <p:spPr>
          <a:xfrm>
            <a:off x="6339840" y="2072640"/>
            <a:ext cx="73152" cy="2194560"/>
          </a:xfrm>
          <a:prstGeom prst="rect">
            <a:avLst/>
          </a:prstGeom>
          <a:solidFill>
            <a:srgbClr val="10B981"/>
          </a:solidFill>
          <a:ln/>
        </p:spPr>
        <p:txBody>
          <a:bodyPr/>
          <a:lstStyle/>
          <a:p>
            <a:pPr defTabSz="1219170"/>
            <a:endParaRPr lang="en-US" sz="2400">
              <a:solidFill>
                <a:prstClr val="black"/>
              </a:solidFill>
              <a:latin typeface="Calibri" panose="020F0502020204030204"/>
            </a:endParaRPr>
          </a:p>
        </p:txBody>
      </p:sp>
      <p:sp>
        <p:nvSpPr>
          <p:cNvPr id="11" name="Text 9"/>
          <p:cNvSpPr/>
          <p:nvPr/>
        </p:nvSpPr>
        <p:spPr>
          <a:xfrm>
            <a:off x="6644640" y="2072640"/>
            <a:ext cx="4511040" cy="365760"/>
          </a:xfrm>
          <a:prstGeom prst="rect">
            <a:avLst/>
          </a:prstGeom>
          <a:noFill/>
          <a:ln/>
        </p:spPr>
        <p:txBody>
          <a:bodyPr wrap="square" lIns="0" tIns="0" rIns="0" bIns="0" rtlCol="0" anchor="ctr"/>
          <a:lstStyle/>
          <a:p>
            <a:pPr defTabSz="1219170"/>
            <a:r>
              <a:rPr lang="en-US" sz="1867" b="1">
                <a:solidFill>
                  <a:srgbClr val="10B981"/>
                </a:solidFill>
                <a:latin typeface="Calibri" pitchFamily="34" charset="0"/>
                <a:ea typeface="Calibri" pitchFamily="34" charset="-122"/>
                <a:cs typeface="Calibri" pitchFamily="34" charset="-120"/>
              </a:rPr>
              <a:t>What Actually Worked</a:t>
            </a:r>
            <a:endParaRPr lang="en-US" sz="1867">
              <a:solidFill>
                <a:prstClr val="black"/>
              </a:solidFill>
              <a:latin typeface="Calibri" panose="020F0502020204030204"/>
            </a:endParaRPr>
          </a:p>
        </p:txBody>
      </p:sp>
      <p:sp>
        <p:nvSpPr>
          <p:cNvPr id="12" name="Text 10"/>
          <p:cNvSpPr/>
          <p:nvPr/>
        </p:nvSpPr>
        <p:spPr>
          <a:xfrm>
            <a:off x="6644640" y="2621280"/>
            <a:ext cx="4511040" cy="1463040"/>
          </a:xfrm>
          <a:prstGeom prst="rect">
            <a:avLst/>
          </a:prstGeom>
          <a:noFill/>
          <a:ln/>
        </p:spPr>
        <p:txBody>
          <a:bodyPr wrap="square" lIns="0" tIns="0" rIns="0" bIns="0" rtlCol="0" anchor="ctr"/>
          <a:lstStyle/>
          <a:p>
            <a:pPr marL="457189" indent="-457189" defTabSz="1219170">
              <a:spcAft>
                <a:spcPts val="1067"/>
              </a:spcAft>
              <a:buSzPct val="100000"/>
              <a:buFontTx/>
              <a:buChar char="•"/>
            </a:pPr>
            <a:r>
              <a:rPr lang="en-US" sz="1600">
                <a:solidFill>
                  <a:srgbClr val="B0BEC5"/>
                </a:solidFill>
                <a:latin typeface="Calibri" pitchFamily="34" charset="0"/>
                <a:ea typeface="Calibri" pitchFamily="34" charset="-122"/>
                <a:cs typeface="Calibri" pitchFamily="34" charset="-120"/>
              </a:rPr>
              <a:t>Simple, universal use case (goal writing)</a:t>
            </a:r>
            <a:endParaRPr lang="en-US" sz="1600">
              <a:solidFill>
                <a:prstClr val="black"/>
              </a:solidFill>
              <a:latin typeface="Calibri" panose="020F0502020204030204"/>
            </a:endParaRPr>
          </a:p>
          <a:p>
            <a:pPr marL="457189" indent="-457189" defTabSz="1219170">
              <a:spcAft>
                <a:spcPts val="1067"/>
              </a:spcAft>
              <a:buSzPct val="100000"/>
              <a:buFontTx/>
              <a:buChar char="•"/>
            </a:pPr>
            <a:r>
              <a:rPr lang="en-US" sz="1600">
                <a:solidFill>
                  <a:srgbClr val="B0BEC5"/>
                </a:solidFill>
                <a:latin typeface="Calibri" pitchFamily="34" charset="0"/>
                <a:ea typeface="Calibri" pitchFamily="34" charset="-122"/>
                <a:cs typeface="Calibri" pitchFamily="34" charset="-120"/>
              </a:rPr>
              <a:t>Immediate value to every employee</a:t>
            </a:r>
            <a:endParaRPr lang="en-US" sz="1600">
              <a:solidFill>
                <a:prstClr val="black"/>
              </a:solidFill>
              <a:latin typeface="Calibri" panose="020F0502020204030204"/>
            </a:endParaRPr>
          </a:p>
          <a:p>
            <a:pPr marL="457189" indent="-457189" defTabSz="1219170">
              <a:spcAft>
                <a:spcPts val="1067"/>
              </a:spcAft>
              <a:buSzPct val="100000"/>
              <a:buFontTx/>
              <a:buChar char="•"/>
            </a:pPr>
            <a:r>
              <a:rPr lang="en-US" sz="1600" b="1">
                <a:solidFill>
                  <a:srgbClr val="B0BEC5"/>
                </a:solidFill>
                <a:latin typeface="Calibri" pitchFamily="34" charset="0"/>
                <a:ea typeface="Calibri" pitchFamily="34" charset="-122"/>
                <a:cs typeface="Calibri" pitchFamily="34" charset="-120"/>
              </a:rPr>
              <a:t>Result: High adoption, built trust</a:t>
            </a:r>
            <a:endParaRPr lang="en-US" sz="1600">
              <a:solidFill>
                <a:prstClr val="black"/>
              </a:solidFill>
              <a:latin typeface="Calibri" panose="020F0502020204030204"/>
            </a:endParaRPr>
          </a:p>
        </p:txBody>
      </p:sp>
      <p:sp>
        <p:nvSpPr>
          <p:cNvPr id="13" name="Shape 11"/>
          <p:cNvSpPr/>
          <p:nvPr/>
        </p:nvSpPr>
        <p:spPr>
          <a:xfrm>
            <a:off x="1463040" y="4876800"/>
            <a:ext cx="9265920" cy="1402080"/>
          </a:xfrm>
          <a:prstGeom prst="roundRect">
            <a:avLst>
              <a:gd name="adj" fmla="val 8696"/>
            </a:avLst>
          </a:prstGeom>
          <a:solidFill>
            <a:srgbClr val="111F35"/>
          </a:solidFill>
          <a:ln w="9525">
            <a:solidFill>
              <a:srgbClr val="1C3150"/>
            </a:solidFill>
            <a:prstDash val="solid"/>
          </a:ln>
        </p:spPr>
        <p:txBody>
          <a:bodyPr/>
          <a:lstStyle/>
          <a:p>
            <a:pPr defTabSz="1219170"/>
            <a:endParaRPr lang="en-US" sz="2400">
              <a:solidFill>
                <a:prstClr val="black"/>
              </a:solidFill>
              <a:latin typeface="Calibri" panose="020F0502020204030204"/>
            </a:endParaRPr>
          </a:p>
        </p:txBody>
      </p:sp>
      <p:sp>
        <p:nvSpPr>
          <p:cNvPr id="14" name="Shape 12"/>
          <p:cNvSpPr/>
          <p:nvPr/>
        </p:nvSpPr>
        <p:spPr>
          <a:xfrm>
            <a:off x="1584960" y="4974336"/>
            <a:ext cx="9022080" cy="48768"/>
          </a:xfrm>
          <a:prstGeom prst="rect">
            <a:avLst/>
          </a:prstGeom>
          <a:solidFill>
            <a:srgbClr val="F5A623"/>
          </a:solidFill>
          <a:ln/>
        </p:spPr>
        <p:txBody>
          <a:bodyPr/>
          <a:lstStyle/>
          <a:p>
            <a:pPr defTabSz="1219170"/>
            <a:endParaRPr lang="en-US" sz="2400">
              <a:solidFill>
                <a:prstClr val="black"/>
              </a:solidFill>
              <a:latin typeface="Calibri" panose="020F0502020204030204"/>
            </a:endParaRPr>
          </a:p>
        </p:txBody>
      </p:sp>
      <p:sp>
        <p:nvSpPr>
          <p:cNvPr id="15" name="Text 13"/>
          <p:cNvSpPr/>
          <p:nvPr/>
        </p:nvSpPr>
        <p:spPr>
          <a:xfrm>
            <a:off x="1828800" y="5059680"/>
            <a:ext cx="8534400" cy="609600"/>
          </a:xfrm>
          <a:prstGeom prst="rect">
            <a:avLst/>
          </a:prstGeom>
          <a:noFill/>
          <a:ln/>
        </p:spPr>
        <p:txBody>
          <a:bodyPr wrap="square" lIns="0" tIns="0" rIns="0" bIns="0" rtlCol="0" anchor="ctr"/>
          <a:lstStyle/>
          <a:p>
            <a:pPr algn="ctr" defTabSz="1219170"/>
            <a:r>
              <a:rPr lang="en-US" sz="3733" b="1">
                <a:solidFill>
                  <a:srgbClr val="F5A623"/>
                </a:solidFill>
                <a:latin typeface="Calibri" pitchFamily="34" charset="0"/>
                <a:ea typeface="Calibri" pitchFamily="34" charset="-122"/>
                <a:cs typeface="Calibri" pitchFamily="34" charset="-120"/>
              </a:rPr>
              <a:t>Trust  &gt;  Complexity</a:t>
            </a:r>
            <a:endParaRPr lang="en-US" sz="3733">
              <a:solidFill>
                <a:prstClr val="black"/>
              </a:solidFill>
              <a:latin typeface="Calibri" panose="020F0502020204030204"/>
            </a:endParaRPr>
          </a:p>
        </p:txBody>
      </p:sp>
      <p:sp>
        <p:nvSpPr>
          <p:cNvPr id="16" name="Text 14"/>
          <p:cNvSpPr/>
          <p:nvPr/>
        </p:nvSpPr>
        <p:spPr>
          <a:xfrm>
            <a:off x="1828800" y="5669280"/>
            <a:ext cx="8534400" cy="426720"/>
          </a:xfrm>
          <a:prstGeom prst="rect">
            <a:avLst/>
          </a:prstGeom>
          <a:noFill/>
          <a:ln/>
        </p:spPr>
        <p:txBody>
          <a:bodyPr wrap="square" lIns="0" tIns="0" rIns="0" bIns="0" rtlCol="0" anchor="ctr"/>
          <a:lstStyle/>
          <a:p>
            <a:pPr algn="ctr" defTabSz="1219170"/>
            <a:r>
              <a:rPr lang="en-US" sz="1867">
                <a:solidFill>
                  <a:srgbClr val="B0BEC5"/>
                </a:solidFill>
                <a:latin typeface="Calibri" pitchFamily="34" charset="0"/>
                <a:ea typeface="Calibri" pitchFamily="34" charset="-122"/>
                <a:cs typeface="Calibri" pitchFamily="34" charset="-120"/>
              </a:rPr>
              <a:t>Start simple  →  Build confidence  →  Expand to complexity</a:t>
            </a:r>
            <a:endParaRPr lang="en-US" sz="1867">
              <a:solidFill>
                <a:prstClr val="black"/>
              </a:solidFill>
              <a:latin typeface="Calibri" panose="020F0502020204030204"/>
            </a:endParaRPr>
          </a:p>
        </p:txBody>
      </p:sp>
      <p:pic>
        <p:nvPicPr>
          <p:cNvPr id="17" name="Image 2" descr="preencoded.png">
            <a:extLst>
              <a:ext uri="{FF2B5EF4-FFF2-40B4-BE49-F238E27FC236}">
                <a16:creationId xmlns:a16="http://schemas.microsoft.com/office/drawing/2014/main" id="{3F703C3A-2FA3-966E-BC92-BE6679192FF6}"/>
              </a:ext>
            </a:extLst>
          </p:cNvPr>
          <p:cNvPicPr>
            <a:picLocks noChangeAspect="1"/>
          </p:cNvPicPr>
          <p:nvPr/>
        </p:nvPicPr>
        <p:blipFill>
          <a:blip r:embed="rId2"/>
          <a:stretch>
            <a:fillRect/>
          </a:stretch>
        </p:blipFill>
        <p:spPr>
          <a:xfrm>
            <a:off x="11839510" y="6585811"/>
            <a:ext cx="322729" cy="23471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10363200" y="-609600"/>
            <a:ext cx="3048000" cy="3048000"/>
          </a:xfrm>
          <a:prstGeom prst="ellipse">
            <a:avLst/>
          </a:prstGeom>
          <a:solidFill>
            <a:srgbClr val="00A3B5">
              <a:alpha val="12000"/>
            </a:srgbClr>
          </a:solidFill>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731520" y="426720"/>
            <a:ext cx="4876800" cy="341376"/>
          </a:xfrm>
          <a:prstGeom prst="rect">
            <a:avLst/>
          </a:prstGeom>
          <a:noFill/>
          <a:ln/>
        </p:spPr>
        <p:txBody>
          <a:bodyPr wrap="square" lIns="0" tIns="0" rIns="0" bIns="0" rtlCol="0" anchor="ctr"/>
          <a:lstStyle/>
          <a:p>
            <a:pPr defTabSz="1219170"/>
            <a:r>
              <a:rPr lang="en-US" sz="1333" b="1" kern="0" spc="533">
                <a:solidFill>
                  <a:srgbClr val="E87722"/>
                </a:solidFill>
                <a:latin typeface="Calibri" pitchFamily="34" charset="0"/>
                <a:ea typeface="Calibri" pitchFamily="34" charset="-122"/>
                <a:cs typeface="Calibri" pitchFamily="34" charset="-120"/>
              </a:rPr>
              <a:t>SUMMARY</a:t>
            </a:r>
            <a:endParaRPr lang="en-US" sz="1333">
              <a:solidFill>
                <a:prstClr val="black"/>
              </a:solidFill>
              <a:latin typeface="Calibri" panose="020F0502020204030204"/>
            </a:endParaRPr>
          </a:p>
        </p:txBody>
      </p:sp>
      <p:sp>
        <p:nvSpPr>
          <p:cNvPr id="4" name="Text 2"/>
          <p:cNvSpPr/>
          <p:nvPr/>
        </p:nvSpPr>
        <p:spPr>
          <a:xfrm>
            <a:off x="731520" y="731520"/>
            <a:ext cx="9753600" cy="853440"/>
          </a:xfrm>
          <a:prstGeom prst="rect">
            <a:avLst/>
          </a:prstGeom>
          <a:noFill/>
          <a:ln/>
        </p:spPr>
        <p:txBody>
          <a:bodyPr wrap="square" lIns="0" tIns="0" rIns="0" bIns="0" rtlCol="0" anchor="ctr"/>
          <a:lstStyle/>
          <a:p>
            <a:pPr defTabSz="1219170"/>
            <a:r>
              <a:rPr lang="en-US" sz="4000" b="1">
                <a:solidFill>
                  <a:srgbClr val="FFFFFF"/>
                </a:solidFill>
                <a:latin typeface="Calibri" pitchFamily="34" charset="0"/>
                <a:ea typeface="Calibri" pitchFamily="34" charset="-122"/>
                <a:cs typeface="Calibri" pitchFamily="34" charset="-120"/>
              </a:rPr>
              <a:t>Key Takeaways</a:t>
            </a:r>
            <a:endParaRPr lang="en-US" sz="4000">
              <a:solidFill>
                <a:prstClr val="black"/>
              </a:solidFill>
              <a:latin typeface="Calibri" panose="020F0502020204030204"/>
            </a:endParaRPr>
          </a:p>
        </p:txBody>
      </p:sp>
      <p:sp>
        <p:nvSpPr>
          <p:cNvPr id="5" name="Shape 3"/>
          <p:cNvSpPr/>
          <p:nvPr/>
        </p:nvSpPr>
        <p:spPr>
          <a:xfrm>
            <a:off x="731520" y="1828800"/>
            <a:ext cx="10728960" cy="731520"/>
          </a:xfrm>
          <a:prstGeom prst="roundRect">
            <a:avLst>
              <a:gd name="adj" fmla="val 13333"/>
            </a:avLst>
          </a:prstGeom>
          <a:solidFill>
            <a:srgbClr val="111F35"/>
          </a:solidFill>
          <a:ln w="6350">
            <a:solidFill>
              <a:srgbClr val="1C3150"/>
            </a:solidFill>
            <a:prstDash val="solid"/>
          </a:ln>
        </p:spPr>
        <p:txBody>
          <a:bodyPr/>
          <a:lstStyle/>
          <a:p>
            <a:pPr defTabSz="1219170"/>
            <a:endParaRPr lang="en-US" sz="2400">
              <a:solidFill>
                <a:prstClr val="black"/>
              </a:solidFill>
              <a:latin typeface="Calibri" panose="020F0502020204030204"/>
            </a:endParaRPr>
          </a:p>
        </p:txBody>
      </p:sp>
      <p:sp>
        <p:nvSpPr>
          <p:cNvPr id="6" name="Shape 4"/>
          <p:cNvSpPr/>
          <p:nvPr/>
        </p:nvSpPr>
        <p:spPr>
          <a:xfrm>
            <a:off x="731520" y="1926336"/>
            <a:ext cx="73152" cy="536448"/>
          </a:xfrm>
          <a:prstGeom prst="rect">
            <a:avLst/>
          </a:prstGeom>
          <a:solidFill>
            <a:srgbClr val="E87722"/>
          </a:solidFill>
          <a:ln/>
        </p:spPr>
        <p:txBody>
          <a:bodyPr/>
          <a:lstStyle/>
          <a:p>
            <a:pPr defTabSz="1219170"/>
            <a:endParaRPr lang="en-US" sz="2400">
              <a:solidFill>
                <a:prstClr val="black"/>
              </a:solidFill>
              <a:latin typeface="Calibri" panose="020F0502020204030204"/>
            </a:endParaRPr>
          </a:p>
        </p:txBody>
      </p:sp>
      <p:sp>
        <p:nvSpPr>
          <p:cNvPr id="7" name="Shape 5"/>
          <p:cNvSpPr/>
          <p:nvPr/>
        </p:nvSpPr>
        <p:spPr>
          <a:xfrm>
            <a:off x="950976" y="1853184"/>
            <a:ext cx="682752" cy="682752"/>
          </a:xfrm>
          <a:prstGeom prst="ellipse">
            <a:avLst/>
          </a:prstGeom>
          <a:solidFill>
            <a:srgbClr val="E87722">
              <a:alpha val="45000"/>
            </a:srgbClr>
          </a:solidFill>
          <a:ln/>
        </p:spPr>
        <p:txBody>
          <a:bodyPr/>
          <a:lstStyle/>
          <a:p>
            <a:pPr defTabSz="1219170"/>
            <a:endParaRPr lang="en-US" sz="2400">
              <a:solidFill>
                <a:prstClr val="black"/>
              </a:solidFill>
              <a:latin typeface="Calibri" panose="020F0502020204030204"/>
            </a:endParaRPr>
          </a:p>
        </p:txBody>
      </p:sp>
      <p:pic>
        <p:nvPicPr>
          <p:cNvPr id="8" name="Image 0" descr="preencoded.png"/>
          <p:cNvPicPr>
            <a:picLocks noChangeAspect="1"/>
          </p:cNvPicPr>
          <p:nvPr/>
        </p:nvPicPr>
        <p:blipFill>
          <a:blip r:embed="rId2"/>
          <a:stretch>
            <a:fillRect/>
          </a:stretch>
        </p:blipFill>
        <p:spPr>
          <a:xfrm>
            <a:off x="1048512" y="1950720"/>
            <a:ext cx="487680" cy="487680"/>
          </a:xfrm>
          <a:prstGeom prst="rect">
            <a:avLst/>
          </a:prstGeom>
        </p:spPr>
      </p:pic>
      <p:pic>
        <p:nvPicPr>
          <p:cNvPr id="9" name="Image 1" descr="preencoded.png"/>
          <p:cNvPicPr>
            <a:picLocks noChangeAspect="1"/>
          </p:cNvPicPr>
          <p:nvPr/>
        </p:nvPicPr>
        <p:blipFill>
          <a:blip r:embed="rId2"/>
          <a:stretch>
            <a:fillRect/>
          </a:stretch>
        </p:blipFill>
        <p:spPr>
          <a:xfrm>
            <a:off x="1097280" y="1975104"/>
            <a:ext cx="426720" cy="426720"/>
          </a:xfrm>
          <a:prstGeom prst="rect">
            <a:avLst/>
          </a:prstGeom>
        </p:spPr>
      </p:pic>
      <p:sp>
        <p:nvSpPr>
          <p:cNvPr id="10" name="Text 6"/>
          <p:cNvSpPr/>
          <p:nvPr/>
        </p:nvSpPr>
        <p:spPr>
          <a:xfrm>
            <a:off x="1828800" y="1853184"/>
            <a:ext cx="9144000" cy="341376"/>
          </a:xfrm>
          <a:prstGeom prst="rect">
            <a:avLst/>
          </a:prstGeom>
          <a:noFill/>
          <a:ln/>
        </p:spPr>
        <p:txBody>
          <a:bodyPr wrap="square" lIns="0" tIns="0" rIns="0" bIns="0" rtlCol="0" anchor="ctr"/>
          <a:lstStyle/>
          <a:p>
            <a:pPr defTabSz="1219170"/>
            <a:r>
              <a:rPr lang="en-US" sz="1733" b="1">
                <a:solidFill>
                  <a:srgbClr val="FFFFFF"/>
                </a:solidFill>
                <a:latin typeface="Calibri" pitchFamily="34" charset="0"/>
                <a:ea typeface="Calibri" pitchFamily="34" charset="-122"/>
                <a:cs typeface="Calibri" pitchFamily="34" charset="-120"/>
              </a:rPr>
              <a:t>Start Simple to Build Trust</a:t>
            </a:r>
            <a:endParaRPr lang="en-US" sz="1733">
              <a:solidFill>
                <a:prstClr val="black"/>
              </a:solidFill>
              <a:latin typeface="Calibri" panose="020F0502020204030204"/>
            </a:endParaRPr>
          </a:p>
        </p:txBody>
      </p:sp>
      <p:sp>
        <p:nvSpPr>
          <p:cNvPr id="11" name="Text 7"/>
          <p:cNvSpPr/>
          <p:nvPr/>
        </p:nvSpPr>
        <p:spPr>
          <a:xfrm>
            <a:off x="1828800" y="2194560"/>
            <a:ext cx="9144000" cy="304800"/>
          </a:xfrm>
          <a:prstGeom prst="rect">
            <a:avLst/>
          </a:prstGeom>
          <a:noFill/>
          <a:ln/>
        </p:spPr>
        <p:txBody>
          <a:bodyPr wrap="square" lIns="0" tIns="0" rIns="0" bIns="0" rtlCol="0" anchor="ctr"/>
          <a:lstStyle/>
          <a:p>
            <a:pPr defTabSz="1219170"/>
            <a:r>
              <a:rPr lang="en-US" sz="1333">
                <a:solidFill>
                  <a:srgbClr val="94A3B8"/>
                </a:solidFill>
                <a:latin typeface="Calibri" pitchFamily="34" charset="0"/>
                <a:ea typeface="Calibri" pitchFamily="34" charset="-122"/>
                <a:cs typeface="Calibri" pitchFamily="34" charset="-120"/>
              </a:rPr>
              <a:t>A universal, low-risk use case drives adoption faster than complex enterprise workflows</a:t>
            </a:r>
            <a:endParaRPr lang="en-US" sz="1333">
              <a:solidFill>
                <a:prstClr val="black"/>
              </a:solidFill>
              <a:latin typeface="Calibri" panose="020F0502020204030204"/>
            </a:endParaRPr>
          </a:p>
        </p:txBody>
      </p:sp>
      <p:sp>
        <p:nvSpPr>
          <p:cNvPr id="12" name="Shape 8"/>
          <p:cNvSpPr/>
          <p:nvPr/>
        </p:nvSpPr>
        <p:spPr>
          <a:xfrm>
            <a:off x="731520" y="2706624"/>
            <a:ext cx="10728960" cy="731520"/>
          </a:xfrm>
          <a:prstGeom prst="roundRect">
            <a:avLst>
              <a:gd name="adj" fmla="val 13333"/>
            </a:avLst>
          </a:prstGeom>
          <a:solidFill>
            <a:srgbClr val="111F35"/>
          </a:solidFill>
          <a:ln w="6350">
            <a:solidFill>
              <a:srgbClr val="1C3150"/>
            </a:solidFill>
            <a:prstDash val="solid"/>
          </a:ln>
        </p:spPr>
        <p:txBody>
          <a:bodyPr/>
          <a:lstStyle/>
          <a:p>
            <a:pPr defTabSz="1219170"/>
            <a:endParaRPr lang="en-US" sz="2400">
              <a:solidFill>
                <a:prstClr val="black"/>
              </a:solidFill>
              <a:latin typeface="Calibri" panose="020F0502020204030204"/>
            </a:endParaRPr>
          </a:p>
        </p:txBody>
      </p:sp>
      <p:sp>
        <p:nvSpPr>
          <p:cNvPr id="13" name="Shape 9"/>
          <p:cNvSpPr/>
          <p:nvPr/>
        </p:nvSpPr>
        <p:spPr>
          <a:xfrm>
            <a:off x="731520" y="2804160"/>
            <a:ext cx="73152" cy="536448"/>
          </a:xfrm>
          <a:prstGeom prst="rect">
            <a:avLst/>
          </a:prstGeom>
          <a:solidFill>
            <a:srgbClr val="10B981"/>
          </a:solidFill>
          <a:ln/>
        </p:spPr>
        <p:txBody>
          <a:bodyPr/>
          <a:lstStyle/>
          <a:p>
            <a:pPr defTabSz="1219170"/>
            <a:endParaRPr lang="en-US" sz="2400">
              <a:solidFill>
                <a:prstClr val="black"/>
              </a:solidFill>
              <a:latin typeface="Calibri" panose="020F0502020204030204"/>
            </a:endParaRPr>
          </a:p>
        </p:txBody>
      </p:sp>
      <p:sp>
        <p:nvSpPr>
          <p:cNvPr id="14" name="Shape 10"/>
          <p:cNvSpPr/>
          <p:nvPr/>
        </p:nvSpPr>
        <p:spPr>
          <a:xfrm>
            <a:off x="950976" y="2731008"/>
            <a:ext cx="682752" cy="682752"/>
          </a:xfrm>
          <a:prstGeom prst="ellipse">
            <a:avLst/>
          </a:prstGeom>
          <a:solidFill>
            <a:srgbClr val="10B981">
              <a:alpha val="45000"/>
            </a:srgbClr>
          </a:solidFill>
          <a:ln/>
        </p:spPr>
        <p:txBody>
          <a:bodyPr/>
          <a:lstStyle/>
          <a:p>
            <a:pPr defTabSz="1219170"/>
            <a:endParaRPr lang="en-US" sz="2400">
              <a:solidFill>
                <a:prstClr val="black"/>
              </a:solidFill>
              <a:latin typeface="Calibri" panose="020F0502020204030204"/>
            </a:endParaRPr>
          </a:p>
        </p:txBody>
      </p:sp>
      <p:pic>
        <p:nvPicPr>
          <p:cNvPr id="15" name="Image 2" descr="preencoded.png"/>
          <p:cNvPicPr>
            <a:picLocks noChangeAspect="1"/>
          </p:cNvPicPr>
          <p:nvPr/>
        </p:nvPicPr>
        <p:blipFill>
          <a:blip r:embed="rId3"/>
          <a:stretch>
            <a:fillRect/>
          </a:stretch>
        </p:blipFill>
        <p:spPr>
          <a:xfrm>
            <a:off x="1048512" y="2828544"/>
            <a:ext cx="487680" cy="487680"/>
          </a:xfrm>
          <a:prstGeom prst="rect">
            <a:avLst/>
          </a:prstGeom>
        </p:spPr>
      </p:pic>
      <p:pic>
        <p:nvPicPr>
          <p:cNvPr id="16" name="Image 3" descr="preencoded.png"/>
          <p:cNvPicPr>
            <a:picLocks noChangeAspect="1"/>
          </p:cNvPicPr>
          <p:nvPr/>
        </p:nvPicPr>
        <p:blipFill>
          <a:blip r:embed="rId3"/>
          <a:stretch>
            <a:fillRect/>
          </a:stretch>
        </p:blipFill>
        <p:spPr>
          <a:xfrm>
            <a:off x="1097280" y="2852928"/>
            <a:ext cx="426720" cy="426720"/>
          </a:xfrm>
          <a:prstGeom prst="rect">
            <a:avLst/>
          </a:prstGeom>
        </p:spPr>
      </p:pic>
      <p:sp>
        <p:nvSpPr>
          <p:cNvPr id="17" name="Text 11"/>
          <p:cNvSpPr/>
          <p:nvPr/>
        </p:nvSpPr>
        <p:spPr>
          <a:xfrm>
            <a:off x="1828800" y="2731008"/>
            <a:ext cx="9144000" cy="341376"/>
          </a:xfrm>
          <a:prstGeom prst="rect">
            <a:avLst/>
          </a:prstGeom>
          <a:noFill/>
          <a:ln/>
        </p:spPr>
        <p:txBody>
          <a:bodyPr wrap="square" lIns="0" tIns="0" rIns="0" bIns="0" rtlCol="0" anchor="ctr"/>
          <a:lstStyle/>
          <a:p>
            <a:pPr defTabSz="1219170"/>
            <a:r>
              <a:rPr lang="en-US" sz="1733" b="1">
                <a:solidFill>
                  <a:srgbClr val="FFFFFF"/>
                </a:solidFill>
                <a:latin typeface="Calibri" pitchFamily="34" charset="0"/>
                <a:ea typeface="Calibri" pitchFamily="34" charset="-122"/>
                <a:cs typeface="Calibri" pitchFamily="34" charset="-120"/>
              </a:rPr>
              <a:t>Empower Champions Early</a:t>
            </a:r>
            <a:endParaRPr lang="en-US" sz="1733">
              <a:solidFill>
                <a:prstClr val="black"/>
              </a:solidFill>
              <a:latin typeface="Calibri" panose="020F0502020204030204"/>
            </a:endParaRPr>
          </a:p>
        </p:txBody>
      </p:sp>
      <p:sp>
        <p:nvSpPr>
          <p:cNvPr id="18" name="Text 12"/>
          <p:cNvSpPr/>
          <p:nvPr/>
        </p:nvSpPr>
        <p:spPr>
          <a:xfrm>
            <a:off x="1828800" y="3072384"/>
            <a:ext cx="9144000" cy="304800"/>
          </a:xfrm>
          <a:prstGeom prst="rect">
            <a:avLst/>
          </a:prstGeom>
          <a:noFill/>
          <a:ln/>
        </p:spPr>
        <p:txBody>
          <a:bodyPr wrap="square" lIns="0" tIns="0" rIns="0" bIns="0" rtlCol="0" anchor="ctr"/>
          <a:lstStyle/>
          <a:p>
            <a:pPr defTabSz="1219170"/>
            <a:r>
              <a:rPr lang="en-US" sz="1333">
                <a:solidFill>
                  <a:srgbClr val="94A3B8"/>
                </a:solidFill>
                <a:latin typeface="Calibri" pitchFamily="34" charset="0"/>
                <a:ea typeface="Calibri" pitchFamily="34" charset="-122"/>
                <a:cs typeface="Calibri" pitchFamily="34" charset="-120"/>
              </a:rPr>
              <a:t>Give your best people access and room to experiment — they'll pull others along</a:t>
            </a:r>
            <a:endParaRPr lang="en-US" sz="1333">
              <a:solidFill>
                <a:prstClr val="black"/>
              </a:solidFill>
              <a:latin typeface="Calibri" panose="020F0502020204030204"/>
            </a:endParaRPr>
          </a:p>
        </p:txBody>
      </p:sp>
      <p:sp>
        <p:nvSpPr>
          <p:cNvPr id="19" name="Shape 13"/>
          <p:cNvSpPr/>
          <p:nvPr/>
        </p:nvSpPr>
        <p:spPr>
          <a:xfrm>
            <a:off x="731520" y="3584448"/>
            <a:ext cx="10728960" cy="731520"/>
          </a:xfrm>
          <a:prstGeom prst="roundRect">
            <a:avLst>
              <a:gd name="adj" fmla="val 13333"/>
            </a:avLst>
          </a:prstGeom>
          <a:solidFill>
            <a:srgbClr val="111F35"/>
          </a:solidFill>
          <a:ln w="6350">
            <a:solidFill>
              <a:srgbClr val="1C3150"/>
            </a:solidFill>
            <a:prstDash val="solid"/>
          </a:ln>
        </p:spPr>
        <p:txBody>
          <a:bodyPr/>
          <a:lstStyle/>
          <a:p>
            <a:pPr defTabSz="1219170"/>
            <a:endParaRPr lang="en-US" sz="2400">
              <a:solidFill>
                <a:prstClr val="black"/>
              </a:solidFill>
              <a:latin typeface="Calibri" panose="020F0502020204030204"/>
            </a:endParaRPr>
          </a:p>
        </p:txBody>
      </p:sp>
      <p:sp>
        <p:nvSpPr>
          <p:cNvPr id="20" name="Shape 14"/>
          <p:cNvSpPr/>
          <p:nvPr/>
        </p:nvSpPr>
        <p:spPr>
          <a:xfrm>
            <a:off x="731520" y="3681984"/>
            <a:ext cx="73152" cy="536448"/>
          </a:xfrm>
          <a:prstGeom prst="rect">
            <a:avLst/>
          </a:prstGeom>
          <a:solidFill>
            <a:srgbClr val="00A3B5"/>
          </a:solidFill>
          <a:ln/>
        </p:spPr>
        <p:txBody>
          <a:bodyPr/>
          <a:lstStyle/>
          <a:p>
            <a:pPr defTabSz="1219170"/>
            <a:endParaRPr lang="en-US" sz="2400">
              <a:solidFill>
                <a:prstClr val="black"/>
              </a:solidFill>
              <a:latin typeface="Calibri" panose="020F0502020204030204"/>
            </a:endParaRPr>
          </a:p>
        </p:txBody>
      </p:sp>
      <p:sp>
        <p:nvSpPr>
          <p:cNvPr id="21" name="Shape 15"/>
          <p:cNvSpPr/>
          <p:nvPr/>
        </p:nvSpPr>
        <p:spPr>
          <a:xfrm>
            <a:off x="950976" y="3608832"/>
            <a:ext cx="682752" cy="682752"/>
          </a:xfrm>
          <a:prstGeom prst="ellipse">
            <a:avLst/>
          </a:prstGeom>
          <a:solidFill>
            <a:srgbClr val="00A3B5">
              <a:alpha val="45000"/>
            </a:srgbClr>
          </a:solidFill>
          <a:ln/>
        </p:spPr>
        <p:txBody>
          <a:bodyPr/>
          <a:lstStyle/>
          <a:p>
            <a:pPr defTabSz="1219170"/>
            <a:endParaRPr lang="en-US" sz="2400">
              <a:solidFill>
                <a:prstClr val="black"/>
              </a:solidFill>
              <a:latin typeface="Calibri" panose="020F0502020204030204"/>
            </a:endParaRPr>
          </a:p>
        </p:txBody>
      </p:sp>
      <p:pic>
        <p:nvPicPr>
          <p:cNvPr id="22" name="Image 4" descr="preencoded.png"/>
          <p:cNvPicPr>
            <a:picLocks noChangeAspect="1"/>
          </p:cNvPicPr>
          <p:nvPr/>
        </p:nvPicPr>
        <p:blipFill>
          <a:blip r:embed="rId4"/>
          <a:stretch>
            <a:fillRect/>
          </a:stretch>
        </p:blipFill>
        <p:spPr>
          <a:xfrm>
            <a:off x="1048512" y="3706368"/>
            <a:ext cx="487680" cy="487680"/>
          </a:xfrm>
          <a:prstGeom prst="rect">
            <a:avLst/>
          </a:prstGeom>
        </p:spPr>
      </p:pic>
      <p:pic>
        <p:nvPicPr>
          <p:cNvPr id="23" name="Image 5" descr="preencoded.png"/>
          <p:cNvPicPr>
            <a:picLocks noChangeAspect="1"/>
          </p:cNvPicPr>
          <p:nvPr/>
        </p:nvPicPr>
        <p:blipFill>
          <a:blip r:embed="rId4"/>
          <a:stretch>
            <a:fillRect/>
          </a:stretch>
        </p:blipFill>
        <p:spPr>
          <a:xfrm>
            <a:off x="1097280" y="3730752"/>
            <a:ext cx="426720" cy="426720"/>
          </a:xfrm>
          <a:prstGeom prst="rect">
            <a:avLst/>
          </a:prstGeom>
        </p:spPr>
      </p:pic>
      <p:sp>
        <p:nvSpPr>
          <p:cNvPr id="24" name="Text 16"/>
          <p:cNvSpPr/>
          <p:nvPr/>
        </p:nvSpPr>
        <p:spPr>
          <a:xfrm>
            <a:off x="1828800" y="3608832"/>
            <a:ext cx="9144000" cy="341376"/>
          </a:xfrm>
          <a:prstGeom prst="rect">
            <a:avLst/>
          </a:prstGeom>
          <a:noFill/>
          <a:ln/>
        </p:spPr>
        <p:txBody>
          <a:bodyPr wrap="square" lIns="0" tIns="0" rIns="0" bIns="0" rtlCol="0" anchor="ctr"/>
          <a:lstStyle/>
          <a:p>
            <a:pPr defTabSz="1219170"/>
            <a:r>
              <a:rPr lang="en-US" sz="1733" b="1">
                <a:solidFill>
                  <a:srgbClr val="FFFFFF"/>
                </a:solidFill>
                <a:latin typeface="Calibri" pitchFamily="34" charset="0"/>
                <a:ea typeface="Calibri" pitchFamily="34" charset="-122"/>
                <a:cs typeface="Calibri" pitchFamily="34" charset="-120"/>
              </a:rPr>
              <a:t>Governance Should Enable, Not Block</a:t>
            </a:r>
            <a:endParaRPr lang="en-US" sz="1733">
              <a:solidFill>
                <a:prstClr val="black"/>
              </a:solidFill>
              <a:latin typeface="Calibri" panose="020F0502020204030204"/>
            </a:endParaRPr>
          </a:p>
        </p:txBody>
      </p:sp>
      <p:sp>
        <p:nvSpPr>
          <p:cNvPr id="25" name="Text 17"/>
          <p:cNvSpPr/>
          <p:nvPr/>
        </p:nvSpPr>
        <p:spPr>
          <a:xfrm>
            <a:off x="1828800" y="3950208"/>
            <a:ext cx="9144000" cy="304800"/>
          </a:xfrm>
          <a:prstGeom prst="rect">
            <a:avLst/>
          </a:prstGeom>
          <a:noFill/>
          <a:ln/>
        </p:spPr>
        <p:txBody>
          <a:bodyPr wrap="square" lIns="0" tIns="0" rIns="0" bIns="0" rtlCol="0" anchor="ctr"/>
          <a:lstStyle/>
          <a:p>
            <a:pPr defTabSz="1219170"/>
            <a:r>
              <a:rPr lang="en-US" sz="1333">
                <a:solidFill>
                  <a:srgbClr val="94A3B8"/>
                </a:solidFill>
                <a:latin typeface="Calibri" pitchFamily="34" charset="0"/>
                <a:ea typeface="Calibri" pitchFamily="34" charset="-122"/>
                <a:cs typeface="Calibri" pitchFamily="34" charset="-120"/>
              </a:rPr>
              <a:t>Lean model: SLT governs, COE controls, Spokes build</a:t>
            </a:r>
            <a:endParaRPr lang="en-US" sz="1333">
              <a:solidFill>
                <a:prstClr val="black"/>
              </a:solidFill>
              <a:latin typeface="Calibri" panose="020F0502020204030204"/>
            </a:endParaRPr>
          </a:p>
        </p:txBody>
      </p:sp>
      <p:sp>
        <p:nvSpPr>
          <p:cNvPr id="26" name="Shape 18"/>
          <p:cNvSpPr/>
          <p:nvPr/>
        </p:nvSpPr>
        <p:spPr>
          <a:xfrm>
            <a:off x="731520" y="4462272"/>
            <a:ext cx="10728960" cy="731520"/>
          </a:xfrm>
          <a:prstGeom prst="roundRect">
            <a:avLst>
              <a:gd name="adj" fmla="val 13333"/>
            </a:avLst>
          </a:prstGeom>
          <a:solidFill>
            <a:srgbClr val="111F35"/>
          </a:solidFill>
          <a:ln w="6350">
            <a:solidFill>
              <a:srgbClr val="1C3150"/>
            </a:solidFill>
            <a:prstDash val="solid"/>
          </a:ln>
        </p:spPr>
        <p:txBody>
          <a:bodyPr/>
          <a:lstStyle/>
          <a:p>
            <a:pPr defTabSz="1219170"/>
            <a:endParaRPr lang="en-US" sz="2400">
              <a:solidFill>
                <a:prstClr val="black"/>
              </a:solidFill>
              <a:latin typeface="Calibri" panose="020F0502020204030204"/>
            </a:endParaRPr>
          </a:p>
        </p:txBody>
      </p:sp>
      <p:sp>
        <p:nvSpPr>
          <p:cNvPr id="27" name="Shape 19"/>
          <p:cNvSpPr/>
          <p:nvPr/>
        </p:nvSpPr>
        <p:spPr>
          <a:xfrm>
            <a:off x="731520" y="4559808"/>
            <a:ext cx="73152" cy="536448"/>
          </a:xfrm>
          <a:prstGeom prst="rect">
            <a:avLst/>
          </a:prstGeom>
          <a:solidFill>
            <a:srgbClr val="7C3AED"/>
          </a:solidFill>
          <a:ln/>
        </p:spPr>
        <p:txBody>
          <a:bodyPr/>
          <a:lstStyle/>
          <a:p>
            <a:pPr defTabSz="1219170"/>
            <a:endParaRPr lang="en-US" sz="2400">
              <a:solidFill>
                <a:prstClr val="black"/>
              </a:solidFill>
              <a:latin typeface="Calibri" panose="020F0502020204030204"/>
            </a:endParaRPr>
          </a:p>
        </p:txBody>
      </p:sp>
      <p:sp>
        <p:nvSpPr>
          <p:cNvPr id="28" name="Shape 20"/>
          <p:cNvSpPr/>
          <p:nvPr/>
        </p:nvSpPr>
        <p:spPr>
          <a:xfrm>
            <a:off x="950976" y="4486656"/>
            <a:ext cx="682752" cy="682752"/>
          </a:xfrm>
          <a:prstGeom prst="ellipse">
            <a:avLst/>
          </a:prstGeom>
          <a:solidFill>
            <a:srgbClr val="7C3AED">
              <a:alpha val="45000"/>
            </a:srgbClr>
          </a:solidFill>
          <a:ln/>
        </p:spPr>
        <p:txBody>
          <a:bodyPr/>
          <a:lstStyle/>
          <a:p>
            <a:pPr defTabSz="1219170"/>
            <a:endParaRPr lang="en-US" sz="2400">
              <a:solidFill>
                <a:prstClr val="black"/>
              </a:solidFill>
              <a:latin typeface="Calibri" panose="020F0502020204030204"/>
            </a:endParaRPr>
          </a:p>
        </p:txBody>
      </p:sp>
      <p:pic>
        <p:nvPicPr>
          <p:cNvPr id="29" name="Image 6" descr="preencoded.png"/>
          <p:cNvPicPr>
            <a:picLocks noChangeAspect="1"/>
          </p:cNvPicPr>
          <p:nvPr/>
        </p:nvPicPr>
        <p:blipFill>
          <a:blip r:embed="rId5"/>
          <a:stretch>
            <a:fillRect/>
          </a:stretch>
        </p:blipFill>
        <p:spPr>
          <a:xfrm>
            <a:off x="1048512" y="4584192"/>
            <a:ext cx="487680" cy="487680"/>
          </a:xfrm>
          <a:prstGeom prst="rect">
            <a:avLst/>
          </a:prstGeom>
        </p:spPr>
      </p:pic>
      <p:pic>
        <p:nvPicPr>
          <p:cNvPr id="30" name="Image 7" descr="preencoded.png"/>
          <p:cNvPicPr>
            <a:picLocks noChangeAspect="1"/>
          </p:cNvPicPr>
          <p:nvPr/>
        </p:nvPicPr>
        <p:blipFill>
          <a:blip r:embed="rId5"/>
          <a:stretch>
            <a:fillRect/>
          </a:stretch>
        </p:blipFill>
        <p:spPr>
          <a:xfrm>
            <a:off x="1097280" y="4608576"/>
            <a:ext cx="426720" cy="426720"/>
          </a:xfrm>
          <a:prstGeom prst="rect">
            <a:avLst/>
          </a:prstGeom>
        </p:spPr>
      </p:pic>
      <p:sp>
        <p:nvSpPr>
          <p:cNvPr id="31" name="Text 21"/>
          <p:cNvSpPr/>
          <p:nvPr/>
        </p:nvSpPr>
        <p:spPr>
          <a:xfrm>
            <a:off x="1828800" y="4486656"/>
            <a:ext cx="9144000" cy="341376"/>
          </a:xfrm>
          <a:prstGeom prst="rect">
            <a:avLst/>
          </a:prstGeom>
          <a:noFill/>
          <a:ln/>
        </p:spPr>
        <p:txBody>
          <a:bodyPr wrap="square" lIns="0" tIns="0" rIns="0" bIns="0" rtlCol="0" anchor="ctr"/>
          <a:lstStyle/>
          <a:p>
            <a:pPr defTabSz="1219170"/>
            <a:r>
              <a:rPr lang="en-US" sz="1733" b="1">
                <a:solidFill>
                  <a:srgbClr val="FFFFFF"/>
                </a:solidFill>
                <a:latin typeface="Calibri" pitchFamily="34" charset="0"/>
                <a:ea typeface="Calibri" pitchFamily="34" charset="-122"/>
                <a:cs typeface="Calibri" pitchFamily="34" charset="-120"/>
              </a:rPr>
              <a:t>Measure Everything</a:t>
            </a:r>
            <a:endParaRPr lang="en-US" sz="1733">
              <a:solidFill>
                <a:prstClr val="black"/>
              </a:solidFill>
              <a:latin typeface="Calibri" panose="020F0502020204030204"/>
            </a:endParaRPr>
          </a:p>
        </p:txBody>
      </p:sp>
      <p:sp>
        <p:nvSpPr>
          <p:cNvPr id="32" name="Text 22"/>
          <p:cNvSpPr/>
          <p:nvPr/>
        </p:nvSpPr>
        <p:spPr>
          <a:xfrm>
            <a:off x="1828800" y="4828032"/>
            <a:ext cx="9144000" cy="304800"/>
          </a:xfrm>
          <a:prstGeom prst="rect">
            <a:avLst/>
          </a:prstGeom>
          <a:noFill/>
          <a:ln/>
        </p:spPr>
        <p:txBody>
          <a:bodyPr wrap="square" lIns="0" tIns="0" rIns="0" bIns="0" rtlCol="0" anchor="ctr"/>
          <a:lstStyle/>
          <a:p>
            <a:pPr defTabSz="1219170"/>
            <a:r>
              <a:rPr lang="en-US" sz="1333">
                <a:solidFill>
                  <a:srgbClr val="94A3B8"/>
                </a:solidFill>
                <a:latin typeface="Calibri" pitchFamily="34" charset="0"/>
                <a:ea typeface="Calibri" pitchFamily="34" charset="-122"/>
                <a:cs typeface="Calibri" pitchFamily="34" charset="-120"/>
              </a:rPr>
              <a:t>Telemetry, golden datasets, and monitoring from day one — not as an afterthought</a:t>
            </a:r>
            <a:endParaRPr lang="en-US" sz="1333">
              <a:solidFill>
                <a:prstClr val="black"/>
              </a:solidFill>
              <a:latin typeface="Calibri" panose="020F0502020204030204"/>
            </a:endParaRPr>
          </a:p>
        </p:txBody>
      </p:sp>
      <p:sp>
        <p:nvSpPr>
          <p:cNvPr id="33" name="Shape 23"/>
          <p:cNvSpPr/>
          <p:nvPr/>
        </p:nvSpPr>
        <p:spPr>
          <a:xfrm>
            <a:off x="731520" y="5340096"/>
            <a:ext cx="10728960" cy="731520"/>
          </a:xfrm>
          <a:prstGeom prst="roundRect">
            <a:avLst>
              <a:gd name="adj" fmla="val 13333"/>
            </a:avLst>
          </a:prstGeom>
          <a:solidFill>
            <a:srgbClr val="111F35"/>
          </a:solidFill>
          <a:ln w="6350">
            <a:solidFill>
              <a:srgbClr val="1C3150"/>
            </a:solidFill>
            <a:prstDash val="solid"/>
          </a:ln>
        </p:spPr>
        <p:txBody>
          <a:bodyPr/>
          <a:lstStyle/>
          <a:p>
            <a:pPr defTabSz="1219170"/>
            <a:endParaRPr lang="en-US" sz="2400">
              <a:solidFill>
                <a:prstClr val="black"/>
              </a:solidFill>
              <a:latin typeface="Calibri" panose="020F0502020204030204"/>
            </a:endParaRPr>
          </a:p>
        </p:txBody>
      </p:sp>
      <p:sp>
        <p:nvSpPr>
          <p:cNvPr id="34" name="Shape 24"/>
          <p:cNvSpPr/>
          <p:nvPr/>
        </p:nvSpPr>
        <p:spPr>
          <a:xfrm>
            <a:off x="731520" y="5437632"/>
            <a:ext cx="73152" cy="536448"/>
          </a:xfrm>
          <a:prstGeom prst="rect">
            <a:avLst/>
          </a:prstGeom>
          <a:solidFill>
            <a:srgbClr val="4A90D9"/>
          </a:solidFill>
          <a:ln/>
        </p:spPr>
        <p:txBody>
          <a:bodyPr/>
          <a:lstStyle/>
          <a:p>
            <a:pPr defTabSz="1219170"/>
            <a:endParaRPr lang="en-US" sz="2400">
              <a:solidFill>
                <a:prstClr val="black"/>
              </a:solidFill>
              <a:latin typeface="Calibri" panose="020F0502020204030204"/>
            </a:endParaRPr>
          </a:p>
        </p:txBody>
      </p:sp>
      <p:sp>
        <p:nvSpPr>
          <p:cNvPr id="35" name="Shape 25"/>
          <p:cNvSpPr/>
          <p:nvPr/>
        </p:nvSpPr>
        <p:spPr>
          <a:xfrm>
            <a:off x="950976" y="5364480"/>
            <a:ext cx="682752" cy="682752"/>
          </a:xfrm>
          <a:prstGeom prst="ellipse">
            <a:avLst/>
          </a:prstGeom>
          <a:solidFill>
            <a:srgbClr val="4A90D9">
              <a:alpha val="45000"/>
            </a:srgbClr>
          </a:solidFill>
          <a:ln/>
        </p:spPr>
        <p:txBody>
          <a:bodyPr/>
          <a:lstStyle/>
          <a:p>
            <a:pPr defTabSz="1219170"/>
            <a:endParaRPr lang="en-US" sz="2400">
              <a:solidFill>
                <a:prstClr val="black"/>
              </a:solidFill>
              <a:latin typeface="Calibri" panose="020F0502020204030204"/>
            </a:endParaRPr>
          </a:p>
        </p:txBody>
      </p:sp>
      <p:pic>
        <p:nvPicPr>
          <p:cNvPr id="36" name="Image 8" descr="preencoded.png"/>
          <p:cNvPicPr>
            <a:picLocks noChangeAspect="1"/>
          </p:cNvPicPr>
          <p:nvPr/>
        </p:nvPicPr>
        <p:blipFill>
          <a:blip r:embed="rId6"/>
          <a:stretch>
            <a:fillRect/>
          </a:stretch>
        </p:blipFill>
        <p:spPr>
          <a:xfrm>
            <a:off x="1048512" y="5462016"/>
            <a:ext cx="487680" cy="487680"/>
          </a:xfrm>
          <a:prstGeom prst="rect">
            <a:avLst/>
          </a:prstGeom>
        </p:spPr>
      </p:pic>
      <p:pic>
        <p:nvPicPr>
          <p:cNvPr id="37" name="Image 9" descr="preencoded.png"/>
          <p:cNvPicPr>
            <a:picLocks noChangeAspect="1"/>
          </p:cNvPicPr>
          <p:nvPr/>
        </p:nvPicPr>
        <p:blipFill>
          <a:blip r:embed="rId6"/>
          <a:stretch>
            <a:fillRect/>
          </a:stretch>
        </p:blipFill>
        <p:spPr>
          <a:xfrm>
            <a:off x="1097280" y="5486400"/>
            <a:ext cx="426720" cy="426720"/>
          </a:xfrm>
          <a:prstGeom prst="rect">
            <a:avLst/>
          </a:prstGeom>
        </p:spPr>
      </p:pic>
      <p:sp>
        <p:nvSpPr>
          <p:cNvPr id="38" name="Text 26"/>
          <p:cNvSpPr/>
          <p:nvPr/>
        </p:nvSpPr>
        <p:spPr>
          <a:xfrm>
            <a:off x="1828800" y="5364480"/>
            <a:ext cx="9144000" cy="341376"/>
          </a:xfrm>
          <a:prstGeom prst="rect">
            <a:avLst/>
          </a:prstGeom>
          <a:noFill/>
          <a:ln/>
        </p:spPr>
        <p:txBody>
          <a:bodyPr wrap="square" lIns="0" tIns="0" rIns="0" bIns="0" rtlCol="0" anchor="ctr"/>
          <a:lstStyle/>
          <a:p>
            <a:pPr defTabSz="1219170"/>
            <a:r>
              <a:rPr lang="en-US" sz="1733" b="1">
                <a:solidFill>
                  <a:srgbClr val="FFFFFF"/>
                </a:solidFill>
                <a:latin typeface="Calibri" pitchFamily="34" charset="0"/>
                <a:ea typeface="Calibri" pitchFamily="34" charset="-122"/>
                <a:cs typeface="Calibri" pitchFamily="34" charset="-120"/>
              </a:rPr>
              <a:t>Scale with Orchestration</a:t>
            </a:r>
            <a:endParaRPr lang="en-US" sz="1733">
              <a:solidFill>
                <a:prstClr val="black"/>
              </a:solidFill>
              <a:latin typeface="Calibri" panose="020F0502020204030204"/>
            </a:endParaRPr>
          </a:p>
        </p:txBody>
      </p:sp>
      <p:sp>
        <p:nvSpPr>
          <p:cNvPr id="39" name="Text 27"/>
          <p:cNvSpPr/>
          <p:nvPr/>
        </p:nvSpPr>
        <p:spPr>
          <a:xfrm>
            <a:off x="1828800" y="5705856"/>
            <a:ext cx="9144000" cy="304800"/>
          </a:xfrm>
          <a:prstGeom prst="rect">
            <a:avLst/>
          </a:prstGeom>
          <a:noFill/>
          <a:ln/>
        </p:spPr>
        <p:txBody>
          <a:bodyPr wrap="square" lIns="0" tIns="0" rIns="0" bIns="0" rtlCol="0" anchor="ctr"/>
          <a:lstStyle/>
          <a:p>
            <a:pPr defTabSz="1219170"/>
            <a:r>
              <a:rPr lang="en-US" sz="1333">
                <a:solidFill>
                  <a:srgbClr val="94A3B8"/>
                </a:solidFill>
                <a:latin typeface="Calibri" pitchFamily="34" charset="0"/>
                <a:ea typeface="Calibri" pitchFamily="34" charset="-122"/>
                <a:cs typeface="Calibri" pitchFamily="34" charset="-120"/>
              </a:rPr>
              <a:t>Front-door agent + specialized agents = seamless multi-agent experience</a:t>
            </a:r>
            <a:endParaRPr lang="en-US" sz="1333">
              <a:solidFill>
                <a:prstClr val="black"/>
              </a:solidFill>
              <a:latin typeface="Calibri" panose="020F0502020204030204"/>
            </a:endParaRPr>
          </a:p>
        </p:txBody>
      </p:sp>
      <p:pic>
        <p:nvPicPr>
          <p:cNvPr id="40" name="Image 2" descr="preencoded.png">
            <a:extLst>
              <a:ext uri="{FF2B5EF4-FFF2-40B4-BE49-F238E27FC236}">
                <a16:creationId xmlns:a16="http://schemas.microsoft.com/office/drawing/2014/main" id="{A0E37B66-1340-8FD1-F797-EDFEDF13837E}"/>
              </a:ext>
            </a:extLst>
          </p:cNvPr>
          <p:cNvPicPr>
            <a:picLocks noChangeAspect="1"/>
          </p:cNvPicPr>
          <p:nvPr/>
        </p:nvPicPr>
        <p:blipFill>
          <a:blip r:embed="rId7"/>
          <a:stretch>
            <a:fillRect/>
          </a:stretch>
        </p:blipFill>
        <p:spPr>
          <a:xfrm>
            <a:off x="11839510" y="6585811"/>
            <a:ext cx="322729" cy="2347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S Ignite 16:9 Template Dark">
  <a:themeElements>
    <a:clrScheme name="Custom 16">
      <a:dk1>
        <a:srgbClr val="091F2C"/>
      </a:dk1>
      <a:lt1>
        <a:srgbClr val="FFFFFF"/>
      </a:lt1>
      <a:dk2>
        <a:srgbClr val="2A446F"/>
      </a:dk2>
      <a:lt2>
        <a:srgbClr val="E8E6DF"/>
      </a:lt2>
      <a:accent1>
        <a:srgbClr val="8661C5"/>
      </a:accent1>
      <a:accent2>
        <a:srgbClr val="8DE971"/>
      </a:accent2>
      <a:accent3>
        <a:srgbClr val="0078D4"/>
      </a:accent3>
      <a:accent4>
        <a:srgbClr val="D7D2CB"/>
      </a:accent4>
      <a:accent5>
        <a:srgbClr val="FFE399"/>
      </a:accent5>
      <a:accent6>
        <a:srgbClr val="D2D2D2"/>
      </a:accent6>
      <a:hlink>
        <a:srgbClr val="D59ED7"/>
      </a:hlink>
      <a:folHlink>
        <a:srgbClr val="D59ED7"/>
      </a:folHlink>
    </a:clrScheme>
    <a:fontScheme name="Custom 3">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S_Ignite_2024_16-9 Event-template.potx  -  Last saved by user" id="{25E4B35E-646D-4F3A-8D0B-C2BDF548142B}" vid="{8A17B14A-69D5-4F26-BC7B-8547BA50C10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E1CA5C76A3A7148B502CA3C69F4C903" ma:contentTypeVersion="49" ma:contentTypeDescription="Create a new document." ma:contentTypeScope="" ma:versionID="5152b36f9bf3cb7d8e24c04152519100">
  <xsd:schema xmlns:xsd="http://www.w3.org/2001/XMLSchema" xmlns:xs="http://www.w3.org/2001/XMLSchema" xmlns:p="http://schemas.microsoft.com/office/2006/metadata/properties" xmlns:ns1="http://schemas.microsoft.com/sharepoint/v3" xmlns:ns2="5164c192-e522-4d89-a5bb-3cb209f039bd" xmlns:ns3="f5d7644a-4532-4813-a815-b54215be4a0c" xmlns:ns4="230e9df3-be65-4c73-a93b-d1236ebd677e" targetNamespace="http://schemas.microsoft.com/office/2006/metadata/properties" ma:root="true" ma:fieldsID="ea460b29a5c70aa0d08619641dff3750" ns1:_="" ns2:_="" ns3:_="" ns4:_="">
    <xsd:import namespace="http://schemas.microsoft.com/sharepoint/v3"/>
    <xsd:import namespace="5164c192-e522-4d89-a5bb-3cb209f039bd"/>
    <xsd:import namespace="f5d7644a-4532-4813-a815-b54215be4a0c"/>
    <xsd:import namespace="230e9df3-be65-4c73-a93b-d1236ebd677e"/>
    <xsd:element name="properties">
      <xsd:complexType>
        <xsd:sequence>
          <xsd:element name="documentManagement">
            <xsd:complexType>
              <xsd:all>
                <xsd:element ref="ns2:MediaServiceKeyPoints" minOccurs="0"/>
                <xsd:element ref="ns3:SharedWithUsers" minOccurs="0"/>
                <xsd:element ref="ns3:SharedWithDetails" minOccurs="0"/>
                <xsd:element ref="ns3:LastSharedByUser" minOccurs="0"/>
                <xsd:element ref="ns3:LastSharedByTime" minOccurs="0"/>
                <xsd:element ref="ns2:MediaServiceMetadata" minOccurs="0"/>
                <xsd:element ref="ns2:MediaServiceFastMetadata" minOccurs="0"/>
                <xsd:element ref="ns2:MediaServiceAutoTags" minOccurs="0"/>
                <xsd:element ref="ns2:MediaServiceDateTaken" minOccurs="0"/>
                <xsd:element ref="ns2:MediaServiceLocation" minOccurs="0"/>
                <xsd:element ref="ns2:MediaServiceOCR" minOccurs="0"/>
                <xsd:element ref="ns2:MediaServiceEventHashCode" minOccurs="0"/>
                <xsd:element ref="ns2:MediaServiceGenerationTime" minOccurs="0"/>
                <xsd:element ref="ns1:_ip_UnifiedCompliancePolicyProperties" minOccurs="0"/>
                <xsd:element ref="ns1:_ip_UnifiedCompliancePolicyUIAction" minOccurs="0"/>
                <xsd:element ref="ns2:MediaServiceAutoKeyPoints" minOccurs="0"/>
                <xsd:element ref="ns2:MediaLengthInSeconds" minOccurs="0"/>
                <xsd:element ref="ns2:lcf76f155ced4ddcb4097134ff3c332f" minOccurs="0"/>
                <xsd:element ref="ns4:TaxCatchAll" minOccurs="0"/>
                <xsd:element ref="ns2:MediaServiceSearchProperties" minOccurs="0"/>
                <xsd:element ref="ns2:MediaServiceDocTags" minOccurs="0"/>
                <xsd:element ref="ns2:MediaServiceObjectDetectorVersions" minOccurs="0"/>
                <xsd:element ref="ns2:MediaServiceSystemTags" minOccurs="0"/>
                <xsd:element ref="ns1:AverageRating" minOccurs="0"/>
                <xsd:element ref="ns1:RatingCount" minOccurs="0"/>
                <xsd:element ref="ns1:RatedBy" minOccurs="0"/>
                <xsd:element ref="ns1:Ratings" minOccurs="0"/>
                <xsd:element ref="ns1:LikesCount" minOccurs="0"/>
                <xsd:element ref="ns1:LikedBy" minOccurs="0"/>
                <xsd:element ref="ns2:MediaServiceBillingMetadata" minOccurs="0"/>
                <xsd:element ref="ns2:Adoptionpillar" minOccurs="0"/>
                <xsd:element ref="ns2:Contentstatus" minOccurs="0"/>
                <xsd:element ref="ns2:Reviewcomme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ma:readOnly="false">
      <xsd:simpleType>
        <xsd:restriction base="dms:Note"/>
      </xsd:simpleType>
    </xsd:element>
    <xsd:element name="_ip_UnifiedCompliancePolicyUIAction" ma:index="19" nillable="true" ma:displayName="Unified Compliance Policy UI Action" ma:hidden="true" ma:internalName="_ip_UnifiedCompliancePolicyUIAction" ma:readOnly="false">
      <xsd:simpleType>
        <xsd:restriction base="dms:Text"/>
      </xsd:simpleType>
    </xsd:element>
    <xsd:element name="AverageRating" ma:index="32" nillable="true" ma:displayName="Rating (0-5)" ma:decimals="2" ma:description="Average value of all the ratings that have been submitted" ma:internalName="AverageRating" ma:readOnly="true">
      <xsd:simpleType>
        <xsd:restriction base="dms:Number"/>
      </xsd:simpleType>
    </xsd:element>
    <xsd:element name="RatingCount" ma:index="33" nillable="true" ma:displayName="Number of Ratings" ma:decimals="0" ma:description="Number of ratings submitted" ma:internalName="RatingCount" ma:readOnly="true">
      <xsd:simpleType>
        <xsd:restriction base="dms:Number"/>
      </xsd:simpleType>
    </xsd:element>
    <xsd:element name="RatedBy" ma:index="34" nillable="true" ma:displayName="Rated By" ma:description="Users rated the item." ma:hidden="true" ma:list="UserInfo" ma:internalName="Rat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atings" ma:index="35" nillable="true" ma:displayName="User ratings" ma:description="User ratings for the item" ma:hidden="true" ma:internalName="Ratings">
      <xsd:simpleType>
        <xsd:restriction base="dms:Note"/>
      </xsd:simpleType>
    </xsd:element>
    <xsd:element name="LikesCount" ma:index="36" nillable="true" ma:displayName="Number of Likes" ma:internalName="LikesCount">
      <xsd:simpleType>
        <xsd:restriction base="dms:Unknown"/>
      </xsd:simpleType>
    </xsd:element>
    <xsd:element name="LikedBy" ma:index="37" nillable="true" ma:displayName="Liked By" ma:hidden="true" ma:list="UserInfo" ma:internalName="Lik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164c192-e522-4d89-a5bb-3cb209f039bd" elementFormDefault="qualified">
    <xsd:import namespace="http://schemas.microsoft.com/office/2006/documentManagement/types"/>
    <xsd:import namespace="http://schemas.microsoft.com/office/infopath/2007/PartnerControls"/>
    <xsd:element name="MediaServiceKeyPoints" ma:index="2" nillable="true" ma:displayName="KeyPoints" ma:internalName="MediaServiceKeyPoints" ma:readOnly="false">
      <xsd:simpleType>
        <xsd:restriction base="dms:Note">
          <xsd:maxLength value="255"/>
        </xsd:restriction>
      </xsd:simpleType>
    </xsd:element>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AutoTags" ma:index="12" nillable="true" ma:displayName="MediaServiceAutoTags" ma:description="" ma:hidden="true" ma:internalName="MediaServiceAutoTags" ma:readOnly="true">
      <xsd:simpleType>
        <xsd:restriction base="dms:Text"/>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Location" ma:index="14" nillable="true" ma:displayName="MediaServiceLocation" ma:description="" ma:hidden="true" ma:internalName="MediaServiceLocation" ma:readOnly="true">
      <xsd:simpleType>
        <xsd:restriction base="dms:Text"/>
      </xsd:simpleType>
    </xsd:element>
    <xsd:element name="MediaServiceOCR" ma:index="15" nillable="true" ma:displayName="MediaServiceOCR" ma:hidden="true" ma:internalName="MediaServiceOCR" ma:readOnly="true">
      <xsd:simpleType>
        <xsd:restriction base="dms:Note"/>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LengthInSeconds" ma:index="22" nillable="true" ma:displayName="Length (seconds)" ma:hidden="true"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DocTags" ma:index="29" nillable="true" ma:displayName="MediaServiceDocTags" ma:hidden="true" ma:internalName="MediaServiceDocTags" ma:readOnly="true">
      <xsd:simpleType>
        <xsd:restriction base="dms:Note"/>
      </xsd:simpleType>
    </xsd:element>
    <xsd:element name="MediaServiceObjectDetectorVersions" ma:index="30" nillable="true" ma:displayName="MediaServiceObjectDetectorVersions" ma:hidden="true" ma:indexed="true" ma:internalName="MediaServiceObjectDetectorVersions" ma:readOnly="true">
      <xsd:simpleType>
        <xsd:restriction base="dms:Text"/>
      </xsd:simpleType>
    </xsd:element>
    <xsd:element name="MediaServiceSystemTags" ma:index="31" nillable="true" ma:displayName="MediaServiceSystemTags" ma:hidden="true" ma:internalName="MediaServiceSystemTags" ma:readOnly="true">
      <xsd:simpleType>
        <xsd:restriction base="dms:Note"/>
      </xsd:simpleType>
    </xsd:element>
    <xsd:element name="MediaServiceBillingMetadata" ma:index="38" nillable="true" ma:displayName="MediaServiceBillingMetadata" ma:hidden="true" ma:internalName="MediaServiceBillingMetadata" ma:readOnly="true">
      <xsd:simpleType>
        <xsd:restriction base="dms:Text"/>
      </xsd:simpleType>
    </xsd:element>
    <xsd:element name="Adoptionpillar" ma:index="39" nillable="true" ma:displayName="Adoption pillar" ma:format="Dropdown" ma:internalName="Adoptionpillar">
      <xsd:simpleType>
        <xsd:restriction base="dms:Choice">
          <xsd:enumeration value="Strategy"/>
          <xsd:enumeration value="Plan"/>
          <xsd:enumeration value="Secure"/>
          <xsd:enumeration value="Govern"/>
          <xsd:enumeration value="Operate"/>
          <xsd:enumeration value="Ready"/>
          <xsd:enumeration value="Nurture"/>
        </xsd:restriction>
      </xsd:simpleType>
    </xsd:element>
    <xsd:element name="Contentstatus" ma:index="40" nillable="true" ma:displayName="Content status" ma:format="Dropdown" ma:internalName="Contentstatus">
      <xsd:simpleType>
        <xsd:restriction base="dms:Choice">
          <xsd:enumeration value="Keep"/>
          <xsd:enumeration value="Revise"/>
          <xsd:enumeration value="Retire"/>
        </xsd:restriction>
      </xsd:simpleType>
    </xsd:element>
    <xsd:element name="Reviewcomments" ma:index="41" nillable="true" ma:displayName="Review comments" ma:format="Dropdown" ma:internalName="Reviewcomments">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5d7644a-4532-4813-a815-b54215be4a0c" elementFormDefault="qualified">
    <xsd:import namespace="http://schemas.microsoft.com/office/2006/documentManagement/types"/>
    <xsd:import namespace="http://schemas.microsoft.com/office/infopath/2007/PartnerControls"/>
    <xsd:element name="SharedWithUsers" ma:index="6" nillable="true" ma:displayName="Shared With" ma:description=""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7" nillable="true" ma:displayName="Shared With Details" ma:description="" ma:hidden="true" ma:internalName="SharedWithDetails" ma:readOnly="true">
      <xsd:simpleType>
        <xsd:restriction base="dms:Note"/>
      </xsd:simpleType>
    </xsd:element>
    <xsd:element name="LastSharedByUser" ma:index="8" nillable="true" ma:displayName="Last Shared By User" ma:description="" ma:hidden="true" ma:internalName="LastSharedByUser" ma:readOnly="true">
      <xsd:simpleType>
        <xsd:restriction base="dms:Note"/>
      </xsd:simpleType>
    </xsd:element>
    <xsd:element name="LastSharedByTime" ma:index="9" nillable="true" ma:displayName="Last Shared By Time" ma:description="" ma:hidden="true"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54b3b5bf-8119-46f1-8c02-b8499b97b8f8}" ma:internalName="TaxCatchAll" ma:readOnly="false" ma:showField="CatchAllData" ma:web="f5d7644a-4532-4813-a815-b54215be4a0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ikesCount xmlns="http://schemas.microsoft.com/sharepoint/v3" xsi:nil="true"/>
    <Ratings xmlns="http://schemas.microsoft.com/sharepoint/v3" xsi:nil="true"/>
    <lcf76f155ced4ddcb4097134ff3c332f xmlns="5164c192-e522-4d89-a5bb-3cb209f039bd">
      <Terms xmlns="http://schemas.microsoft.com/office/infopath/2007/PartnerControls"/>
    </lcf76f155ced4ddcb4097134ff3c332f>
    <MediaServiceKeyPoints xmlns="5164c192-e522-4d89-a5bb-3cb209f039bd" xsi:nil="true"/>
    <_ip_UnifiedCompliancePolicyProperties xmlns="http://schemas.microsoft.com/sharepoint/v3" xsi:nil="true"/>
    <LikedBy xmlns="http://schemas.microsoft.com/sharepoint/v3">
      <UserInfo>
        <DisplayName/>
        <AccountId xsi:nil="true"/>
        <AccountType/>
      </UserInfo>
    </LikedBy>
    <Reviewcomments xmlns="5164c192-e522-4d89-a5bb-3cb209f039bd" xsi:nil="true"/>
    <Adoptionpillar xmlns="5164c192-e522-4d89-a5bb-3cb209f039bd" xsi:nil="true"/>
    <TaxCatchAll xmlns="230e9df3-be65-4c73-a93b-d1236ebd677e" xsi:nil="true"/>
    <Contentstatus xmlns="5164c192-e522-4d89-a5bb-3cb209f039bd" xsi:nil="true"/>
    <RatedBy xmlns="http://schemas.microsoft.com/sharepoint/v3">
      <UserInfo>
        <DisplayName/>
        <AccountId xsi:nil="true"/>
        <AccountType/>
      </UserInfo>
    </RatedBy>
  </documentManagement>
</p:properties>
</file>

<file path=customXml/itemProps1.xml><?xml version="1.0" encoding="utf-8"?>
<ds:datastoreItem xmlns:ds="http://schemas.openxmlformats.org/officeDocument/2006/customXml" ds:itemID="{D911831D-C4DC-4BF6-993B-3EF4F9C76263}">
  <ds:schemaRefs>
    <ds:schemaRef ds:uri="http://schemas.microsoft.com/sharepoint/v3/contenttype/forms"/>
  </ds:schemaRefs>
</ds:datastoreItem>
</file>

<file path=customXml/itemProps2.xml><?xml version="1.0" encoding="utf-8"?>
<ds:datastoreItem xmlns:ds="http://schemas.openxmlformats.org/officeDocument/2006/customXml" ds:itemID="{749CEE80-5A24-4E5A-8437-269226CB16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164c192-e522-4d89-a5bb-3cb209f039bd"/>
    <ds:schemaRef ds:uri="f5d7644a-4532-4813-a815-b54215be4a0c"/>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E753ADA-7196-4AAE-8AD5-7F6E1DE8AB63}">
  <ds:schemaRefs>
    <ds:schemaRef ds:uri="http://schemas.microsoft.com/office/2006/metadata/properties"/>
    <ds:schemaRef ds:uri="http://schemas.microsoft.com/office/infopath/2007/PartnerControls"/>
    <ds:schemaRef ds:uri="http://schemas.microsoft.com/sharepoint/v3"/>
    <ds:schemaRef ds:uri="5164c192-e522-4d89-a5bb-3cb209f039bd"/>
    <ds:schemaRef ds:uri="230e9df3-be65-4c73-a93b-d1236ebd677e"/>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 id="{d80d1b57-a9af-40a9-a35b-060795e6ce43}" enabled="0" method="" siteId="{d80d1b57-a9af-40a9-a35b-060795e6ce43}" removed="1"/>
</clbl:labelList>
</file>

<file path=docProps/app.xml><?xml version="1.0" encoding="utf-8"?>
<Properties xmlns="http://schemas.openxmlformats.org/officeDocument/2006/extended-properties" xmlns:vt="http://schemas.openxmlformats.org/officeDocument/2006/docPropsVTypes">
  <TotalTime>0</TotalTime>
  <Words>1948</Words>
  <Application>Microsoft Office PowerPoint</Application>
  <PresentationFormat>Widescreen</PresentationFormat>
  <Paragraphs>375</Paragraphs>
  <Slides>20</Slides>
  <Notes>0</Notes>
  <HiddenSlides>0</HiddenSlides>
  <MMClips>2</MMClips>
  <ScaleCrop>false</ScaleCrop>
  <HeadingPairs>
    <vt:vector size="4" baseType="variant">
      <vt:variant>
        <vt:lpstr>Theme</vt:lpstr>
      </vt:variant>
      <vt:variant>
        <vt:i4>3</vt:i4>
      </vt:variant>
      <vt:variant>
        <vt:lpstr>Slide Titles</vt:lpstr>
      </vt:variant>
      <vt:variant>
        <vt:i4>20</vt:i4>
      </vt:variant>
    </vt:vector>
  </HeadingPairs>
  <TitlesOfParts>
    <vt:vector size="23" baseType="lpstr">
      <vt:lpstr>Office Theme</vt:lpstr>
      <vt:lpstr>1_Office Theme</vt:lpstr>
      <vt:lpstr>MS Ignite 16:9 Template Dark</vt:lpstr>
      <vt:lpstr>PowerPoint Presentation</vt:lpstr>
      <vt:lpstr>PowerPoint Presentation</vt:lpstr>
      <vt:lpstr>About Signetic</vt:lpstr>
      <vt:lpstr>The Problem: Before Signetic</vt:lpstr>
      <vt:lpstr>AI enablement strategy and adoption journey</vt:lpstr>
      <vt:lpstr>AI enablement strategy and adoption journey</vt:lpstr>
      <vt:lpstr>How We Enabled AI: Our Technology Stack</vt:lpstr>
      <vt:lpstr>Agents that enhance claims processing</vt:lpstr>
      <vt:lpstr>Agent Deep-Dive: Billing Ops Agent</vt:lpstr>
      <vt:lpstr>Agent Deep-Dive: Prior Authorization Agent</vt:lpstr>
      <vt:lpstr>PowerPoint Presentation</vt:lpstr>
      <vt:lpstr>Key Takeaways</vt:lpstr>
      <vt:lpstr>Key Takeaways (continued)</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Darian Nastvogel</cp:lastModifiedBy>
  <cp:revision>2</cp:revision>
  <dcterms:created xsi:type="dcterms:W3CDTF">2026-04-29T18:55:03Z</dcterms:created>
  <dcterms:modified xsi:type="dcterms:W3CDTF">2026-06-02T22:52:43Z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0x0101008E1CA5C76A3A7148B502CA3C69F4C903</vt:lpwstr>
  </property>
</Properties>
</file>